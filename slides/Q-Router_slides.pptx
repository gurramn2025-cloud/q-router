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4426df42-12c0-8823-1671-097c7a2a2df4}">
          <p14:sldIdLst>
            <p14:sldId id="256"/>
            <p14:sldId id="257"/>
            <p14:sldId id="258"/>
          </p14:sldIdLst>
        </p14:section>
        <p14:section name="Approach" id="{f22ce7e6-6daa-706a-2515-93c7416359ff}">
          <p14:sldIdLst>
            <p14:sldId id="259"/>
            <p14:sldId id="260"/>
            <p14:sldId id="261"/>
          </p14:sldIdLst>
        </p14:section>
        <p14:section name="Results" id="{989c8ed6-44a6-456b-fbd3-e7b3e447419d}">
          <p14:sldIdLst>
            <p14:sldId id="262"/>
            <p14:sldId id="263"/>
            <p14:sldId id="264"/>
          </p14:sldIdLst>
        </p14:section>
        <p14:section name="Wrap-up" id="{b4d1c306-454c-a11a-fcad-409ea899bdb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D36"/>
                </a:solidFill>
                <a:latin typeface="+mn-lt"/>
              </a:defRPr>
            </a:pPr>
            <a:r>
              <a:rPr sz="1200" b="0" i="0" u="none" strike="noStrike">
                <a:solidFill>
                  <a:srgbClr val="1B1D36"/>
                </a:solidFill>
                <a:latin typeface="+mn-lt"/>
              </a:rPr>
              <a:t>Score for each piece (on a realistic copy of IBM's chip)</a:t>
            </a:r>
          </a:p>
        </c:rich>
      </c:tx>
      <c:layout/>
      <c:overlay val="0"/>
    </c:title>
    <c:autoTitleDeleted val="0"/>
    <c:plotArea>
      <c:layout/>
      <c:barChart>
        <c:barDir val="col"/>
        <c:grouping val="clustered"/>
        <c:varyColors val="0"/>
        <c:ser>
          <c:idx val="0"/>
          <c:order val="0"/>
          <c:tx>
            <c:strRef>
              <c:f>Sheet1!$B$1</c:f>
              <c:strCache>
                <c:ptCount val="1"/>
                <c:pt idx="0">
                  <c:v>Gate-based</c:v>
                </c:pt>
              </c:strCache>
            </c:strRef>
          </c:tx>
          <c:spPr>
            <a:solidFill>
              <a:srgbClr val="5B4FD1"/>
            </a:solidFill>
            <a:effectLst/>
          </c:spPr>
          <c:invertIfNegative val="0"/>
          <c:dLbls>
            <c:numFmt formatCode="0.00" sourceLinked="0"/>
            <c:txPr>
              <a:bodyPr/>
              <a:lstStyle/>
              <a:p>
                <a:pPr>
                  <a:defRPr b="0" i="0" strike="noStrike" sz="1100" u="none">
                    <a:solidFill>
                      <a:srgbClr val="1B1D36"/>
                    </a:solidFill>
                    <a:latin typeface="+mn-lt"/>
                  </a:defRPr>
                </a:pPr>
              </a:p>
            </c:txPr>
            <c:showLegendKey val="0"/>
            <c:showVal val="1"/>
            <c:showCatName val="0"/>
            <c:showSerName val="0"/>
            <c:showPercent val="0"/>
            <c:showBubbleSize val="0"/>
            <c:showLeaderLines val="0"/>
          </c:dLbls>
          <c:cat>
            <c:multiLvlStrRef>
              <c:f>Sheet1!$A$2:$A$4</c:f>
              <c:multiLvlStrCache>
                <c:ptCount val="3"/>
                <c:lvl>
                  <c:pt idx="0">
                    <c:v>Drug funding</c:v>
                  </c:pt>
                  <c:pt idx="1">
                    <c:v>Trial sites A</c:v>
                  </c:pt>
                  <c:pt idx="2">
                    <c:v>Trial sites B</c:v>
                  </c:pt>
                </c:lvl>
              </c:multiLvlStrCache>
            </c:multiLvlStrRef>
          </c:cat>
          <c:val>
            <c:numRef>
              <c:f>Sheet1!$B$2:$B$4</c:f>
              <c:numCache>
                <c:formatCode>General</c:formatCode>
                <c:ptCount val="3"/>
                <c:pt idx="0">
                  <c:v>0.56</c:v>
                </c:pt>
                <c:pt idx="1">
                  <c:v>0.369</c:v>
                </c:pt>
                <c:pt idx="2">
                  <c:v>0.42</c:v>
                </c:pt>
              </c:numCache>
            </c:numRef>
          </c:val>
        </c:ser>
        <c:ser>
          <c:idx val="1"/>
          <c:order val="1"/>
          <c:tx>
            <c:strRef>
              <c:f>Sheet1!$C$1</c:f>
              <c:strCache>
                <c:ptCount val="1"/>
                <c:pt idx="0">
                  <c:v>Annealing</c:v>
                </c:pt>
              </c:strCache>
            </c:strRef>
          </c:tx>
          <c:spPr>
            <a:solidFill>
              <a:srgbClr val="0E9384"/>
            </a:solidFill>
            <a:effectLst/>
          </c:spPr>
          <c:invertIfNegative val="0"/>
          <c:dLbls>
            <c:numFmt formatCode="0.00" sourceLinked="0"/>
            <c:txPr>
              <a:bodyPr/>
              <a:lstStyle/>
              <a:p>
                <a:pPr>
                  <a:defRPr b="0" i="0" strike="noStrike" sz="1100" u="none">
                    <a:solidFill>
                      <a:srgbClr val="1B1D36"/>
                    </a:solidFill>
                    <a:latin typeface="+mn-lt"/>
                  </a:defRPr>
                </a:pPr>
              </a:p>
            </c:txPr>
            <c:showLegendKey val="0"/>
            <c:showVal val="1"/>
            <c:showCatName val="0"/>
            <c:showSerName val="0"/>
            <c:showPercent val="0"/>
            <c:showBubbleSize val="0"/>
            <c:showLeaderLines val="0"/>
          </c:dLbls>
          <c:cat>
            <c:multiLvlStrRef>
              <c:f>Sheet1!$A$2:$A$4</c:f>
              <c:multiLvlStrCache>
                <c:ptCount val="3"/>
                <c:lvl>
                  <c:pt idx="0">
                    <c:v>Drug funding</c:v>
                  </c:pt>
                  <c:pt idx="1">
                    <c:v>Trial sites A</c:v>
                  </c:pt>
                  <c:pt idx="2">
                    <c:v>Trial sites B</c:v>
                  </c:pt>
                </c:lvl>
              </c:multiLvlStrCache>
            </c:multiLvlStrRef>
          </c:cat>
          <c:val>
            <c:numRef>
              <c:f>Sheet1!$C$2:$C$4</c:f>
              <c:numCache>
                <c:formatCode>General</c:formatCode>
                <c:ptCount val="3"/>
                <c:pt idx="0">
                  <c:v>0.449</c:v>
                </c:pt>
                <c:pt idx="1">
                  <c:v>0.436</c:v>
                </c:pt>
                <c:pt idx="2">
                  <c:v>0.688</c:v>
                </c:pt>
              </c:numCache>
            </c:numRef>
          </c:val>
        </c:ser>
        <c:dLbls>
          <c:numFmt formatCode="0.00" sourceLinked="0"/>
          <c:txPr>
            <a:bodyPr/>
            <a:lstStyle/>
            <a:p>
              <a:pPr>
                <a:defRPr b="0" i="0" strike="noStrike" sz="1100" u="none">
                  <a:solidFill>
                    <a:srgbClr val="1B1D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D36"/>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6350" cap="flat">
              <a:solidFill>
                <a:srgbClr val="E4E4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6708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1D3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1D36"/>
                </a:solidFill>
                <a:latin typeface="+mn-lt"/>
              </a:defRPr>
            </a:pPr>
            <a:r>
              <a:rPr sz="1200" b="0" i="0" u="none" strike="noStrike">
                <a:solidFill>
                  <a:srgbClr val="1B1D36"/>
                </a:solidFill>
                <a:latin typeface="+mn-lt"/>
              </a:rPr>
              <a:t>Copying settings between industries (60 problems)</a:t>
            </a:r>
          </a:p>
        </c:rich>
      </c:tx>
      <c:layout/>
      <c:overlay val="0"/>
    </c:title>
    <c:autoTitleDeleted val="0"/>
    <c:plotArea>
      <c:layout/>
      <c:barChart>
        <c:barDir val="bar"/>
        <c:grouping val="clustered"/>
        <c:varyColors val="0"/>
        <c:ser>
          <c:idx val="0"/>
          <c:order val="0"/>
          <c:tx>
            <c:strRef>
              <c:f>Sheet1!$B$1</c:f>
              <c:strCache>
                <c:ptCount val="1"/>
                <c:pt idx="0">
                  <c:v>Score</c:v>
                </c:pt>
              </c:strCache>
            </c:strRef>
          </c:tx>
          <c:spPr>
            <a:solidFill>
              <a:srgbClr val="667085"/>
            </a:solidFill>
            <a:effectLst/>
          </c:spPr>
          <c:invertIfNegative val="0"/>
          <c:dLbls>
            <c:numFmt formatCode="0.00" sourceLinked="0"/>
            <c:txPr>
              <a:bodyPr/>
              <a:lstStyle/>
              <a:p>
                <a:pPr>
                  <a:defRPr b="0" i="0" strike="noStrike" sz="1100" u="none">
                    <a:solidFill>
                      <a:srgbClr val="1B1D36"/>
                    </a:solidFill>
                    <a:latin typeface="+mn-lt"/>
                  </a:defRPr>
                </a:pPr>
              </a:p>
            </c:txPr>
            <c:showLegendKey val="0"/>
            <c:showVal val="1"/>
            <c:showCatName val="0"/>
            <c:showSerName val="0"/>
            <c:showPercent val="0"/>
            <c:showBubbleSize val="0"/>
            <c:showLeaderLines val="0"/>
          </c:dLbls>
          <c:dPt>
            <c:idx val="0"/>
            <c:invertIfNegative val="0"/>
            <c:bubble3D val="0"/>
            <c:spPr>
              <a:solidFill>
                <a:srgbClr val="667085"/>
              </a:solidFill>
              <a:effectLst/>
            </c:spPr>
          </c:dPt>
          <c:dPt>
            <c:idx val="1"/>
            <c:invertIfNegative val="0"/>
            <c:bubble3D val="0"/>
            <c:spPr>
              <a:solidFill>
                <a:srgbClr val="E8833A"/>
              </a:solidFill>
              <a:effectLst/>
            </c:spPr>
          </c:dPt>
          <c:dPt>
            <c:idx val="2"/>
            <c:invertIfNegative val="0"/>
            <c:bubble3D val="0"/>
            <c:spPr>
              <a:solidFill>
                <a:srgbClr val="C9CCD6"/>
              </a:solidFill>
              <a:effectLst/>
            </c:spPr>
          </c:dPt>
          <c:dPt>
            <c:idx val="3"/>
            <c:invertIfNegative val="0"/>
            <c:bubble3D val="0"/>
            <c:spPr>
              <a:solidFill>
                <a:srgbClr val="C9CCD6"/>
              </a:solidFill>
              <a:effectLst/>
            </c:spPr>
          </c:dPt>
          <c:cat>
            <c:multiLvlStrRef>
              <c:f>Sheet1!$A$2:$A$5</c:f>
              <c:multiLvlStrCache>
                <c:ptCount val="4"/>
                <c:lvl>
                  <c:pt idx="0">
                    <c:v>Tuned from scratch (60 tries)</c:v>
                  </c:pt>
                  <c:pt idx="1">
                    <c:v>Copied from similar problem (1 try)</c:v>
                  </c:pt>
                  <c:pt idx="2">
                    <c:v>Copied from random problem (1 try)</c:v>
                  </c:pt>
                  <c:pt idx="3">
                    <c:v>No tuning at all (1 try)</c:v>
                  </c:pt>
                </c:lvl>
              </c:multiLvlStrCache>
            </c:multiLvlStrRef>
          </c:cat>
          <c:val>
            <c:numRef>
              <c:f>Sheet1!$B$2:$B$5</c:f>
              <c:numCache>
                <c:formatCode>General</c:formatCode>
                <c:ptCount val="4"/>
                <c:pt idx="0">
                  <c:v>0.633</c:v>
                </c:pt>
                <c:pt idx="1">
                  <c:v>0.599</c:v>
                </c:pt>
                <c:pt idx="2">
                  <c:v>0.577</c:v>
                </c:pt>
                <c:pt idx="3">
                  <c:v>0.581</c:v>
                </c:pt>
              </c:numCache>
            </c:numRef>
          </c:val>
        </c:ser>
        <c:dLbls>
          <c:numFmt formatCode="0.00" sourceLinked="0"/>
          <c:txPr>
            <a:bodyPr/>
            <a:lstStyle/>
            <a:p>
              <a:pPr>
                <a:defRPr b="0" i="0" strike="noStrike" sz="1100" u="none">
                  <a:solidFill>
                    <a:srgbClr val="1B1D36"/>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1D36"/>
                </a:solidFill>
                <a:latin typeface="+mn-lt"/>
              </a:defRPr>
            </a:pPr>
            <a:endParaRPr lang="en-US"/>
          </a:p>
        </c:txPr>
        <c:crossAx val="2094734552"/>
        <c:crosses val="autoZero"/>
        <c:auto val="1"/>
        <c:lblAlgn val="ctr"/>
        <c:noMultiLvlLbl val="1"/>
      </c:catAx>
      <c:valAx>
        <c:axId val="2094734552"/>
        <c:scaling>
          <c:orientation val="minMax"/>
          <c:max val="0.68"/>
          <c:min val="0.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(30 seconds):
"Hi, we're Team Q-Router. You can now rent quantum computers over the internet, and there are two very different kinds. Our project answers one simple question: for a given business decision, which kind of quantum computer should solve it, or should a normal laptop do it instead? Q-Router makes that choice automatically. We tested it on money and health decisions, including on a real IBM quantum chip."
IF A JUDGE ASKS FOR ONE SENTENCE:
"Q-Router breaks a business decision into pieces and sends each piece to whichever computer suits it best: one of two kinds of quantum computer, or a normal laptop."
LIKELY QUESTION: What does "routing" mean?
ANSWER: Choosing where to send each job, like a GPS choosing car, train or walking for each part of a trip.
LIKELY QUESTION: Who did what on the team?
ANSWER: (Fill in real names.) Our coder built the program and ran it on the quantum chip. The rest of the team defined the drug-funding problem, wrote the use-case and limitations documents, and built this presentation. Everyone can explain how it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(45 seconds):
"Here's the problem. Quantum time is rare and expensive: our free account gives us 10 minutes a month, and companies pay by the second. There are two kinds of quantum computer, and each is good at different kinds of problems. And today's quantum chips make mistakes, so if you send a problem to the wrong one, the answer is useless.
This matters to companies trying out quantum, like drug makers and banks; to IBM, D-Wave and Amazon, who rent these machines out and have to decide where each job goes, which fits this year's theme, a decade of quantum on the cloud; and to students and researchers with tiny budgets. Today people mostly guess. Q-Router answers three questions with real data: is quantum worth it, which kind, and for which part of the problem."
LIKELY QUESTION: What problem are you solving, and for whom?
ANSWER: Knowing when and how to use a quantum computer, so scarce quantum time isn't wasted. It's for companies paying for quantum time, for the companies renting quantum computers out, and for researchers.
LIKELY QUESTION: Is this a real problem if a laptop wins today?
ANSWER: Yes. IBM, D-Wave and Amazon already rent out different kinds of quantum computers, and users have to guess which fits. Today the honest answer is usually "use a laptop," and our program says so. As quantum chips improve, that choice becomes more valuable, and choosing between the two quantum kinds already matters for anyone running quantum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(45 seconds):
"To test this we needed a real decision. Our main example: a drug company has 10 possible drugs and money to develop 4. Each drug could make a certain amount of money, and costs a certain amount to develop. Drugs for the same disease often succeed or fail together, so funding two of them is riskier. There are 210 different ways to pick 4. The company wants the most money for the least risk. That's the same math investors use to pick stocks, just applied to drugs.
Each yes-or-no choice, fund this drug or not, becomes one qubit, one quantum bit. We also tested three other kinds of decision so the program can learn patterns: which stocks to buy, using real stock prices; which medical tests to order, using real patient data; and how to split a network into two groups."
LIKELY QUESTION: How is this decided today?
ANSWER: Drug companies use expert judgment, spreadsheets and normal computer programs. At real sizes, 50 to 200 drugs, normal computers do this well.
LIKELY QUESTION: Is the data real?
ANSWER: The stock prices and the medical test data are real. The drug list is made up, but it uses real industry success rates: early-stage drugs pass about 8% of the time, late-stage about 55%.
LIKELY QUESTION: How does a decision become something a quantum computer can read?
ANSWER: We write it as a score sheet of yes/no choices: points for each yes, and points for each pair of yeses (like two risky drugs together). Lower score is better. Rules like "exactly 4" become a big penalty. The technical name is a QUBO.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(60 seconds):
"Imagine the problem as a mountain range. Every spot is one possible set of drugs, the height is how bad that choice is, and the lowest valley is the best answer.
An annealing quantum computer works like a ball rolling slowly downhill. It takes many small steps and gradually settles into a low valley. It needs almost no tuning. D-Wave builds these. IBM doesn't, so we copy the same idea on IBM's chip using many small steps.
A gate-based quantum computer follows a short recipe instead, called QAOA. It has only a few steps, but it has dials that must be tuned first. We tune the dials on a normal computer so we don't waste quantum time.
Why might quantum help at all? It can hold every combination at once, it can link choices that affect each other, and it gives you many good answers to pick from. But we're honest: every step adds a chance of error, our test problems are tiny compared with real ones, and a normal laptop still wins today."
LIKELY QUESTION: Why use quantum instead of a normal computer?
ANSWER: At this size a normal computer is better, and we show that. Quantum is interesting because these decisions, choices that affect each other in pairs, match how qubits link up. The open question is whether that pays off on bigger problems with better chips.
LIKELY QUESTION: What would need to improve for quantum to win?
ANSWER: Quantum chips would need to make roughly 10 to 100 times fewer errors, and have enough qubits for 50 to 200 choices. Even then, someone would have to show quantum is actually faster.
LIKELY QUESTION: Is your annealing a real annealer?
ANSWER: No. It's a copy of the annealing idea, built from small steps on IBM's chip, because we don't have access to a D-Wave machine. A real D-Wave could plug straight into our program; that's on our next-steps list.
IF ASKED ABOUT THE TECHNICAL NAMES:
"Try every combination at once" is called superposition. "Link choices" is called entanglement. "Many good answers" is called sampling. Our copied annealer is called a digitized anneal or linear-ramp QAOA.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(75 seconds):
"Here's how it works, in six steps.
One: translate the decision into yes-or-no choices.
Two: if the problem is big, split it into small pieces, keeping choices that affect each other in the same piece.
Three: describe each piece. How connected are its choices? And, using IBM's own error data, how many errors would the real chip make running it?
Four: a small AI picks the best computer for each piece: gate-based quantum, annealing quantum, or a normal laptop if quantum isn't worth it. The AI learned this from 60 practice problems that we solved on a simulator, which is a normal computer pretending to be a quantum computer.
Five: tuning a quantum computer's settings usually takes about 60 tries. Instead, Q-Router finds the most similar problem it has seen, from a different industry, and copies its settings.
Six: it runs several problems on the chip at the same time, and checks every answer against the true best answer, which we can find because our problems are small."
LIKELY QUESTION: How does the AI decide?
ANSWER: It's 300 small yes/no flowcharts, like games of 20 questions, that vote. It learned by itself that the most important question is: "can the chip handle the annealer's extra steps without too many errors?" The technical name is a random forest.
LIKELY QUESTION: Were the 60 practice problems run on the real chip?
ANSWER: No. They were solved on a simulator, three ways each, and we know the true best answer for each. The chip's errors were estimated from IBM's published error rates. The real chip is used only for our final experiments.
LIKELY QUESTION: How do you find a "similar problem"?
ANSWER: Each problem is described by 9 numbers. We pick the past problem whose numbers are closest, from a different industry, and copy its settings. It's a lookup, not guessing.
LIKELY QUESTION: How do you score fairly?
ANSWER: We average the quality of every answer the chip gives, not just its luckiest one. 1 means the perfect answer, 0 means no better than random.
LIKELY QUESTION: Does the AI choose the drugs?
ANSWER: No. The AI only chooses which computer solves each piece. That computer finds the drugs.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(45 seconds):
"We built everything with Qiskit, IBM's free quantum software. It turns each decision into a quantum recipe, rewrites that recipe to fit IBM's real chip, called Torino, and runs the same code on a simulator, on a copy of the chip that imitates its errors, or on the real chip. It tunes the recipe's dials automatically on a normal computer. On the real chip we use tricks that reduce errors. And because our free plan is so limited, we send many recipes in one trip, so all our real-chip experiments use about 3 of our 10 minutes.
The hardest bug: a plus-or-minus mix-up made our recipe hunt for the worst answer instead of the best. Our score was minus 1.37, worse than random. Flipping one sign gave 0.79. The lesson: always check against a known best answer."
LIKELY QUESTION: Walk me through your quantum circuit (recipe).
ANSWER: First, every qubit is put in a 50/50 mix of yes and no. Then each qubit gets a nudge based on how good its choice is, and every pair of linked choices gets a linking step, which is entanglement. Then a shuffle step lets it explore. We repeat that a few times and then measure. Gate-based uses 1-2 rounds with tuned dials; our annealing copy uses 3-6 rounds on a fixed schedule.
LIKELY QUESTION: What did you build vs. reuse?
ANSWER: We reused IBM's Qiskit tools, D-Wave's free normal-computer solver as our comparison, and a standard AI library. We built the four problem translators, the way we describe each problem, the AI router, the settings-copying, the break-down comparison, the run-together experiment, and all the scoring.
LIKELY QUESTION: What else was hard?
ANSWER: The simulator gave wrong results when we sent recipes of different sizes in one batch, which made it look like problems were disturbing each other. We tracked it down and now run them one at a time on the simulator; the real chip handles batches correctly.
TECHNICAL NAMES, IF ASKED: QAOAAnsatz (recipe builder), transpiler (fits the chip), SamplerV2 (runs and measures), Aer (simulator), COBYLA (dial tuner), dynamical decoupling and Pauli twirling (error tricks on the chip), zero-noise extrapolation (error trick in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(60 seconds). This answers the judge's question about comparing the two kinds of quantum computer piece by piece:
"We made one bigger problem with two very different parts: which drugs to fund, where every choice affects every other one, and how to split trial sites between two research partners, where each site only affects a few neighbors. Q-Router split it into three pieces, and for this test we solved EVERY piece with BOTH kinds of quantum computer, on a realistic copy of IBM's chip that includes its errors. Scores go from 0, a random guess, to 1, the perfect answer.
Gate-based wins the drug piece, 0.56 to 0.45. Annealing wins both trial-site pieces, 0.44 to 0.37 and 0.69 to 0.42. Why? Annealing takes many more steps, and every step adds errors. When every choice is linked to every other, that's too many error-prone steps. When choices are only loosely linked, annealing can afford them.
So the best plan is to mix them. Q-Router's mix scores 0.54, better than gate-based only at 0.45 or annealing only at 0.52. The 60 practice problems show the same pattern: annealing almost never wins on stocks or drugs, where everything is linked, but wins more than half the network problems. We'll also run this exact test on the real chip."
LIKELY QUESTION: Did Q-Router choose correctly every time?
ANSWER: Two out of three. It chose gate-based for trial sites A, where annealing was actually better. That's because our error estimate is too pessimistic about annealing's extra steps. Fixing that is a next step.
LIKELY QUESTION: Do you still get the right final answer?
ANSWER: Yes. Putting the pieces back together finds the perfect set of drugs with every approach. The difference is how reliably each method lands on good answers, which matters most on an error-prone chip.
LIKELY QUESTION: Is one example enough?
ANSWER: This is one example to show the idea. The 60 practice problems give the bigger picture, and they show the same pattern.
TECHNICAL TERMS, IF ASKED: "every choice affects every other" = a dense problem; "only a few" = sparse. "Realistic copy of the chip" = a noise model built from IBM Torino's calibration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(60 seconds):
"Our second idea is learning across industries. Tuning a quantum computer's settings normally takes about 60 tries per problem. Q-Router instead finds a similar problem from a different industry and copies its settings, so it only needs one try.
Across 60 problems, copied settings score 0.60, close to the 0.63 you get by tuning from scratch. The key check: copying from a RANDOM problem scores 0.58, no better than not tuning at all. So it's the matching of similar problems that makes it work. We get about half the benefit of tuning for one-sixtieth of the effort.
Then we combined that with running problems together: four problems from four industries, grouped by how similar they are, sharing settings, and sent to the chip in one trip instead of four. That uses 4 times less quantum time and keeps 96% of the quality.
Two more checks. If we cut the links between qubits, the entanglement, the score drops from 0.77 to 0.31, so quantum linking really matters. And honestly: a normal laptop scores 0.95 to 0.98 every time. Quantum doesn't win yet, and we don't claim it does."
LIKELY QUESTION: How do you know it worked?
ANSWER: We know the perfect answer to every problem, because we checked every combination. We compare every quantum result against a normal laptop, against no tuning, and against copying from a random problem. Across 60 problems the results are consistent, not luck.
LIKELY QUESTION: What surprised you?
ANSWER: That annealing, which looked worse on average, clearly wins on loosely connected pieces. And that copying from a random problem helps not at all, which convinced us the similarity matching is real.
LIKELY QUESTION: Hasn't copying quantum settings been done before?
ANSWER: Yes, between similar math problems, and a 2025 study did it between different problem types. What's new in ours: real industry decisions with real data, a fair random-copy comparison, and combining it with choosing the computer and running problems together to measure how much quantum time it saves.
LIKELY QUESTION: Where did the 4% quality loss come from?
ANSWER: Almost all from one network problem that got grouped with the stock problems. Running problems side by side cost almost nothing.
TECHNICAL TERMS, IF ASKED: copying settings = parameter transfer; the random-copy check = a control; "± 0.010" in our notebook is the standard error, meaning the result is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(45 seconds):
"Finally, the real chip. We ran the drug problem four ways: on a perfect simulator with no errors, on a copy of IBM's chip that imitates its errors, on the real chip, and on the real chip with error-reducing fixes turned on. [Read the real-chip numbers once they're in.]
Look at annealing: with no errors it actually beats gate-based, 0.81 to 0.74. But it takes 7 times more of the risky linking steps, 688 versus 104, so once errors are included it falls behind. That one row is the whole reason Q-Router exists.
We also measured the errors themselves. An error-cancelling trick, where we deliberately add extra errors and work backwards to estimate the error-free answer, won back about a quarter of the lost quality. And running three problems side by side on one chip barely disturbed them.
All four real-chip tests together use about 3 of our 10 free quantum minutes."
IF THE REAL-CHIP RUN HASN'T FINISHED:
"Our jobs are waiting in IBM's free queue. We tested all the code on a fake copy of the chip first, and the 'copy of chip' column shows what we expect."
LIKELY QUESTION: How did the real chip compare with the simulator?
ANSWER: (Fill in.) Compare "copy of chip" with "real chip." If they're close, our error estimate is trustworthy. If the real chip is worse, it has kinds of errors our copy doesn't imitate.
LIKELY QUESTION: Did the error fixes help?
ANSWER: (Fill in.) The fixes mostly make errors more random so they cancel out, rather than removing them, so the improvement is usually small. We report whatever we measured.
LIKELY QUESTION: Why not run more on the real chip?
ANSWER: The free plan gives 10 minutes per 28 days, and minutes we use now won't come back before the state final. So we tune everything on simulators and send only finished recipes, in batches.
TECHNICAL TERMS, IF ASKED: errors = noise; "copy of chip" = a noise model from IBM Torino's calibration data; the fixes = dynamical decoupling and Pauli twirling; the error-cancelling trick = zero-noise extrapolation; problems disturbing each other = crosstalk (we measured about 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(45 seconds):
"To wrap up. What's new: Q-Router picks gate-based or annealing for each piece of a single problem; it learns from one industry to help another, and we proved that with a fair comparison; it uses the real chip's error rates to decide; and it uses 4 times less quantum time.
What's honest: a normal laptop still wins today; our annealing is a copy built on IBM's chip, not a real D-Wave machine; our tests are tiny compared with real decisions; and our error estimate is too hard on annealing.
With another month, we'd try bigger recipes, where copying settings should save even more; add a real D-Wave annealing computer; use real drug-trial data; and we'd watch for quantum chips with 10 to 100 times fewer errors, which is roughly what it would take to compete.
Q-Router knows when and how to use quantum computing, and admits a laptop still wins today. Thank you! We'd love your questions."
LIKELY QUESTION: What makes your approach different?
ANSWER: Each piece exists somewhere: the quantum recipes, choosing solvers with AI, copying settings, running several problems on one chip. What we didn't find anywhere is all of it together: choosing gate-based or annealing piece by piece inside one problem, copying settings across real industries with a fair test, using the chip's real error rates, and measuring the quantum time saved on a real chip.
LIKELY QUESTION: What did you learn?
ANSWER: That honest scoring matters: our first score made everything look 99% good and hid a big bug. That the best quantum method depends on the shape of the problem and the chip's errors, not on which method is better in theory. And how to do real experiments with only 10 minutes: tune on a simulator, batch the work, and test on a fake chip first.
LIKELY QUESTION: What would you do with another month?
ANSWER: Bigger recipes, a real D-Wave computer, real drug data, a better error estimate so the router stops underrating annealing, and repeated real-chip runs to measure how much results vary.
LIKELY QUESTION: What did each of you contribute?
ANSWER: (Fill in real names and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937760" cy="91440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548640" y="2240280"/>
            <a:ext cx="4754880" cy="20116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773168"/>
            <a:ext cx="5943600" cy="228600"/>
          </a:xfrm>
          <a:prstGeom prst="rect">
            <a:avLst/>
          </a:prstGeom>
          <a:noFill/>
          <a:ln/>
        </p:spPr>
        <p:txBody>
          <a:bodyPr wrap="square" rtlCol="0" anchor="ctr"/>
          <a:lstStyle/>
          <a:p>
            <a:pPr indent="0" marL="0">
              <a:buNone/>
            </a:pPr>
            <a:r>
              <a:rPr lang="en-US" sz="1000" dirty="0">
                <a:solidFill>
                  <a:schemeClr val="accent3"/>
                </a:solidFill>
              </a:rPr>
              <a:t>Q-Router · Florida Qiskit Fall Fest 2026</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937760" cy="91440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Q-Router</a:t>
            </a:r>
            <a:endParaRPr lang="en-US" sz="5400" dirty="0"/>
          </a:p>
        </p:txBody>
      </p:sp>
      <p:sp>
        <p:nvSpPr>
          <p:cNvPr id="3" name="Text 0"/>
          <p:cNvSpPr/>
          <p:nvPr>
            <p:ph idx="101" type="body" hasCustomPrompt="1"/>
          </p:nvPr>
        </p:nvSpPr>
        <p:spPr>
          <a:xfrm>
            <a:off x="548640" y="2240280"/>
            <a:ext cx="4754880" cy="2011680"/>
          </a:xfrm>
          <a:prstGeom prst="rect">
            <a:avLst/>
          </a:prstGeom>
          <a:noFill/>
          <a:ln/>
        </p:spPr>
        <p:txBody>
          <a:bodyPr wrap="square" lIns="0" tIns="0" rIns="0" bIns="0" rtlCol="0" anchor="t"/>
          <a:lstStyle/>
          <a:p>
            <a:pPr indent="0" marL="0">
              <a:buNone/>
            </a:pPr>
            <a:r>
              <a:rPr lang="en-US" sz="2200" dirty="0">
                <a:solidFill>
                  <a:schemeClr val="bg1"/>
                </a:solidFill>
              </a:rPr>
              <a:t>Which quantum computer should solve this decision?</a:t>
            </a:r>
            <a:endParaRPr lang="en-US" sz="1800" dirty="0"/>
          </a:p>
          <a:p>
            <a:pPr indent="0" marL="0">
              <a:buNone/>
            </a:pPr>
            <a:r>
              <a:rPr lang="en-US" sz="1000" dirty="0">
                <a:solidFill>
                  <a:schemeClr val="accent6"/>
                </a:solidFill>
              </a:rPr>
              <a:t> </a:t>
            </a:r>
            <a:endParaRPr lang="en-US" sz="1800" dirty="0"/>
          </a:p>
          <a:p>
            <a:pPr indent="0" marL="0">
              <a:buNone/>
            </a:pPr>
            <a:r>
              <a:rPr lang="en-US" sz="1600" dirty="0">
                <a:solidFill>
                  <a:schemeClr val="accent6"/>
                </a:solidFill>
              </a:rPr>
              <a:t>Q-Router picks the right kind of computer for each part of a business decision, and we tested it on a real IBM quantum chip</a:t>
            </a:r>
            <a:endParaRPr lang="en-US" sz="1800" dirty="0"/>
          </a:p>
          <a:p>
            <a:pPr indent="0" marL="0">
              <a:buNone/>
            </a:pPr>
            <a:r>
              <a:rPr lang="en-US" sz="1000" dirty="0">
                <a:solidFill>
                  <a:schemeClr val="accent6"/>
                </a:solidFill>
              </a:rPr>
              <a:t> </a:t>
            </a:r>
            <a:endParaRPr lang="en-US" sz="1800" dirty="0"/>
          </a:p>
          <a:p>
            <a:pPr indent="0" marL="0">
              <a:buNone/>
            </a:pPr>
            <a:r>
              <a:rPr lang="en-US" sz="1200" dirty="0">
                <a:solidFill>
                  <a:schemeClr val="accent6"/>
                </a:solidFill>
              </a:rPr>
              <a:t>Team Q-Router · Florida Atlantic University · Florida Qiskit Fall Fest 2026</a:t>
            </a:r>
            <a:endParaRPr lang="en-US" sz="1800" dirty="0"/>
          </a:p>
        </p:txBody>
      </p:sp>
      <p:sp>
        <p:nvSpPr>
          <p:cNvPr id="4" name="Decision box"/>
          <p:cNvSpPr/>
          <p:nvPr/>
        </p:nvSpPr>
        <p:spPr>
          <a:xfrm>
            <a:off x="5989320" y="868680"/>
            <a:ext cx="2651760" cy="685800"/>
          </a:xfrm>
          <a:prstGeom prst="roundRect">
            <a:avLst>
              <a:gd name="adj" fmla="val 10667"/>
            </a:avLst>
          </a:prstGeom>
          <a:solidFill>
            <a:srgbClr val="2B2A6B"/>
          </a:solidFill>
          <a:ln w="12700">
            <a:solidFill>
              <a:srgbClr val="2B2A6B"/>
            </a:solidFill>
            <a:prstDash val="solid"/>
          </a:ln>
        </p:spPr>
      </p:sp>
      <p:sp>
        <p:nvSpPr>
          <p:cNvPr id="5" name="Text 3"/>
          <p:cNvSpPr txBox="1"/>
          <p:nvPr/>
        </p:nvSpPr>
        <p:spPr>
          <a:xfrm>
            <a:off x="5989320" y="868680"/>
            <a:ext cx="2651760" cy="685800"/>
          </a:xfrm>
          <a:prstGeom prst="rect">
            <a:avLst/>
          </a:prstGeom>
          <a:noFill/>
          <a:ln/>
        </p:spPr>
        <p:txBody>
          <a:bodyPr wrap="square" lIns="0" tIns="0" rIns="0" bIns="0" rtlCol="0" anchor="ctr"/>
          <a:lstStyle/>
          <a:p>
            <a:pPr algn="ctr" indent="0" marL="0">
              <a:buNone/>
            </a:pPr>
            <a:r>
              <a:rPr lang="en-US" sz="1600" b="1" dirty="0">
                <a:solidFill>
                  <a:schemeClr val="bg1"/>
                </a:solidFill>
              </a:rPr>
              <a:t>A business decision</a:t>
            </a:r>
            <a:endParaRPr lang="en-US" sz="1600" dirty="0"/>
          </a:p>
        </p:txBody>
      </p:sp>
      <p:sp>
        <p:nvSpPr>
          <p:cNvPr id="6" name="route line 0"/>
          <p:cNvSpPr/>
          <p:nvPr/>
        </p:nvSpPr>
        <p:spPr>
          <a:xfrm>
            <a:off x="6400800" y="1554480"/>
            <a:ext cx="0" cy="841248"/>
          </a:xfrm>
          <a:prstGeom prst="line">
            <a:avLst/>
          </a:prstGeom>
          <a:noFill/>
          <a:ln w="12700">
            <a:solidFill>
              <a:srgbClr val="A8A3EC"/>
            </a:solidFill>
            <a:prstDash val="solid"/>
          </a:ln>
        </p:spPr>
      </p:sp>
      <p:sp>
        <p:nvSpPr>
          <p:cNvPr id="7" name="route arrow 0"/>
          <p:cNvSpPr/>
          <p:nvPr/>
        </p:nvSpPr>
        <p:spPr>
          <a:xfrm>
            <a:off x="6400800" y="2395728"/>
            <a:ext cx="274320" cy="0"/>
          </a:xfrm>
          <a:prstGeom prst="line">
            <a:avLst/>
          </a:prstGeom>
          <a:noFill/>
          <a:ln w="12700">
            <a:solidFill>
              <a:srgbClr val="A8A3EC"/>
            </a:solidFill>
            <a:prstDash val="solid"/>
            <a:tailEnd type="triangle"/>
          </a:ln>
        </p:spPr>
      </p:sp>
      <p:sp>
        <p:nvSpPr>
          <p:cNvPr id="8" name="Gate-based quantum box"/>
          <p:cNvSpPr/>
          <p:nvPr/>
        </p:nvSpPr>
        <p:spPr>
          <a:xfrm>
            <a:off x="6720840" y="2057400"/>
            <a:ext cx="1920240" cy="676656"/>
          </a:xfrm>
          <a:prstGeom prst="roundRect">
            <a:avLst>
              <a:gd name="adj" fmla="val 10811"/>
            </a:avLst>
          </a:prstGeom>
          <a:solidFill>
            <a:srgbClr val="5B4FD1"/>
          </a:solidFill>
          <a:ln w="12700">
            <a:solidFill>
              <a:srgbClr val="5B4FD1"/>
            </a:solidFill>
            <a:prstDash val="solid"/>
          </a:ln>
        </p:spPr>
      </p:sp>
      <p:pic>
        <p:nvPicPr>
          <p:cNvPr id="9" name="Gate-based quantum icon" descr="preencoded.png">    </p:cNvPr>
          <p:cNvPicPr>
            <a:picLocks noChangeAspect="1"/>
          </p:cNvPicPr>
          <p:nvPr/>
        </p:nvPicPr>
        <p:blipFill>
          <a:blip r:embed="rId1"/>
          <a:stretch>
            <a:fillRect/>
          </a:stretch>
        </p:blipFill>
        <p:spPr>
          <a:xfrm>
            <a:off x="6858000" y="2240280"/>
            <a:ext cx="310896" cy="310896"/>
          </a:xfrm>
          <a:prstGeom prst="rect">
            <a:avLst/>
          </a:prstGeom>
        </p:spPr>
      </p:pic>
      <p:sp>
        <p:nvSpPr>
          <p:cNvPr id="10" name="Text 7"/>
          <p:cNvSpPr txBox="1"/>
          <p:nvPr/>
        </p:nvSpPr>
        <p:spPr>
          <a:xfrm>
            <a:off x="7269480" y="2057400"/>
            <a:ext cx="1325880" cy="676656"/>
          </a:xfrm>
          <a:prstGeom prst="rect">
            <a:avLst/>
          </a:prstGeom>
          <a:noFill/>
          <a:ln/>
        </p:spPr>
        <p:txBody>
          <a:bodyPr wrap="square" lIns="0" tIns="0" rIns="0" bIns="0" rtlCol="0" anchor="ctr"/>
          <a:lstStyle/>
          <a:p>
            <a:pPr indent="0" marL="0">
              <a:buNone/>
            </a:pPr>
            <a:r>
              <a:rPr lang="en-US" sz="1400" b="1" dirty="0">
                <a:solidFill>
                  <a:schemeClr val="bg1"/>
                </a:solidFill>
              </a:rPr>
              <a:t>Gate-based quantum</a:t>
            </a:r>
            <a:endParaRPr lang="en-US" sz="1400" dirty="0"/>
          </a:p>
        </p:txBody>
      </p:sp>
      <p:sp>
        <p:nvSpPr>
          <p:cNvPr id="11" name="route line 1"/>
          <p:cNvSpPr/>
          <p:nvPr/>
        </p:nvSpPr>
        <p:spPr>
          <a:xfrm>
            <a:off x="6400800" y="1554480"/>
            <a:ext cx="0" cy="1709928"/>
          </a:xfrm>
          <a:prstGeom prst="line">
            <a:avLst/>
          </a:prstGeom>
          <a:noFill/>
          <a:ln w="12700">
            <a:solidFill>
              <a:srgbClr val="A8A3EC"/>
            </a:solidFill>
            <a:prstDash val="solid"/>
          </a:ln>
        </p:spPr>
      </p:sp>
      <p:sp>
        <p:nvSpPr>
          <p:cNvPr id="12" name="route arrow 1"/>
          <p:cNvSpPr/>
          <p:nvPr/>
        </p:nvSpPr>
        <p:spPr>
          <a:xfrm>
            <a:off x="6400800" y="3264408"/>
            <a:ext cx="274320" cy="0"/>
          </a:xfrm>
          <a:prstGeom prst="line">
            <a:avLst/>
          </a:prstGeom>
          <a:noFill/>
          <a:ln w="12700">
            <a:solidFill>
              <a:srgbClr val="A8A3EC"/>
            </a:solidFill>
            <a:prstDash val="solid"/>
            <a:tailEnd type="triangle"/>
          </a:ln>
        </p:spPr>
      </p:sp>
      <p:sp>
        <p:nvSpPr>
          <p:cNvPr id="13" name="Annealing quantum box"/>
          <p:cNvSpPr/>
          <p:nvPr/>
        </p:nvSpPr>
        <p:spPr>
          <a:xfrm>
            <a:off x="6720840" y="2926080"/>
            <a:ext cx="1920240" cy="676656"/>
          </a:xfrm>
          <a:prstGeom prst="roundRect">
            <a:avLst>
              <a:gd name="adj" fmla="val 10811"/>
            </a:avLst>
          </a:prstGeom>
          <a:solidFill>
            <a:srgbClr val="0E9384"/>
          </a:solidFill>
          <a:ln w="12700">
            <a:solidFill>
              <a:srgbClr val="0E9384"/>
            </a:solidFill>
            <a:prstDash val="solid"/>
          </a:ln>
        </p:spPr>
      </p:sp>
      <p:pic>
        <p:nvPicPr>
          <p:cNvPr id="14" name="Annealing quantum icon" descr="preencoded.png">    </p:cNvPr>
          <p:cNvPicPr>
            <a:picLocks noChangeAspect="1"/>
          </p:cNvPicPr>
          <p:nvPr/>
        </p:nvPicPr>
        <p:blipFill>
          <a:blip r:embed="rId2"/>
          <a:stretch>
            <a:fillRect/>
          </a:stretch>
        </p:blipFill>
        <p:spPr>
          <a:xfrm>
            <a:off x="6858000" y="3108960"/>
            <a:ext cx="310896" cy="310896"/>
          </a:xfrm>
          <a:prstGeom prst="rect">
            <a:avLst/>
          </a:prstGeom>
        </p:spPr>
      </p:pic>
      <p:sp>
        <p:nvSpPr>
          <p:cNvPr id="15" name="Text 11"/>
          <p:cNvSpPr txBox="1"/>
          <p:nvPr/>
        </p:nvSpPr>
        <p:spPr>
          <a:xfrm>
            <a:off x="7269480" y="2926080"/>
            <a:ext cx="1325880" cy="676656"/>
          </a:xfrm>
          <a:prstGeom prst="rect">
            <a:avLst/>
          </a:prstGeom>
          <a:noFill/>
          <a:ln/>
        </p:spPr>
        <p:txBody>
          <a:bodyPr wrap="square" lIns="0" tIns="0" rIns="0" bIns="0" rtlCol="0" anchor="ctr"/>
          <a:lstStyle/>
          <a:p>
            <a:pPr indent="0" marL="0">
              <a:buNone/>
            </a:pPr>
            <a:r>
              <a:rPr lang="en-US" sz="1400" b="1" dirty="0">
                <a:solidFill>
                  <a:schemeClr val="bg1"/>
                </a:solidFill>
              </a:rPr>
              <a:t>Annealing quantum</a:t>
            </a:r>
            <a:endParaRPr lang="en-US" sz="1400" dirty="0"/>
          </a:p>
        </p:txBody>
      </p:sp>
      <p:sp>
        <p:nvSpPr>
          <p:cNvPr id="16" name="route line 2"/>
          <p:cNvSpPr/>
          <p:nvPr/>
        </p:nvSpPr>
        <p:spPr>
          <a:xfrm>
            <a:off x="6400800" y="1554480"/>
            <a:ext cx="0" cy="2578608"/>
          </a:xfrm>
          <a:prstGeom prst="line">
            <a:avLst/>
          </a:prstGeom>
          <a:noFill/>
          <a:ln w="12700">
            <a:solidFill>
              <a:srgbClr val="A8A3EC"/>
            </a:solidFill>
            <a:prstDash val="solid"/>
          </a:ln>
        </p:spPr>
      </p:sp>
      <p:sp>
        <p:nvSpPr>
          <p:cNvPr id="17" name="route arrow 2"/>
          <p:cNvSpPr/>
          <p:nvPr/>
        </p:nvSpPr>
        <p:spPr>
          <a:xfrm>
            <a:off x="6400800" y="4133088"/>
            <a:ext cx="274320" cy="0"/>
          </a:xfrm>
          <a:prstGeom prst="line">
            <a:avLst/>
          </a:prstGeom>
          <a:noFill/>
          <a:ln w="12700">
            <a:solidFill>
              <a:srgbClr val="A8A3EC"/>
            </a:solidFill>
            <a:prstDash val="solid"/>
            <a:tailEnd type="triangle"/>
          </a:ln>
        </p:spPr>
      </p:sp>
      <p:sp>
        <p:nvSpPr>
          <p:cNvPr id="18" name="Normal laptop box"/>
          <p:cNvSpPr/>
          <p:nvPr/>
        </p:nvSpPr>
        <p:spPr>
          <a:xfrm>
            <a:off x="6720840" y="3794760"/>
            <a:ext cx="1920240" cy="676656"/>
          </a:xfrm>
          <a:prstGeom prst="roundRect">
            <a:avLst>
              <a:gd name="adj" fmla="val 10811"/>
            </a:avLst>
          </a:prstGeom>
          <a:solidFill>
            <a:srgbClr val="667085"/>
          </a:solidFill>
          <a:ln w="12700">
            <a:solidFill>
              <a:srgbClr val="667085"/>
            </a:solidFill>
            <a:prstDash val="solid"/>
          </a:ln>
        </p:spPr>
      </p:sp>
      <p:pic>
        <p:nvPicPr>
          <p:cNvPr id="19" name="Normal laptop icon" descr="preencoded.png">    </p:cNvPr>
          <p:cNvPicPr>
            <a:picLocks noChangeAspect="1"/>
          </p:cNvPicPr>
          <p:nvPr/>
        </p:nvPicPr>
        <p:blipFill>
          <a:blip r:embed="rId3"/>
          <a:stretch>
            <a:fillRect/>
          </a:stretch>
        </p:blipFill>
        <p:spPr>
          <a:xfrm>
            <a:off x="6858000" y="3977640"/>
            <a:ext cx="310896" cy="310896"/>
          </a:xfrm>
          <a:prstGeom prst="rect">
            <a:avLst/>
          </a:prstGeom>
        </p:spPr>
      </p:pic>
      <p:sp>
        <p:nvSpPr>
          <p:cNvPr id="20" name="Text 15"/>
          <p:cNvSpPr txBox="1"/>
          <p:nvPr/>
        </p:nvSpPr>
        <p:spPr>
          <a:xfrm>
            <a:off x="7269480" y="3794760"/>
            <a:ext cx="1325880" cy="676656"/>
          </a:xfrm>
          <a:prstGeom prst="rect">
            <a:avLst/>
          </a:prstGeom>
          <a:noFill/>
          <a:ln/>
        </p:spPr>
        <p:txBody>
          <a:bodyPr wrap="square" lIns="0" tIns="0" rIns="0" bIns="0" rtlCol="0" anchor="ctr"/>
          <a:lstStyle/>
          <a:p>
            <a:pPr indent="0" marL="0">
              <a:buNone/>
            </a:pPr>
            <a:r>
              <a:rPr lang="en-US" sz="1400" b="1" dirty="0">
                <a:solidFill>
                  <a:schemeClr val="bg1"/>
                </a:solidFill>
              </a:rPr>
              <a:t>Normal laptop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problem: which quantum computer to use?</a:t>
            </a:r>
            <a:endParaRPr lang="en-US" sz="2800" dirty="0"/>
          </a:p>
        </p:txBody>
      </p:sp>
      <p:sp>
        <p:nvSpPr>
          <p:cNvPr id="3" name="Fact card 0"/>
          <p:cNvSpPr/>
          <p:nvPr/>
        </p:nvSpPr>
        <p:spPr>
          <a:xfrm>
            <a:off x="457200" y="1143000"/>
            <a:ext cx="4206240" cy="1005840"/>
          </a:xfrm>
          <a:prstGeom prst="roundRect">
            <a:avLst>
              <a:gd name="adj" fmla="val 7273"/>
            </a:avLst>
          </a:prstGeom>
          <a:solidFill>
            <a:srgbClr val="F2F2F8"/>
          </a:solidFill>
          <a:ln w="12700">
            <a:solidFill>
              <a:srgbClr val="F2F2F8"/>
            </a:solidFill>
            <a:prstDash val="solid"/>
          </a:ln>
        </p:spPr>
      </p:sp>
      <p:sp>
        <p:nvSpPr>
          <p:cNvPr id="4" name="Fact 0 circle"/>
          <p:cNvSpPr/>
          <p:nvPr/>
        </p:nvSpPr>
        <p:spPr>
          <a:xfrm>
            <a:off x="640080" y="1371600"/>
            <a:ext cx="548640" cy="548640"/>
          </a:xfrm>
          <a:prstGeom prst="ellipse">
            <a:avLst/>
          </a:prstGeom>
          <a:solidFill>
            <a:srgbClr val="E8833A"/>
          </a:solidFill>
          <a:ln w="12700">
            <a:solidFill>
              <a:srgbClr val="E8833A"/>
            </a:solidFill>
            <a:prstDash val="solid"/>
          </a:ln>
        </p:spPr>
      </p:sp>
      <p:pic>
        <p:nvPicPr>
          <p:cNvPr id="5" name="Fact 0 icon" descr="preencoded.png">    </p:cNvPr>
          <p:cNvPicPr>
            <a:picLocks noChangeAspect="1"/>
          </p:cNvPicPr>
          <p:nvPr/>
        </p:nvPicPr>
        <p:blipFill>
          <a:blip r:embed="rId1"/>
          <a:stretch>
            <a:fillRect/>
          </a:stretch>
        </p:blipFill>
        <p:spPr>
          <a:xfrm>
            <a:off x="771754" y="1503274"/>
            <a:ext cx="285293" cy="285293"/>
          </a:xfrm>
          <a:prstGeom prst="rect">
            <a:avLst/>
          </a:prstGeom>
        </p:spPr>
      </p:pic>
      <p:sp>
        <p:nvSpPr>
          <p:cNvPr id="6" name="Text 3"/>
          <p:cNvSpPr txBox="1"/>
          <p:nvPr/>
        </p:nvSpPr>
        <p:spPr>
          <a:xfrm>
            <a:off x="1371600" y="1252728"/>
            <a:ext cx="3154680" cy="274320"/>
          </a:xfrm>
          <a:prstGeom prst="rect">
            <a:avLst/>
          </a:prstGeom>
          <a:noFill/>
          <a:ln/>
        </p:spPr>
        <p:txBody>
          <a:bodyPr wrap="square" lIns="0" tIns="0" rIns="0" bIns="0" rtlCol="0" anchor="t"/>
          <a:lstStyle/>
          <a:p>
            <a:pPr indent="0" marL="0">
              <a:buNone/>
            </a:pPr>
            <a:r>
              <a:rPr lang="en-US" sz="1600" b="1" dirty="0">
                <a:solidFill>
                  <a:schemeClr val="tx1"/>
                </a:solidFill>
              </a:rPr>
              <a:t>Rare and expensive</a:t>
            </a:r>
            <a:endParaRPr lang="en-US" sz="1600" dirty="0"/>
          </a:p>
        </p:txBody>
      </p:sp>
      <p:sp>
        <p:nvSpPr>
          <p:cNvPr id="7" name="Text 4"/>
          <p:cNvSpPr txBox="1"/>
          <p:nvPr/>
        </p:nvSpPr>
        <p:spPr>
          <a:xfrm>
            <a:off x="1371600" y="1527048"/>
            <a:ext cx="3200400" cy="585216"/>
          </a:xfrm>
          <a:prstGeom prst="rect">
            <a:avLst/>
          </a:prstGeom>
          <a:noFill/>
          <a:ln/>
        </p:spPr>
        <p:txBody>
          <a:bodyPr wrap="square" lIns="0" tIns="0" rIns="0" bIns="0" rtlCol="0" anchor="t"/>
          <a:lstStyle/>
          <a:p>
            <a:pPr indent="0" marL="0">
              <a:buNone/>
            </a:pPr>
            <a:r>
              <a:rPr lang="en-US" sz="1300" dirty="0">
                <a:solidFill>
                  <a:schemeClr val="tx1"/>
                </a:solidFill>
              </a:rPr>
              <a:t>We get 10 minutes of quantum time a month for free; companies pay by the second</a:t>
            </a:r>
            <a:endParaRPr lang="en-US" sz="1300" dirty="0"/>
          </a:p>
        </p:txBody>
      </p:sp>
      <p:sp>
        <p:nvSpPr>
          <p:cNvPr id="8" name="Fact card 1"/>
          <p:cNvSpPr/>
          <p:nvPr/>
        </p:nvSpPr>
        <p:spPr>
          <a:xfrm>
            <a:off x="457200" y="2240280"/>
            <a:ext cx="4206240" cy="1005840"/>
          </a:xfrm>
          <a:prstGeom prst="roundRect">
            <a:avLst>
              <a:gd name="adj" fmla="val 7273"/>
            </a:avLst>
          </a:prstGeom>
          <a:solidFill>
            <a:srgbClr val="F2F2F8"/>
          </a:solidFill>
          <a:ln w="12700">
            <a:solidFill>
              <a:srgbClr val="F2F2F8"/>
            </a:solidFill>
            <a:prstDash val="solid"/>
          </a:ln>
        </p:spPr>
      </p:sp>
      <p:sp>
        <p:nvSpPr>
          <p:cNvPr id="9" name="Fact 1 circle"/>
          <p:cNvSpPr/>
          <p:nvPr/>
        </p:nvSpPr>
        <p:spPr>
          <a:xfrm>
            <a:off x="640080" y="2468880"/>
            <a:ext cx="548640" cy="548640"/>
          </a:xfrm>
          <a:prstGeom prst="ellipse">
            <a:avLst/>
          </a:prstGeom>
          <a:solidFill>
            <a:srgbClr val="5B4FD1"/>
          </a:solidFill>
          <a:ln w="12700">
            <a:solidFill>
              <a:srgbClr val="5B4FD1"/>
            </a:solidFill>
            <a:prstDash val="solid"/>
          </a:ln>
        </p:spPr>
      </p:sp>
      <p:pic>
        <p:nvPicPr>
          <p:cNvPr id="10" name="Fact 1 icon" descr="preencoded.png">    </p:cNvPr>
          <p:cNvPicPr>
            <a:picLocks noChangeAspect="1"/>
          </p:cNvPicPr>
          <p:nvPr/>
        </p:nvPicPr>
        <p:blipFill>
          <a:blip r:embed="rId2"/>
          <a:stretch>
            <a:fillRect/>
          </a:stretch>
        </p:blipFill>
        <p:spPr>
          <a:xfrm>
            <a:off x="771754" y="2600554"/>
            <a:ext cx="285293" cy="285293"/>
          </a:xfrm>
          <a:prstGeom prst="rect">
            <a:avLst/>
          </a:prstGeom>
        </p:spPr>
      </p:pic>
      <p:sp>
        <p:nvSpPr>
          <p:cNvPr id="11" name="Text 7"/>
          <p:cNvSpPr txBox="1"/>
          <p:nvPr/>
        </p:nvSpPr>
        <p:spPr>
          <a:xfrm>
            <a:off x="1371600" y="2350008"/>
            <a:ext cx="3154680" cy="274320"/>
          </a:xfrm>
          <a:prstGeom prst="rect">
            <a:avLst/>
          </a:prstGeom>
          <a:noFill/>
          <a:ln/>
        </p:spPr>
        <p:txBody>
          <a:bodyPr wrap="square" lIns="0" tIns="0" rIns="0" bIns="0" rtlCol="0" anchor="t"/>
          <a:lstStyle/>
          <a:p>
            <a:pPr indent="0" marL="0">
              <a:buNone/>
            </a:pPr>
            <a:r>
              <a:rPr lang="en-US" sz="1600" b="1" dirty="0">
                <a:solidFill>
                  <a:schemeClr val="tx1"/>
                </a:solidFill>
              </a:rPr>
              <a:t>Two kinds</a:t>
            </a:r>
            <a:endParaRPr lang="en-US" sz="1600" dirty="0"/>
          </a:p>
        </p:txBody>
      </p:sp>
      <p:sp>
        <p:nvSpPr>
          <p:cNvPr id="12" name="Text 8"/>
          <p:cNvSpPr txBox="1"/>
          <p:nvPr/>
        </p:nvSpPr>
        <p:spPr>
          <a:xfrm>
            <a:off x="1371600" y="2624328"/>
            <a:ext cx="3200400" cy="585216"/>
          </a:xfrm>
          <a:prstGeom prst="rect">
            <a:avLst/>
          </a:prstGeom>
          <a:noFill/>
          <a:ln/>
        </p:spPr>
        <p:txBody>
          <a:bodyPr wrap="square" lIns="0" tIns="0" rIns="0" bIns="0" rtlCol="0" anchor="t"/>
          <a:lstStyle/>
          <a:p>
            <a:pPr indent="0" marL="0">
              <a:buNone/>
            </a:pPr>
            <a:r>
              <a:rPr lang="en-US" sz="1300" dirty="0">
                <a:solidFill>
                  <a:schemeClr val="tx1"/>
                </a:solidFill>
              </a:rPr>
              <a:t>There are two kinds of quantum computer, and each is good at different problems</a:t>
            </a:r>
            <a:endParaRPr lang="en-US" sz="1300" dirty="0"/>
          </a:p>
        </p:txBody>
      </p:sp>
      <p:sp>
        <p:nvSpPr>
          <p:cNvPr id="13" name="Fact card 2"/>
          <p:cNvSpPr/>
          <p:nvPr/>
        </p:nvSpPr>
        <p:spPr>
          <a:xfrm>
            <a:off x="457200" y="3337560"/>
            <a:ext cx="4206240" cy="1005840"/>
          </a:xfrm>
          <a:prstGeom prst="roundRect">
            <a:avLst>
              <a:gd name="adj" fmla="val 7273"/>
            </a:avLst>
          </a:prstGeom>
          <a:solidFill>
            <a:srgbClr val="F2F2F8"/>
          </a:solidFill>
          <a:ln w="12700">
            <a:solidFill>
              <a:srgbClr val="F2F2F8"/>
            </a:solidFill>
            <a:prstDash val="solid"/>
          </a:ln>
        </p:spPr>
      </p:sp>
      <p:sp>
        <p:nvSpPr>
          <p:cNvPr id="14" name="Fact 2 circle"/>
          <p:cNvSpPr/>
          <p:nvPr/>
        </p:nvSpPr>
        <p:spPr>
          <a:xfrm>
            <a:off x="640080" y="3566160"/>
            <a:ext cx="548640" cy="548640"/>
          </a:xfrm>
          <a:prstGeom prst="ellipse">
            <a:avLst/>
          </a:prstGeom>
          <a:solidFill>
            <a:srgbClr val="D64545"/>
          </a:solidFill>
          <a:ln w="12700">
            <a:solidFill>
              <a:srgbClr val="D64545"/>
            </a:solidFill>
            <a:prstDash val="solid"/>
          </a:ln>
        </p:spPr>
      </p:sp>
      <p:pic>
        <p:nvPicPr>
          <p:cNvPr id="15" name="Fact 2 icon" descr="preencoded.png">    </p:cNvPr>
          <p:cNvPicPr>
            <a:picLocks noChangeAspect="1"/>
          </p:cNvPicPr>
          <p:nvPr/>
        </p:nvPicPr>
        <p:blipFill>
          <a:blip r:embed="rId3"/>
          <a:stretch>
            <a:fillRect/>
          </a:stretch>
        </p:blipFill>
        <p:spPr>
          <a:xfrm>
            <a:off x="771754" y="3697834"/>
            <a:ext cx="285293" cy="285293"/>
          </a:xfrm>
          <a:prstGeom prst="rect">
            <a:avLst/>
          </a:prstGeom>
        </p:spPr>
      </p:pic>
      <p:sp>
        <p:nvSpPr>
          <p:cNvPr id="16" name="Text 11"/>
          <p:cNvSpPr txBox="1"/>
          <p:nvPr/>
        </p:nvSpPr>
        <p:spPr>
          <a:xfrm>
            <a:off x="1371600" y="3447288"/>
            <a:ext cx="3154680" cy="274320"/>
          </a:xfrm>
          <a:prstGeom prst="rect">
            <a:avLst/>
          </a:prstGeom>
          <a:noFill/>
          <a:ln/>
        </p:spPr>
        <p:txBody>
          <a:bodyPr wrap="square" lIns="0" tIns="0" rIns="0" bIns="0" rtlCol="0" anchor="t"/>
          <a:lstStyle/>
          <a:p>
            <a:pPr indent="0" marL="0">
              <a:buNone/>
            </a:pPr>
            <a:r>
              <a:rPr lang="en-US" sz="1600" b="1" dirty="0">
                <a:solidFill>
                  <a:schemeClr val="tx1"/>
                </a:solidFill>
              </a:rPr>
              <a:t>They make mistakes</a:t>
            </a:r>
            <a:endParaRPr lang="en-US" sz="1600" dirty="0"/>
          </a:p>
        </p:txBody>
      </p:sp>
      <p:sp>
        <p:nvSpPr>
          <p:cNvPr id="17" name="Text 12"/>
          <p:cNvSpPr txBox="1"/>
          <p:nvPr/>
        </p:nvSpPr>
        <p:spPr>
          <a:xfrm>
            <a:off x="1371600" y="3721608"/>
            <a:ext cx="3200400" cy="585216"/>
          </a:xfrm>
          <a:prstGeom prst="rect">
            <a:avLst/>
          </a:prstGeom>
          <a:noFill/>
          <a:ln/>
        </p:spPr>
        <p:txBody>
          <a:bodyPr wrap="square" lIns="0" tIns="0" rIns="0" bIns="0" rtlCol="0" anchor="t"/>
          <a:lstStyle/>
          <a:p>
            <a:pPr indent="0" marL="0">
              <a:buNone/>
            </a:pPr>
            <a:r>
              <a:rPr lang="en-US" sz="1300" dirty="0">
                <a:solidFill>
                  <a:schemeClr val="tx1"/>
                </a:solidFill>
              </a:rPr>
              <a:t>Today's quantum chips make errors. Pick the wrong one and the answer is useless</a:t>
            </a:r>
            <a:endParaRPr lang="en-US" sz="1300" dirty="0"/>
          </a:p>
        </p:txBody>
      </p:sp>
      <p:sp>
        <p:nvSpPr>
          <p:cNvPr id="18" name="Who it affects card"/>
          <p:cNvSpPr/>
          <p:nvPr/>
        </p:nvSpPr>
        <p:spPr>
          <a:xfrm>
            <a:off x="4937760" y="1143000"/>
            <a:ext cx="3749040" cy="2029968"/>
          </a:xfrm>
          <a:prstGeom prst="roundRect">
            <a:avLst>
              <a:gd name="adj" fmla="val 3604"/>
            </a:avLst>
          </a:prstGeom>
          <a:solidFill>
            <a:srgbClr val="2B2A6B"/>
          </a:solidFill>
          <a:ln w="12700">
            <a:solidFill>
              <a:srgbClr val="2B2A6B"/>
            </a:solidFill>
            <a:prstDash val="solid"/>
          </a:ln>
          <a:effectLst>
            <a:outerShdw sx="100000" sy="100000" kx="0" ky="0" algn="bl" rotWithShape="0" blurRad="76200" dist="25400" dir="5400000">
              <a:srgbClr val="000000">
                <a:alpha val="12000"/>
              </a:srgbClr>
            </a:outerShdw>
          </a:effectLst>
        </p:spPr>
      </p:sp>
      <p:sp>
        <p:nvSpPr>
          <p:cNvPr id="19" name="Text 14"/>
          <p:cNvSpPr txBox="1"/>
          <p:nvPr/>
        </p:nvSpPr>
        <p:spPr>
          <a:xfrm>
            <a:off x="5166360" y="1280160"/>
            <a:ext cx="3291840" cy="274320"/>
          </a:xfrm>
          <a:prstGeom prst="rect">
            <a:avLst/>
          </a:prstGeom>
          <a:noFill/>
          <a:ln/>
        </p:spPr>
        <p:txBody>
          <a:bodyPr wrap="square" lIns="0" tIns="0" rIns="0" bIns="0" rtlCol="0" anchor="t"/>
          <a:lstStyle/>
          <a:p>
            <a:pPr indent="0" marL="0">
              <a:buNone/>
            </a:pPr>
            <a:r>
              <a:rPr lang="en-US" sz="1600" b="1" dirty="0">
                <a:solidFill>
                  <a:schemeClr val="bg1"/>
                </a:solidFill>
              </a:rPr>
              <a:t>Who it affects</a:t>
            </a:r>
            <a:endParaRPr lang="en-US" sz="1600" dirty="0"/>
          </a:p>
        </p:txBody>
      </p:sp>
      <p:sp>
        <p:nvSpPr>
          <p:cNvPr id="20" name="Text 15"/>
          <p:cNvSpPr txBox="1"/>
          <p:nvPr/>
        </p:nvSpPr>
        <p:spPr>
          <a:xfrm>
            <a:off x="5166360" y="1627632"/>
            <a:ext cx="3337560" cy="146304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chemeClr val="bg1"/>
                </a:solidFill>
              </a:rPr>
              <a:t>Companies trying quantum, like drug makers and banks, who pay for every minute</a:t>
            </a:r>
            <a:endParaRPr lang="en-US" sz="1300" dirty="0"/>
          </a:p>
          <a:p>
            <a:pPr marL="177800" indent="-177800">
              <a:spcAft>
                <a:spcPts val="400"/>
              </a:spcAft>
              <a:buSzPct val="100000"/>
              <a:buChar char="•"/>
            </a:pPr>
            <a:r>
              <a:rPr lang="en-US" sz="1300" dirty="0">
                <a:solidFill>
                  <a:schemeClr val="bg1"/>
                </a:solidFill>
              </a:rPr>
              <a:t>IBM, D-Wave and Amazon, who rent out quantum computers and must decide where each job goes</a:t>
            </a:r>
            <a:endParaRPr lang="en-US" sz="1300" dirty="0"/>
          </a:p>
          <a:p>
            <a:pPr marL="177800" indent="-177800">
              <a:spcAft>
                <a:spcPts val="400"/>
              </a:spcAft>
              <a:buSzPct val="100000"/>
              <a:buChar char="•"/>
            </a:pPr>
            <a:r>
              <a:rPr lang="en-US" sz="1300" dirty="0">
                <a:solidFill>
                  <a:schemeClr val="bg1"/>
                </a:solidFill>
              </a:rPr>
              <a:t>Students and researchers with tiny budgets</a:t>
            </a:r>
            <a:endParaRPr lang="en-US" sz="1300" dirty="0"/>
          </a:p>
        </p:txBody>
      </p:sp>
      <p:sp>
        <p:nvSpPr>
          <p:cNvPr id="21" name="Question card"/>
          <p:cNvSpPr/>
          <p:nvPr/>
        </p:nvSpPr>
        <p:spPr>
          <a:xfrm>
            <a:off x="4937760" y="3310128"/>
            <a:ext cx="3749040" cy="1161288"/>
          </a:xfrm>
          <a:prstGeom prst="roundRect">
            <a:avLst>
              <a:gd name="adj" fmla="val 6299"/>
            </a:avLst>
          </a:prstGeom>
          <a:solidFill>
            <a:srgbClr val="FFF4EA"/>
          </a:solidFill>
          <a:ln w="12700">
            <a:solidFill>
              <a:srgbClr val="FFF4EA"/>
            </a:solidFill>
            <a:prstDash val="solid"/>
          </a:ln>
        </p:spPr>
      </p:sp>
      <p:sp>
        <p:nvSpPr>
          <p:cNvPr id="22" name="Text 17"/>
          <p:cNvSpPr txBox="1"/>
          <p:nvPr/>
        </p:nvSpPr>
        <p:spPr>
          <a:xfrm>
            <a:off x="5166360" y="3401568"/>
            <a:ext cx="3291840" cy="274320"/>
          </a:xfrm>
          <a:prstGeom prst="rect">
            <a:avLst/>
          </a:prstGeom>
          <a:noFill/>
          <a:ln/>
        </p:spPr>
        <p:txBody>
          <a:bodyPr wrap="square" lIns="0" tIns="0" rIns="0" bIns="0" rtlCol="0" anchor="t"/>
          <a:lstStyle/>
          <a:p>
            <a:pPr indent="0" marL="0">
              <a:buNone/>
            </a:pPr>
            <a:r>
              <a:rPr lang="en-US" sz="1400" b="1" dirty="0">
                <a:solidFill>
                  <a:schemeClr val="tx1"/>
                </a:solidFill>
              </a:rPr>
              <a:t>Q-Router answers three questions</a:t>
            </a:r>
            <a:endParaRPr lang="en-US" sz="1400" dirty="0"/>
          </a:p>
        </p:txBody>
      </p:sp>
      <p:sp>
        <p:nvSpPr>
          <p:cNvPr id="23" name="Text 18"/>
          <p:cNvSpPr txBox="1"/>
          <p:nvPr/>
        </p:nvSpPr>
        <p:spPr>
          <a:xfrm>
            <a:off x="5166360" y="3703320"/>
            <a:ext cx="3337560" cy="685800"/>
          </a:xfrm>
          <a:prstGeom prst="rect">
            <a:avLst/>
          </a:prstGeom>
          <a:noFill/>
          <a:ln/>
        </p:spPr>
        <p:txBody>
          <a:bodyPr wrap="square" lIns="0" tIns="0" rIns="0" bIns="0" rtlCol="0" anchor="t"/>
          <a:lstStyle/>
          <a:p>
            <a:pPr indent="0" marL="0">
              <a:buNone/>
            </a:pPr>
            <a:r>
              <a:rPr lang="en-US" sz="1400" i="1" dirty="0">
                <a:solidFill>
                  <a:schemeClr val="tx1"/>
                </a:solidFill>
              </a:rPr>
              <a:t>Is quantum worth it?  Which kind?  For which part of the problem?</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Test case: which drugs should we fund?</a:t>
            </a:r>
            <a:endParaRPr lang="en-US" sz="2800" dirty="0"/>
          </a:p>
        </p:txBody>
      </p:sp>
      <p:sp>
        <p:nvSpPr>
          <p:cNvPr id="3" name="Drug card"/>
          <p:cNvSpPr/>
          <p:nvPr/>
        </p:nvSpPr>
        <p:spPr>
          <a:xfrm>
            <a:off x="457200" y="1097280"/>
            <a:ext cx="4160520" cy="3429000"/>
          </a:xfrm>
          <a:prstGeom prst="roundRect">
            <a:avLst>
              <a:gd name="adj" fmla="val 2133"/>
            </a:avLst>
          </a:prstGeom>
          <a:solidFill>
            <a:srgbClr val="F2F2F8"/>
          </a:solidFill>
          <a:ln w="12700">
            <a:solidFill>
              <a:srgbClr val="F2F2F8"/>
            </a:solidFill>
            <a:prstDash val="solid"/>
          </a:ln>
        </p:spPr>
      </p:sp>
      <p:sp>
        <p:nvSpPr>
          <p:cNvPr id="4" name="Drug circle"/>
          <p:cNvSpPr/>
          <p:nvPr/>
        </p:nvSpPr>
        <p:spPr>
          <a:xfrm>
            <a:off x="640080" y="1261872"/>
            <a:ext cx="502920" cy="502920"/>
          </a:xfrm>
          <a:prstGeom prst="ellipse">
            <a:avLst/>
          </a:prstGeom>
          <a:solidFill>
            <a:srgbClr val="5B4FD1"/>
          </a:solidFill>
          <a:ln w="12700">
            <a:solidFill>
              <a:srgbClr val="5B4FD1"/>
            </a:solidFill>
            <a:prstDash val="solid"/>
          </a:ln>
        </p:spPr>
      </p:sp>
      <p:pic>
        <p:nvPicPr>
          <p:cNvPr id="5" name="Drug icon" descr="preencoded.png">    </p:cNvPr>
          <p:cNvPicPr>
            <a:picLocks noChangeAspect="1"/>
          </p:cNvPicPr>
          <p:nvPr/>
        </p:nvPicPr>
        <p:blipFill>
          <a:blip r:embed="rId1"/>
          <a:stretch>
            <a:fillRect/>
          </a:stretch>
        </p:blipFill>
        <p:spPr>
          <a:xfrm>
            <a:off x="760781" y="1382573"/>
            <a:ext cx="261518" cy="261518"/>
          </a:xfrm>
          <a:prstGeom prst="rect">
            <a:avLst/>
          </a:prstGeom>
        </p:spPr>
      </p:pic>
      <p:sp>
        <p:nvSpPr>
          <p:cNvPr id="6" name="Text 3"/>
          <p:cNvSpPr txBox="1"/>
          <p:nvPr/>
        </p:nvSpPr>
        <p:spPr>
          <a:xfrm>
            <a:off x="1280160" y="1280160"/>
            <a:ext cx="3200400" cy="457200"/>
          </a:xfrm>
          <a:prstGeom prst="rect">
            <a:avLst/>
          </a:prstGeom>
          <a:noFill/>
          <a:ln/>
        </p:spPr>
        <p:txBody>
          <a:bodyPr wrap="square" lIns="0" tIns="0" rIns="0" bIns="0" rtlCol="0" anchor="ctr"/>
          <a:lstStyle/>
          <a:p>
            <a:pPr indent="0" marL="0">
              <a:buNone/>
            </a:pPr>
            <a:r>
              <a:rPr lang="en-US" sz="1600" b="1" dirty="0">
                <a:solidFill>
                  <a:schemeClr val="tx1"/>
                </a:solidFill>
              </a:rPr>
              <a:t>10 possible drugs, money for 4</a:t>
            </a:r>
            <a:endParaRPr lang="en-US" sz="1600" dirty="0"/>
          </a:p>
        </p:txBody>
      </p:sp>
      <p:sp>
        <p:nvSpPr>
          <p:cNvPr id="7" name="Text 4"/>
          <p:cNvSpPr txBox="1"/>
          <p:nvPr/>
        </p:nvSpPr>
        <p:spPr>
          <a:xfrm>
            <a:off x="685800" y="1828800"/>
            <a:ext cx="3794760" cy="210312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Each drug: </a:t>
            </a:r>
            <a:pPr indent="0" marL="0">
              <a:spcAft>
                <a:spcPts val="400"/>
              </a:spcAft>
              <a:buNone/>
            </a:pPr>
            <a:r>
              <a:rPr lang="en-US" sz="1400" dirty="0">
                <a:solidFill>
                  <a:schemeClr val="tx1"/>
                </a:solidFill>
              </a:rPr>
              <a:t>how much money it could make vs. what it costs</a:t>
            </a:r>
            <a:endParaRPr lang="en-US" sz="1400" dirty="0"/>
          </a:p>
          <a:p>
            <a:pPr indent="0" marL="0">
              <a:spcAft>
                <a:spcPts val="400"/>
              </a:spcAft>
              <a:buNone/>
            </a:pPr>
            <a:r>
              <a:rPr lang="en-US" sz="1400" b="1" dirty="0">
                <a:solidFill>
                  <a:schemeClr val="tx1"/>
                </a:solidFill>
              </a:rPr>
              <a:t>Each pair: </a:t>
            </a:r>
            <a:pPr indent="0" marL="0">
              <a:spcAft>
                <a:spcPts val="400"/>
              </a:spcAft>
              <a:buNone/>
            </a:pPr>
            <a:r>
              <a:rPr lang="en-US" sz="1400" dirty="0">
                <a:solidFill>
                  <a:schemeClr val="tx1"/>
                </a:solidFill>
              </a:rPr>
              <a:t>drugs for the same disease often fail together, which adds risk</a:t>
            </a:r>
            <a:endParaRPr lang="en-US" sz="1400" dirty="0"/>
          </a:p>
          <a:p>
            <a:pPr indent="0" marL="0">
              <a:spcAft>
                <a:spcPts val="400"/>
              </a:spcAft>
              <a:buNone/>
            </a:pPr>
            <a:r>
              <a:rPr lang="en-US" sz="1400" b="1" dirty="0">
                <a:solidFill>
                  <a:schemeClr val="tx1"/>
                </a:solidFill>
              </a:rPr>
              <a:t>The rule: </a:t>
            </a:r>
            <a:pPr indent="0" marL="0">
              <a:spcAft>
                <a:spcPts val="400"/>
              </a:spcAft>
              <a:buNone/>
            </a:pPr>
            <a:r>
              <a:rPr lang="en-US" sz="1400" dirty="0">
                <a:solidFill>
                  <a:schemeClr val="tx1"/>
                </a:solidFill>
              </a:rPr>
              <a:t>fund exactly 4</a:t>
            </a:r>
            <a:endParaRPr lang="en-US" sz="1400" dirty="0"/>
          </a:p>
          <a:p>
            <a:pPr indent="0" marL="0">
              <a:spcAft>
                <a:spcPts val="400"/>
              </a:spcAft>
              <a:buNone/>
            </a:pPr>
            <a:r>
              <a:rPr lang="en-US" sz="1400" b="1" dirty="0">
                <a:solidFill>
                  <a:schemeClr val="tx1"/>
                </a:solidFill>
              </a:rPr>
              <a:t>Goal: </a:t>
            </a:r>
            <a:pPr indent="0" marL="0">
              <a:spcAft>
                <a:spcPts val="400"/>
              </a:spcAft>
              <a:buNone/>
            </a:pPr>
            <a:r>
              <a:rPr lang="en-US" sz="1400" dirty="0">
                <a:solidFill>
                  <a:schemeClr val="tx1"/>
                </a:solidFill>
              </a:rPr>
              <a:t>the most money for the least risk, out of 210 possible choices</a:t>
            </a:r>
            <a:endParaRPr lang="en-US" sz="1400" dirty="0"/>
          </a:p>
        </p:txBody>
      </p:sp>
      <p:sp>
        <p:nvSpPr>
          <p:cNvPr id="8" name="Text 5"/>
          <p:cNvSpPr txBox="1"/>
          <p:nvPr/>
        </p:nvSpPr>
        <p:spPr>
          <a:xfrm>
            <a:off x="685800" y="4005072"/>
            <a:ext cx="3794760" cy="475488"/>
          </a:xfrm>
          <a:prstGeom prst="rect">
            <a:avLst/>
          </a:prstGeom>
          <a:noFill/>
          <a:ln/>
        </p:spPr>
        <p:txBody>
          <a:bodyPr wrap="square" lIns="0" tIns="0" rIns="0" bIns="0" rtlCol="0" anchor="t"/>
          <a:lstStyle/>
          <a:p>
            <a:pPr indent="0" marL="0">
              <a:buNone/>
            </a:pPr>
            <a:r>
              <a:rPr lang="en-US" sz="1200" i="1" dirty="0">
                <a:solidFill>
                  <a:schemeClr val="tx2"/>
                </a:solidFill>
              </a:rPr>
              <a:t>The same math investors use to pick stocks, applied to drugs. Each yes/no choice becomes one qubit.</a:t>
            </a:r>
            <a:endParaRPr lang="en-US" sz="1200" dirty="0"/>
          </a:p>
        </p:txBody>
      </p:sp>
      <p:sp>
        <p:nvSpPr>
          <p:cNvPr id="9" name="Text 6"/>
          <p:cNvSpPr txBox="1"/>
          <p:nvPr/>
        </p:nvSpPr>
        <p:spPr>
          <a:xfrm>
            <a:off x="4892040" y="1097280"/>
            <a:ext cx="3794760" cy="320040"/>
          </a:xfrm>
          <a:prstGeom prst="rect">
            <a:avLst/>
          </a:prstGeom>
          <a:noFill/>
          <a:ln/>
        </p:spPr>
        <p:txBody>
          <a:bodyPr wrap="square" lIns="0" tIns="0" rIns="0" bIns="0" rtlCol="0" anchor="t"/>
          <a:lstStyle/>
          <a:p>
            <a:pPr indent="0" marL="0">
              <a:buNone/>
            </a:pPr>
            <a:r>
              <a:rPr lang="en-US" sz="1500" b="1" dirty="0">
                <a:solidFill>
                  <a:schemeClr val="tx1"/>
                </a:solidFill>
              </a:rPr>
              <a:t>We also tested three other kinds of decision</a:t>
            </a:r>
            <a:endParaRPr lang="en-US" sz="1500" dirty="0"/>
          </a:p>
        </p:txBody>
      </p:sp>
      <p:sp>
        <p:nvSpPr>
          <p:cNvPr id="10" name="Money circle"/>
          <p:cNvSpPr/>
          <p:nvPr/>
        </p:nvSpPr>
        <p:spPr>
          <a:xfrm>
            <a:off x="4892040" y="1581912"/>
            <a:ext cx="457200" cy="457200"/>
          </a:xfrm>
          <a:prstGeom prst="ellipse">
            <a:avLst/>
          </a:prstGeom>
          <a:solidFill>
            <a:srgbClr val="5B4FD1"/>
          </a:solidFill>
          <a:ln w="12700">
            <a:solidFill>
              <a:srgbClr val="5B4FD1"/>
            </a:solidFill>
            <a:prstDash val="solid"/>
          </a:ln>
        </p:spPr>
      </p:sp>
      <p:pic>
        <p:nvPicPr>
          <p:cNvPr id="11" name="Money icon" descr="preencoded.png">    </p:cNvPr>
          <p:cNvPicPr>
            <a:picLocks noChangeAspect="1"/>
          </p:cNvPicPr>
          <p:nvPr/>
        </p:nvPicPr>
        <p:blipFill>
          <a:blip r:embed="rId2"/>
          <a:stretch>
            <a:fillRect/>
          </a:stretch>
        </p:blipFill>
        <p:spPr>
          <a:xfrm>
            <a:off x="5001768" y="1691640"/>
            <a:ext cx="237744" cy="237744"/>
          </a:xfrm>
          <a:prstGeom prst="rect">
            <a:avLst/>
          </a:prstGeom>
        </p:spPr>
      </p:pic>
      <p:sp>
        <p:nvSpPr>
          <p:cNvPr id="12" name="Text 8"/>
          <p:cNvSpPr txBox="1"/>
          <p:nvPr/>
        </p:nvSpPr>
        <p:spPr>
          <a:xfrm>
            <a:off x="5486400" y="1536192"/>
            <a:ext cx="3200400" cy="274320"/>
          </a:xfrm>
          <a:prstGeom prst="rect">
            <a:avLst/>
          </a:prstGeom>
          <a:noFill/>
          <a:ln/>
        </p:spPr>
        <p:txBody>
          <a:bodyPr wrap="square" lIns="0" tIns="0" rIns="0" bIns="0" rtlCol="0" anchor="t"/>
          <a:lstStyle/>
          <a:p>
            <a:pPr indent="0" marL="0">
              <a:buNone/>
            </a:pPr>
            <a:r>
              <a:rPr lang="en-US" sz="1400" b="1" dirty="0">
                <a:solidFill>
                  <a:schemeClr val="tx1"/>
                </a:solidFill>
              </a:rPr>
              <a:t>Money</a:t>
            </a:r>
            <a:endParaRPr lang="en-US" sz="1400" dirty="0"/>
          </a:p>
        </p:txBody>
      </p:sp>
      <p:sp>
        <p:nvSpPr>
          <p:cNvPr id="13" name="Text 9"/>
          <p:cNvSpPr txBox="1"/>
          <p:nvPr/>
        </p:nvSpPr>
        <p:spPr>
          <a:xfrm>
            <a:off x="5486400" y="1810512"/>
            <a:ext cx="3200400" cy="411480"/>
          </a:xfrm>
          <a:prstGeom prst="rect">
            <a:avLst/>
          </a:prstGeom>
          <a:noFill/>
          <a:ln/>
        </p:spPr>
        <p:txBody>
          <a:bodyPr wrap="square" lIns="0" tIns="0" rIns="0" bIns="0" rtlCol="0" anchor="t"/>
          <a:lstStyle/>
          <a:p>
            <a:pPr indent="0" marL="0">
              <a:buNone/>
            </a:pPr>
            <a:r>
              <a:rPr lang="en-US" sz="1300" dirty="0">
                <a:solidFill>
                  <a:schemeClr val="tx1"/>
                </a:solidFill>
              </a:rPr>
              <a:t>Which stocks to buy (real stock prices)</a:t>
            </a:r>
            <a:endParaRPr lang="en-US" sz="1300" dirty="0"/>
          </a:p>
        </p:txBody>
      </p:sp>
      <p:sp>
        <p:nvSpPr>
          <p:cNvPr id="14" name="Health circle"/>
          <p:cNvSpPr/>
          <p:nvPr/>
        </p:nvSpPr>
        <p:spPr>
          <a:xfrm>
            <a:off x="4892040" y="2340864"/>
            <a:ext cx="457200" cy="457200"/>
          </a:xfrm>
          <a:prstGeom prst="ellipse">
            <a:avLst/>
          </a:prstGeom>
          <a:solidFill>
            <a:srgbClr val="0E9384"/>
          </a:solidFill>
          <a:ln w="12700">
            <a:solidFill>
              <a:srgbClr val="0E9384"/>
            </a:solidFill>
            <a:prstDash val="solid"/>
          </a:ln>
        </p:spPr>
      </p:sp>
      <p:pic>
        <p:nvPicPr>
          <p:cNvPr id="15" name="Health icon" descr="preencoded.png">    </p:cNvPr>
          <p:cNvPicPr>
            <a:picLocks noChangeAspect="1"/>
          </p:cNvPicPr>
          <p:nvPr/>
        </p:nvPicPr>
        <p:blipFill>
          <a:blip r:embed="rId3"/>
          <a:stretch>
            <a:fillRect/>
          </a:stretch>
        </p:blipFill>
        <p:spPr>
          <a:xfrm>
            <a:off x="5001768" y="2450592"/>
            <a:ext cx="237744" cy="237744"/>
          </a:xfrm>
          <a:prstGeom prst="rect">
            <a:avLst/>
          </a:prstGeom>
        </p:spPr>
      </p:pic>
      <p:sp>
        <p:nvSpPr>
          <p:cNvPr id="16" name="Text 11"/>
          <p:cNvSpPr txBox="1"/>
          <p:nvPr/>
        </p:nvSpPr>
        <p:spPr>
          <a:xfrm>
            <a:off x="5486400" y="2295144"/>
            <a:ext cx="3200400" cy="274320"/>
          </a:xfrm>
          <a:prstGeom prst="rect">
            <a:avLst/>
          </a:prstGeom>
          <a:noFill/>
          <a:ln/>
        </p:spPr>
        <p:txBody>
          <a:bodyPr wrap="square" lIns="0" tIns="0" rIns="0" bIns="0" rtlCol="0" anchor="t"/>
          <a:lstStyle/>
          <a:p>
            <a:pPr indent="0" marL="0">
              <a:buNone/>
            </a:pPr>
            <a:r>
              <a:rPr lang="en-US" sz="1400" b="1" dirty="0">
                <a:solidFill>
                  <a:schemeClr val="tx1"/>
                </a:solidFill>
              </a:rPr>
              <a:t>Health</a:t>
            </a:r>
            <a:endParaRPr lang="en-US" sz="1400" dirty="0"/>
          </a:p>
        </p:txBody>
      </p:sp>
      <p:sp>
        <p:nvSpPr>
          <p:cNvPr id="17" name="Text 12"/>
          <p:cNvSpPr txBox="1"/>
          <p:nvPr/>
        </p:nvSpPr>
        <p:spPr>
          <a:xfrm>
            <a:off x="5486400" y="2569464"/>
            <a:ext cx="3200400" cy="411480"/>
          </a:xfrm>
          <a:prstGeom prst="rect">
            <a:avLst/>
          </a:prstGeom>
          <a:noFill/>
          <a:ln/>
        </p:spPr>
        <p:txBody>
          <a:bodyPr wrap="square" lIns="0" tIns="0" rIns="0" bIns="0" rtlCol="0" anchor="t"/>
          <a:lstStyle/>
          <a:p>
            <a:pPr indent="0" marL="0">
              <a:buNone/>
            </a:pPr>
            <a:r>
              <a:rPr lang="en-US" sz="1300" dirty="0">
                <a:solidFill>
                  <a:schemeClr val="tx1"/>
                </a:solidFill>
              </a:rPr>
              <a:t>Which medical tests to order (real patient data)</a:t>
            </a:r>
            <a:endParaRPr lang="en-US" sz="1300" dirty="0"/>
          </a:p>
        </p:txBody>
      </p:sp>
      <p:sp>
        <p:nvSpPr>
          <p:cNvPr id="18" name="Money + health circle"/>
          <p:cNvSpPr/>
          <p:nvPr/>
        </p:nvSpPr>
        <p:spPr>
          <a:xfrm>
            <a:off x="4892040" y="3099816"/>
            <a:ext cx="457200" cy="457200"/>
          </a:xfrm>
          <a:prstGeom prst="ellipse">
            <a:avLst/>
          </a:prstGeom>
          <a:solidFill>
            <a:srgbClr val="E8833A"/>
          </a:solidFill>
          <a:ln w="12700">
            <a:solidFill>
              <a:srgbClr val="E8833A"/>
            </a:solidFill>
            <a:prstDash val="solid"/>
          </a:ln>
        </p:spPr>
      </p:sp>
      <p:pic>
        <p:nvPicPr>
          <p:cNvPr id="19" name="Money + health icon" descr="preencoded.png">    </p:cNvPr>
          <p:cNvPicPr>
            <a:picLocks noChangeAspect="1"/>
          </p:cNvPicPr>
          <p:nvPr/>
        </p:nvPicPr>
        <p:blipFill>
          <a:blip r:embed="rId4"/>
          <a:stretch>
            <a:fillRect/>
          </a:stretch>
        </p:blipFill>
        <p:spPr>
          <a:xfrm>
            <a:off x="5001768" y="3209544"/>
            <a:ext cx="237744" cy="237744"/>
          </a:xfrm>
          <a:prstGeom prst="rect">
            <a:avLst/>
          </a:prstGeom>
        </p:spPr>
      </p:pic>
      <p:sp>
        <p:nvSpPr>
          <p:cNvPr id="20" name="Text 14"/>
          <p:cNvSpPr txBox="1"/>
          <p:nvPr/>
        </p:nvSpPr>
        <p:spPr>
          <a:xfrm>
            <a:off x="5486400" y="3054096"/>
            <a:ext cx="3200400" cy="274320"/>
          </a:xfrm>
          <a:prstGeom prst="rect">
            <a:avLst/>
          </a:prstGeom>
          <a:noFill/>
          <a:ln/>
        </p:spPr>
        <p:txBody>
          <a:bodyPr wrap="square" lIns="0" tIns="0" rIns="0" bIns="0" rtlCol="0" anchor="t"/>
          <a:lstStyle/>
          <a:p>
            <a:pPr indent="0" marL="0">
              <a:buNone/>
            </a:pPr>
            <a:r>
              <a:rPr lang="en-US" sz="1400" b="1" dirty="0">
                <a:solidFill>
                  <a:schemeClr val="tx1"/>
                </a:solidFill>
              </a:rPr>
              <a:t>Money + health</a:t>
            </a:r>
            <a:endParaRPr lang="en-US" sz="1400" dirty="0"/>
          </a:p>
        </p:txBody>
      </p:sp>
      <p:sp>
        <p:nvSpPr>
          <p:cNvPr id="21" name="Text 15"/>
          <p:cNvSpPr txBox="1"/>
          <p:nvPr/>
        </p:nvSpPr>
        <p:spPr>
          <a:xfrm>
            <a:off x="5486400" y="3328416"/>
            <a:ext cx="3200400" cy="411480"/>
          </a:xfrm>
          <a:prstGeom prst="rect">
            <a:avLst/>
          </a:prstGeom>
          <a:noFill/>
          <a:ln/>
        </p:spPr>
        <p:txBody>
          <a:bodyPr wrap="square" lIns="0" tIns="0" rIns="0" bIns="0" rtlCol="0" anchor="t"/>
          <a:lstStyle/>
          <a:p>
            <a:pPr indent="0" marL="0">
              <a:buNone/>
            </a:pPr>
            <a:r>
              <a:rPr lang="en-US" sz="1300" dirty="0">
                <a:solidFill>
                  <a:schemeClr val="tx1"/>
                </a:solidFill>
              </a:rPr>
              <a:t>Which drugs to fund (our main example)</a:t>
            </a:r>
            <a:endParaRPr lang="en-US" sz="1300" dirty="0"/>
          </a:p>
        </p:txBody>
      </p:sp>
      <p:sp>
        <p:nvSpPr>
          <p:cNvPr id="22" name="Networks circle"/>
          <p:cNvSpPr/>
          <p:nvPr/>
        </p:nvSpPr>
        <p:spPr>
          <a:xfrm>
            <a:off x="4892040" y="3858768"/>
            <a:ext cx="457200" cy="457200"/>
          </a:xfrm>
          <a:prstGeom prst="ellipse">
            <a:avLst/>
          </a:prstGeom>
          <a:solidFill>
            <a:srgbClr val="667085"/>
          </a:solidFill>
          <a:ln w="12700">
            <a:solidFill>
              <a:srgbClr val="667085"/>
            </a:solidFill>
            <a:prstDash val="solid"/>
          </a:ln>
        </p:spPr>
      </p:sp>
      <p:pic>
        <p:nvPicPr>
          <p:cNvPr id="23" name="Networks icon" descr="preencoded.png">    </p:cNvPr>
          <p:cNvPicPr>
            <a:picLocks noChangeAspect="1"/>
          </p:cNvPicPr>
          <p:nvPr/>
        </p:nvPicPr>
        <p:blipFill>
          <a:blip r:embed="rId5"/>
          <a:stretch>
            <a:fillRect/>
          </a:stretch>
        </p:blipFill>
        <p:spPr>
          <a:xfrm>
            <a:off x="5001768" y="3968496"/>
            <a:ext cx="237744" cy="237744"/>
          </a:xfrm>
          <a:prstGeom prst="rect">
            <a:avLst/>
          </a:prstGeom>
        </p:spPr>
      </p:pic>
      <p:sp>
        <p:nvSpPr>
          <p:cNvPr id="24" name="Text 17"/>
          <p:cNvSpPr txBox="1"/>
          <p:nvPr/>
        </p:nvSpPr>
        <p:spPr>
          <a:xfrm>
            <a:off x="5486400" y="3813048"/>
            <a:ext cx="3200400" cy="274320"/>
          </a:xfrm>
          <a:prstGeom prst="rect">
            <a:avLst/>
          </a:prstGeom>
          <a:noFill/>
          <a:ln/>
        </p:spPr>
        <p:txBody>
          <a:bodyPr wrap="square" lIns="0" tIns="0" rIns="0" bIns="0" rtlCol="0" anchor="t"/>
          <a:lstStyle/>
          <a:p>
            <a:pPr indent="0" marL="0">
              <a:buNone/>
            </a:pPr>
            <a:r>
              <a:rPr lang="en-US" sz="1400" b="1" dirty="0">
                <a:solidFill>
                  <a:schemeClr val="tx1"/>
                </a:solidFill>
              </a:rPr>
              <a:t>Networks</a:t>
            </a:r>
            <a:endParaRPr lang="en-US" sz="1400" dirty="0"/>
          </a:p>
        </p:txBody>
      </p:sp>
      <p:sp>
        <p:nvSpPr>
          <p:cNvPr id="25" name="Text 18"/>
          <p:cNvSpPr txBox="1"/>
          <p:nvPr/>
        </p:nvSpPr>
        <p:spPr>
          <a:xfrm>
            <a:off x="5486400" y="4087368"/>
            <a:ext cx="3200400" cy="411480"/>
          </a:xfrm>
          <a:prstGeom prst="rect">
            <a:avLst/>
          </a:prstGeom>
          <a:noFill/>
          <a:ln/>
        </p:spPr>
        <p:txBody>
          <a:bodyPr wrap="square" lIns="0" tIns="0" rIns="0" bIns="0" rtlCol="0" anchor="t"/>
          <a:lstStyle/>
          <a:p>
            <a:pPr indent="0" marL="0">
              <a:buNone/>
            </a:pPr>
            <a:r>
              <a:rPr lang="en-US" sz="1300" dirty="0">
                <a:solidFill>
                  <a:schemeClr val="tx1"/>
                </a:solidFill>
              </a:rPr>
              <a:t>How to split trial sites between two partners</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Two kinds of quantum computer</a:t>
            </a:r>
            <a:endParaRPr lang="en-US" sz="2800" dirty="0"/>
          </a:p>
        </p:txBody>
      </p:sp>
      <p:sp>
        <p:nvSpPr>
          <p:cNvPr id="3" name="Annealing card"/>
          <p:cNvSpPr/>
          <p:nvPr/>
        </p:nvSpPr>
        <p:spPr>
          <a:xfrm>
            <a:off x="457200" y="1097280"/>
            <a:ext cx="4023360" cy="1965960"/>
          </a:xfrm>
          <a:prstGeom prst="roundRect">
            <a:avLst>
              <a:gd name="adj" fmla="val 3721"/>
            </a:avLst>
          </a:prstGeom>
          <a:solidFill>
            <a:srgbClr val="F2F2F8"/>
          </a:solidFill>
          <a:ln w="12700">
            <a:solidFill>
              <a:srgbClr val="F2F2F8"/>
            </a:solidFill>
            <a:prstDash val="solid"/>
          </a:ln>
        </p:spPr>
      </p:sp>
      <p:sp>
        <p:nvSpPr>
          <p:cNvPr id="4" name="Annealing circle"/>
          <p:cNvSpPr/>
          <p:nvPr/>
        </p:nvSpPr>
        <p:spPr>
          <a:xfrm>
            <a:off x="640080" y="1243584"/>
            <a:ext cx="502920" cy="502920"/>
          </a:xfrm>
          <a:prstGeom prst="ellipse">
            <a:avLst/>
          </a:prstGeom>
          <a:solidFill>
            <a:srgbClr val="0E9384"/>
          </a:solidFill>
          <a:ln w="12700">
            <a:solidFill>
              <a:srgbClr val="0E9384"/>
            </a:solidFill>
            <a:prstDash val="solid"/>
          </a:ln>
        </p:spPr>
      </p:sp>
      <p:pic>
        <p:nvPicPr>
          <p:cNvPr id="5" name="Annealing icon" descr="preencoded.png">    </p:cNvPr>
          <p:cNvPicPr>
            <a:picLocks noChangeAspect="1"/>
          </p:cNvPicPr>
          <p:nvPr/>
        </p:nvPicPr>
        <p:blipFill>
          <a:blip r:embed="rId1"/>
          <a:stretch>
            <a:fillRect/>
          </a:stretch>
        </p:blipFill>
        <p:spPr>
          <a:xfrm>
            <a:off x="760781" y="1364285"/>
            <a:ext cx="261518" cy="261518"/>
          </a:xfrm>
          <a:prstGeom prst="rect">
            <a:avLst/>
          </a:prstGeom>
        </p:spPr>
      </p:pic>
      <p:sp>
        <p:nvSpPr>
          <p:cNvPr id="6" name="Text 3"/>
          <p:cNvSpPr txBox="1"/>
          <p:nvPr/>
        </p:nvSpPr>
        <p:spPr>
          <a:xfrm>
            <a:off x="1280160" y="1243584"/>
            <a:ext cx="3017520" cy="274320"/>
          </a:xfrm>
          <a:prstGeom prst="rect">
            <a:avLst/>
          </a:prstGeom>
          <a:noFill/>
          <a:ln/>
        </p:spPr>
        <p:txBody>
          <a:bodyPr wrap="square" lIns="0" tIns="0" rIns="0" bIns="0" rtlCol="0" anchor="t"/>
          <a:lstStyle/>
          <a:p>
            <a:pPr indent="0" marL="0">
              <a:buNone/>
            </a:pPr>
            <a:r>
              <a:rPr lang="en-US" sz="1600" b="1" dirty="0">
                <a:solidFill>
                  <a:schemeClr val="tx1"/>
                </a:solidFill>
              </a:rPr>
              <a:t>Annealing</a:t>
            </a:r>
            <a:endParaRPr lang="en-US" sz="1600" dirty="0"/>
          </a:p>
        </p:txBody>
      </p:sp>
      <p:sp>
        <p:nvSpPr>
          <p:cNvPr id="7" name="Text 4"/>
          <p:cNvSpPr txBox="1"/>
          <p:nvPr/>
        </p:nvSpPr>
        <p:spPr>
          <a:xfrm>
            <a:off x="1280160" y="1517904"/>
            <a:ext cx="3017520" cy="274320"/>
          </a:xfrm>
          <a:prstGeom prst="rect">
            <a:avLst/>
          </a:prstGeom>
          <a:noFill/>
          <a:ln/>
        </p:spPr>
        <p:txBody>
          <a:bodyPr wrap="square" lIns="0" tIns="0" rIns="0" bIns="0" rtlCol="0" anchor="t"/>
          <a:lstStyle/>
          <a:p>
            <a:pPr indent="0" marL="0">
              <a:buNone/>
            </a:pPr>
            <a:r>
              <a:rPr lang="en-US" sz="1200" i="1" dirty="0">
                <a:solidFill>
                  <a:schemeClr val="tx2"/>
                </a:solidFill>
              </a:rPr>
              <a:t>Like a ball rolling slowly into the lowest valley</a:t>
            </a:r>
            <a:endParaRPr lang="en-US" sz="1200" dirty="0"/>
          </a:p>
        </p:txBody>
      </p:sp>
      <p:sp>
        <p:nvSpPr>
          <p:cNvPr id="8" name="Text 5"/>
          <p:cNvSpPr txBox="1"/>
          <p:nvPr/>
        </p:nvSpPr>
        <p:spPr>
          <a:xfrm>
            <a:off x="640080" y="1901952"/>
            <a:ext cx="3657600" cy="1115568"/>
          </a:xfrm>
          <a:prstGeom prst="rect">
            <a:avLst/>
          </a:prstGeom>
          <a:noFill/>
          <a:ln/>
        </p:spPr>
        <p:txBody>
          <a:bodyPr wrap="square" lIns="0" tIns="0" rIns="0" bIns="0" rtlCol="0" anchor="t"/>
          <a:lstStyle/>
          <a:p>
            <a:pPr indent="0" marL="0">
              <a:buNone/>
            </a:pPr>
            <a:r>
              <a:rPr lang="en-US" sz="1300" dirty="0">
                <a:solidFill>
                  <a:schemeClr val="tx1"/>
                </a:solidFill>
              </a:rPr>
              <a:t>Many small steps that settle toward the best answer. No tuning needed. D-Wave builds these. IBM doesn't, so we copy the idea with many small steps on IBM's chip.</a:t>
            </a:r>
            <a:endParaRPr lang="en-US" sz="1300" dirty="0"/>
          </a:p>
        </p:txBody>
      </p:sp>
      <p:sp>
        <p:nvSpPr>
          <p:cNvPr id="9" name="Gate-based card"/>
          <p:cNvSpPr/>
          <p:nvPr/>
        </p:nvSpPr>
        <p:spPr>
          <a:xfrm>
            <a:off x="4663440" y="1097280"/>
            <a:ext cx="4023360" cy="1965960"/>
          </a:xfrm>
          <a:prstGeom prst="roundRect">
            <a:avLst>
              <a:gd name="adj" fmla="val 3721"/>
            </a:avLst>
          </a:prstGeom>
          <a:solidFill>
            <a:srgbClr val="F2F2F8"/>
          </a:solidFill>
          <a:ln w="12700">
            <a:solidFill>
              <a:srgbClr val="F2F2F8"/>
            </a:solidFill>
            <a:prstDash val="solid"/>
          </a:ln>
        </p:spPr>
      </p:sp>
      <p:sp>
        <p:nvSpPr>
          <p:cNvPr id="10" name="Gate-based circle"/>
          <p:cNvSpPr/>
          <p:nvPr/>
        </p:nvSpPr>
        <p:spPr>
          <a:xfrm>
            <a:off x="4846320" y="1243584"/>
            <a:ext cx="502920" cy="502920"/>
          </a:xfrm>
          <a:prstGeom prst="ellipse">
            <a:avLst/>
          </a:prstGeom>
          <a:solidFill>
            <a:srgbClr val="5B4FD1"/>
          </a:solidFill>
          <a:ln w="12700">
            <a:solidFill>
              <a:srgbClr val="5B4FD1"/>
            </a:solidFill>
            <a:prstDash val="solid"/>
          </a:ln>
        </p:spPr>
      </p:sp>
      <p:pic>
        <p:nvPicPr>
          <p:cNvPr id="11" name="Gate-based icon" descr="preencoded.png">    </p:cNvPr>
          <p:cNvPicPr>
            <a:picLocks noChangeAspect="1"/>
          </p:cNvPicPr>
          <p:nvPr/>
        </p:nvPicPr>
        <p:blipFill>
          <a:blip r:embed="rId2"/>
          <a:stretch>
            <a:fillRect/>
          </a:stretch>
        </p:blipFill>
        <p:spPr>
          <a:xfrm>
            <a:off x="4967021" y="1364285"/>
            <a:ext cx="261518" cy="261518"/>
          </a:xfrm>
          <a:prstGeom prst="rect">
            <a:avLst/>
          </a:prstGeom>
        </p:spPr>
      </p:pic>
      <p:sp>
        <p:nvSpPr>
          <p:cNvPr id="12" name="Text 8"/>
          <p:cNvSpPr txBox="1"/>
          <p:nvPr/>
        </p:nvSpPr>
        <p:spPr>
          <a:xfrm>
            <a:off x="5486400" y="1243584"/>
            <a:ext cx="3017520" cy="274320"/>
          </a:xfrm>
          <a:prstGeom prst="rect">
            <a:avLst/>
          </a:prstGeom>
          <a:noFill/>
          <a:ln/>
        </p:spPr>
        <p:txBody>
          <a:bodyPr wrap="square" lIns="0" tIns="0" rIns="0" bIns="0" rtlCol="0" anchor="t"/>
          <a:lstStyle/>
          <a:p>
            <a:pPr indent="0" marL="0">
              <a:buNone/>
            </a:pPr>
            <a:r>
              <a:rPr lang="en-US" sz="1600" b="1" dirty="0">
                <a:solidFill>
                  <a:schemeClr val="tx1"/>
                </a:solidFill>
              </a:rPr>
              <a:t>Gate-based</a:t>
            </a:r>
            <a:endParaRPr lang="en-US" sz="1600" dirty="0"/>
          </a:p>
        </p:txBody>
      </p:sp>
      <p:sp>
        <p:nvSpPr>
          <p:cNvPr id="13" name="Text 9"/>
          <p:cNvSpPr txBox="1"/>
          <p:nvPr/>
        </p:nvSpPr>
        <p:spPr>
          <a:xfrm>
            <a:off x="5486400" y="1517904"/>
            <a:ext cx="3017520" cy="274320"/>
          </a:xfrm>
          <a:prstGeom prst="rect">
            <a:avLst/>
          </a:prstGeom>
          <a:noFill/>
          <a:ln/>
        </p:spPr>
        <p:txBody>
          <a:bodyPr wrap="square" lIns="0" tIns="0" rIns="0" bIns="0" rtlCol="0" anchor="t"/>
          <a:lstStyle/>
          <a:p>
            <a:pPr indent="0" marL="0">
              <a:buNone/>
            </a:pPr>
            <a:r>
              <a:rPr lang="en-US" sz="1200" i="1" dirty="0">
                <a:solidFill>
                  <a:schemeClr val="tx2"/>
                </a:solidFill>
              </a:rPr>
              <a:t>Like a short recipe with a few dials</a:t>
            </a:r>
            <a:endParaRPr lang="en-US" sz="1200" dirty="0"/>
          </a:p>
        </p:txBody>
      </p:sp>
      <p:sp>
        <p:nvSpPr>
          <p:cNvPr id="14" name="Text 10"/>
          <p:cNvSpPr txBox="1"/>
          <p:nvPr/>
        </p:nvSpPr>
        <p:spPr>
          <a:xfrm>
            <a:off x="4846320" y="1901952"/>
            <a:ext cx="3657600" cy="1115568"/>
          </a:xfrm>
          <a:prstGeom prst="rect">
            <a:avLst/>
          </a:prstGeom>
          <a:noFill/>
          <a:ln/>
        </p:spPr>
        <p:txBody>
          <a:bodyPr wrap="square" lIns="0" tIns="0" rIns="0" bIns="0" rtlCol="0" anchor="t"/>
          <a:lstStyle/>
          <a:p>
            <a:pPr indent="0" marL="0">
              <a:buNone/>
            </a:pPr>
            <a:r>
              <a:rPr lang="en-US" sz="1300" dirty="0">
                <a:solidFill>
                  <a:schemeClr val="tx1"/>
                </a:solidFill>
              </a:rPr>
              <a:t>Only a few steps, but the dials must be tuned first (we tune them on a normal computer). IBM builds these. The recipe we use is called QAOA.</a:t>
            </a:r>
            <a:endParaRPr lang="en-US" sz="1300" dirty="0"/>
          </a:p>
        </p:txBody>
      </p:sp>
      <p:sp>
        <p:nvSpPr>
          <p:cNvPr id="15" name="Why quantum card"/>
          <p:cNvSpPr/>
          <p:nvPr/>
        </p:nvSpPr>
        <p:spPr>
          <a:xfrm>
            <a:off x="457200" y="3200400"/>
            <a:ext cx="4023360" cy="1280160"/>
          </a:xfrm>
          <a:prstGeom prst="roundRect">
            <a:avLst>
              <a:gd name="adj" fmla="val 5714"/>
            </a:avLst>
          </a:prstGeom>
          <a:solidFill>
            <a:srgbClr val="EEF8F6"/>
          </a:solidFill>
          <a:ln w="12700">
            <a:solidFill>
              <a:srgbClr val="EEF8F6"/>
            </a:solidFill>
            <a:prstDash val="solid"/>
          </a:ln>
        </p:spPr>
      </p:sp>
      <p:sp>
        <p:nvSpPr>
          <p:cNvPr id="16" name="Text 12"/>
          <p:cNvSpPr txBox="1"/>
          <p:nvPr/>
        </p:nvSpPr>
        <p:spPr>
          <a:xfrm>
            <a:off x="640080" y="3291840"/>
            <a:ext cx="3657600" cy="274320"/>
          </a:xfrm>
          <a:prstGeom prst="rect">
            <a:avLst/>
          </a:prstGeom>
          <a:noFill/>
          <a:ln/>
        </p:spPr>
        <p:txBody>
          <a:bodyPr wrap="square" lIns="0" tIns="0" rIns="0" bIns="0" rtlCol="0" anchor="t"/>
          <a:lstStyle/>
          <a:p>
            <a:pPr indent="0" marL="0">
              <a:buNone/>
            </a:pPr>
            <a:r>
              <a:rPr lang="en-US" sz="1400" b="1" dirty="0">
                <a:solidFill>
                  <a:schemeClr val="tx1"/>
                </a:solidFill>
              </a:rPr>
              <a:t>Why quantum might help</a:t>
            </a:r>
            <a:endParaRPr lang="en-US" sz="1400" dirty="0"/>
          </a:p>
        </p:txBody>
      </p:sp>
      <p:sp>
        <p:nvSpPr>
          <p:cNvPr id="17" name="Text 13"/>
          <p:cNvSpPr txBox="1"/>
          <p:nvPr/>
        </p:nvSpPr>
        <p:spPr>
          <a:xfrm>
            <a:off x="640080" y="3584448"/>
            <a:ext cx="3703320" cy="868680"/>
          </a:xfrm>
          <a:prstGeom prst="rect">
            <a:avLst/>
          </a:prstGeom>
          <a:noFill/>
          <a:ln/>
        </p:spPr>
        <p:txBody>
          <a:bodyPr wrap="square" lIns="0" tIns="0" rIns="0" bIns="0" rtlCol="0" anchor="t"/>
          <a:lstStyle/>
          <a:p>
            <a:pPr marL="177800" indent="-177800">
              <a:buSzPct val="100000"/>
              <a:buChar char="•"/>
            </a:pPr>
            <a:r>
              <a:rPr lang="en-US" sz="1300" dirty="0">
                <a:solidFill>
                  <a:schemeClr val="tx1"/>
                </a:solidFill>
              </a:rPr>
              <a:t>It can try every combination at the same time</a:t>
            </a:r>
            <a:endParaRPr lang="en-US" sz="1300" dirty="0"/>
          </a:p>
          <a:p>
            <a:pPr marL="177800" indent="-177800">
              <a:buSzPct val="100000"/>
              <a:buChar char="•"/>
            </a:pPr>
            <a:r>
              <a:rPr lang="en-US" sz="1300" dirty="0">
                <a:solidFill>
                  <a:schemeClr val="tx1"/>
                </a:solidFill>
              </a:rPr>
              <a:t>It can link choices that affect each other</a:t>
            </a:r>
            <a:endParaRPr lang="en-US" sz="1300" dirty="0"/>
          </a:p>
          <a:p>
            <a:pPr marL="177800" indent="-177800">
              <a:buSzPct val="100000"/>
              <a:buChar char="•"/>
            </a:pPr>
            <a:r>
              <a:rPr lang="en-US" sz="1300" dirty="0">
                <a:solidFill>
                  <a:schemeClr val="tx1"/>
                </a:solidFill>
              </a:rPr>
              <a:t>It gives many good answers to pick from</a:t>
            </a:r>
            <a:endParaRPr lang="en-US" sz="1300" dirty="0"/>
          </a:p>
        </p:txBody>
      </p:sp>
      <p:sp>
        <p:nvSpPr>
          <p:cNvPr id="18" name="Limits card"/>
          <p:cNvSpPr/>
          <p:nvPr/>
        </p:nvSpPr>
        <p:spPr>
          <a:xfrm>
            <a:off x="4663440" y="3200400"/>
            <a:ext cx="4023360" cy="1280160"/>
          </a:xfrm>
          <a:prstGeom prst="roundRect">
            <a:avLst>
              <a:gd name="adj" fmla="val 5714"/>
            </a:avLst>
          </a:prstGeom>
          <a:solidFill>
            <a:srgbClr val="FDECEC"/>
          </a:solidFill>
          <a:ln w="12700">
            <a:solidFill>
              <a:srgbClr val="FDECEC"/>
            </a:solidFill>
            <a:prstDash val="solid"/>
          </a:ln>
        </p:spPr>
      </p:sp>
      <p:sp>
        <p:nvSpPr>
          <p:cNvPr id="19" name="Text 15"/>
          <p:cNvSpPr txBox="1"/>
          <p:nvPr/>
        </p:nvSpPr>
        <p:spPr>
          <a:xfrm>
            <a:off x="4846320" y="3291840"/>
            <a:ext cx="3657600" cy="274320"/>
          </a:xfrm>
          <a:prstGeom prst="rect">
            <a:avLst/>
          </a:prstGeom>
          <a:noFill/>
          <a:ln/>
        </p:spPr>
        <p:txBody>
          <a:bodyPr wrap="square" lIns="0" tIns="0" rIns="0" bIns="0" rtlCol="0" anchor="t"/>
          <a:lstStyle/>
          <a:p>
            <a:pPr indent="0" marL="0">
              <a:buNone/>
            </a:pPr>
            <a:r>
              <a:rPr lang="en-US" sz="1400" b="1" dirty="0">
                <a:solidFill>
                  <a:schemeClr val="tx1"/>
                </a:solidFill>
              </a:rPr>
              <a:t>Honest limits today</a:t>
            </a:r>
            <a:endParaRPr lang="en-US" sz="1400" dirty="0"/>
          </a:p>
        </p:txBody>
      </p:sp>
      <p:sp>
        <p:nvSpPr>
          <p:cNvPr id="20" name="Text 16"/>
          <p:cNvSpPr txBox="1"/>
          <p:nvPr/>
        </p:nvSpPr>
        <p:spPr>
          <a:xfrm>
            <a:off x="4846320" y="3584448"/>
            <a:ext cx="3703320" cy="868680"/>
          </a:xfrm>
          <a:prstGeom prst="rect">
            <a:avLst/>
          </a:prstGeom>
          <a:noFill/>
          <a:ln/>
        </p:spPr>
        <p:txBody>
          <a:bodyPr wrap="square" lIns="0" tIns="0" rIns="0" bIns="0" rtlCol="0" anchor="t"/>
          <a:lstStyle/>
          <a:p>
            <a:pPr marL="177800" indent="-177800">
              <a:buSzPct val="100000"/>
              <a:buChar char="•"/>
            </a:pPr>
            <a:r>
              <a:rPr lang="en-US" sz="1300" dirty="0">
                <a:solidFill>
                  <a:schemeClr val="tx1"/>
                </a:solidFill>
              </a:rPr>
              <a:t>Every step adds a chance of error</a:t>
            </a:r>
            <a:endParaRPr lang="en-US" sz="1300" dirty="0"/>
          </a:p>
          <a:p>
            <a:pPr marL="177800" indent="-177800">
              <a:buSzPct val="100000"/>
              <a:buChar char="•"/>
            </a:pPr>
            <a:r>
              <a:rPr lang="en-US" sz="1300" dirty="0">
                <a:solidFill>
                  <a:schemeClr val="tx1"/>
                </a:solidFill>
              </a:rPr>
              <a:t>Our tests are tiny: 3-18 choices vs. 50-200</a:t>
            </a:r>
            <a:endParaRPr lang="en-US" sz="1300" dirty="0"/>
          </a:p>
          <a:p>
            <a:pPr marL="177800" indent="-177800">
              <a:buSzPct val="100000"/>
              <a:buChar char="•"/>
            </a:pPr>
            <a:r>
              <a:rPr lang="en-US" sz="1300" dirty="0">
                <a:solidFill>
                  <a:schemeClr val="tx1"/>
                </a:solidFill>
              </a:rPr>
              <a:t>A normal laptop still wins today</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How Q-Router works, step by step</a:t>
            </a:r>
            <a:endParaRPr lang="en-US" sz="2800" dirty="0"/>
          </a:p>
        </p:txBody>
      </p:sp>
      <p:sp>
        <p:nvSpPr>
          <p:cNvPr id="3" name="Step card 1"/>
          <p:cNvSpPr/>
          <p:nvPr/>
        </p:nvSpPr>
        <p:spPr>
          <a:xfrm>
            <a:off x="457200" y="1097280"/>
            <a:ext cx="2615184" cy="1298448"/>
          </a:xfrm>
          <a:prstGeom prst="roundRect">
            <a:avLst>
              <a:gd name="adj" fmla="val 5634"/>
            </a:avLst>
          </a:prstGeom>
          <a:solidFill>
            <a:srgbClr val="F2F2F8"/>
          </a:solidFill>
          <a:ln w="12700">
            <a:solidFill>
              <a:srgbClr val="F2F2F8"/>
            </a:solidFill>
            <a:prstDash val="solid"/>
          </a:ln>
        </p:spPr>
      </p:sp>
      <p:sp>
        <p:nvSpPr>
          <p:cNvPr id="4" name="Step 1 circle"/>
          <p:cNvSpPr/>
          <p:nvPr/>
        </p:nvSpPr>
        <p:spPr>
          <a:xfrm>
            <a:off x="621792" y="1280160"/>
            <a:ext cx="475488" cy="475488"/>
          </a:xfrm>
          <a:prstGeom prst="ellipse">
            <a:avLst/>
          </a:prstGeom>
          <a:solidFill>
            <a:srgbClr val="5B4FD1"/>
          </a:solidFill>
          <a:ln w="12700">
            <a:solidFill>
              <a:srgbClr val="5B4FD1"/>
            </a:solidFill>
            <a:prstDash val="solid"/>
          </a:ln>
        </p:spPr>
      </p:sp>
      <p:pic>
        <p:nvPicPr>
          <p:cNvPr id="5" name="Step 1 icon" descr="preencoded.png">    </p:cNvPr>
          <p:cNvPicPr>
            <a:picLocks noChangeAspect="1"/>
          </p:cNvPicPr>
          <p:nvPr/>
        </p:nvPicPr>
        <p:blipFill>
          <a:blip r:embed="rId1"/>
          <a:stretch>
            <a:fillRect/>
          </a:stretch>
        </p:blipFill>
        <p:spPr>
          <a:xfrm>
            <a:off x="735909" y="1394277"/>
            <a:ext cx="247254" cy="247254"/>
          </a:xfrm>
          <a:prstGeom prst="rect">
            <a:avLst/>
          </a:prstGeom>
        </p:spPr>
      </p:pic>
      <p:sp>
        <p:nvSpPr>
          <p:cNvPr id="6" name="Text 3"/>
          <p:cNvSpPr txBox="1"/>
          <p:nvPr/>
        </p:nvSpPr>
        <p:spPr>
          <a:xfrm>
            <a:off x="1207008" y="1298448"/>
            <a:ext cx="1783080" cy="411480"/>
          </a:xfrm>
          <a:prstGeom prst="rect">
            <a:avLst/>
          </a:prstGeom>
          <a:noFill/>
          <a:ln/>
        </p:spPr>
        <p:txBody>
          <a:bodyPr wrap="square" lIns="0" tIns="0" rIns="0" bIns="0" rtlCol="0" anchor="ctr"/>
          <a:lstStyle/>
          <a:p>
            <a:pPr indent="0" marL="0">
              <a:buNone/>
            </a:pPr>
            <a:r>
              <a:rPr lang="en-US" sz="1500" b="1" dirty="0">
                <a:solidFill>
                  <a:schemeClr val="tx1"/>
                </a:solidFill>
              </a:rPr>
              <a:t>1. Translate</a:t>
            </a:r>
            <a:endParaRPr lang="en-US" sz="1500" dirty="0"/>
          </a:p>
        </p:txBody>
      </p:sp>
      <p:sp>
        <p:nvSpPr>
          <p:cNvPr id="7" name="Text 4"/>
          <p:cNvSpPr txBox="1"/>
          <p:nvPr/>
        </p:nvSpPr>
        <p:spPr>
          <a:xfrm>
            <a:off x="621792" y="1810512"/>
            <a:ext cx="2377440" cy="548640"/>
          </a:xfrm>
          <a:prstGeom prst="rect">
            <a:avLst/>
          </a:prstGeom>
          <a:noFill/>
          <a:ln/>
        </p:spPr>
        <p:txBody>
          <a:bodyPr wrap="square" lIns="0" tIns="0" rIns="0" bIns="0" rtlCol="0" anchor="t"/>
          <a:lstStyle/>
          <a:p>
            <a:pPr indent="0" marL="0">
              <a:buNone/>
            </a:pPr>
            <a:r>
              <a:rPr lang="en-US" sz="1300" dirty="0">
                <a:solidFill>
                  <a:schemeClr val="tx1"/>
                </a:solidFill>
              </a:rPr>
              <a:t>Turn the decision into yes/no choices</a:t>
            </a:r>
            <a:endParaRPr lang="en-US" sz="1300" dirty="0"/>
          </a:p>
        </p:txBody>
      </p:sp>
      <p:sp>
        <p:nvSpPr>
          <p:cNvPr id="8" name="Step card 2"/>
          <p:cNvSpPr/>
          <p:nvPr/>
        </p:nvSpPr>
        <p:spPr>
          <a:xfrm>
            <a:off x="3264408" y="1097280"/>
            <a:ext cx="2615184" cy="1298448"/>
          </a:xfrm>
          <a:prstGeom prst="roundRect">
            <a:avLst>
              <a:gd name="adj" fmla="val 5634"/>
            </a:avLst>
          </a:prstGeom>
          <a:solidFill>
            <a:srgbClr val="F2F2F8"/>
          </a:solidFill>
          <a:ln w="12700">
            <a:solidFill>
              <a:srgbClr val="F2F2F8"/>
            </a:solidFill>
            <a:prstDash val="solid"/>
          </a:ln>
        </p:spPr>
      </p:sp>
      <p:sp>
        <p:nvSpPr>
          <p:cNvPr id="9" name="Step 2 circle"/>
          <p:cNvSpPr/>
          <p:nvPr/>
        </p:nvSpPr>
        <p:spPr>
          <a:xfrm>
            <a:off x="3429000" y="1280160"/>
            <a:ext cx="475488" cy="475488"/>
          </a:xfrm>
          <a:prstGeom prst="ellipse">
            <a:avLst/>
          </a:prstGeom>
          <a:solidFill>
            <a:srgbClr val="5B4FD1"/>
          </a:solidFill>
          <a:ln w="12700">
            <a:solidFill>
              <a:srgbClr val="5B4FD1"/>
            </a:solidFill>
            <a:prstDash val="solid"/>
          </a:ln>
        </p:spPr>
      </p:sp>
      <p:pic>
        <p:nvPicPr>
          <p:cNvPr id="10" name="Step 2 icon" descr="preencoded.png">    </p:cNvPr>
          <p:cNvPicPr>
            <a:picLocks noChangeAspect="1"/>
          </p:cNvPicPr>
          <p:nvPr/>
        </p:nvPicPr>
        <p:blipFill>
          <a:blip r:embed="rId2"/>
          <a:stretch>
            <a:fillRect/>
          </a:stretch>
        </p:blipFill>
        <p:spPr>
          <a:xfrm>
            <a:off x="3543117" y="1394277"/>
            <a:ext cx="247254" cy="247254"/>
          </a:xfrm>
          <a:prstGeom prst="rect">
            <a:avLst/>
          </a:prstGeom>
        </p:spPr>
      </p:pic>
      <p:sp>
        <p:nvSpPr>
          <p:cNvPr id="11" name="Text 7"/>
          <p:cNvSpPr txBox="1"/>
          <p:nvPr/>
        </p:nvSpPr>
        <p:spPr>
          <a:xfrm>
            <a:off x="4014216" y="1298448"/>
            <a:ext cx="1783080" cy="411480"/>
          </a:xfrm>
          <a:prstGeom prst="rect">
            <a:avLst/>
          </a:prstGeom>
          <a:noFill/>
          <a:ln/>
        </p:spPr>
        <p:txBody>
          <a:bodyPr wrap="square" lIns="0" tIns="0" rIns="0" bIns="0" rtlCol="0" anchor="ctr"/>
          <a:lstStyle/>
          <a:p>
            <a:pPr indent="0" marL="0">
              <a:buNone/>
            </a:pPr>
            <a:r>
              <a:rPr lang="en-US" sz="1500" b="1" dirty="0">
                <a:solidFill>
                  <a:schemeClr val="tx1"/>
                </a:solidFill>
              </a:rPr>
              <a:t>2. Break down</a:t>
            </a:r>
            <a:endParaRPr lang="en-US" sz="1500" dirty="0"/>
          </a:p>
        </p:txBody>
      </p:sp>
      <p:sp>
        <p:nvSpPr>
          <p:cNvPr id="12" name="Text 8"/>
          <p:cNvSpPr txBox="1"/>
          <p:nvPr/>
        </p:nvSpPr>
        <p:spPr>
          <a:xfrm>
            <a:off x="3429000" y="1810512"/>
            <a:ext cx="2377440" cy="548640"/>
          </a:xfrm>
          <a:prstGeom prst="rect">
            <a:avLst/>
          </a:prstGeom>
          <a:noFill/>
          <a:ln/>
        </p:spPr>
        <p:txBody>
          <a:bodyPr wrap="square" lIns="0" tIns="0" rIns="0" bIns="0" rtlCol="0" anchor="t"/>
          <a:lstStyle/>
          <a:p>
            <a:pPr indent="0" marL="0">
              <a:buNone/>
            </a:pPr>
            <a:r>
              <a:rPr lang="en-US" sz="1300" dirty="0">
                <a:solidFill>
                  <a:schemeClr val="tx1"/>
                </a:solidFill>
              </a:rPr>
              <a:t>Split a big problem into small pieces</a:t>
            </a:r>
            <a:endParaRPr lang="en-US" sz="1300" dirty="0"/>
          </a:p>
        </p:txBody>
      </p:sp>
      <p:sp>
        <p:nvSpPr>
          <p:cNvPr id="13" name="Step card 3"/>
          <p:cNvSpPr/>
          <p:nvPr/>
        </p:nvSpPr>
        <p:spPr>
          <a:xfrm>
            <a:off x="6071616" y="1097280"/>
            <a:ext cx="2615184" cy="1298448"/>
          </a:xfrm>
          <a:prstGeom prst="roundRect">
            <a:avLst>
              <a:gd name="adj" fmla="val 5634"/>
            </a:avLst>
          </a:prstGeom>
          <a:solidFill>
            <a:srgbClr val="F2F2F8"/>
          </a:solidFill>
          <a:ln w="12700">
            <a:solidFill>
              <a:srgbClr val="F2F2F8"/>
            </a:solidFill>
            <a:prstDash val="solid"/>
          </a:ln>
        </p:spPr>
      </p:sp>
      <p:sp>
        <p:nvSpPr>
          <p:cNvPr id="14" name="Step 3 circle"/>
          <p:cNvSpPr/>
          <p:nvPr/>
        </p:nvSpPr>
        <p:spPr>
          <a:xfrm>
            <a:off x="6236208" y="1280160"/>
            <a:ext cx="475488" cy="475488"/>
          </a:xfrm>
          <a:prstGeom prst="ellipse">
            <a:avLst/>
          </a:prstGeom>
          <a:solidFill>
            <a:srgbClr val="5B4FD1"/>
          </a:solidFill>
          <a:ln w="12700">
            <a:solidFill>
              <a:srgbClr val="5B4FD1"/>
            </a:solidFill>
            <a:prstDash val="solid"/>
          </a:ln>
        </p:spPr>
      </p:sp>
      <p:pic>
        <p:nvPicPr>
          <p:cNvPr id="15" name="Step 3 icon" descr="preencoded.png">    </p:cNvPr>
          <p:cNvPicPr>
            <a:picLocks noChangeAspect="1"/>
          </p:cNvPicPr>
          <p:nvPr/>
        </p:nvPicPr>
        <p:blipFill>
          <a:blip r:embed="rId3"/>
          <a:stretch>
            <a:fillRect/>
          </a:stretch>
        </p:blipFill>
        <p:spPr>
          <a:xfrm>
            <a:off x="6350325" y="1394277"/>
            <a:ext cx="247254" cy="247254"/>
          </a:xfrm>
          <a:prstGeom prst="rect">
            <a:avLst/>
          </a:prstGeom>
        </p:spPr>
      </p:pic>
      <p:sp>
        <p:nvSpPr>
          <p:cNvPr id="16" name="Text 11"/>
          <p:cNvSpPr txBox="1"/>
          <p:nvPr/>
        </p:nvSpPr>
        <p:spPr>
          <a:xfrm>
            <a:off x="6821424" y="1298448"/>
            <a:ext cx="1783080" cy="411480"/>
          </a:xfrm>
          <a:prstGeom prst="rect">
            <a:avLst/>
          </a:prstGeom>
          <a:noFill/>
          <a:ln/>
        </p:spPr>
        <p:txBody>
          <a:bodyPr wrap="square" lIns="0" tIns="0" rIns="0" bIns="0" rtlCol="0" anchor="ctr"/>
          <a:lstStyle/>
          <a:p>
            <a:pPr indent="0" marL="0">
              <a:buNone/>
            </a:pPr>
            <a:r>
              <a:rPr lang="en-US" sz="1500" b="1" dirty="0">
                <a:solidFill>
                  <a:schemeClr val="tx1"/>
                </a:solidFill>
              </a:rPr>
              <a:t>3. Describe</a:t>
            </a:r>
            <a:endParaRPr lang="en-US" sz="1500" dirty="0"/>
          </a:p>
        </p:txBody>
      </p:sp>
      <p:sp>
        <p:nvSpPr>
          <p:cNvPr id="17" name="Text 12"/>
          <p:cNvSpPr txBox="1"/>
          <p:nvPr/>
        </p:nvSpPr>
        <p:spPr>
          <a:xfrm>
            <a:off x="6236208" y="1810512"/>
            <a:ext cx="2377440" cy="548640"/>
          </a:xfrm>
          <a:prstGeom prst="rect">
            <a:avLst/>
          </a:prstGeom>
          <a:noFill/>
          <a:ln/>
        </p:spPr>
        <p:txBody>
          <a:bodyPr wrap="square" lIns="0" tIns="0" rIns="0" bIns="0" rtlCol="0" anchor="t"/>
          <a:lstStyle/>
          <a:p>
            <a:pPr indent="0" marL="0">
              <a:buNone/>
            </a:pPr>
            <a:r>
              <a:rPr lang="en-US" sz="1300" dirty="0">
                <a:solidFill>
                  <a:schemeClr val="tx1"/>
                </a:solidFill>
              </a:rPr>
              <a:t>How connected is each piece? How many errors would the chip make?</a:t>
            </a:r>
            <a:endParaRPr lang="en-US" sz="1300" dirty="0"/>
          </a:p>
        </p:txBody>
      </p:sp>
      <p:sp>
        <p:nvSpPr>
          <p:cNvPr id="18" name="Step card 4"/>
          <p:cNvSpPr/>
          <p:nvPr/>
        </p:nvSpPr>
        <p:spPr>
          <a:xfrm>
            <a:off x="457200" y="2560320"/>
            <a:ext cx="2615184" cy="1298448"/>
          </a:xfrm>
          <a:prstGeom prst="roundRect">
            <a:avLst>
              <a:gd name="adj" fmla="val 5634"/>
            </a:avLst>
          </a:prstGeom>
          <a:solidFill>
            <a:srgbClr val="F2F2F8"/>
          </a:solidFill>
          <a:ln w="12700">
            <a:solidFill>
              <a:srgbClr val="F2F2F8"/>
            </a:solidFill>
            <a:prstDash val="solid"/>
          </a:ln>
        </p:spPr>
      </p:sp>
      <p:sp>
        <p:nvSpPr>
          <p:cNvPr id="19" name="Step 4 circle"/>
          <p:cNvSpPr/>
          <p:nvPr/>
        </p:nvSpPr>
        <p:spPr>
          <a:xfrm>
            <a:off x="621792" y="2743200"/>
            <a:ext cx="475488" cy="475488"/>
          </a:xfrm>
          <a:prstGeom prst="ellipse">
            <a:avLst/>
          </a:prstGeom>
          <a:solidFill>
            <a:srgbClr val="0E9384"/>
          </a:solidFill>
          <a:ln w="12700">
            <a:solidFill>
              <a:srgbClr val="0E9384"/>
            </a:solidFill>
            <a:prstDash val="solid"/>
          </a:ln>
        </p:spPr>
      </p:sp>
      <p:pic>
        <p:nvPicPr>
          <p:cNvPr id="20" name="Step 4 icon" descr="preencoded.png">    </p:cNvPr>
          <p:cNvPicPr>
            <a:picLocks noChangeAspect="1"/>
          </p:cNvPicPr>
          <p:nvPr/>
        </p:nvPicPr>
        <p:blipFill>
          <a:blip r:embed="rId4"/>
          <a:stretch>
            <a:fillRect/>
          </a:stretch>
        </p:blipFill>
        <p:spPr>
          <a:xfrm>
            <a:off x="735909" y="2857317"/>
            <a:ext cx="247254" cy="247254"/>
          </a:xfrm>
          <a:prstGeom prst="rect">
            <a:avLst/>
          </a:prstGeom>
        </p:spPr>
      </p:pic>
      <p:sp>
        <p:nvSpPr>
          <p:cNvPr id="21" name="Text 15"/>
          <p:cNvSpPr txBox="1"/>
          <p:nvPr/>
        </p:nvSpPr>
        <p:spPr>
          <a:xfrm>
            <a:off x="1207008" y="2761488"/>
            <a:ext cx="1783080" cy="411480"/>
          </a:xfrm>
          <a:prstGeom prst="rect">
            <a:avLst/>
          </a:prstGeom>
          <a:noFill/>
          <a:ln/>
        </p:spPr>
        <p:txBody>
          <a:bodyPr wrap="square" lIns="0" tIns="0" rIns="0" bIns="0" rtlCol="0" anchor="ctr"/>
          <a:lstStyle/>
          <a:p>
            <a:pPr indent="0" marL="0">
              <a:buNone/>
            </a:pPr>
            <a:r>
              <a:rPr lang="en-US" sz="1500" b="1" dirty="0">
                <a:solidFill>
                  <a:schemeClr val="tx1"/>
                </a:solidFill>
              </a:rPr>
              <a:t>4. Choose</a:t>
            </a:r>
            <a:endParaRPr lang="en-US" sz="1500" dirty="0"/>
          </a:p>
        </p:txBody>
      </p:sp>
      <p:sp>
        <p:nvSpPr>
          <p:cNvPr id="22" name="Text 16"/>
          <p:cNvSpPr txBox="1"/>
          <p:nvPr/>
        </p:nvSpPr>
        <p:spPr>
          <a:xfrm>
            <a:off x="621792" y="3273552"/>
            <a:ext cx="2377440" cy="548640"/>
          </a:xfrm>
          <a:prstGeom prst="rect">
            <a:avLst/>
          </a:prstGeom>
          <a:noFill/>
          <a:ln/>
        </p:spPr>
        <p:txBody>
          <a:bodyPr wrap="square" lIns="0" tIns="0" rIns="0" bIns="0" rtlCol="0" anchor="t"/>
          <a:lstStyle/>
          <a:p>
            <a:pPr indent="0" marL="0">
              <a:buNone/>
            </a:pPr>
            <a:r>
              <a:rPr lang="en-US" sz="1300" dirty="0">
                <a:solidFill>
                  <a:schemeClr val="tx1"/>
                </a:solidFill>
              </a:rPr>
              <a:t>A small AI picks the best computer for each piece</a:t>
            </a:r>
            <a:endParaRPr lang="en-US" sz="1300" dirty="0"/>
          </a:p>
        </p:txBody>
      </p:sp>
      <p:sp>
        <p:nvSpPr>
          <p:cNvPr id="23" name="Step card 5"/>
          <p:cNvSpPr/>
          <p:nvPr/>
        </p:nvSpPr>
        <p:spPr>
          <a:xfrm>
            <a:off x="3264408" y="2560320"/>
            <a:ext cx="2615184" cy="1298448"/>
          </a:xfrm>
          <a:prstGeom prst="roundRect">
            <a:avLst>
              <a:gd name="adj" fmla="val 5634"/>
            </a:avLst>
          </a:prstGeom>
          <a:solidFill>
            <a:srgbClr val="F2F2F8"/>
          </a:solidFill>
          <a:ln w="12700">
            <a:solidFill>
              <a:srgbClr val="F2F2F8"/>
            </a:solidFill>
            <a:prstDash val="solid"/>
          </a:ln>
        </p:spPr>
      </p:sp>
      <p:sp>
        <p:nvSpPr>
          <p:cNvPr id="24" name="Step 5 circle"/>
          <p:cNvSpPr/>
          <p:nvPr/>
        </p:nvSpPr>
        <p:spPr>
          <a:xfrm>
            <a:off x="3429000" y="2743200"/>
            <a:ext cx="475488" cy="475488"/>
          </a:xfrm>
          <a:prstGeom prst="ellipse">
            <a:avLst/>
          </a:prstGeom>
          <a:solidFill>
            <a:srgbClr val="0E9384"/>
          </a:solidFill>
          <a:ln w="12700">
            <a:solidFill>
              <a:srgbClr val="0E9384"/>
            </a:solidFill>
            <a:prstDash val="solid"/>
          </a:ln>
        </p:spPr>
      </p:sp>
      <p:pic>
        <p:nvPicPr>
          <p:cNvPr id="25" name="Step 5 icon" descr="preencoded.png">    </p:cNvPr>
          <p:cNvPicPr>
            <a:picLocks noChangeAspect="1"/>
          </p:cNvPicPr>
          <p:nvPr/>
        </p:nvPicPr>
        <p:blipFill>
          <a:blip r:embed="rId5"/>
          <a:stretch>
            <a:fillRect/>
          </a:stretch>
        </p:blipFill>
        <p:spPr>
          <a:xfrm>
            <a:off x="3543117" y="2857317"/>
            <a:ext cx="247254" cy="247254"/>
          </a:xfrm>
          <a:prstGeom prst="rect">
            <a:avLst/>
          </a:prstGeom>
        </p:spPr>
      </p:pic>
      <p:sp>
        <p:nvSpPr>
          <p:cNvPr id="26" name="Text 19"/>
          <p:cNvSpPr txBox="1"/>
          <p:nvPr/>
        </p:nvSpPr>
        <p:spPr>
          <a:xfrm>
            <a:off x="4014216" y="2761488"/>
            <a:ext cx="1783080" cy="411480"/>
          </a:xfrm>
          <a:prstGeom prst="rect">
            <a:avLst/>
          </a:prstGeom>
          <a:noFill/>
          <a:ln/>
        </p:spPr>
        <p:txBody>
          <a:bodyPr wrap="square" lIns="0" tIns="0" rIns="0" bIns="0" rtlCol="0" anchor="ctr"/>
          <a:lstStyle/>
          <a:p>
            <a:pPr indent="0" marL="0">
              <a:buNone/>
            </a:pPr>
            <a:r>
              <a:rPr lang="en-US" sz="1500" b="1" dirty="0">
                <a:solidFill>
                  <a:schemeClr val="tx1"/>
                </a:solidFill>
              </a:rPr>
              <a:t>5. Reuse</a:t>
            </a:r>
            <a:endParaRPr lang="en-US" sz="1500" dirty="0"/>
          </a:p>
        </p:txBody>
      </p:sp>
      <p:sp>
        <p:nvSpPr>
          <p:cNvPr id="27" name="Text 20"/>
          <p:cNvSpPr txBox="1"/>
          <p:nvPr/>
        </p:nvSpPr>
        <p:spPr>
          <a:xfrm>
            <a:off x="3429000" y="3273552"/>
            <a:ext cx="2377440" cy="548640"/>
          </a:xfrm>
          <a:prstGeom prst="rect">
            <a:avLst/>
          </a:prstGeom>
          <a:noFill/>
          <a:ln/>
        </p:spPr>
        <p:txBody>
          <a:bodyPr wrap="square" lIns="0" tIns="0" rIns="0" bIns="0" rtlCol="0" anchor="t"/>
          <a:lstStyle/>
          <a:p>
            <a:pPr indent="0" marL="0">
              <a:buNone/>
            </a:pPr>
            <a:r>
              <a:rPr lang="en-US" sz="1300" dirty="0">
                <a:solidFill>
                  <a:schemeClr val="tx1"/>
                </a:solidFill>
              </a:rPr>
              <a:t>Copy settings from a similar problem in another industry</a:t>
            </a:r>
            <a:endParaRPr lang="en-US" sz="1300" dirty="0"/>
          </a:p>
        </p:txBody>
      </p:sp>
      <p:sp>
        <p:nvSpPr>
          <p:cNvPr id="28" name="Step card 6"/>
          <p:cNvSpPr/>
          <p:nvPr/>
        </p:nvSpPr>
        <p:spPr>
          <a:xfrm>
            <a:off x="6071616" y="2560320"/>
            <a:ext cx="2615184" cy="1298448"/>
          </a:xfrm>
          <a:prstGeom prst="roundRect">
            <a:avLst>
              <a:gd name="adj" fmla="val 5634"/>
            </a:avLst>
          </a:prstGeom>
          <a:solidFill>
            <a:srgbClr val="F2F2F8"/>
          </a:solidFill>
          <a:ln w="12700">
            <a:solidFill>
              <a:srgbClr val="F2F2F8"/>
            </a:solidFill>
            <a:prstDash val="solid"/>
          </a:ln>
        </p:spPr>
      </p:sp>
      <p:sp>
        <p:nvSpPr>
          <p:cNvPr id="29" name="Step 6 circle"/>
          <p:cNvSpPr/>
          <p:nvPr/>
        </p:nvSpPr>
        <p:spPr>
          <a:xfrm>
            <a:off x="6236208" y="2743200"/>
            <a:ext cx="475488" cy="475488"/>
          </a:xfrm>
          <a:prstGeom prst="ellipse">
            <a:avLst/>
          </a:prstGeom>
          <a:solidFill>
            <a:srgbClr val="0E9384"/>
          </a:solidFill>
          <a:ln w="12700">
            <a:solidFill>
              <a:srgbClr val="0E9384"/>
            </a:solidFill>
            <a:prstDash val="solid"/>
          </a:ln>
        </p:spPr>
      </p:sp>
      <p:pic>
        <p:nvPicPr>
          <p:cNvPr id="30" name="Step 6 icon" descr="preencoded.png">    </p:cNvPr>
          <p:cNvPicPr>
            <a:picLocks noChangeAspect="1"/>
          </p:cNvPicPr>
          <p:nvPr/>
        </p:nvPicPr>
        <p:blipFill>
          <a:blip r:embed="rId6"/>
          <a:stretch>
            <a:fillRect/>
          </a:stretch>
        </p:blipFill>
        <p:spPr>
          <a:xfrm>
            <a:off x="6350325" y="2857317"/>
            <a:ext cx="247254" cy="247254"/>
          </a:xfrm>
          <a:prstGeom prst="rect">
            <a:avLst/>
          </a:prstGeom>
        </p:spPr>
      </p:pic>
      <p:sp>
        <p:nvSpPr>
          <p:cNvPr id="31" name="Text 23"/>
          <p:cNvSpPr txBox="1"/>
          <p:nvPr/>
        </p:nvSpPr>
        <p:spPr>
          <a:xfrm>
            <a:off x="6821424" y="2761488"/>
            <a:ext cx="1783080" cy="411480"/>
          </a:xfrm>
          <a:prstGeom prst="rect">
            <a:avLst/>
          </a:prstGeom>
          <a:noFill/>
          <a:ln/>
        </p:spPr>
        <p:txBody>
          <a:bodyPr wrap="square" lIns="0" tIns="0" rIns="0" bIns="0" rtlCol="0" anchor="ctr"/>
          <a:lstStyle/>
          <a:p>
            <a:pPr indent="0" marL="0">
              <a:buNone/>
            </a:pPr>
            <a:r>
              <a:rPr lang="en-US" sz="1500" b="1" dirty="0">
                <a:solidFill>
                  <a:schemeClr val="tx1"/>
                </a:solidFill>
              </a:rPr>
              <a:t>6. Run and check</a:t>
            </a:r>
            <a:endParaRPr lang="en-US" sz="1500" dirty="0"/>
          </a:p>
        </p:txBody>
      </p:sp>
      <p:sp>
        <p:nvSpPr>
          <p:cNvPr id="32" name="Text 24"/>
          <p:cNvSpPr txBox="1"/>
          <p:nvPr/>
        </p:nvSpPr>
        <p:spPr>
          <a:xfrm>
            <a:off x="6236208" y="3273552"/>
            <a:ext cx="2377440" cy="548640"/>
          </a:xfrm>
          <a:prstGeom prst="rect">
            <a:avLst/>
          </a:prstGeom>
          <a:noFill/>
          <a:ln/>
        </p:spPr>
        <p:txBody>
          <a:bodyPr wrap="square" lIns="0" tIns="0" rIns="0" bIns="0" rtlCol="0" anchor="t"/>
          <a:lstStyle/>
          <a:p>
            <a:pPr indent="0" marL="0">
              <a:buNone/>
            </a:pPr>
            <a:r>
              <a:rPr lang="en-US" sz="1300" dirty="0">
                <a:solidFill>
                  <a:schemeClr val="tx1"/>
                </a:solidFill>
              </a:rPr>
              <a:t>Run several problems at once; compare with the true best answer</a:t>
            </a:r>
            <a:endParaRPr lang="en-US" sz="1300" dirty="0"/>
          </a:p>
        </p:txBody>
      </p:sp>
      <p:sp>
        <p:nvSpPr>
          <p:cNvPr id="33" name="Text 25"/>
          <p:cNvSpPr txBox="1"/>
          <p:nvPr/>
        </p:nvSpPr>
        <p:spPr>
          <a:xfrm>
            <a:off x="457200" y="4069080"/>
            <a:ext cx="8229600" cy="457200"/>
          </a:xfrm>
          <a:prstGeom prst="rect">
            <a:avLst/>
          </a:prstGeom>
          <a:noFill/>
          <a:ln/>
        </p:spPr>
        <p:txBody>
          <a:bodyPr wrap="square" lIns="0" tIns="0" rIns="0" bIns="0" rtlCol="0" anchor="t"/>
          <a:lstStyle/>
          <a:p>
            <a:pPr indent="0" marL="0">
              <a:buNone/>
            </a:pPr>
            <a:r>
              <a:rPr lang="en-US" sz="1200" i="1" dirty="0">
                <a:solidFill>
                  <a:schemeClr val="tx2"/>
                </a:solidFill>
              </a:rPr>
              <a:t>The AI learned from 60 practice problems solved on a simulator. Score: 1 = the perfect answer, 0 = no better than a random guess.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Built with Qiskit, IBM's quantum software</a:t>
            </a:r>
            <a:endParaRPr lang="en-US" sz="2800" dirty="0"/>
          </a:p>
        </p:txBody>
      </p:sp>
      <p:sp>
        <p:nvSpPr>
          <p:cNvPr id="3" name="Qiskit row 0"/>
          <p:cNvSpPr/>
          <p:nvPr/>
        </p:nvSpPr>
        <p:spPr>
          <a:xfrm>
            <a:off x="457200" y="1078992"/>
            <a:ext cx="4846320" cy="475488"/>
          </a:xfrm>
          <a:prstGeom prst="roundRect">
            <a:avLst>
              <a:gd name="adj" fmla="val 15385"/>
            </a:avLst>
          </a:prstGeom>
          <a:solidFill>
            <a:srgbClr val="F2F2F8"/>
          </a:solidFill>
          <a:ln w="12700">
            <a:solidFill>
              <a:srgbClr val="F2F2F8"/>
            </a:solidFill>
            <a:prstDash val="solid"/>
          </a:ln>
        </p:spPr>
      </p:sp>
      <p:sp>
        <p:nvSpPr>
          <p:cNvPr id="4" name="Text 2"/>
          <p:cNvSpPr txBox="1"/>
          <p:nvPr/>
        </p:nvSpPr>
        <p:spPr>
          <a:xfrm>
            <a:off x="594360" y="1078992"/>
            <a:ext cx="1325880" cy="475488"/>
          </a:xfrm>
          <a:prstGeom prst="rect">
            <a:avLst/>
          </a:prstGeom>
          <a:noFill/>
          <a:ln/>
        </p:spPr>
        <p:txBody>
          <a:bodyPr wrap="square" lIns="0" tIns="0" rIns="0" bIns="0" rtlCol="0" anchor="ctr"/>
          <a:lstStyle/>
          <a:p>
            <a:pPr indent="0" marL="0">
              <a:buNone/>
            </a:pPr>
            <a:r>
              <a:rPr lang="en-US" sz="1300" b="1" dirty="0">
                <a:solidFill>
                  <a:schemeClr val="accent1"/>
                </a:solidFill>
              </a:rPr>
              <a:t>Build</a:t>
            </a:r>
            <a:endParaRPr lang="en-US" sz="1300" dirty="0"/>
          </a:p>
        </p:txBody>
      </p:sp>
      <p:sp>
        <p:nvSpPr>
          <p:cNvPr id="5" name="Text 3"/>
          <p:cNvSpPr txBox="1"/>
          <p:nvPr/>
        </p:nvSpPr>
        <p:spPr>
          <a:xfrm>
            <a:off x="1920240" y="1078992"/>
            <a:ext cx="3291840" cy="475488"/>
          </a:xfrm>
          <a:prstGeom prst="rect">
            <a:avLst/>
          </a:prstGeom>
          <a:noFill/>
          <a:ln/>
        </p:spPr>
        <p:txBody>
          <a:bodyPr wrap="square" lIns="0" tIns="0" rIns="0" bIns="0" rtlCol="0" anchor="ctr"/>
          <a:lstStyle/>
          <a:p>
            <a:pPr indent="0" marL="0">
              <a:buNone/>
            </a:pPr>
            <a:r>
              <a:rPr lang="en-US" sz="1200" dirty="0">
                <a:solidFill>
                  <a:schemeClr val="tx1"/>
                </a:solidFill>
              </a:rPr>
              <a:t>Turns each decision into a quantum recipe (QAOAAnsatz)</a:t>
            </a:r>
            <a:endParaRPr lang="en-US" sz="1200" dirty="0"/>
          </a:p>
        </p:txBody>
      </p:sp>
      <p:sp>
        <p:nvSpPr>
          <p:cNvPr id="6" name="Qiskit row 1"/>
          <p:cNvSpPr/>
          <p:nvPr/>
        </p:nvSpPr>
        <p:spPr>
          <a:xfrm>
            <a:off x="457200" y="1627632"/>
            <a:ext cx="4846320" cy="475488"/>
          </a:xfrm>
          <a:prstGeom prst="roundRect">
            <a:avLst>
              <a:gd name="adj" fmla="val 15385"/>
            </a:avLst>
          </a:prstGeom>
          <a:solidFill>
            <a:srgbClr val="FFFFFF"/>
          </a:solidFill>
          <a:ln w="12700">
            <a:solidFill>
              <a:srgbClr val="FFFFFF"/>
            </a:solidFill>
            <a:prstDash val="solid"/>
          </a:ln>
        </p:spPr>
      </p:sp>
      <p:sp>
        <p:nvSpPr>
          <p:cNvPr id="7" name="Text 5"/>
          <p:cNvSpPr txBox="1"/>
          <p:nvPr/>
        </p:nvSpPr>
        <p:spPr>
          <a:xfrm>
            <a:off x="594360" y="1627632"/>
            <a:ext cx="1325880" cy="475488"/>
          </a:xfrm>
          <a:prstGeom prst="rect">
            <a:avLst/>
          </a:prstGeom>
          <a:noFill/>
          <a:ln/>
        </p:spPr>
        <p:txBody>
          <a:bodyPr wrap="square" lIns="0" tIns="0" rIns="0" bIns="0" rtlCol="0" anchor="ctr"/>
          <a:lstStyle/>
          <a:p>
            <a:pPr indent="0" marL="0">
              <a:buNone/>
            </a:pPr>
            <a:r>
              <a:rPr lang="en-US" sz="1300" b="1" dirty="0">
                <a:solidFill>
                  <a:schemeClr val="accent1"/>
                </a:solidFill>
              </a:rPr>
              <a:t>Fit the chip</a:t>
            </a:r>
            <a:endParaRPr lang="en-US" sz="1300" dirty="0"/>
          </a:p>
        </p:txBody>
      </p:sp>
      <p:sp>
        <p:nvSpPr>
          <p:cNvPr id="8" name="Text 6"/>
          <p:cNvSpPr txBox="1"/>
          <p:nvPr/>
        </p:nvSpPr>
        <p:spPr>
          <a:xfrm>
            <a:off x="1920240" y="1627632"/>
            <a:ext cx="3291840" cy="475488"/>
          </a:xfrm>
          <a:prstGeom prst="rect">
            <a:avLst/>
          </a:prstGeom>
          <a:noFill/>
          <a:ln/>
        </p:spPr>
        <p:txBody>
          <a:bodyPr wrap="square" lIns="0" tIns="0" rIns="0" bIns="0" rtlCol="0" anchor="ctr"/>
          <a:lstStyle/>
          <a:p>
            <a:pPr indent="0" marL="0">
              <a:buNone/>
            </a:pPr>
            <a:r>
              <a:rPr lang="en-US" sz="1200" dirty="0">
                <a:solidFill>
                  <a:schemeClr val="tx1"/>
                </a:solidFill>
              </a:rPr>
              <a:t>Rewrites the recipe for IBM's real Torino chip (transpiler)</a:t>
            </a:r>
            <a:endParaRPr lang="en-US" sz="1200" dirty="0"/>
          </a:p>
        </p:txBody>
      </p:sp>
      <p:sp>
        <p:nvSpPr>
          <p:cNvPr id="9" name="Qiskit row 2"/>
          <p:cNvSpPr/>
          <p:nvPr/>
        </p:nvSpPr>
        <p:spPr>
          <a:xfrm>
            <a:off x="457200" y="2176272"/>
            <a:ext cx="4846320" cy="475488"/>
          </a:xfrm>
          <a:prstGeom prst="roundRect">
            <a:avLst>
              <a:gd name="adj" fmla="val 15385"/>
            </a:avLst>
          </a:prstGeom>
          <a:solidFill>
            <a:srgbClr val="F2F2F8"/>
          </a:solidFill>
          <a:ln w="12700">
            <a:solidFill>
              <a:srgbClr val="F2F2F8"/>
            </a:solidFill>
            <a:prstDash val="solid"/>
          </a:ln>
        </p:spPr>
      </p:sp>
      <p:sp>
        <p:nvSpPr>
          <p:cNvPr id="10" name="Text 8"/>
          <p:cNvSpPr txBox="1"/>
          <p:nvPr/>
        </p:nvSpPr>
        <p:spPr>
          <a:xfrm>
            <a:off x="594360" y="2176272"/>
            <a:ext cx="1325880" cy="475488"/>
          </a:xfrm>
          <a:prstGeom prst="rect">
            <a:avLst/>
          </a:prstGeom>
          <a:noFill/>
          <a:ln/>
        </p:spPr>
        <p:txBody>
          <a:bodyPr wrap="square" lIns="0" tIns="0" rIns="0" bIns="0" rtlCol="0" anchor="ctr"/>
          <a:lstStyle/>
          <a:p>
            <a:pPr indent="0" marL="0">
              <a:buNone/>
            </a:pPr>
            <a:r>
              <a:rPr lang="en-US" sz="1300" b="1" dirty="0">
                <a:solidFill>
                  <a:schemeClr val="accent1"/>
                </a:solidFill>
              </a:rPr>
              <a:t>Run anywhere</a:t>
            </a:r>
            <a:endParaRPr lang="en-US" sz="1300" dirty="0"/>
          </a:p>
        </p:txBody>
      </p:sp>
      <p:sp>
        <p:nvSpPr>
          <p:cNvPr id="11" name="Text 9"/>
          <p:cNvSpPr txBox="1"/>
          <p:nvPr/>
        </p:nvSpPr>
        <p:spPr>
          <a:xfrm>
            <a:off x="1920240" y="2176272"/>
            <a:ext cx="3291840" cy="475488"/>
          </a:xfrm>
          <a:prstGeom prst="rect">
            <a:avLst/>
          </a:prstGeom>
          <a:noFill/>
          <a:ln/>
        </p:spPr>
        <p:txBody>
          <a:bodyPr wrap="square" lIns="0" tIns="0" rIns="0" bIns="0" rtlCol="0" anchor="ctr"/>
          <a:lstStyle/>
          <a:p>
            <a:pPr indent="0" marL="0">
              <a:buNone/>
            </a:pPr>
            <a:r>
              <a:rPr lang="en-US" sz="1200" dirty="0">
                <a:solidFill>
                  <a:schemeClr val="tx1"/>
                </a:solidFill>
              </a:rPr>
              <a:t>Same code on a simulator, a copy of the chip, or the real chip</a:t>
            </a:r>
            <a:endParaRPr lang="en-US" sz="1200" dirty="0"/>
          </a:p>
        </p:txBody>
      </p:sp>
      <p:sp>
        <p:nvSpPr>
          <p:cNvPr id="12" name="Qiskit row 3"/>
          <p:cNvSpPr/>
          <p:nvPr/>
        </p:nvSpPr>
        <p:spPr>
          <a:xfrm>
            <a:off x="457200" y="2724912"/>
            <a:ext cx="4846320" cy="475488"/>
          </a:xfrm>
          <a:prstGeom prst="roundRect">
            <a:avLst>
              <a:gd name="adj" fmla="val 15385"/>
            </a:avLst>
          </a:prstGeom>
          <a:solidFill>
            <a:srgbClr val="FFFFFF"/>
          </a:solidFill>
          <a:ln w="12700">
            <a:solidFill>
              <a:srgbClr val="FFFFFF"/>
            </a:solidFill>
            <a:prstDash val="solid"/>
          </a:ln>
        </p:spPr>
      </p:sp>
      <p:sp>
        <p:nvSpPr>
          <p:cNvPr id="13" name="Text 11"/>
          <p:cNvSpPr txBox="1"/>
          <p:nvPr/>
        </p:nvSpPr>
        <p:spPr>
          <a:xfrm>
            <a:off x="594360" y="2724912"/>
            <a:ext cx="1325880" cy="475488"/>
          </a:xfrm>
          <a:prstGeom prst="rect">
            <a:avLst/>
          </a:prstGeom>
          <a:noFill/>
          <a:ln/>
        </p:spPr>
        <p:txBody>
          <a:bodyPr wrap="square" lIns="0" tIns="0" rIns="0" bIns="0" rtlCol="0" anchor="ctr"/>
          <a:lstStyle/>
          <a:p>
            <a:pPr indent="0" marL="0">
              <a:buNone/>
            </a:pPr>
            <a:r>
              <a:rPr lang="en-US" sz="1300" b="1" dirty="0">
                <a:solidFill>
                  <a:schemeClr val="accent1"/>
                </a:solidFill>
              </a:rPr>
              <a:t>Tune</a:t>
            </a:r>
            <a:endParaRPr lang="en-US" sz="1300" dirty="0"/>
          </a:p>
        </p:txBody>
      </p:sp>
      <p:sp>
        <p:nvSpPr>
          <p:cNvPr id="14" name="Text 12"/>
          <p:cNvSpPr txBox="1"/>
          <p:nvPr/>
        </p:nvSpPr>
        <p:spPr>
          <a:xfrm>
            <a:off x="1920240" y="2724912"/>
            <a:ext cx="3291840" cy="475488"/>
          </a:xfrm>
          <a:prstGeom prst="rect">
            <a:avLst/>
          </a:prstGeom>
          <a:noFill/>
          <a:ln/>
        </p:spPr>
        <p:txBody>
          <a:bodyPr wrap="square" lIns="0" tIns="0" rIns="0" bIns="0" rtlCol="0" anchor="ctr"/>
          <a:lstStyle/>
          <a:p>
            <a:pPr indent="0" marL="0">
              <a:buNone/>
            </a:pPr>
            <a:r>
              <a:rPr lang="en-US" sz="1200" dirty="0">
                <a:solidFill>
                  <a:schemeClr val="tx1"/>
                </a:solidFill>
              </a:rPr>
              <a:t>Adjusts the recipe's dials automatically on a normal computer</a:t>
            </a:r>
            <a:endParaRPr lang="en-US" sz="1200" dirty="0"/>
          </a:p>
        </p:txBody>
      </p:sp>
      <p:sp>
        <p:nvSpPr>
          <p:cNvPr id="15" name="Qiskit row 4"/>
          <p:cNvSpPr/>
          <p:nvPr/>
        </p:nvSpPr>
        <p:spPr>
          <a:xfrm>
            <a:off x="457200" y="3273552"/>
            <a:ext cx="4846320" cy="475488"/>
          </a:xfrm>
          <a:prstGeom prst="roundRect">
            <a:avLst>
              <a:gd name="adj" fmla="val 15385"/>
            </a:avLst>
          </a:prstGeom>
          <a:solidFill>
            <a:srgbClr val="F2F2F8"/>
          </a:solidFill>
          <a:ln w="12700">
            <a:solidFill>
              <a:srgbClr val="F2F2F8"/>
            </a:solidFill>
            <a:prstDash val="solid"/>
          </a:ln>
        </p:spPr>
      </p:sp>
      <p:sp>
        <p:nvSpPr>
          <p:cNvPr id="16" name="Text 14"/>
          <p:cNvSpPr txBox="1"/>
          <p:nvPr/>
        </p:nvSpPr>
        <p:spPr>
          <a:xfrm>
            <a:off x="594360" y="3273552"/>
            <a:ext cx="1325880" cy="475488"/>
          </a:xfrm>
          <a:prstGeom prst="rect">
            <a:avLst/>
          </a:prstGeom>
          <a:noFill/>
          <a:ln/>
        </p:spPr>
        <p:txBody>
          <a:bodyPr wrap="square" lIns="0" tIns="0" rIns="0" bIns="0" rtlCol="0" anchor="ctr"/>
          <a:lstStyle/>
          <a:p>
            <a:pPr indent="0" marL="0">
              <a:buNone/>
            </a:pPr>
            <a:r>
              <a:rPr lang="en-US" sz="1300" b="1" dirty="0">
                <a:solidFill>
                  <a:schemeClr val="accent1"/>
                </a:solidFill>
              </a:rPr>
              <a:t>Fight errors</a:t>
            </a:r>
            <a:endParaRPr lang="en-US" sz="1300" dirty="0"/>
          </a:p>
        </p:txBody>
      </p:sp>
      <p:sp>
        <p:nvSpPr>
          <p:cNvPr id="17" name="Text 15"/>
          <p:cNvSpPr txBox="1"/>
          <p:nvPr/>
        </p:nvSpPr>
        <p:spPr>
          <a:xfrm>
            <a:off x="1920240" y="3273552"/>
            <a:ext cx="3291840" cy="475488"/>
          </a:xfrm>
          <a:prstGeom prst="rect">
            <a:avLst/>
          </a:prstGeom>
          <a:noFill/>
          <a:ln/>
        </p:spPr>
        <p:txBody>
          <a:bodyPr wrap="square" lIns="0" tIns="0" rIns="0" bIns="0" rtlCol="0" anchor="ctr"/>
          <a:lstStyle/>
          <a:p>
            <a:pPr indent="0" marL="0">
              <a:buNone/>
            </a:pPr>
            <a:r>
              <a:rPr lang="en-US" sz="1200" dirty="0">
                <a:solidFill>
                  <a:schemeClr val="tx1"/>
                </a:solidFill>
              </a:rPr>
              <a:t>Three tricks that reduce the chip's mistakes (error mitigation)</a:t>
            </a:r>
            <a:endParaRPr lang="en-US" sz="1200" dirty="0"/>
          </a:p>
        </p:txBody>
      </p:sp>
      <p:sp>
        <p:nvSpPr>
          <p:cNvPr id="18" name="Qiskit row 5"/>
          <p:cNvSpPr/>
          <p:nvPr/>
        </p:nvSpPr>
        <p:spPr>
          <a:xfrm>
            <a:off x="457200" y="3822192"/>
            <a:ext cx="4846320" cy="475488"/>
          </a:xfrm>
          <a:prstGeom prst="roundRect">
            <a:avLst>
              <a:gd name="adj" fmla="val 15385"/>
            </a:avLst>
          </a:prstGeom>
          <a:solidFill>
            <a:srgbClr val="FFFFFF"/>
          </a:solidFill>
          <a:ln w="12700">
            <a:solidFill>
              <a:srgbClr val="FFFFFF"/>
            </a:solidFill>
            <a:prstDash val="solid"/>
          </a:ln>
        </p:spPr>
      </p:sp>
      <p:sp>
        <p:nvSpPr>
          <p:cNvPr id="19" name="Text 17"/>
          <p:cNvSpPr txBox="1"/>
          <p:nvPr/>
        </p:nvSpPr>
        <p:spPr>
          <a:xfrm>
            <a:off x="594360" y="3822192"/>
            <a:ext cx="1325880" cy="475488"/>
          </a:xfrm>
          <a:prstGeom prst="rect">
            <a:avLst/>
          </a:prstGeom>
          <a:noFill/>
          <a:ln/>
        </p:spPr>
        <p:txBody>
          <a:bodyPr wrap="square" lIns="0" tIns="0" rIns="0" bIns="0" rtlCol="0" anchor="ctr"/>
          <a:lstStyle/>
          <a:p>
            <a:pPr indent="0" marL="0">
              <a:buNone/>
            </a:pPr>
            <a:r>
              <a:rPr lang="en-US" sz="1300" b="1" dirty="0">
                <a:solidFill>
                  <a:schemeClr val="accent1"/>
                </a:solidFill>
              </a:rPr>
              <a:t>Save time</a:t>
            </a:r>
            <a:endParaRPr lang="en-US" sz="1300" dirty="0"/>
          </a:p>
        </p:txBody>
      </p:sp>
      <p:sp>
        <p:nvSpPr>
          <p:cNvPr id="20" name="Text 18"/>
          <p:cNvSpPr txBox="1"/>
          <p:nvPr/>
        </p:nvSpPr>
        <p:spPr>
          <a:xfrm>
            <a:off x="1920240" y="3822192"/>
            <a:ext cx="3291840" cy="475488"/>
          </a:xfrm>
          <a:prstGeom prst="rect">
            <a:avLst/>
          </a:prstGeom>
          <a:noFill/>
          <a:ln/>
        </p:spPr>
        <p:txBody>
          <a:bodyPr wrap="square" lIns="0" tIns="0" rIns="0" bIns="0" rtlCol="0" anchor="ctr"/>
          <a:lstStyle/>
          <a:p>
            <a:pPr indent="0" marL="0">
              <a:buNone/>
            </a:pPr>
            <a:r>
              <a:rPr lang="en-US" sz="1200" dirty="0">
                <a:solidFill>
                  <a:schemeClr val="tx1"/>
                </a:solidFill>
              </a:rPr>
              <a:t>Sends many recipes in one trip: about 3 of our 10 minutes</a:t>
            </a:r>
            <a:endParaRPr lang="en-US" sz="1200" dirty="0"/>
          </a:p>
        </p:txBody>
      </p:sp>
      <p:sp>
        <p:nvSpPr>
          <p:cNvPr id="21" name="Hardest bug card"/>
          <p:cNvSpPr/>
          <p:nvPr/>
        </p:nvSpPr>
        <p:spPr>
          <a:xfrm>
            <a:off x="5577840" y="1078992"/>
            <a:ext cx="3108960" cy="2011680"/>
          </a:xfrm>
          <a:prstGeom prst="roundRect">
            <a:avLst>
              <a:gd name="adj" fmla="val 3636"/>
            </a:avLst>
          </a:prstGeom>
          <a:solidFill>
            <a:srgbClr val="2B2A6B"/>
          </a:solidFill>
          <a:ln w="12700">
            <a:solidFill>
              <a:srgbClr val="2B2A6B"/>
            </a:solidFill>
            <a:prstDash val="solid"/>
          </a:ln>
          <a:effectLst>
            <a:outerShdw sx="100000" sy="100000" kx="0" ky="0" algn="bl" rotWithShape="0" blurRad="76200" dist="25400" dir="5400000">
              <a:srgbClr val="000000">
                <a:alpha val="12000"/>
              </a:srgbClr>
            </a:outerShdw>
          </a:effectLst>
        </p:spPr>
      </p:sp>
      <p:sp>
        <p:nvSpPr>
          <p:cNvPr id="22" name="Text 20"/>
          <p:cNvSpPr txBox="1"/>
          <p:nvPr/>
        </p:nvSpPr>
        <p:spPr>
          <a:xfrm>
            <a:off x="5760720" y="1188720"/>
            <a:ext cx="2743200" cy="274320"/>
          </a:xfrm>
          <a:prstGeom prst="rect">
            <a:avLst/>
          </a:prstGeom>
          <a:noFill/>
          <a:ln/>
        </p:spPr>
        <p:txBody>
          <a:bodyPr wrap="square" lIns="0" tIns="0" rIns="0" bIns="0" rtlCol="0" anchor="t"/>
          <a:lstStyle/>
          <a:p>
            <a:pPr indent="0" marL="0">
              <a:buNone/>
            </a:pPr>
            <a:r>
              <a:rPr lang="en-US" sz="1400" b="1" dirty="0">
                <a:solidFill>
                  <a:schemeClr val="bg1"/>
                </a:solidFill>
              </a:rPr>
              <a:t>Hardest bug we fixed</a:t>
            </a:r>
            <a:endParaRPr lang="en-US" sz="1400" dirty="0"/>
          </a:p>
        </p:txBody>
      </p:sp>
      <p:sp>
        <p:nvSpPr>
          <p:cNvPr id="23" name="Text 21"/>
          <p:cNvSpPr txBox="1"/>
          <p:nvPr/>
        </p:nvSpPr>
        <p:spPr>
          <a:xfrm>
            <a:off x="5760720" y="1508760"/>
            <a:ext cx="2788920" cy="1508760"/>
          </a:xfrm>
          <a:prstGeom prst="rect">
            <a:avLst/>
          </a:prstGeom>
          <a:noFill/>
          <a:ln/>
        </p:spPr>
        <p:txBody>
          <a:bodyPr wrap="square" lIns="0" tIns="0" rIns="0" bIns="0" rtlCol="0" anchor="t"/>
          <a:lstStyle/>
          <a:p>
            <a:pPr indent="0" marL="0">
              <a:spcAft>
                <a:spcPts val="400"/>
              </a:spcAft>
              <a:buNone/>
            </a:pPr>
            <a:r>
              <a:rPr lang="en-US" sz="1200" dirty="0">
                <a:solidFill>
                  <a:schemeClr val="bg1"/>
                </a:solidFill>
              </a:rPr>
              <a:t>A plus/minus mix-up made our recipe hunt for the worst answer.</a:t>
            </a:r>
            <a:endParaRPr lang="en-US" sz="1200" dirty="0"/>
          </a:p>
          <a:p>
            <a:pPr indent="0" marL="0">
              <a:spcAft>
                <a:spcPts val="400"/>
              </a:spcAft>
              <a:buNone/>
            </a:pPr>
            <a:r>
              <a:rPr lang="en-US" sz="1200" b="1" dirty="0">
                <a:solidFill>
                  <a:schemeClr val="bg1"/>
                </a:solidFill>
              </a:rPr>
              <a:t>Score before the fix: −1.37</a:t>
            </a:r>
            <a:endParaRPr lang="en-US" sz="1200" dirty="0"/>
          </a:p>
          <a:p>
            <a:pPr indent="0" marL="0">
              <a:spcAft>
                <a:spcPts val="400"/>
              </a:spcAft>
              <a:buNone/>
            </a:pPr>
            <a:r>
              <a:rPr lang="en-US" sz="1200" b="1" dirty="0">
                <a:solidFill>
                  <a:schemeClr val="bg1"/>
                </a:solidFill>
              </a:rPr>
              <a:t>After the fix: 0.79</a:t>
            </a:r>
            <a:endParaRPr lang="en-US" sz="1200" dirty="0"/>
          </a:p>
          <a:p>
            <a:pPr indent="0" marL="0">
              <a:spcAft>
                <a:spcPts val="400"/>
              </a:spcAft>
              <a:buNone/>
            </a:pPr>
            <a:r>
              <a:rPr lang="en-US" sz="1200" i="1" dirty="0">
                <a:solidFill>
                  <a:schemeClr val="bg1"/>
                </a:solidFill>
              </a:rPr>
              <a:t>Lesson: always check against a known best answer.</a:t>
            </a:r>
            <a:endParaRPr lang="en-US" sz="1200" dirty="0"/>
          </a:p>
        </p:txBody>
      </p:sp>
      <p:sp>
        <p:nvSpPr>
          <p:cNvPr id="24" name="Reproducible card"/>
          <p:cNvSpPr/>
          <p:nvPr/>
        </p:nvSpPr>
        <p:spPr>
          <a:xfrm>
            <a:off x="5577840" y="3218688"/>
            <a:ext cx="3108960" cy="1152144"/>
          </a:xfrm>
          <a:prstGeom prst="roundRect">
            <a:avLst>
              <a:gd name="adj" fmla="val 6349"/>
            </a:avLst>
          </a:prstGeom>
          <a:solidFill>
            <a:srgbClr val="EEF8F6"/>
          </a:solidFill>
          <a:ln w="12700">
            <a:solidFill>
              <a:srgbClr val="EEF8F6"/>
            </a:solidFill>
            <a:prstDash val="solid"/>
          </a:ln>
        </p:spPr>
      </p:sp>
      <p:sp>
        <p:nvSpPr>
          <p:cNvPr id="25" name="Text 23"/>
          <p:cNvSpPr txBox="1"/>
          <p:nvPr/>
        </p:nvSpPr>
        <p:spPr>
          <a:xfrm>
            <a:off x="5760720" y="3291840"/>
            <a:ext cx="2743200" cy="274320"/>
          </a:xfrm>
          <a:prstGeom prst="rect">
            <a:avLst/>
          </a:prstGeom>
          <a:noFill/>
          <a:ln/>
        </p:spPr>
        <p:txBody>
          <a:bodyPr wrap="square" lIns="0" tIns="0" rIns="0" bIns="0" rtlCol="0" anchor="t"/>
          <a:lstStyle/>
          <a:p>
            <a:pPr indent="0" marL="0">
              <a:buNone/>
            </a:pPr>
            <a:r>
              <a:rPr lang="en-US" sz="1400" b="1" dirty="0">
                <a:solidFill>
                  <a:schemeClr val="tx1"/>
                </a:solidFill>
              </a:rPr>
              <a:t>Anyone can rerun it</a:t>
            </a:r>
            <a:endParaRPr lang="en-US" sz="1400" dirty="0"/>
          </a:p>
        </p:txBody>
      </p:sp>
      <p:sp>
        <p:nvSpPr>
          <p:cNvPr id="26" name="Text 24"/>
          <p:cNvSpPr txBox="1"/>
          <p:nvPr/>
        </p:nvSpPr>
        <p:spPr>
          <a:xfrm>
            <a:off x="5760720" y="3584448"/>
            <a:ext cx="2788920" cy="749808"/>
          </a:xfrm>
          <a:prstGeom prst="rect">
            <a:avLst/>
          </a:prstGeom>
          <a:noFill/>
          <a:ln/>
        </p:spPr>
        <p:txBody>
          <a:bodyPr wrap="square" lIns="0" tIns="0" rIns="0" bIns="0" rtlCol="0" anchor="t"/>
          <a:lstStyle/>
          <a:p>
            <a:pPr indent="0" marL="0">
              <a:buNone/>
            </a:pPr>
            <a:r>
              <a:rPr lang="en-US" sz="1200" dirty="0">
                <a:solidFill>
                  <a:schemeClr val="tx1"/>
                </a:solidFill>
              </a:rPr>
              <a:t>One notebook: press Run all. We tested the real-chip code on a fake copy of the chip first.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Each piece of a problem suits a different computer</a:t>
            </a:r>
            <a:endParaRPr lang="en-US" sz="2800" dirty="0"/>
          </a:p>
        </p:txBody>
      </p:sp>
      <p:graphicFrame>
        <p:nvGraphicFramePr>
          <p:cNvPr id="3" name="Chart 0" descr=""/>
          <p:cNvGraphicFramePr/>
          <p:nvPr/>
        </p:nvGraphicFramePr>
        <p:xfrm>
          <a:off x="457200" y="1051560"/>
          <a:ext cx="4937760" cy="3063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160520"/>
            <a:ext cx="4937760" cy="365760"/>
          </a:xfrm>
          <a:prstGeom prst="rect">
            <a:avLst/>
          </a:prstGeom>
          <a:noFill/>
          <a:ln/>
        </p:spPr>
        <p:txBody>
          <a:bodyPr wrap="square" lIns="0" tIns="0" rIns="0" bIns="0" rtlCol="0" anchor="t"/>
          <a:lstStyle/>
          <a:p>
            <a:pPr indent="0" marL="0">
              <a:buNone/>
            </a:pPr>
            <a:r>
              <a:rPr lang="en-US" sz="1000" dirty="0">
                <a:solidFill>
                  <a:schemeClr val="accent3"/>
                </a:solidFill>
              </a:rPr>
              <a:t>Drug funding: every choice affects every other. Trial sites: each site affects only a few others.</a:t>
            </a:r>
            <a:endParaRPr lang="en-US" sz="1000" dirty="0"/>
          </a:p>
        </p:txBody>
      </p:sp>
      <p:sp>
        <p:nvSpPr>
          <p:cNvPr id="5" name="Strategy card"/>
          <p:cNvSpPr/>
          <p:nvPr/>
        </p:nvSpPr>
        <p:spPr>
          <a:xfrm>
            <a:off x="5623560" y="1051560"/>
            <a:ext cx="3063240" cy="1783080"/>
          </a:xfrm>
          <a:prstGeom prst="roundRect">
            <a:avLst>
              <a:gd name="adj" fmla="val 4103"/>
            </a:avLst>
          </a:prstGeom>
          <a:solidFill>
            <a:srgbClr val="F2F2F8"/>
          </a:solidFill>
          <a:ln w="12700">
            <a:solidFill>
              <a:srgbClr val="F2F2F8"/>
            </a:solidFill>
            <a:prstDash val="solid"/>
          </a:ln>
        </p:spPr>
      </p:sp>
      <p:sp>
        <p:nvSpPr>
          <p:cNvPr id="6" name="Text 3"/>
          <p:cNvSpPr txBox="1"/>
          <p:nvPr/>
        </p:nvSpPr>
        <p:spPr>
          <a:xfrm>
            <a:off x="5806440" y="1143000"/>
            <a:ext cx="2743200" cy="274320"/>
          </a:xfrm>
          <a:prstGeom prst="rect">
            <a:avLst/>
          </a:prstGeom>
          <a:noFill/>
          <a:ln/>
        </p:spPr>
        <p:txBody>
          <a:bodyPr wrap="square" lIns="0" tIns="0" rIns="0" bIns="0" rtlCol="0" anchor="t"/>
          <a:lstStyle/>
          <a:p>
            <a:pPr indent="0" marL="0">
              <a:buNone/>
            </a:pPr>
            <a:r>
              <a:rPr lang="en-US" sz="1300" b="1" dirty="0">
                <a:solidFill>
                  <a:schemeClr val="tx1"/>
                </a:solidFill>
              </a:rPr>
              <a:t>Mixing both beats either one</a:t>
            </a:r>
            <a:endParaRPr lang="en-US" sz="1300" dirty="0"/>
          </a:p>
        </p:txBody>
      </p:sp>
      <p:sp>
        <p:nvSpPr>
          <p:cNvPr id="7" name="Text 4"/>
          <p:cNvSpPr txBox="1"/>
          <p:nvPr/>
        </p:nvSpPr>
        <p:spPr>
          <a:xfrm>
            <a:off x="5806440" y="1481328"/>
            <a:ext cx="1508760" cy="329184"/>
          </a:xfrm>
          <a:prstGeom prst="rect">
            <a:avLst/>
          </a:prstGeom>
          <a:noFill/>
          <a:ln/>
        </p:spPr>
        <p:txBody>
          <a:bodyPr wrap="square" lIns="0" tIns="0" rIns="0" bIns="0" rtlCol="0" anchor="ctr"/>
          <a:lstStyle/>
          <a:p>
            <a:pPr indent="0" marL="0">
              <a:buNone/>
            </a:pPr>
            <a:r>
              <a:rPr lang="en-US" sz="1300" dirty="0">
                <a:solidFill>
                  <a:schemeClr val="tx1"/>
                </a:solidFill>
              </a:rPr>
              <a:t>Gate-based only</a:t>
            </a:r>
            <a:endParaRPr lang="en-US" sz="1300" dirty="0"/>
          </a:p>
        </p:txBody>
      </p:sp>
      <p:sp>
        <p:nvSpPr>
          <p:cNvPr id="8" name="Strategy bar 0"/>
          <p:cNvSpPr/>
          <p:nvPr/>
        </p:nvSpPr>
        <p:spPr>
          <a:xfrm>
            <a:off x="7315200" y="1545336"/>
            <a:ext cx="864108" cy="201168"/>
          </a:xfrm>
          <a:prstGeom prst="rect">
            <a:avLst/>
          </a:prstGeom>
          <a:solidFill>
            <a:srgbClr val="5B4FD1"/>
          </a:solidFill>
          <a:ln w="12700">
            <a:solidFill>
              <a:srgbClr val="5B4FD1"/>
            </a:solidFill>
            <a:prstDash val="solid"/>
          </a:ln>
        </p:spPr>
      </p:sp>
      <p:sp>
        <p:nvSpPr>
          <p:cNvPr id="9" name="Text 6"/>
          <p:cNvSpPr txBox="1"/>
          <p:nvPr/>
        </p:nvSpPr>
        <p:spPr>
          <a:xfrm>
            <a:off x="8225028" y="1481328"/>
            <a:ext cx="384048" cy="329184"/>
          </a:xfrm>
          <a:prstGeom prst="rect">
            <a:avLst/>
          </a:prstGeom>
          <a:noFill/>
          <a:ln/>
        </p:spPr>
        <p:txBody>
          <a:bodyPr wrap="square" lIns="0" tIns="0" rIns="0" bIns="0" rtlCol="0" anchor="ctr"/>
          <a:lstStyle/>
          <a:p>
            <a:pPr indent="0" marL="0">
              <a:buNone/>
            </a:pPr>
            <a:r>
              <a:rPr lang="en-US" sz="1200" b="1" dirty="0">
                <a:solidFill>
                  <a:schemeClr val="tx1"/>
                </a:solidFill>
              </a:rPr>
              <a:t>0.45</a:t>
            </a:r>
            <a:endParaRPr lang="en-US" sz="1200" dirty="0"/>
          </a:p>
        </p:txBody>
      </p:sp>
      <p:sp>
        <p:nvSpPr>
          <p:cNvPr id="10" name="Text 7"/>
          <p:cNvSpPr txBox="1"/>
          <p:nvPr/>
        </p:nvSpPr>
        <p:spPr>
          <a:xfrm>
            <a:off x="5806440" y="1911096"/>
            <a:ext cx="1508760" cy="329184"/>
          </a:xfrm>
          <a:prstGeom prst="rect">
            <a:avLst/>
          </a:prstGeom>
          <a:noFill/>
          <a:ln/>
        </p:spPr>
        <p:txBody>
          <a:bodyPr wrap="square" lIns="0" tIns="0" rIns="0" bIns="0" rtlCol="0" anchor="ctr"/>
          <a:lstStyle/>
          <a:p>
            <a:pPr indent="0" marL="0">
              <a:buNone/>
            </a:pPr>
            <a:r>
              <a:rPr lang="en-US" sz="1300" dirty="0">
                <a:solidFill>
                  <a:schemeClr val="tx1"/>
                </a:solidFill>
              </a:rPr>
              <a:t>Annealing only</a:t>
            </a:r>
            <a:endParaRPr lang="en-US" sz="1300" dirty="0"/>
          </a:p>
        </p:txBody>
      </p:sp>
      <p:sp>
        <p:nvSpPr>
          <p:cNvPr id="11" name="Strategy bar 1"/>
          <p:cNvSpPr/>
          <p:nvPr/>
        </p:nvSpPr>
        <p:spPr>
          <a:xfrm>
            <a:off x="7315200" y="1975104"/>
            <a:ext cx="1006206" cy="201168"/>
          </a:xfrm>
          <a:prstGeom prst="rect">
            <a:avLst/>
          </a:prstGeom>
          <a:solidFill>
            <a:srgbClr val="0E9384"/>
          </a:solidFill>
          <a:ln w="12700">
            <a:solidFill>
              <a:srgbClr val="0E9384"/>
            </a:solidFill>
            <a:prstDash val="solid"/>
          </a:ln>
        </p:spPr>
      </p:sp>
      <p:sp>
        <p:nvSpPr>
          <p:cNvPr id="12" name="Text 9"/>
          <p:cNvSpPr txBox="1"/>
          <p:nvPr/>
        </p:nvSpPr>
        <p:spPr>
          <a:xfrm>
            <a:off x="8367126" y="1911096"/>
            <a:ext cx="384048" cy="329184"/>
          </a:xfrm>
          <a:prstGeom prst="rect">
            <a:avLst/>
          </a:prstGeom>
          <a:noFill/>
          <a:ln/>
        </p:spPr>
        <p:txBody>
          <a:bodyPr wrap="square" lIns="0" tIns="0" rIns="0" bIns="0" rtlCol="0" anchor="ctr"/>
          <a:lstStyle/>
          <a:p>
            <a:pPr indent="0" marL="0">
              <a:buNone/>
            </a:pPr>
            <a:r>
              <a:rPr lang="en-US" sz="1200" b="1" dirty="0">
                <a:solidFill>
                  <a:schemeClr val="tx1"/>
                </a:solidFill>
              </a:rPr>
              <a:t>0.52</a:t>
            </a:r>
            <a:endParaRPr lang="en-US" sz="1200" dirty="0"/>
          </a:p>
        </p:txBody>
      </p:sp>
      <p:sp>
        <p:nvSpPr>
          <p:cNvPr id="13" name="Text 10"/>
          <p:cNvSpPr txBox="1"/>
          <p:nvPr/>
        </p:nvSpPr>
        <p:spPr>
          <a:xfrm>
            <a:off x="5806440" y="2340864"/>
            <a:ext cx="1508760" cy="329184"/>
          </a:xfrm>
          <a:prstGeom prst="rect">
            <a:avLst/>
          </a:prstGeom>
          <a:noFill/>
          <a:ln/>
        </p:spPr>
        <p:txBody>
          <a:bodyPr wrap="square" lIns="0" tIns="0" rIns="0" bIns="0" rtlCol="0" anchor="ctr"/>
          <a:lstStyle/>
          <a:p>
            <a:pPr indent="0" marL="0">
              <a:buNone/>
            </a:pPr>
            <a:r>
              <a:rPr lang="en-US" sz="1300" b="1" dirty="0">
                <a:solidFill>
                  <a:schemeClr val="tx1"/>
                </a:solidFill>
              </a:rPr>
              <a:t>Q-Router's mix</a:t>
            </a:r>
            <a:endParaRPr lang="en-US" sz="1300" dirty="0"/>
          </a:p>
        </p:txBody>
      </p:sp>
      <p:sp>
        <p:nvSpPr>
          <p:cNvPr id="14" name="Strategy bar 2"/>
          <p:cNvSpPr/>
          <p:nvPr/>
        </p:nvSpPr>
        <p:spPr>
          <a:xfrm>
            <a:off x="7315200" y="2404872"/>
            <a:ext cx="1035009" cy="201168"/>
          </a:xfrm>
          <a:prstGeom prst="rect">
            <a:avLst/>
          </a:prstGeom>
          <a:solidFill>
            <a:srgbClr val="E8833A"/>
          </a:solidFill>
          <a:ln w="12700">
            <a:solidFill>
              <a:srgbClr val="E8833A"/>
            </a:solidFill>
            <a:prstDash val="solid"/>
          </a:ln>
        </p:spPr>
      </p:sp>
      <p:sp>
        <p:nvSpPr>
          <p:cNvPr id="15" name="Text 12"/>
          <p:cNvSpPr txBox="1"/>
          <p:nvPr/>
        </p:nvSpPr>
        <p:spPr>
          <a:xfrm>
            <a:off x="8395929" y="2340864"/>
            <a:ext cx="384048" cy="329184"/>
          </a:xfrm>
          <a:prstGeom prst="rect">
            <a:avLst/>
          </a:prstGeom>
          <a:noFill/>
          <a:ln/>
        </p:spPr>
        <p:txBody>
          <a:bodyPr wrap="square" lIns="0" tIns="0" rIns="0" bIns="0" rtlCol="0" anchor="ctr"/>
          <a:lstStyle/>
          <a:p>
            <a:pPr indent="0" marL="0">
              <a:buNone/>
            </a:pPr>
            <a:r>
              <a:rPr lang="en-US" sz="1200" b="1" dirty="0">
                <a:solidFill>
                  <a:schemeClr val="tx1"/>
                </a:solidFill>
              </a:rPr>
              <a:t>0.54</a:t>
            </a:r>
            <a:endParaRPr lang="en-US" sz="1200" dirty="0"/>
          </a:p>
        </p:txBody>
      </p:sp>
      <p:sp>
        <p:nvSpPr>
          <p:cNvPr id="16" name="Pattern card"/>
          <p:cNvSpPr/>
          <p:nvPr/>
        </p:nvSpPr>
        <p:spPr>
          <a:xfrm>
            <a:off x="5623560" y="2971800"/>
            <a:ext cx="3063240" cy="1463040"/>
          </a:xfrm>
          <a:prstGeom prst="roundRect">
            <a:avLst>
              <a:gd name="adj" fmla="val 5000"/>
            </a:avLst>
          </a:prstGeom>
          <a:solidFill>
            <a:srgbClr val="2B2A6B"/>
          </a:solidFill>
          <a:ln w="12700">
            <a:solidFill>
              <a:srgbClr val="2B2A6B"/>
            </a:solidFill>
            <a:prstDash val="solid"/>
          </a:ln>
          <a:effectLst>
            <a:outerShdw sx="100000" sy="100000" kx="0" ky="0" algn="bl" rotWithShape="0" blurRad="76200" dist="25400" dir="5400000">
              <a:srgbClr val="000000">
                <a:alpha val="12000"/>
              </a:srgbClr>
            </a:outerShdw>
          </a:effectLst>
        </p:spPr>
      </p:sp>
      <p:sp>
        <p:nvSpPr>
          <p:cNvPr id="17" name="Text 14"/>
          <p:cNvSpPr txBox="1"/>
          <p:nvPr/>
        </p:nvSpPr>
        <p:spPr>
          <a:xfrm>
            <a:off x="5806440" y="3044952"/>
            <a:ext cx="2743200" cy="274320"/>
          </a:xfrm>
          <a:prstGeom prst="rect">
            <a:avLst/>
          </a:prstGeom>
          <a:noFill/>
          <a:ln/>
        </p:spPr>
        <p:txBody>
          <a:bodyPr wrap="square" lIns="0" tIns="0" rIns="0" bIns="0" rtlCol="0" anchor="t"/>
          <a:lstStyle/>
          <a:p>
            <a:pPr indent="0" marL="0">
              <a:buNone/>
            </a:pPr>
            <a:r>
              <a:rPr lang="en-US" sz="1300" b="1" dirty="0">
                <a:solidFill>
                  <a:schemeClr val="bg1"/>
                </a:solidFill>
              </a:rPr>
              <a:t>60 practice problems: annealing won</a:t>
            </a:r>
            <a:endParaRPr lang="en-US" sz="1300" dirty="0"/>
          </a:p>
        </p:txBody>
      </p:sp>
      <p:sp>
        <p:nvSpPr>
          <p:cNvPr id="18" name="Text 15"/>
          <p:cNvSpPr txBox="1"/>
          <p:nvPr/>
        </p:nvSpPr>
        <p:spPr>
          <a:xfrm>
            <a:off x="5806440" y="3346704"/>
            <a:ext cx="2788920" cy="1024128"/>
          </a:xfrm>
          <a:prstGeom prst="rect">
            <a:avLst/>
          </a:prstGeom>
          <a:noFill/>
          <a:ln/>
        </p:spPr>
        <p:txBody>
          <a:bodyPr wrap="square" lIns="0" tIns="0" rIns="0" bIns="0" rtlCol="0" anchor="t"/>
          <a:lstStyle/>
          <a:p>
            <a:pPr indent="0" marL="0">
              <a:spcAft>
                <a:spcPts val="200"/>
              </a:spcAft>
              <a:buNone/>
            </a:pPr>
            <a:r>
              <a:rPr lang="en-US" sz="1200" dirty="0">
                <a:solidFill>
                  <a:schemeClr val="bg1"/>
                </a:solidFill>
              </a:rPr>
              <a:t>Stocks: 0 of 11</a:t>
            </a:r>
            <a:endParaRPr lang="en-US" sz="1200" dirty="0"/>
          </a:p>
          <a:p>
            <a:pPr indent="0" marL="0">
              <a:spcAft>
                <a:spcPts val="200"/>
              </a:spcAft>
              <a:buNone/>
            </a:pPr>
            <a:r>
              <a:rPr lang="en-US" sz="1200" dirty="0">
                <a:solidFill>
                  <a:schemeClr val="bg1"/>
                </a:solidFill>
              </a:rPr>
              <a:t>Drugs: 2 of 16</a:t>
            </a:r>
            <a:endParaRPr lang="en-US" sz="1200" dirty="0"/>
          </a:p>
          <a:p>
            <a:pPr indent="0" marL="0">
              <a:spcAft>
                <a:spcPts val="200"/>
              </a:spcAft>
              <a:buNone/>
            </a:pPr>
            <a:r>
              <a:rPr lang="en-US" sz="1200" dirty="0">
                <a:solidFill>
                  <a:schemeClr val="bg1"/>
                </a:solidFill>
              </a:rPr>
              <a:t>Medical tests: 4 of 15</a:t>
            </a:r>
            <a:endParaRPr lang="en-US" sz="1200" dirty="0"/>
          </a:p>
          <a:p>
            <a:pPr indent="0" marL="0">
              <a:spcAft>
                <a:spcPts val="200"/>
              </a:spcAft>
              <a:buNone/>
            </a:pPr>
            <a:r>
              <a:rPr lang="en-US" sz="1200" dirty="0">
                <a:solidFill>
                  <a:schemeClr val="bg1"/>
                </a:solidFill>
              </a:rPr>
              <a:t>Networks: 10 of 18</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Learning across industries saves quantum time</a:t>
            </a:r>
            <a:endParaRPr lang="en-US" sz="2800" dirty="0"/>
          </a:p>
        </p:txBody>
      </p:sp>
      <p:graphicFrame>
        <p:nvGraphicFramePr>
          <p:cNvPr id="3" name="Chart 0" descr=""/>
          <p:cNvGraphicFramePr/>
          <p:nvPr/>
        </p:nvGraphicFramePr>
        <p:xfrm>
          <a:off x="457200" y="1051560"/>
          <a:ext cx="4480560" cy="29260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023360"/>
            <a:ext cx="4480560" cy="411480"/>
          </a:xfrm>
          <a:prstGeom prst="rect">
            <a:avLst/>
          </a:prstGeom>
          <a:noFill/>
          <a:ln/>
        </p:spPr>
        <p:txBody>
          <a:bodyPr wrap="square" lIns="0" tIns="0" rIns="0" bIns="0" rtlCol="0" anchor="t"/>
          <a:lstStyle/>
          <a:p>
            <a:pPr indent="0" marL="0">
              <a:buNone/>
            </a:pPr>
            <a:r>
              <a:rPr lang="en-US" sz="1100" i="1" dirty="0">
                <a:solidFill>
                  <a:schemeClr val="tx2"/>
                </a:solidFill>
              </a:rPr>
              <a:t>Copying from a similar problem beats copying from a random one on 65% of problems</a:t>
            </a:r>
            <a:endParaRPr lang="en-US" sz="1100" dirty="0"/>
          </a:p>
        </p:txBody>
      </p:sp>
      <p:sp>
        <p:nvSpPr>
          <p:cNvPr id="5" name="Ledger card"/>
          <p:cNvSpPr/>
          <p:nvPr/>
        </p:nvSpPr>
        <p:spPr>
          <a:xfrm>
            <a:off x="5166360" y="1051560"/>
            <a:ext cx="3520440" cy="1783080"/>
          </a:xfrm>
          <a:prstGeom prst="roundRect">
            <a:avLst>
              <a:gd name="adj" fmla="val 4103"/>
            </a:avLst>
          </a:prstGeom>
          <a:solidFill>
            <a:srgbClr val="2B2A6B"/>
          </a:solidFill>
          <a:ln w="12700">
            <a:solidFill>
              <a:srgbClr val="2B2A6B"/>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5349240" y="1115568"/>
            <a:ext cx="1188720" cy="777240"/>
          </a:xfrm>
          <a:prstGeom prst="rect">
            <a:avLst/>
          </a:prstGeom>
          <a:noFill/>
          <a:ln/>
        </p:spPr>
        <p:txBody>
          <a:bodyPr wrap="square" lIns="0" tIns="0" rIns="0" bIns="0" rtlCol="0" anchor="ctr"/>
          <a:lstStyle/>
          <a:p>
            <a:pPr indent="0" marL="0">
              <a:buNone/>
            </a:pPr>
            <a:r>
              <a:rPr lang="en-US" sz="4800" b="1" dirty="0">
                <a:solidFill>
                  <a:schemeClr val="accent4"/>
                </a:solidFill>
                <a:latin typeface="Cambria" pitchFamily="34" charset="0"/>
                <a:ea typeface="Cambria" pitchFamily="34" charset="-122"/>
                <a:cs typeface="Cambria" pitchFamily="34" charset="-120"/>
              </a:rPr>
              <a:t>4×</a:t>
            </a:r>
            <a:endParaRPr lang="en-US" sz="4800" dirty="0"/>
          </a:p>
        </p:txBody>
      </p:sp>
      <p:sp>
        <p:nvSpPr>
          <p:cNvPr id="7" name="Text 4"/>
          <p:cNvSpPr txBox="1"/>
          <p:nvPr/>
        </p:nvSpPr>
        <p:spPr>
          <a:xfrm>
            <a:off x="6537960" y="1143000"/>
            <a:ext cx="2057400" cy="777240"/>
          </a:xfrm>
          <a:prstGeom prst="rect">
            <a:avLst/>
          </a:prstGeom>
          <a:noFill/>
          <a:ln/>
        </p:spPr>
        <p:txBody>
          <a:bodyPr wrap="square" lIns="0" tIns="0" rIns="0" bIns="0" rtlCol="0" anchor="ctr"/>
          <a:lstStyle/>
          <a:p>
            <a:pPr indent="0" marL="0">
              <a:buNone/>
            </a:pPr>
            <a:r>
              <a:rPr lang="en-US" sz="1200" b="1" dirty="0">
                <a:solidFill>
                  <a:schemeClr val="bg1"/>
                </a:solidFill>
              </a:rPr>
              <a:t>less quantum time when similar problems share settings and run together</a:t>
            </a:r>
            <a:endParaRPr lang="en-US" sz="1200" dirty="0"/>
          </a:p>
        </p:txBody>
      </p:sp>
      <p:sp>
        <p:nvSpPr>
          <p:cNvPr id="8" name="Text 5"/>
          <p:cNvSpPr txBox="1"/>
          <p:nvPr/>
        </p:nvSpPr>
        <p:spPr>
          <a:xfrm>
            <a:off x="5349240" y="1965960"/>
            <a:ext cx="3200400" cy="777240"/>
          </a:xfrm>
          <a:prstGeom prst="rect">
            <a:avLst/>
          </a:prstGeom>
          <a:noFill/>
          <a:ln/>
        </p:spPr>
        <p:txBody>
          <a:bodyPr wrap="square" lIns="0" tIns="0" rIns="0" bIns="0" rtlCol="0" anchor="t"/>
          <a:lstStyle/>
          <a:p>
            <a:pPr indent="0" marL="0">
              <a:buNone/>
            </a:pPr>
            <a:r>
              <a:rPr lang="en-US" sz="1200" dirty="0">
                <a:solidFill>
                  <a:schemeClr val="bg1"/>
                </a:solidFill>
              </a:rPr>
              <a:t>4 problems from 4 industries: 1 trip to the chip instead of 4, keeping 96% of the quality</a:t>
            </a:r>
            <a:endParaRPr lang="en-US" sz="1200" dirty="0"/>
          </a:p>
        </p:txBody>
      </p:sp>
      <p:sp>
        <p:nvSpPr>
          <p:cNvPr id="9" name="Entanglement card"/>
          <p:cNvSpPr/>
          <p:nvPr/>
        </p:nvSpPr>
        <p:spPr>
          <a:xfrm>
            <a:off x="5166360" y="2971800"/>
            <a:ext cx="1691640" cy="1463040"/>
          </a:xfrm>
          <a:prstGeom prst="roundRect">
            <a:avLst>
              <a:gd name="adj" fmla="val 5000"/>
            </a:avLst>
          </a:prstGeom>
          <a:solidFill>
            <a:srgbClr val="F2F2F8"/>
          </a:solidFill>
          <a:ln w="12700">
            <a:solidFill>
              <a:srgbClr val="F2F2F8"/>
            </a:solidFill>
            <a:prstDash val="solid"/>
          </a:ln>
        </p:spPr>
      </p:sp>
      <p:sp>
        <p:nvSpPr>
          <p:cNvPr id="10" name="Text 7"/>
          <p:cNvSpPr txBox="1"/>
          <p:nvPr/>
        </p:nvSpPr>
        <p:spPr>
          <a:xfrm>
            <a:off x="5257800" y="3035808"/>
            <a:ext cx="155448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0.77 → 0.31</a:t>
            </a:r>
            <a:endParaRPr lang="en-US" sz="2000" dirty="0"/>
          </a:p>
        </p:txBody>
      </p:sp>
      <p:sp>
        <p:nvSpPr>
          <p:cNvPr id="11" name="Text 8"/>
          <p:cNvSpPr txBox="1"/>
          <p:nvPr/>
        </p:nvSpPr>
        <p:spPr>
          <a:xfrm>
            <a:off x="5257800" y="3520440"/>
            <a:ext cx="1536192" cy="868680"/>
          </a:xfrm>
          <a:prstGeom prst="rect">
            <a:avLst/>
          </a:prstGeom>
          <a:noFill/>
          <a:ln/>
        </p:spPr>
        <p:txBody>
          <a:bodyPr wrap="square" lIns="0" tIns="0" rIns="0" bIns="0" rtlCol="0" anchor="t"/>
          <a:lstStyle/>
          <a:p>
            <a:pPr indent="0" marL="0">
              <a:buNone/>
            </a:pPr>
            <a:r>
              <a:rPr lang="en-US" sz="1100" dirty="0">
                <a:solidFill>
                  <a:schemeClr val="tx1"/>
                </a:solidFill>
              </a:rPr>
              <a:t>score when we cut the links between qubits</a:t>
            </a:r>
            <a:endParaRPr lang="en-US" sz="1100" dirty="0"/>
          </a:p>
        </p:txBody>
      </p:sp>
      <p:sp>
        <p:nvSpPr>
          <p:cNvPr id="12" name="Classical card"/>
          <p:cNvSpPr/>
          <p:nvPr/>
        </p:nvSpPr>
        <p:spPr>
          <a:xfrm>
            <a:off x="6995160" y="2971800"/>
            <a:ext cx="1691640" cy="1463040"/>
          </a:xfrm>
          <a:prstGeom prst="roundRect">
            <a:avLst>
              <a:gd name="adj" fmla="val 5000"/>
            </a:avLst>
          </a:prstGeom>
          <a:solidFill>
            <a:srgbClr val="FDECEC"/>
          </a:solidFill>
          <a:ln w="12700">
            <a:solidFill>
              <a:srgbClr val="FDECEC"/>
            </a:solidFill>
            <a:prstDash val="solid"/>
          </a:ln>
        </p:spPr>
      </p:sp>
      <p:sp>
        <p:nvSpPr>
          <p:cNvPr id="13" name="Text 10"/>
          <p:cNvSpPr txBox="1"/>
          <p:nvPr/>
        </p:nvSpPr>
        <p:spPr>
          <a:xfrm>
            <a:off x="7086600" y="3035808"/>
            <a:ext cx="1554480" cy="457200"/>
          </a:xfrm>
          <a:prstGeom prst="rect">
            <a:avLst/>
          </a:prstGeom>
          <a:noFill/>
          <a:ln/>
        </p:spPr>
        <p:txBody>
          <a:bodyPr wrap="square" lIns="0" tIns="0" rIns="0" bIns="0" rtlCol="0" anchor="t"/>
          <a:lstStyle/>
          <a:p>
            <a:pPr indent="0" marL="0">
              <a:buNone/>
            </a:pPr>
            <a:r>
              <a:rPr lang="en-US" sz="2000" b="1" dirty="0">
                <a:solidFill>
                  <a:schemeClr val="accent5"/>
                </a:solidFill>
                <a:latin typeface="Cambria" pitchFamily="34" charset="0"/>
                <a:ea typeface="Cambria" pitchFamily="34" charset="-122"/>
                <a:cs typeface="Cambria" pitchFamily="34" charset="-120"/>
              </a:rPr>
              <a:t>0.95-0.98</a:t>
            </a:r>
            <a:endParaRPr lang="en-US" sz="2000" dirty="0"/>
          </a:p>
        </p:txBody>
      </p:sp>
      <p:sp>
        <p:nvSpPr>
          <p:cNvPr id="14" name="Text 11"/>
          <p:cNvSpPr txBox="1"/>
          <p:nvPr/>
        </p:nvSpPr>
        <p:spPr>
          <a:xfrm>
            <a:off x="7086600" y="3520440"/>
            <a:ext cx="1536192" cy="868680"/>
          </a:xfrm>
          <a:prstGeom prst="rect">
            <a:avLst/>
          </a:prstGeom>
          <a:noFill/>
          <a:ln/>
        </p:spPr>
        <p:txBody>
          <a:bodyPr wrap="square" lIns="0" tIns="0" rIns="0" bIns="0" rtlCol="0" anchor="t"/>
          <a:lstStyle/>
          <a:p>
            <a:pPr indent="0" marL="0">
              <a:buNone/>
            </a:pPr>
            <a:r>
              <a:rPr lang="en-US" sz="1100" dirty="0">
                <a:solidFill>
                  <a:schemeClr val="tx1"/>
                </a:solidFill>
              </a:rPr>
              <a:t>a normal laptop's score: it still wins every time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Testing on a real IBM quantum chip</a:t>
            </a:r>
            <a:endParaRPr lang="en-US" sz="2800" dirty="0"/>
          </a:p>
        </p:txBody>
      </p:sp>
      <p:sp>
        <p:nvSpPr>
          <p:cNvPr id="3" name="Text 1"/>
          <p:cNvSpPr txBox="1"/>
          <p:nvPr/>
        </p:nvSpPr>
        <p:spPr>
          <a:xfrm>
            <a:off x="457200" y="987552"/>
            <a:ext cx="8229600" cy="274320"/>
          </a:xfrm>
          <a:prstGeom prst="rect">
            <a:avLst/>
          </a:prstGeom>
          <a:noFill/>
          <a:ln/>
        </p:spPr>
        <p:txBody>
          <a:bodyPr wrap="square" lIns="0" tIns="0" rIns="0" bIns="0" rtlCol="0" anchor="t"/>
          <a:lstStyle/>
          <a:p>
            <a:pPr indent="0" marL="0">
              <a:buNone/>
            </a:pPr>
            <a:r>
              <a:rPr lang="en-US" sz="1200" dirty="0">
                <a:solidFill>
                  <a:schemeClr val="tx2"/>
                </a:solidFill>
              </a:rPr>
              <a:t>Drug problem (8 drugs, fund 3) on a real IBM quantum chip · score: 1 = perfect, 0 = random guess</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486400" cy="914400"/>
        </p:xfrm>
        <a:graphic>
          <a:graphicData uri="http://schemas.openxmlformats.org/drawingml/2006/table">
            <a:tbl>
              <a:tblPr/>
              <a:tblGrid>
                <a:gridCol w="1463040"/>
                <a:gridCol w="1005840"/>
                <a:gridCol w="1005840"/>
                <a:gridCol w="1005840"/>
                <a:gridCol w="1005840"/>
              </a:tblGrid>
              <a:tr h="384048">
                <a:tc>
                  <a:txBody>
                    <a:bodyPr/>
                    <a:lstStyle/>
                    <a:p>
                      <a:pPr algn="ctr" indent="0" marL="0">
                        <a:buNone/>
                      </a:pP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algn="ctr" indent="0" marL="0">
                        <a:buNone/>
                      </a:pPr>
                      <a:r>
                        <a:rPr lang="en-US" sz="1200" b="1" dirty="0">
                          <a:solidFill>
                            <a:srgbClr val="FFFFFF"/>
                          </a:solidFill>
                        </a:rPr>
                        <a:t>Perfect (no errors)</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algn="ctr" indent="0" marL="0">
                        <a:buNone/>
                      </a:pPr>
                      <a:r>
                        <a:rPr lang="en-US" sz="1200" b="1" dirty="0">
                          <a:solidFill>
                            <a:srgbClr val="FFFFFF"/>
                          </a:solidFill>
                        </a:rPr>
                        <a:t>Copy of chip (with errors)</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algn="ctr" indent="0" marL="0">
                        <a:buNone/>
                      </a:pPr>
                      <a:r>
                        <a:rPr lang="en-US" sz="1200" b="1" dirty="0">
                          <a:solidFill>
                            <a:srgbClr val="FFFFFF"/>
                          </a:solidFill>
                        </a:rPr>
                        <a:t>Real chip</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c>
                  <a:txBody>
                    <a:bodyPr/>
                    <a:lstStyle/>
                    <a:p>
                      <a:pPr algn="ctr" indent="0" marL="0">
                        <a:buNone/>
                      </a:pPr>
                      <a:r>
                        <a:rPr lang="en-US" sz="1200" b="1" dirty="0">
                          <a:solidFill>
                            <a:srgbClr val="FFFFFF"/>
                          </a:solidFill>
                        </a:rPr>
                        <a:t>Real chip + fixes</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2B2A6B"/>
                    </a:solidFill>
                  </a:tcPr>
                </a:tc>
              </a:tr>
              <a:tr h="384048">
                <a:tc>
                  <a:txBody>
                    <a:bodyPr/>
                    <a:lstStyle/>
                    <a:p>
                      <a:pPr algn="ctr" indent="0" marL="0">
                        <a:buNone/>
                      </a:pPr>
                      <a:r>
                        <a:rPr lang="en-US" sz="1200" b="1" dirty="0">
                          <a:solidFill>
                            <a:srgbClr val="5B4FD1"/>
                          </a:solidFill>
                        </a:rPr>
                        <a:t>Gate-based</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1D36"/>
                          </a:solidFill>
                        </a:rPr>
                        <a:t>0.74</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1D36"/>
                          </a:solidFill>
                        </a:rPr>
                        <a:t>0.63</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1D36"/>
                          </a:solidFill>
                        </a:rPr>
                        <a:t>pending</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1D36"/>
                          </a:solidFill>
                        </a:rPr>
                        <a:t>pending</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0E9384"/>
                          </a:solidFill>
                        </a:rPr>
                        <a:t>Annealing</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1D36"/>
                          </a:solidFill>
                        </a:rPr>
                        <a:t>0.81</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1D36"/>
                          </a:solidFill>
                        </a:rPr>
                        <a:t>0.49</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1D36"/>
                          </a:solidFill>
                        </a:rPr>
                        <a:t>pending</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1D36"/>
                          </a:solidFill>
                        </a:rPr>
                        <a:t>pending</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667085"/>
                          </a:solidFill>
                        </a:rPr>
                        <a:t>Normal laptop</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1D36"/>
                          </a:solidFill>
                        </a:rPr>
                        <a:t>0.94</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1D36"/>
                          </a:solidFill>
                        </a:rPr>
                        <a:t>-</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1D36"/>
                          </a:solidFill>
                        </a:rPr>
                        <a:t>-</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B1D36"/>
                          </a:solidFill>
                        </a:rPr>
                        <a:t>-</a:t>
                      </a:r>
                      <a:endParaRPr lang="en-US" sz="1200" dirty="0"/>
                    </a:p>
                  </a:txBody>
                  <a:tcPr marL="91440" marR="91440" marT="45720" marB="45720" anchor="ctr">
                    <a:lnL w="6350" cap="flat" cmpd="sng" algn="ctr">
                      <a:solidFill>
                        <a:srgbClr val="D9DAE6"/>
                      </a:solidFill>
                      <a:prstDash val="solid"/>
                      <a:round/>
                      <a:headEnd type="none" w="med" len="med"/>
                      <a:tailEnd type="none" w="med" len="med"/>
                    </a:lnL>
                    <a:lnR w="6350" cap="flat" cmpd="sng" algn="ctr">
                      <a:solidFill>
                        <a:srgbClr val="D9DAE6"/>
                      </a:solidFill>
                      <a:prstDash val="solid"/>
                      <a:round/>
                      <a:headEnd type="none" w="med" len="med"/>
                      <a:tailEnd type="none" w="med" len="med"/>
                    </a:lnR>
                    <a:lnT w="6350" cap="flat" cmpd="sng" algn="ctr">
                      <a:solidFill>
                        <a:srgbClr val="D9DAE6"/>
                      </a:solidFill>
                      <a:prstDash val="solid"/>
                      <a:round/>
                      <a:headEnd type="none" w="med" len="med"/>
                      <a:tailEnd type="none" w="med" len="med"/>
                    </a:lnT>
                    <a:lnB w="6350" cap="flat" cmpd="sng" algn="ctr">
                      <a:solidFill>
                        <a:srgbClr val="D9DA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3017520"/>
            <a:ext cx="5486400" cy="274320"/>
          </a:xfrm>
          <a:prstGeom prst="rect">
            <a:avLst/>
          </a:prstGeom>
          <a:noFill/>
          <a:ln/>
        </p:spPr>
        <p:txBody>
          <a:bodyPr wrap="square" lIns="0" tIns="0" rIns="0" bIns="0" rtlCol="0" anchor="t"/>
          <a:lstStyle/>
          <a:p>
            <a:pPr indent="0" marL="0">
              <a:buNone/>
            </a:pPr>
            <a:r>
              <a:rPr lang="en-US" sz="1300" b="1" dirty="0">
                <a:solidFill>
                  <a:schemeClr val="tx1"/>
                </a:solidFill>
              </a:rPr>
              <a:t>Real-chip tests (about 3 of our 10 quantum minutes)</a:t>
            </a:r>
            <a:endParaRPr lang="en-US" sz="1300" dirty="0"/>
          </a:p>
        </p:txBody>
      </p:sp>
      <p:sp>
        <p:nvSpPr>
          <p:cNvPr id="6" name="HW run 0"/>
          <p:cNvSpPr/>
          <p:nvPr/>
        </p:nvSpPr>
        <p:spPr>
          <a:xfrm>
            <a:off x="457200" y="3364992"/>
            <a:ext cx="1298448" cy="1069848"/>
          </a:xfrm>
          <a:prstGeom prst="roundRect">
            <a:avLst>
              <a:gd name="adj" fmla="val 6838"/>
            </a:avLst>
          </a:prstGeom>
          <a:solidFill>
            <a:srgbClr val="F2F2F8"/>
          </a:solidFill>
          <a:ln w="12700">
            <a:solidFill>
              <a:srgbClr val="F2F2F8"/>
            </a:solidFill>
            <a:prstDash val="solid"/>
          </a:ln>
        </p:spPr>
      </p:sp>
      <p:sp>
        <p:nvSpPr>
          <p:cNvPr id="7" name="Text 4"/>
          <p:cNvSpPr txBox="1"/>
          <p:nvPr/>
        </p:nvSpPr>
        <p:spPr>
          <a:xfrm>
            <a:off x="566928" y="3438144"/>
            <a:ext cx="1097280" cy="274320"/>
          </a:xfrm>
          <a:prstGeom prst="rect">
            <a:avLst/>
          </a:prstGeom>
          <a:noFill/>
          <a:ln/>
        </p:spPr>
        <p:txBody>
          <a:bodyPr wrap="square" lIns="0" tIns="0" rIns="0" bIns="0" rtlCol="0" anchor="t"/>
          <a:lstStyle/>
          <a:p>
            <a:pPr indent="0" marL="0">
              <a:buNone/>
            </a:pPr>
            <a:r>
              <a:rPr lang="en-US" sz="1400" b="1" dirty="0">
                <a:solidFill>
                  <a:schemeClr val="accent1"/>
                </a:solidFill>
              </a:rPr>
              <a:t>Test 1</a:t>
            </a:r>
            <a:endParaRPr lang="en-US" sz="1400" dirty="0"/>
          </a:p>
        </p:txBody>
      </p:sp>
      <p:sp>
        <p:nvSpPr>
          <p:cNvPr id="8" name="Text 5"/>
          <p:cNvSpPr txBox="1"/>
          <p:nvPr/>
        </p:nvSpPr>
        <p:spPr>
          <a:xfrm>
            <a:off x="566928" y="3730752"/>
            <a:ext cx="1115568" cy="640080"/>
          </a:xfrm>
          <a:prstGeom prst="rect">
            <a:avLst/>
          </a:prstGeom>
          <a:noFill/>
          <a:ln/>
        </p:spPr>
        <p:txBody>
          <a:bodyPr wrap="square" lIns="0" tIns="0" rIns="0" bIns="0" rtlCol="0" anchor="t"/>
          <a:lstStyle/>
          <a:p>
            <a:pPr indent="0" marL="0">
              <a:buNone/>
            </a:pPr>
            <a:r>
              <a:rPr lang="en-US" sz="1200" dirty="0">
                <a:solidFill>
                  <a:schemeClr val="tx1"/>
                </a:solidFill>
              </a:rPr>
              <a:t>Both kinds, with and without fixes</a:t>
            </a:r>
            <a:endParaRPr lang="en-US" sz="1200" dirty="0"/>
          </a:p>
        </p:txBody>
      </p:sp>
      <p:sp>
        <p:nvSpPr>
          <p:cNvPr id="9" name="HW run 1"/>
          <p:cNvSpPr/>
          <p:nvPr/>
        </p:nvSpPr>
        <p:spPr>
          <a:xfrm>
            <a:off x="1847088" y="3364992"/>
            <a:ext cx="1298448" cy="1069848"/>
          </a:xfrm>
          <a:prstGeom prst="roundRect">
            <a:avLst>
              <a:gd name="adj" fmla="val 6838"/>
            </a:avLst>
          </a:prstGeom>
          <a:solidFill>
            <a:srgbClr val="F2F2F8"/>
          </a:solidFill>
          <a:ln w="12700">
            <a:solidFill>
              <a:srgbClr val="F2F2F8"/>
            </a:solidFill>
            <a:prstDash val="solid"/>
          </a:ln>
        </p:spPr>
      </p:sp>
      <p:sp>
        <p:nvSpPr>
          <p:cNvPr id="10" name="Text 7"/>
          <p:cNvSpPr txBox="1"/>
          <p:nvPr/>
        </p:nvSpPr>
        <p:spPr>
          <a:xfrm>
            <a:off x="1956816" y="3438144"/>
            <a:ext cx="1097280" cy="274320"/>
          </a:xfrm>
          <a:prstGeom prst="rect">
            <a:avLst/>
          </a:prstGeom>
          <a:noFill/>
          <a:ln/>
        </p:spPr>
        <p:txBody>
          <a:bodyPr wrap="square" lIns="0" tIns="0" rIns="0" bIns="0" rtlCol="0" anchor="t"/>
          <a:lstStyle/>
          <a:p>
            <a:pPr indent="0" marL="0">
              <a:buNone/>
            </a:pPr>
            <a:r>
              <a:rPr lang="en-US" sz="1400" b="1" dirty="0">
                <a:solidFill>
                  <a:schemeClr val="accent1"/>
                </a:solidFill>
              </a:rPr>
              <a:t>Test 2</a:t>
            </a:r>
            <a:endParaRPr lang="en-US" sz="1400" dirty="0"/>
          </a:p>
        </p:txBody>
      </p:sp>
      <p:sp>
        <p:nvSpPr>
          <p:cNvPr id="11" name="Text 8"/>
          <p:cNvSpPr txBox="1"/>
          <p:nvPr/>
        </p:nvSpPr>
        <p:spPr>
          <a:xfrm>
            <a:off x="1956816" y="3730752"/>
            <a:ext cx="1115568" cy="640080"/>
          </a:xfrm>
          <a:prstGeom prst="rect">
            <a:avLst/>
          </a:prstGeom>
          <a:noFill/>
          <a:ln/>
        </p:spPr>
        <p:txBody>
          <a:bodyPr wrap="square" lIns="0" tIns="0" rIns="0" bIns="0" rtlCol="0" anchor="t"/>
          <a:lstStyle/>
          <a:p>
            <a:pPr indent="0" marL="0">
              <a:buNone/>
            </a:pPr>
            <a:r>
              <a:rPr lang="en-US" sz="1200" dirty="0">
                <a:solidFill>
                  <a:schemeClr val="tx1"/>
                </a:solidFill>
              </a:rPr>
              <a:t>The 3 pieces, both kinds</a:t>
            </a:r>
            <a:endParaRPr lang="en-US" sz="1200" dirty="0"/>
          </a:p>
        </p:txBody>
      </p:sp>
      <p:sp>
        <p:nvSpPr>
          <p:cNvPr id="12" name="HW run 2"/>
          <p:cNvSpPr/>
          <p:nvPr/>
        </p:nvSpPr>
        <p:spPr>
          <a:xfrm>
            <a:off x="3236976" y="3364992"/>
            <a:ext cx="1298448" cy="1069848"/>
          </a:xfrm>
          <a:prstGeom prst="roundRect">
            <a:avLst>
              <a:gd name="adj" fmla="val 6838"/>
            </a:avLst>
          </a:prstGeom>
          <a:solidFill>
            <a:srgbClr val="F2F2F8"/>
          </a:solidFill>
          <a:ln w="12700">
            <a:solidFill>
              <a:srgbClr val="F2F2F8"/>
            </a:solidFill>
            <a:prstDash val="solid"/>
          </a:ln>
        </p:spPr>
      </p:sp>
      <p:sp>
        <p:nvSpPr>
          <p:cNvPr id="13" name="Text 10"/>
          <p:cNvSpPr txBox="1"/>
          <p:nvPr/>
        </p:nvSpPr>
        <p:spPr>
          <a:xfrm>
            <a:off x="3346704" y="3438144"/>
            <a:ext cx="1097280" cy="274320"/>
          </a:xfrm>
          <a:prstGeom prst="rect">
            <a:avLst/>
          </a:prstGeom>
          <a:noFill/>
          <a:ln/>
        </p:spPr>
        <p:txBody>
          <a:bodyPr wrap="square" lIns="0" tIns="0" rIns="0" bIns="0" rtlCol="0" anchor="t"/>
          <a:lstStyle/>
          <a:p>
            <a:pPr indent="0" marL="0">
              <a:buNone/>
            </a:pPr>
            <a:r>
              <a:rPr lang="en-US" sz="1400" b="1" dirty="0">
                <a:solidFill>
                  <a:schemeClr val="accent1"/>
                </a:solidFill>
              </a:rPr>
              <a:t>Test 3</a:t>
            </a:r>
            <a:endParaRPr lang="en-US" sz="1400" dirty="0"/>
          </a:p>
        </p:txBody>
      </p:sp>
      <p:sp>
        <p:nvSpPr>
          <p:cNvPr id="14" name="Text 11"/>
          <p:cNvSpPr txBox="1"/>
          <p:nvPr/>
        </p:nvSpPr>
        <p:spPr>
          <a:xfrm>
            <a:off x="3346704" y="3730752"/>
            <a:ext cx="1115568" cy="640080"/>
          </a:xfrm>
          <a:prstGeom prst="rect">
            <a:avLst/>
          </a:prstGeom>
          <a:noFill/>
          <a:ln/>
        </p:spPr>
        <p:txBody>
          <a:bodyPr wrap="square" lIns="0" tIns="0" rIns="0" bIns="0" rtlCol="0" anchor="t"/>
          <a:lstStyle/>
          <a:p>
            <a:pPr indent="0" marL="0">
              <a:buNone/>
            </a:pPr>
            <a:r>
              <a:rPr lang="en-US" sz="1200" dirty="0">
                <a:solidFill>
                  <a:schemeClr val="tx1"/>
                </a:solidFill>
              </a:rPr>
              <a:t>3 industries on one chip</a:t>
            </a:r>
            <a:endParaRPr lang="en-US" sz="1200" dirty="0"/>
          </a:p>
        </p:txBody>
      </p:sp>
      <p:sp>
        <p:nvSpPr>
          <p:cNvPr id="15" name="HW run 3"/>
          <p:cNvSpPr/>
          <p:nvPr/>
        </p:nvSpPr>
        <p:spPr>
          <a:xfrm>
            <a:off x="4626864" y="3364992"/>
            <a:ext cx="1298448" cy="1069848"/>
          </a:xfrm>
          <a:prstGeom prst="roundRect">
            <a:avLst>
              <a:gd name="adj" fmla="val 6838"/>
            </a:avLst>
          </a:prstGeom>
          <a:solidFill>
            <a:srgbClr val="F2F2F8"/>
          </a:solidFill>
          <a:ln w="12700">
            <a:solidFill>
              <a:srgbClr val="F2F2F8"/>
            </a:solidFill>
            <a:prstDash val="solid"/>
          </a:ln>
        </p:spPr>
      </p:sp>
      <p:sp>
        <p:nvSpPr>
          <p:cNvPr id="16" name="Text 13"/>
          <p:cNvSpPr txBox="1"/>
          <p:nvPr/>
        </p:nvSpPr>
        <p:spPr>
          <a:xfrm>
            <a:off x="4736592" y="3438144"/>
            <a:ext cx="1097280" cy="274320"/>
          </a:xfrm>
          <a:prstGeom prst="rect">
            <a:avLst/>
          </a:prstGeom>
          <a:noFill/>
          <a:ln/>
        </p:spPr>
        <p:txBody>
          <a:bodyPr wrap="square" lIns="0" tIns="0" rIns="0" bIns="0" rtlCol="0" anchor="t"/>
          <a:lstStyle/>
          <a:p>
            <a:pPr indent="0" marL="0">
              <a:buNone/>
            </a:pPr>
            <a:r>
              <a:rPr lang="en-US" sz="1400" b="1" dirty="0">
                <a:solidFill>
                  <a:schemeClr val="accent1"/>
                </a:solidFill>
              </a:rPr>
              <a:t>Test 4</a:t>
            </a:r>
            <a:endParaRPr lang="en-US" sz="1400" dirty="0"/>
          </a:p>
        </p:txBody>
      </p:sp>
      <p:sp>
        <p:nvSpPr>
          <p:cNvPr id="17" name="Text 14"/>
          <p:cNvSpPr txBox="1"/>
          <p:nvPr/>
        </p:nvSpPr>
        <p:spPr>
          <a:xfrm>
            <a:off x="4736592" y="3730752"/>
            <a:ext cx="1115568" cy="640080"/>
          </a:xfrm>
          <a:prstGeom prst="rect">
            <a:avLst/>
          </a:prstGeom>
          <a:noFill/>
          <a:ln/>
        </p:spPr>
        <p:txBody>
          <a:bodyPr wrap="square" lIns="0" tIns="0" rIns="0" bIns="0" rtlCol="0" anchor="t"/>
          <a:lstStyle/>
          <a:p>
            <a:pPr indent="0" marL="0">
              <a:buNone/>
            </a:pPr>
            <a:r>
              <a:rPr lang="en-US" sz="1200" dirty="0">
                <a:solidFill>
                  <a:schemeClr val="tx1"/>
                </a:solidFill>
              </a:rPr>
              <a:t>Shared settings, one trip</a:t>
            </a:r>
            <a:endParaRPr lang="en-US" sz="1200" dirty="0"/>
          </a:p>
        </p:txBody>
      </p:sp>
      <p:sp>
        <p:nvSpPr>
          <p:cNvPr id="18" name="Noise card"/>
          <p:cNvSpPr/>
          <p:nvPr/>
        </p:nvSpPr>
        <p:spPr>
          <a:xfrm>
            <a:off x="6217920" y="1325880"/>
            <a:ext cx="2468880" cy="3108960"/>
          </a:xfrm>
          <a:prstGeom prst="roundRect">
            <a:avLst>
              <a:gd name="adj" fmla="val 2963"/>
            </a:avLst>
          </a:prstGeom>
          <a:solidFill>
            <a:srgbClr val="2B2A6B"/>
          </a:solidFill>
          <a:ln w="12700">
            <a:solidFill>
              <a:srgbClr val="2B2A6B"/>
            </a:solidFill>
            <a:prstDash val="solid"/>
          </a:ln>
          <a:effectLst>
            <a:outerShdw sx="100000" sy="100000" kx="0" ky="0" algn="bl" rotWithShape="0" blurRad="76200" dist="25400" dir="5400000">
              <a:srgbClr val="000000">
                <a:alpha val="12000"/>
              </a:srgbClr>
            </a:outerShdw>
          </a:effectLst>
        </p:spPr>
      </p:sp>
      <p:sp>
        <p:nvSpPr>
          <p:cNvPr id="19" name="Text 16"/>
          <p:cNvSpPr txBox="1"/>
          <p:nvPr/>
        </p:nvSpPr>
        <p:spPr>
          <a:xfrm>
            <a:off x="6400800" y="1417320"/>
            <a:ext cx="2103120" cy="274320"/>
          </a:xfrm>
          <a:prstGeom prst="rect">
            <a:avLst/>
          </a:prstGeom>
          <a:noFill/>
          <a:ln/>
        </p:spPr>
        <p:txBody>
          <a:bodyPr wrap="square" lIns="0" tIns="0" rIns="0" bIns="0" rtlCol="0" anchor="t"/>
          <a:lstStyle/>
          <a:p>
            <a:pPr indent="0" marL="0">
              <a:buNone/>
            </a:pPr>
            <a:r>
              <a:rPr lang="en-US" sz="1400" b="1" dirty="0">
                <a:solidFill>
                  <a:schemeClr val="bg1"/>
                </a:solidFill>
              </a:rPr>
              <a:t>What errors cost us</a:t>
            </a:r>
            <a:endParaRPr lang="en-US" sz="1400" dirty="0"/>
          </a:p>
        </p:txBody>
      </p:sp>
      <p:sp>
        <p:nvSpPr>
          <p:cNvPr id="20" name="Text 17"/>
          <p:cNvSpPr txBox="1"/>
          <p:nvPr/>
        </p:nvSpPr>
        <p:spPr>
          <a:xfrm>
            <a:off x="6400800" y="1755648"/>
            <a:ext cx="2176272" cy="260604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bg1"/>
                </a:solidFill>
              </a:rPr>
              <a:t>Annealing is best with no errors, but takes 7× more risky steps, so it falls behind on a real chip</a:t>
            </a:r>
            <a:endParaRPr lang="en-US" sz="1200" dirty="0"/>
          </a:p>
          <a:p>
            <a:pPr marL="177800" indent="-177800">
              <a:spcAft>
                <a:spcPts val="600"/>
              </a:spcAft>
              <a:buSzPct val="100000"/>
              <a:buChar char="•"/>
            </a:pPr>
            <a:r>
              <a:rPr lang="en-US" sz="1200" dirty="0">
                <a:solidFill>
                  <a:schemeClr val="bg1"/>
                </a:solidFill>
              </a:rPr>
              <a:t>An error-cancelling trick won back about 25% of the lost quality</a:t>
            </a:r>
            <a:endParaRPr lang="en-US" sz="1200" dirty="0"/>
          </a:p>
          <a:p>
            <a:pPr marL="177800" indent="-177800">
              <a:spcAft>
                <a:spcPts val="600"/>
              </a:spcAft>
              <a:buSzPct val="100000"/>
              <a:buChar char="•"/>
            </a:pPr>
            <a:r>
              <a:rPr lang="en-US" sz="1200" dirty="0">
                <a:solidFill>
                  <a:schemeClr val="bg1"/>
                </a:solidFill>
              </a:rPr>
              <a:t>3 problems side by side barely disturbed each other</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What's new, what's honest, what's next</a:t>
            </a:r>
            <a:endParaRPr lang="en-US" sz="2800" dirty="0"/>
          </a:p>
        </p:txBody>
      </p:sp>
      <p:sp>
        <p:nvSpPr>
          <p:cNvPr id="3" name="What's new card"/>
          <p:cNvSpPr/>
          <p:nvPr/>
        </p:nvSpPr>
        <p:spPr>
          <a:xfrm>
            <a:off x="457200" y="1097280"/>
            <a:ext cx="2615184" cy="3017520"/>
          </a:xfrm>
          <a:prstGeom prst="roundRect">
            <a:avLst>
              <a:gd name="adj" fmla="val 2797"/>
            </a:avLst>
          </a:prstGeom>
          <a:solidFill>
            <a:srgbClr val="2B2A6B"/>
          </a:solidFill>
          <a:ln w="12700">
            <a:solidFill>
              <a:srgbClr val="2B2A6B"/>
            </a:solidFill>
            <a:prstDash val="solid"/>
          </a:ln>
        </p:spPr>
      </p:sp>
      <p:sp>
        <p:nvSpPr>
          <p:cNvPr id="4" name="What's new circle"/>
          <p:cNvSpPr/>
          <p:nvPr/>
        </p:nvSpPr>
        <p:spPr>
          <a:xfrm>
            <a:off x="621792" y="1234440"/>
            <a:ext cx="457200" cy="457200"/>
          </a:xfrm>
          <a:prstGeom prst="ellipse">
            <a:avLst/>
          </a:prstGeom>
          <a:solidFill>
            <a:srgbClr val="E8833A"/>
          </a:solidFill>
          <a:ln w="12700">
            <a:solidFill>
              <a:srgbClr val="E8833A"/>
            </a:solidFill>
            <a:prstDash val="solid"/>
          </a:ln>
        </p:spPr>
      </p:sp>
      <p:pic>
        <p:nvPicPr>
          <p:cNvPr id="5" name="What's new icon" descr="preencoded.png">    </p:cNvPr>
          <p:cNvPicPr>
            <a:picLocks noChangeAspect="1"/>
          </p:cNvPicPr>
          <p:nvPr/>
        </p:nvPicPr>
        <p:blipFill>
          <a:blip r:embed="rId1"/>
          <a:stretch>
            <a:fillRect/>
          </a:stretch>
        </p:blipFill>
        <p:spPr>
          <a:xfrm>
            <a:off x="731520" y="1344168"/>
            <a:ext cx="237744" cy="237744"/>
          </a:xfrm>
          <a:prstGeom prst="rect">
            <a:avLst/>
          </a:prstGeom>
        </p:spPr>
      </p:pic>
      <p:sp>
        <p:nvSpPr>
          <p:cNvPr id="6" name="Text 3"/>
          <p:cNvSpPr txBox="1"/>
          <p:nvPr/>
        </p:nvSpPr>
        <p:spPr>
          <a:xfrm>
            <a:off x="1188720" y="1234440"/>
            <a:ext cx="1783080" cy="457200"/>
          </a:xfrm>
          <a:prstGeom prst="rect">
            <a:avLst/>
          </a:prstGeom>
          <a:noFill/>
          <a:ln/>
        </p:spPr>
        <p:txBody>
          <a:bodyPr wrap="square" lIns="0" tIns="0" rIns="0" bIns="0" rtlCol="0" anchor="ctr"/>
          <a:lstStyle/>
          <a:p>
            <a:pPr indent="0" marL="0">
              <a:buNone/>
            </a:pPr>
            <a:r>
              <a:rPr lang="en-US" sz="1500" b="1" dirty="0">
                <a:solidFill>
                  <a:schemeClr val="bg1"/>
                </a:solidFill>
              </a:rPr>
              <a:t>What's new</a:t>
            </a:r>
            <a:endParaRPr lang="en-US" sz="1500" dirty="0"/>
          </a:p>
        </p:txBody>
      </p:sp>
      <p:sp>
        <p:nvSpPr>
          <p:cNvPr id="7" name="Text 4"/>
          <p:cNvSpPr txBox="1"/>
          <p:nvPr/>
        </p:nvSpPr>
        <p:spPr>
          <a:xfrm>
            <a:off x="621792" y="1828800"/>
            <a:ext cx="2377440" cy="2240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bg1"/>
                </a:solidFill>
              </a:rPr>
              <a:t>Picks gate-based or annealing for each piece of one problem</a:t>
            </a:r>
            <a:endParaRPr lang="en-US" sz="1300" dirty="0"/>
          </a:p>
          <a:p>
            <a:pPr marL="177800" indent="-177800">
              <a:spcAft>
                <a:spcPts val="600"/>
              </a:spcAft>
              <a:buSzPct val="100000"/>
              <a:buChar char="•"/>
            </a:pPr>
            <a:r>
              <a:rPr lang="en-US" sz="1300" dirty="0">
                <a:solidFill>
                  <a:schemeClr val="bg1"/>
                </a:solidFill>
              </a:rPr>
              <a:t>Learns from one industry to help another, and proves it with a fair test</a:t>
            </a:r>
            <a:endParaRPr lang="en-US" sz="1300" dirty="0"/>
          </a:p>
          <a:p>
            <a:pPr marL="177800" indent="-177800">
              <a:spcAft>
                <a:spcPts val="600"/>
              </a:spcAft>
              <a:buSzPct val="100000"/>
              <a:buChar char="•"/>
            </a:pPr>
            <a:r>
              <a:rPr lang="en-US" sz="1300" dirty="0">
                <a:solidFill>
                  <a:schemeClr val="bg1"/>
                </a:solidFill>
              </a:rPr>
              <a:t>Uses the real chip's error rates to decide</a:t>
            </a:r>
            <a:endParaRPr lang="en-US" sz="1300" dirty="0"/>
          </a:p>
          <a:p>
            <a:pPr marL="177800" indent="-177800">
              <a:spcAft>
                <a:spcPts val="600"/>
              </a:spcAft>
              <a:buSzPct val="100000"/>
              <a:buChar char="•"/>
            </a:pPr>
            <a:r>
              <a:rPr lang="en-US" sz="1300" dirty="0">
                <a:solidFill>
                  <a:schemeClr val="bg1"/>
                </a:solidFill>
              </a:rPr>
              <a:t>Uses 4× less quantum time</a:t>
            </a:r>
            <a:endParaRPr lang="en-US" sz="1300" dirty="0"/>
          </a:p>
        </p:txBody>
      </p:sp>
      <p:sp>
        <p:nvSpPr>
          <p:cNvPr id="8" name="Honest limits card"/>
          <p:cNvSpPr/>
          <p:nvPr/>
        </p:nvSpPr>
        <p:spPr>
          <a:xfrm>
            <a:off x="3264408" y="1097280"/>
            <a:ext cx="2615184" cy="3017520"/>
          </a:xfrm>
          <a:prstGeom prst="roundRect">
            <a:avLst>
              <a:gd name="adj" fmla="val 2797"/>
            </a:avLst>
          </a:prstGeom>
          <a:solidFill>
            <a:srgbClr val="2B2A6B"/>
          </a:solidFill>
          <a:ln w="12700">
            <a:solidFill>
              <a:srgbClr val="2B2A6B"/>
            </a:solidFill>
            <a:prstDash val="solid"/>
          </a:ln>
        </p:spPr>
      </p:sp>
      <p:sp>
        <p:nvSpPr>
          <p:cNvPr id="9" name="Honest limits circle"/>
          <p:cNvSpPr/>
          <p:nvPr/>
        </p:nvSpPr>
        <p:spPr>
          <a:xfrm>
            <a:off x="3429000" y="1234440"/>
            <a:ext cx="457200" cy="457200"/>
          </a:xfrm>
          <a:prstGeom prst="ellipse">
            <a:avLst/>
          </a:prstGeom>
          <a:solidFill>
            <a:srgbClr val="D64545"/>
          </a:solidFill>
          <a:ln w="12700">
            <a:solidFill>
              <a:srgbClr val="D64545"/>
            </a:solidFill>
            <a:prstDash val="solid"/>
          </a:ln>
        </p:spPr>
      </p:sp>
      <p:pic>
        <p:nvPicPr>
          <p:cNvPr id="10" name="Honest limits icon" descr="preencoded.png">    </p:cNvPr>
          <p:cNvPicPr>
            <a:picLocks noChangeAspect="1"/>
          </p:cNvPicPr>
          <p:nvPr/>
        </p:nvPicPr>
        <p:blipFill>
          <a:blip r:embed="rId2"/>
          <a:stretch>
            <a:fillRect/>
          </a:stretch>
        </p:blipFill>
        <p:spPr>
          <a:xfrm>
            <a:off x="3538728" y="1344168"/>
            <a:ext cx="237744" cy="237744"/>
          </a:xfrm>
          <a:prstGeom prst="rect">
            <a:avLst/>
          </a:prstGeom>
        </p:spPr>
      </p:pic>
      <p:sp>
        <p:nvSpPr>
          <p:cNvPr id="11" name="Text 7"/>
          <p:cNvSpPr txBox="1"/>
          <p:nvPr/>
        </p:nvSpPr>
        <p:spPr>
          <a:xfrm>
            <a:off x="3995928" y="1234440"/>
            <a:ext cx="1783080" cy="457200"/>
          </a:xfrm>
          <a:prstGeom prst="rect">
            <a:avLst/>
          </a:prstGeom>
          <a:noFill/>
          <a:ln/>
        </p:spPr>
        <p:txBody>
          <a:bodyPr wrap="square" lIns="0" tIns="0" rIns="0" bIns="0" rtlCol="0" anchor="ctr"/>
          <a:lstStyle/>
          <a:p>
            <a:pPr indent="0" marL="0">
              <a:buNone/>
            </a:pPr>
            <a:r>
              <a:rPr lang="en-US" sz="1500" b="1" dirty="0">
                <a:solidFill>
                  <a:schemeClr val="bg1"/>
                </a:solidFill>
              </a:rPr>
              <a:t>Honest limits</a:t>
            </a:r>
            <a:endParaRPr lang="en-US" sz="1500" dirty="0"/>
          </a:p>
        </p:txBody>
      </p:sp>
      <p:sp>
        <p:nvSpPr>
          <p:cNvPr id="12" name="Text 8"/>
          <p:cNvSpPr txBox="1"/>
          <p:nvPr/>
        </p:nvSpPr>
        <p:spPr>
          <a:xfrm>
            <a:off x="3429000" y="1828800"/>
            <a:ext cx="2377440" cy="2240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bg1"/>
                </a:solidFill>
              </a:rPr>
              <a:t>A normal laptop still wins today</a:t>
            </a:r>
            <a:endParaRPr lang="en-US" sz="1300" dirty="0"/>
          </a:p>
          <a:p>
            <a:pPr marL="177800" indent="-177800">
              <a:spcAft>
                <a:spcPts val="600"/>
              </a:spcAft>
              <a:buSzPct val="100000"/>
              <a:buChar char="•"/>
            </a:pPr>
            <a:r>
              <a:rPr lang="en-US" sz="1300" dirty="0">
                <a:solidFill>
                  <a:schemeClr val="bg1"/>
                </a:solidFill>
              </a:rPr>
              <a:t>Our annealing is a copy on IBM's chip, not a real D-Wave</a:t>
            </a:r>
            <a:endParaRPr lang="en-US" sz="1300" dirty="0"/>
          </a:p>
          <a:p>
            <a:pPr marL="177800" indent="-177800">
              <a:spcAft>
                <a:spcPts val="600"/>
              </a:spcAft>
              <a:buSzPct val="100000"/>
              <a:buChar char="•"/>
            </a:pPr>
            <a:r>
              <a:rPr lang="en-US" sz="1300" dirty="0">
                <a:solidFill>
                  <a:schemeClr val="bg1"/>
                </a:solidFill>
              </a:rPr>
              <a:t>Our tests are tiny: 3-18 choices vs. 50-200</a:t>
            </a:r>
            <a:endParaRPr lang="en-US" sz="1300" dirty="0"/>
          </a:p>
          <a:p>
            <a:pPr marL="177800" indent="-177800">
              <a:spcAft>
                <a:spcPts val="600"/>
              </a:spcAft>
              <a:buSzPct val="100000"/>
              <a:buChar char="•"/>
            </a:pPr>
            <a:r>
              <a:rPr lang="en-US" sz="1300" dirty="0">
                <a:solidFill>
                  <a:schemeClr val="bg1"/>
                </a:solidFill>
              </a:rPr>
              <a:t>Our error estimate underrates annealing</a:t>
            </a:r>
            <a:endParaRPr lang="en-US" sz="1300" dirty="0"/>
          </a:p>
        </p:txBody>
      </p:sp>
      <p:sp>
        <p:nvSpPr>
          <p:cNvPr id="13" name="With another month card"/>
          <p:cNvSpPr/>
          <p:nvPr/>
        </p:nvSpPr>
        <p:spPr>
          <a:xfrm>
            <a:off x="6071616" y="1097280"/>
            <a:ext cx="2615184" cy="3017520"/>
          </a:xfrm>
          <a:prstGeom prst="roundRect">
            <a:avLst>
              <a:gd name="adj" fmla="val 2797"/>
            </a:avLst>
          </a:prstGeom>
          <a:solidFill>
            <a:srgbClr val="2B2A6B"/>
          </a:solidFill>
          <a:ln w="12700">
            <a:solidFill>
              <a:srgbClr val="2B2A6B"/>
            </a:solidFill>
            <a:prstDash val="solid"/>
          </a:ln>
        </p:spPr>
      </p:sp>
      <p:sp>
        <p:nvSpPr>
          <p:cNvPr id="14" name="With another month circle"/>
          <p:cNvSpPr/>
          <p:nvPr/>
        </p:nvSpPr>
        <p:spPr>
          <a:xfrm>
            <a:off x="6236208" y="1234440"/>
            <a:ext cx="457200" cy="457200"/>
          </a:xfrm>
          <a:prstGeom prst="ellipse">
            <a:avLst/>
          </a:prstGeom>
          <a:solidFill>
            <a:srgbClr val="0E9384"/>
          </a:solidFill>
          <a:ln w="12700">
            <a:solidFill>
              <a:srgbClr val="0E9384"/>
            </a:solidFill>
            <a:prstDash val="solid"/>
          </a:ln>
        </p:spPr>
      </p:sp>
      <p:pic>
        <p:nvPicPr>
          <p:cNvPr id="15" name="With another month icon" descr="preencoded.png">    </p:cNvPr>
          <p:cNvPicPr>
            <a:picLocks noChangeAspect="1"/>
          </p:cNvPicPr>
          <p:nvPr/>
        </p:nvPicPr>
        <p:blipFill>
          <a:blip r:embed="rId3"/>
          <a:stretch>
            <a:fillRect/>
          </a:stretch>
        </p:blipFill>
        <p:spPr>
          <a:xfrm>
            <a:off x="6345936" y="1344168"/>
            <a:ext cx="237744" cy="237744"/>
          </a:xfrm>
          <a:prstGeom prst="rect">
            <a:avLst/>
          </a:prstGeom>
        </p:spPr>
      </p:pic>
      <p:sp>
        <p:nvSpPr>
          <p:cNvPr id="16" name="Text 11"/>
          <p:cNvSpPr txBox="1"/>
          <p:nvPr/>
        </p:nvSpPr>
        <p:spPr>
          <a:xfrm>
            <a:off x="6803136" y="1234440"/>
            <a:ext cx="1783080" cy="457200"/>
          </a:xfrm>
          <a:prstGeom prst="rect">
            <a:avLst/>
          </a:prstGeom>
          <a:noFill/>
          <a:ln/>
        </p:spPr>
        <p:txBody>
          <a:bodyPr wrap="square" lIns="0" tIns="0" rIns="0" bIns="0" rtlCol="0" anchor="ctr"/>
          <a:lstStyle/>
          <a:p>
            <a:pPr indent="0" marL="0">
              <a:buNone/>
            </a:pPr>
            <a:r>
              <a:rPr lang="en-US" sz="1500" b="1" dirty="0">
                <a:solidFill>
                  <a:schemeClr val="bg1"/>
                </a:solidFill>
              </a:rPr>
              <a:t>With another month</a:t>
            </a:r>
            <a:endParaRPr lang="en-US" sz="1500" dirty="0"/>
          </a:p>
        </p:txBody>
      </p:sp>
      <p:sp>
        <p:nvSpPr>
          <p:cNvPr id="17" name="Text 12"/>
          <p:cNvSpPr txBox="1"/>
          <p:nvPr/>
        </p:nvSpPr>
        <p:spPr>
          <a:xfrm>
            <a:off x="6236208" y="1828800"/>
            <a:ext cx="2377440" cy="2240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bg1"/>
                </a:solidFill>
              </a:rPr>
              <a:t>Bigger recipes, where copying settings saves more</a:t>
            </a:r>
            <a:endParaRPr lang="en-US" sz="1300" dirty="0"/>
          </a:p>
          <a:p>
            <a:pPr marL="177800" indent="-177800">
              <a:spcAft>
                <a:spcPts val="600"/>
              </a:spcAft>
              <a:buSzPct val="100000"/>
              <a:buChar char="•"/>
            </a:pPr>
            <a:r>
              <a:rPr lang="en-US" sz="1300" dirty="0">
                <a:solidFill>
                  <a:schemeClr val="bg1"/>
                </a:solidFill>
              </a:rPr>
              <a:t>Add a real D-Wave annealing computer</a:t>
            </a:r>
            <a:endParaRPr lang="en-US" sz="1300" dirty="0"/>
          </a:p>
          <a:p>
            <a:pPr marL="177800" indent="-177800">
              <a:spcAft>
                <a:spcPts val="600"/>
              </a:spcAft>
              <a:buSzPct val="100000"/>
              <a:buChar char="•"/>
            </a:pPr>
            <a:r>
              <a:rPr lang="en-US" sz="1300" dirty="0">
                <a:solidFill>
                  <a:schemeClr val="bg1"/>
                </a:solidFill>
              </a:rPr>
              <a:t>Use real drug-trial data</a:t>
            </a:r>
            <a:endParaRPr lang="en-US" sz="1300" dirty="0"/>
          </a:p>
          <a:p>
            <a:pPr marL="177800" indent="-177800">
              <a:spcAft>
                <a:spcPts val="600"/>
              </a:spcAft>
              <a:buSzPct val="100000"/>
              <a:buChar char="•"/>
            </a:pPr>
            <a:r>
              <a:rPr lang="en-US" sz="1300" dirty="0">
                <a:solidFill>
                  <a:schemeClr val="bg1"/>
                </a:solidFill>
              </a:rPr>
              <a:t>Chips need about 10-100× fewer errors to compete</a:t>
            </a:r>
            <a:endParaRPr lang="en-US" sz="1300" dirty="0"/>
          </a:p>
        </p:txBody>
      </p:sp>
      <p:sp>
        <p:nvSpPr>
          <p:cNvPr id="18" name="Text 13"/>
          <p:cNvSpPr txBox="1"/>
          <p:nvPr/>
        </p:nvSpPr>
        <p:spPr>
          <a:xfrm>
            <a:off x="457200" y="4224528"/>
            <a:ext cx="8138160" cy="411480"/>
          </a:xfrm>
          <a:prstGeom prst="rect">
            <a:avLst/>
          </a:prstGeom>
          <a:noFill/>
          <a:ln/>
        </p:spPr>
        <p:txBody>
          <a:bodyPr wrap="square" lIns="0" tIns="0" rIns="0" bIns="0" rtlCol="0" anchor="t"/>
          <a:lstStyle/>
          <a:p>
            <a:pPr indent="0" marL="0">
              <a:buNone/>
            </a:pPr>
            <a:r>
              <a:rPr lang="en-US" sz="1400" i="1" dirty="0">
                <a:solidFill>
                  <a:schemeClr val="accent6"/>
                </a:solidFill>
              </a:rPr>
              <a:t>Q-Router knows when and how to use quantum computing, and admits a laptop still wins today.</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Q-Router">
  <a:themeElements>
    <a:clrScheme name="Q-Router">
      <a:dk1>
        <a:srgbClr val="1B1D36"/>
      </a:dk1>
      <a:lt1>
        <a:srgbClr val="FFFFFF"/>
      </a:lt1>
      <a:dk2>
        <a:srgbClr val="2B2A6B"/>
      </a:dk2>
      <a:lt2>
        <a:srgbClr val="F2F2F8"/>
      </a:lt2>
      <a:accent1>
        <a:srgbClr val="5B4FD1"/>
      </a:accent1>
      <a:accent2>
        <a:srgbClr val="0E9384"/>
      </a:accent2>
      <a:accent3>
        <a:srgbClr val="667085"/>
      </a:accent3>
      <a:accent4>
        <a:srgbClr val="E8833A"/>
      </a:accent4>
      <a:accent5>
        <a:srgbClr val="D64545"/>
      </a:accent5>
      <a:accent6>
        <a:srgbClr val="A8A3EC"/>
      </a:accent6>
      <a:hlink>
        <a:srgbClr val="5B4FD1"/>
      </a:hlink>
      <a:folHlink>
        <a:srgbClr val="2B2A6B"/>
      </a:folHlink>
    </a:clrScheme>
    <a:fontScheme name="Q-Rou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Q-Router</dc:title>
  <dc:subject>PptxGenJS Presentation</dc:subject>
  <dc:creator>Team Q-Router, Florida Atlantic University</dc:creator>
  <cp:lastModifiedBy>Team Q-Router, Florida Atlantic University</cp:lastModifiedBy>
  <cp:revision>1</cp:revision>
  <dcterms:created xsi:type="dcterms:W3CDTF">2026-10-18T03:01:11Z</dcterms:created>
  <dcterms:modified xsi:type="dcterms:W3CDTF">2026-10-18T03:01:11Z</dcterms:modified>
</cp:coreProperties>
</file>