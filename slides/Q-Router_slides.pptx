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d00f086-2ecb-2405-b122-c42148b735ed}">
          <p14:sldIdLst>
            <p14:sldId id="256"/>
            <p14:sldId id="257"/>
            <p14:sldId id="258"/>
          </p14:sldIdLst>
        </p14:section>
        <p14:section name="Approach" id="{9291cc2f-4757-b31b-7c10-f12572be83db}">
          <p14:sldIdLst>
            <p14:sldId id="259"/>
            <p14:sldId id="260"/>
            <p14:sldId id="261"/>
          </p14:sldIdLst>
        </p14:section>
        <p14:section name="Results" id="{452e6310-578b-8ab6-24ec-9e2b3edbd9c7}">
          <p14:sldIdLst>
            <p14:sldId id="262"/>
            <p14:sldId id="263"/>
            <p14:sldId id="264"/>
          </p14:sldIdLst>
        </p14:section>
        <p14:section name="Wrap-up" id="{5fa74958-acdb-6973-f031-58289f3a9dfc}">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D36"/>
                </a:solidFill>
                <a:latin typeface="+mn-lt"/>
              </a:defRPr>
            </a:pPr>
            <a:r>
              <a:rPr sz="1200" b="0" i="0" u="none" strike="noStrike">
                <a:solidFill>
                  <a:srgbClr val="1B1D36"/>
                </a:solidFill>
                <a:latin typeface="+mn-lt"/>
              </a:rPr>
              <a:t>Each piece solved both ways (noisy IBM Torino model)</a:t>
            </a:r>
          </a:p>
        </c:rich>
      </c:tx>
      <c:layout/>
      <c:overlay val="0"/>
    </c:title>
    <c:autoTitleDeleted val="0"/>
    <c:plotArea>
      <c:layout/>
      <c:barChart>
        <c:barDir val="col"/>
        <c:grouping val="clustered"/>
        <c:varyColors val="0"/>
        <c:ser>
          <c:idx val="0"/>
          <c:order val="0"/>
          <c:tx>
            <c:strRef>
              <c:f>Sheet1!$B$1</c:f>
              <c:strCache>
                <c:ptCount val="1"/>
                <c:pt idx="0">
                  <c:v>Gate-based QAOA</c:v>
                </c:pt>
              </c:strCache>
            </c:strRef>
          </c:tx>
          <c:spPr>
            <a:solidFill>
              <a:srgbClr val="5B4FD1"/>
            </a:solidFill>
            <a:effectLst/>
          </c:spPr>
          <c:invertIfNegative val="0"/>
          <c:dLbls>
            <c:numFmt formatCode="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cat>
            <c:multiLvlStrRef>
              <c:f>Sheet1!$A$2:$A$4</c:f>
              <c:multiLvlStrCache>
                <c:ptCount val="3"/>
                <c:lvl>
                  <c:pt idx="0">
                    <c:v>Drug funding</c:v>
                  </c:pt>
                  <c:pt idx="1">
                    <c:v>Trial sites A</c:v>
                  </c:pt>
                  <c:pt idx="2">
                    <c:v>Trial sites B</c:v>
                  </c:pt>
                </c:lvl>
              </c:multiLvlStrCache>
            </c:multiLvlStrRef>
          </c:cat>
          <c:val>
            <c:numRef>
              <c:f>Sheet1!$B$2:$B$4</c:f>
              <c:numCache>
                <c:formatCode>General</c:formatCode>
                <c:ptCount val="3"/>
                <c:pt idx="0">
                  <c:v>0.56</c:v>
                </c:pt>
                <c:pt idx="1">
                  <c:v>0.369</c:v>
                </c:pt>
                <c:pt idx="2">
                  <c:v>0.42</c:v>
                </c:pt>
              </c:numCache>
            </c:numRef>
          </c:val>
        </c:ser>
        <c:ser>
          <c:idx val="1"/>
          <c:order val="1"/>
          <c:tx>
            <c:strRef>
              <c:f>Sheet1!$C$1</c:f>
              <c:strCache>
                <c:ptCount val="1"/>
                <c:pt idx="0">
                  <c:v>Digital anneal</c:v>
                </c:pt>
              </c:strCache>
            </c:strRef>
          </c:tx>
          <c:spPr>
            <a:solidFill>
              <a:srgbClr val="0E9384"/>
            </a:solidFill>
            <a:effectLst/>
          </c:spPr>
          <c:invertIfNegative val="0"/>
          <c:dLbls>
            <c:numFmt formatCode="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cat>
            <c:multiLvlStrRef>
              <c:f>Sheet1!$A$2:$A$4</c:f>
              <c:multiLvlStrCache>
                <c:ptCount val="3"/>
                <c:lvl>
                  <c:pt idx="0">
                    <c:v>Drug funding</c:v>
                  </c:pt>
                  <c:pt idx="1">
                    <c:v>Trial sites A</c:v>
                  </c:pt>
                  <c:pt idx="2">
                    <c:v>Trial sites B</c:v>
                  </c:pt>
                </c:lvl>
              </c:multiLvlStrCache>
            </c:multiLvlStrRef>
          </c:cat>
          <c:val>
            <c:numRef>
              <c:f>Sheet1!$C$2:$C$4</c:f>
              <c:numCache>
                <c:formatCode>General</c:formatCode>
                <c:ptCount val="3"/>
                <c:pt idx="0">
                  <c:v>0.449</c:v>
                </c:pt>
                <c:pt idx="1">
                  <c:v>0.436</c:v>
                </c:pt>
                <c:pt idx="2">
                  <c:v>0.688</c:v>
                </c:pt>
              </c:numCache>
            </c:numRef>
          </c:val>
        </c:ser>
        <c:dLbls>
          <c:numFmt formatCode="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D36"/>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E4E4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708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D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D36"/>
                </a:solidFill>
                <a:latin typeface="+mn-lt"/>
              </a:defRPr>
            </a:pPr>
            <a:r>
              <a:rPr sz="1200" b="0" i="0" u="none" strike="noStrike">
                <a:solidFill>
                  <a:srgbClr val="1B1D36"/>
                </a:solidFill>
                <a:latin typeface="+mn-lt"/>
              </a:rPr>
              <a:t>Reusing tuned settings across industries (60 problems)</a:t>
            </a:r>
          </a:p>
        </c:rich>
      </c:tx>
      <c:layout/>
      <c:overlay val="0"/>
    </c:title>
    <c:autoTitleDeleted val="0"/>
    <c:plotArea>
      <c:layout/>
      <c:barChart>
        <c:barDir val="bar"/>
        <c:grouping val="clustered"/>
        <c:varyColors val="0"/>
        <c:ser>
          <c:idx val="0"/>
          <c:order val="0"/>
          <c:tx>
            <c:strRef>
              <c:f>Sheet1!$B$1</c:f>
              <c:strCache>
                <c:ptCount val="1"/>
                <c:pt idx="0">
                  <c:v>Score</c:v>
                </c:pt>
              </c:strCache>
            </c:strRef>
          </c:tx>
          <c:spPr>
            <a:solidFill>
              <a:srgbClr val="667085"/>
            </a:solidFill>
            <a:effectLst/>
          </c:spPr>
          <c:invertIfNegative val="0"/>
          <c:dLbls>
            <c:numFmt formatCode="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dPt>
            <c:idx val="0"/>
            <c:invertIfNegative val="0"/>
            <c:bubble3D val="0"/>
            <c:spPr>
              <a:solidFill>
                <a:srgbClr val="667085"/>
              </a:solidFill>
              <a:effectLst/>
            </c:spPr>
          </c:dPt>
          <c:dPt>
            <c:idx val="1"/>
            <c:invertIfNegative val="0"/>
            <c:bubble3D val="0"/>
            <c:spPr>
              <a:solidFill>
                <a:srgbClr val="E8833A"/>
              </a:solidFill>
              <a:effectLst/>
            </c:spPr>
          </c:dPt>
          <c:dPt>
            <c:idx val="2"/>
            <c:invertIfNegative val="0"/>
            <c:bubble3D val="0"/>
            <c:spPr>
              <a:solidFill>
                <a:srgbClr val="C9CCD6"/>
              </a:solidFill>
              <a:effectLst/>
            </c:spPr>
          </c:dPt>
          <c:dPt>
            <c:idx val="3"/>
            <c:invertIfNegative val="0"/>
            <c:bubble3D val="0"/>
            <c:spPr>
              <a:solidFill>
                <a:srgbClr val="C9CCD6"/>
              </a:solidFill>
              <a:effectLst/>
            </c:spPr>
          </c:dPt>
          <c:cat>
            <c:multiLvlStrRef>
              <c:f>Sheet1!$A$2:$A$5</c:f>
              <c:multiLvlStrCache>
                <c:ptCount val="4"/>
                <c:lvl>
                  <c:pt idx="0">
                    <c:v>Tuned from scratch (~60 runs)</c:v>
                  </c:pt>
                  <c:pt idx="1">
                    <c:v>Borrowed from twin (1 run)</c:v>
                  </c:pt>
                  <c:pt idx="2">
                    <c:v>Random donor (1 run)</c:v>
                  </c:pt>
                  <c:pt idx="3">
                    <c:v>Default settings (1 run)</c:v>
                  </c:pt>
                </c:lvl>
              </c:multiLvlStrCache>
            </c:multiLvlStrRef>
          </c:cat>
          <c:val>
            <c:numRef>
              <c:f>Sheet1!$B$2:$B$5</c:f>
              <c:numCache>
                <c:formatCode>General</c:formatCode>
                <c:ptCount val="4"/>
                <c:pt idx="0">
                  <c:v>0.633</c:v>
                </c:pt>
                <c:pt idx="1">
                  <c:v>0.599</c:v>
                </c:pt>
                <c:pt idx="2">
                  <c:v>0.577</c:v>
                </c:pt>
                <c:pt idx="3">
                  <c:v>0.581</c:v>
                </c:pt>
              </c:numCache>
            </c:numRef>
          </c:val>
        </c:ser>
        <c:dLbls>
          <c:numFmt formatCode="0.00" sourceLinked="0"/>
          <c:txPr>
            <a:bodyPr/>
            <a:lstStyle/>
            <a:p>
              <a:pPr>
                <a:defRPr b="0" i="0" strike="noStrike" sz="1100" u="none">
                  <a:solidFill>
                    <a:srgbClr val="1B1D3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1D36"/>
                </a:solidFill>
                <a:latin typeface="+mn-lt"/>
              </a:defRPr>
            </a:pPr>
            <a:endParaRPr lang="en-US"/>
          </a:p>
        </c:txPr>
        <c:crossAx val="2094734552"/>
        <c:crosses val="autoZero"/>
        <c:auto val="1"/>
        <c:lblAlgn val="ctr"/>
        <c:noMultiLvlLbl val="1"/>
      </c:catAx>
      <c:valAx>
        <c:axId val="2094734552"/>
        <c:scaling>
          <c:orientation val="minMax"/>
          <c:max val="0.68"/>
          <c:min val="0.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(30 s):
"Hi, we're Team Q-Router. Quantum computers are now available on the cloud, and there are two very different kinds: gate-based machines like IBM's, and annealers like D-Wave's. Our project answers a simple question: for a given business decision, which quantum computer should solve it, or should it stay on a normal laptop? We built Q-Router to make that decision automatically, and we tested it on finance and healthcare problems, including real IBM hardware."
ONE-SENTENCE VERSION (if a judge asks for one):
"Q-Router breaks a business decision into pieces and sends each piece to whichever kind of computer suits its shape: gate-based quantum, annealing quantum, or a classical laptop."
LIKELY QUESTION: What does 'routing' mean here?
ANSWER: Choosing which solver gets which problem, or which piece of a problem, the way a GPS chooses car, train or walking for each leg of a trip.
LIKELY QUESTION: Who did what on the team?
ANSWER: (Fill in with real names.) The Builder wrote the Qiskit notebook and ran the hardware jobs; the Domain experts framed the drug-funding problem, wrote USE-CASE.md and LIMITATIONS.md, and built this deck. Everyone can explain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(45 s):
"Here's the problem. Quantum time is scarce: our free IBM plan gives us 10 minutes a month, and companies pay by the second. There are two kinds of quantum computer, gate-based and annealing, and they're good at different shapes of problem. And today's chips are noisy, so if you send the wrong problem to the wrong machine, the answer is no better than a random guess.
That affects companies experimenting with quantum, like pharma and finance teams; the cloud providers who have to decide where jobs run, which fits this year's theme, a decade of quantum on the cloud; and researchers with small budgets. Today people mostly guess, or fill in a questionnaire like the Next-Step Quantum Decision Guide. Q-Router answers three questions with data: is quantum worth it, which kind, and for which part of the problem."
LIKELY QUESTION: What problem are you solving, and for whom?
ANSWER: Deciding when and how to use quantum computing so scarce quantum time isn't wasted. For companies buying quantum time, for cloud providers routing jobs, and for researchers.
LIKELY QUESTION: Is this a real problem if classical always wins today?
ANSWER: Yes. IBM, D-Wave and Amazon already offer several kinds of quantum hardware, and D-Wave's hybrid solvers already split work between classical and quantum behind the scenes. Today the honest answer is usually 'use classical', and our router says so. As chips improve, the decision gets more valuable, and choosing between the two quantum styles already matters for anyone running quantum experiments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(45 s):
"To test this we needed a real decision. Our flagship is drug funding: a pharma company has 10 drug candidates and money for 4. Each drug has a payoff: its chance of approval times its future sales, minus its development cost. Drugs for the same disease tend to succeed or fail together, so funding two of them adds risk. There are 210 possible groups of 4. This is exactly the portfolio math investors use for stocks, applied to drugs, which is why we call it our finance-times-healthcare problem.
We write it as a QUBO, one yes/no qubit per drug, and the same format covers three other fields we use: a stock portfolio with real stock prices, choosing diagnostic tests from a real breast-cancer dataset, and splitting a network."
LIKELY QUESTION: How is this done today?
ANSWER: Pharma portfolio committees combine expert judgment with spreadsheet scoring and classical optimizers. At realistic sizes, 50 to 200 candidates, classical solvers handle it well.
LIKELY QUESTION: Is the drug data real?
ANSWER: The stock prices (Yahoo Finance) and the medical dataset (scikit-learn breast cancer) are real. The drug pipeline is simulated, using approximate industry success rates by trial phase: about 8% for Phase I, 15% Phase II, 55% Phase III. Real pipeline data from ClinicalTrials.gov would be the next step.
LIKELY QUESTION: What is a QUBO?
ANSWER: A score sheet for yes/no decisions: points for each yes, and points for each pair of yeses. Lower total is better. Rules like 'exactly 4' are added as a big penalty. Every quantum optimizer in our project takes this one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(60 s):
"Picture the problem as a mountain range: every spot is one combination of drugs, its height is how bad that choice is, and the lowest valley is the best answer.
An annealer drops a ball and shakes the landscape gently, less and less, so the ball settles into a deep valley. It's slow and steady and needs almost no tuning. D-Wave builds these. IBM doesn't, so we imitate one: we chop the slow sweep into many small gate steps. That's called a digitized anneal, or linear-ramp QAOA, and it has been run on IBM hardware at 100+ qubits.
A gate-based computer follows a short recipe called QAOA: put every qubit in a mix of yes and no, link the decisions that affect each other with entangling gates, shuffle, and measure. The recipe has dials we tune on a simulator first.
Why might quantum help? Superposition lets the chip hold every combination at once, entanglement encodes which decisions interact, and sampling gives many good answers. But we're honest about the limits: every gate adds noise, our problems use 3 to 18 qubits while real portfolios need 50 to 200, and there's no proven speedup. At this size a laptop wins."
LIKELY QUESTION: Why quantum instead of a classical approach?
ANSWER: For these sizes, classical is better, and we show it. Quantum is interesting because the problem's structure, decisions that interact in pairs, maps directly onto qubits and entangling gates. The open question is whether that pays off at larger sizes on better hardware.
LIKELY QUESTION: What would need to improve to beat classical?
ANSWER: Roughly 10 to 100 times lower two-qubit error rates, enough qubits for 50 to 200 variables with all-to-all connections, and evidence of a speedup at those sizes. Our roadmap chart in the notebook shows which industries would cross over first as errors fall.
LIKELY QUESTION: Is your 'annealer' a real annealer?
ANSWER: No. It's an anneal digitized into gates on IBM's chip, because we don't have D-Wave access. A real D-Wave backend could be plugged into the same router; that's on our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(75 s):
"Here's the pipeline.
One: translate the decision into a QUBO score sheet.
Two: big problems get broken into pieces of up to 8 decisions, using spectral clustering, which groups the decisions that affect each other most.
Three: each piece gets a fingerprint of 9 numbers: how many decisions, how connected they are, and, using IBM's own calibration data, how many entangling gates it needs and how likely the chip is to run it without a mistake.
Four: an AI, a random forest trained on 60 practice problems from all four fields, predicts how well gate-based, annealing and classical will do on that fingerprint, and picks one. If no quantum option is predicted to be worth it, the piece goes to the laptop.
Five: instead of tuning the quantum dials from scratch, which takes about 60 circuit runs, Q-Router finds the most similar past problem from a different industry and borrows its settings.
Six: several problems share the chip in one job, and every answer is checked against the exact best answer, which we can compute because the problems are small."
LIKELY QUESTION: How does the AI decide?
ANSWER: It's 300 small decision trees playing 20 questions with the 9 fingerprint numbers, then voting. It learned on its own that 'can the chip afford the annealer's longer circuit?' is the most important question.
LIKELY QUESTION: How do you find a 'structural twin'?
ANSWER: A lookup, not training: we put all 60 practice problems' fingerprints on the same scale and pick the closest one from a different industry. Then we copy its tuned dial settings.
LIKELY QUESTION: How do you score answers fairly?
ANSWER: We use the average quality of all measurements, not the best single one. With 2,048 measurements and about 1,000 possible answers, the best single shot is almost always optimal, so that would be cheating. 1 means the exact best, 0 means a random guess.
LIKELY QUESTION: Does the AI pick the drugs?
ANSWER: No. The AI only picks which solver gets each piece. The solvers find the drugs.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(45 s):
"Everything is built in Qiskit. We convert each QUBO into a Pauli operator and build QAOA circuits with QAOAAnsatz. The transpiler compiles them onto IBM Torino's real qubit layout, using its calibration data, which is also where our noise estimates come from. We run everything through the SamplerV2 primitive: on the Aer simulator, on a noisy model of Torino, and on the real chip. On hardware we use dynamical decoupling and Pauli twirling, and in simulation we demonstrate zero-noise extrapolation. Because the free plan has no Sessions, we batch many circuits into single jobs; all our hardware experiments fit in about 3 of our 10 minutes.
The hardest bug: Qiskit's QAOA starts in the top state of its mixer, so with both angles positive our circuits were searching for the WORST answer. Scores were minus 1.37. Flipping one sign gave 0.79."
LIKELY QUESTION: Walk me through your circuit.
ANSWER: Hadamards put every qubit in a 50/50 mix. Then a cost layer: an RZ rotation on each qubit for its own payoff, and an RZZ gate on each pair of interacting decisions, which is where entanglement comes from. Then a mixer layer of RX rotations. Repeat p times, then measure. Gate-QAOA uses p = 1-2 with tuned angles; the digitized anneal uses p = 3-6 with a fixed ramp.
LIKELY QUESTION: What did you build vs. reuse?
ANSWER: Reused: Qiskit's QAOAAnsatz, transpiler, primitives and Aer; D-Wave's open-source simulated annealer as the classical baseline; scikit-learn's random forest. Built: the four problem encoders, the fingerprint, the router, the twin transfer, the decomposition comparison, the packing experiment, the compute ledger, and the evaluation.
LIKELY QUESTION: What else was hard?
ANSWER: A simulator quirk: Aer's sampler corrupted results when we batched circuits of different sizes, which faked a huge crosstalk effect. We traced it, and now run local circuits one per job while hardware still uses one batched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(60 s), this answers 'when is each quantum type effective when you break the problem down':
"We built one bigger problem with two very different parts: which drugs to fund, where every decision affects every other one, and how to split clinical-trial sites between two research partners, where each site only interacts with a few neighbors. Q-Router broke it into three pieces, and for this experiment we ran BOTH quantum types on EVERY piece on a noisy model of IBM's Torino chip.
Gate-based wins the dense drug piece, 0.56 to 0.45. The annealer wins both trial-site pieces, 0.44 to 0.37 and 0.69 to 0.42. Why? The annealer needs many more steps: on the drug piece that's 685 entangling gates versus 99, and noise piles up. On sparse pieces the extra steps are affordable.
Mixing them is best: the router's mix scores 0.54, beating all-gate at 0.45 and all-anneal at 0.52. The same pattern shows up across all 60 practice problems: annealing almost never wins dense finance and pharma problems, but wins over half of the sparse network problems. Section 9b repeats this on the real chip."
LIKELY QUESTION: Did the router pick correctly every time?
ANSWER: Two out of three. It picked gate-based for trial-sites A, where annealing was better. The reason: its noise model is too pessimistic about long annealing circuits; it predicted 0.21 for the anneal there, and the noisy simulation gave 0.44. Fixing that noise model is a next step.
LIKELY QUESTION: Does the full answer come out right?
ANSWER: Yes. Reassembling the pieces finds the exact best combination with every strategy. The difference between strategies is in the quality of the samples, which is what matters on noisy hardware.
LIKELY QUESTION: Is one example enough?
ANSWER: The break-down is one illustrative problem. The statistical weight comes from the 60-problem dataset, which shows the same dense-vs-sparse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(60 s):
"Our second idea is pattern recognition across industries. Tuning a quantum circuit's dials normally takes about 60 runs per problem. Q-Router instead finds a structural twin from a different industry and borrows its settings: one run.
Across 60 problems, borrowed settings score 0.60, against 0.63 for full tuning. The important control: borrowing from a RANDOM problem in another industry scores 0.58, no better than default settings. So the twin-matching is what does the work. It recovers about half of the tuning gain at 1/60 of the cost.
Then we combined this with packing: four problems from four industries, grouped by shape, tuned once per group and run together in ONE chip job. That's 4 times fewer quantum shots and 1 job instead of 4, keeping 96% of the quality.
Two more checks. Entanglement matters: switch off every entangling gate and the score drops from 0.77 to 0.31. And the honest baseline: the classical laptop scores 0.95 to 0.98 on every problem. No quantum advantage at this size, and we don't claim one."
LIKELY QUESTION: How do you know it worked?
ANSWER: Every answer is compared to the exact best answer, found by checking every combination. Every quantum result is compared to a classical baseline, to a default-settings baseline, and to a random-donor control. The 60-problem results have standard errors around 0.02.
LIKELY QUESTION: What surprised you?
ANSWER: That the annealer, which looked worse on average, clearly wins sparse pieces; and that our simple noise model is too pessimistic about it. Also that random donors are no better than defaults, which is what convinced us the twin-matching is real.
LIKELY QUESTION: Isn't reusing QAOA parameters already known?
ANSWER: Yes, within similar graph problems ('parameter concentration'), and a 2025 paper used machine learning to transfer between problem types. Our contribution is testing it across real industry decisions with real data, with a random-donor control, and combining it with routing and packing to measure compute saved.
LIKELY QUESTION: Where did the quality loss in one-tune-one-job come from?
ANSWER: Almost all from one network problem grouped with finance problems. Packing itself cost nothing measurable; crosstalk was about 0.01 in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(45 s):
"This is the hardware bonus tier: real device plus noise analysis. We run the flagship drug problem three ways: a perfect simulator, a noisy model of the chip built from IBM's calibration data, and the real quantum processor, with and without error mitigation, meaning dynamical decoupling and Pauli twirling. [Read the QPU numbers once they are in.]
Notice the annealer: on a perfect simulator it beats gate-based, 0.81 to 0.74, but its circuit needs 688 entangling gates versus 104, so on a noisy chip it falls behind. That's the whole routing story in one row.
We also measured noise directly: zero-noise extrapolation, where we amplify noise on purpose and extrapolate back to zero, won back about a quarter of the lost quality.
All our hardware experiments are batched into seven jobs and use about 3 of our 10 QPU minutes."
IF THE HARDWARE RUN HAS NOT FINISHED: "Our jobs are queued on IBM's free tier; every hardware cell was first dry-run on a fake IBM Torino, and the noisy-model column is what we expect."
LIKELY QUESTION: Simulator vs hardware, how big was the gap?
ANSWER: (Fill in from the table.) Compare the 'noisy chip model' column with 'real QPU raw'. If they're close, our noise model is trustworthy; if the QPU is worse, crosstalk and coherent errors that the model ignores are the likely cause.
LIKELY QUESTION: Did error mitigation help?
ANSWER: (Fill in.) Twirling mostly converts coherent errors into random noise rather than removing it, so gains on a sampler are usually modest. We report whatever we measured.
LIKELY QUESTION: Why not run more on hardware?
ANSWER: The free plan gives 10 minutes per 28 days, and minutes spent now don't come back before the state final. So we tune everything on simulators and send only final circuits, batched, to the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(45 s):
"To wrap up. What's new: choosing gate-based or annealing piece by piece inside one problem; reusing quantum settings across real industries, with a control that proves the matching matters; routing that reads the real chip's noise; and measured compute savings, 4 times fewer quantum shots.
What's honest: there's no quantum advantage, a laptop wins today; our annealer is imitated on IBM's gate-based chip; our problems are much smaller than real ones; and our noise model undersells the annealer.
With another month: deeper circuits, where borrowing settings should save much more; a real D-Wave annealer as a third backend; real drug-pipeline data; and we'd watch for hardware with 10 to 100 times lower error, which is roughly what it would take to compete.
Q-Router knows when and how to use quantum computing, and says honestly that today a laptop still wins. Thank you, we'd love your questions."
LIKELY QUESTION: What makes your approach different from existing examples?
ANSWER: Each ingredient exists: QAOA, annealing, solver selection, parameter transfer (a 2025 paper transfers QAOA settings between problem types), and multi-programming. What we didn't find elsewhere is the combination: piece-by-piece gate-vs-anneal routing inside one problem, transfer across real industry decisions with a random-donor control, a chip-noise-aware fingerprint, and the compute it saves, measured on real hardware.
LIKELY QUESTION: What did you learn?
ANSWER: That honest scoring matters: our first metric made everything look 0.99 and hid a sign bug. That the 'right' quantum method depends on the problem's shape and the chip's noise, not on which method is better in theory. And how to run real experiments on a 10-minute budget: tune on simulators, batch, and dry-run on a fake device.
LIKELY QUESTION: What would you do with another month?
ANSWER: Test deeper circuits, add a real D-Wave backend, use real pipeline data, fix the noise model so the router stops underrating the annealer, and repeat hardware runs for error bars.
LIKELY QUESTION: What did each of you contribute?
ANSWER: (Fill in with real names and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937760" cy="91440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240280"/>
            <a:ext cx="4754880" cy="2011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773168"/>
            <a:ext cx="5943600" cy="228600"/>
          </a:xfrm>
          <a:prstGeom prst="rect">
            <a:avLst/>
          </a:prstGeom>
          <a:noFill/>
          <a:ln/>
        </p:spPr>
        <p:txBody>
          <a:bodyPr wrap="square" rtlCol="0" anchor="ctr"/>
          <a:lstStyle/>
          <a:p>
            <a:pPr indent="0" marL="0">
              <a:buNone/>
            </a:pPr>
            <a:r>
              <a:rPr lang="en-US" sz="1000" dirty="0">
                <a:solidFill>
                  <a:schemeClr val="accent3"/>
                </a:solidFill>
              </a:rPr>
              <a:t>Q-Router · Florida Qiskit Fall Fest 2026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937760" cy="9144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Q-Router</a:t>
            </a:r>
            <a:endParaRPr lang="en-US" sz="5400" dirty="0"/>
          </a:p>
        </p:txBody>
      </p:sp>
      <p:sp>
        <p:nvSpPr>
          <p:cNvPr id="3" name="Text 0"/>
          <p:cNvSpPr/>
          <p:nvPr>
            <p:ph idx="101" type="body" hasCustomPrompt="1"/>
          </p:nvPr>
        </p:nvSpPr>
        <p:spPr>
          <a:xfrm>
            <a:off x="548640" y="2240280"/>
            <a:ext cx="4754880" cy="2011680"/>
          </a:xfrm>
          <a:prstGeom prst="rect">
            <a:avLst/>
          </a:prstGeom>
          <a:noFill/>
          <a:ln/>
        </p:spPr>
        <p:txBody>
          <a:bodyPr wrap="square" lIns="0" tIns="0" rIns="0" bIns="0" rtlCol="0" anchor="t"/>
          <a:lstStyle/>
          <a:p>
            <a:pPr indent="0" marL="0">
              <a:buNone/>
            </a:pPr>
            <a:r>
              <a:rPr lang="en-US" sz="2200" dirty="0">
                <a:solidFill>
                  <a:schemeClr val="bg1"/>
                </a:solidFill>
              </a:rPr>
              <a:t>Which quantum computer should solve this decision?</a:t>
            </a:r>
            <a:endParaRPr lang="en-US" sz="1800" dirty="0"/>
          </a:p>
          <a:p>
            <a:pPr indent="0" marL="0">
              <a:buNone/>
            </a:pPr>
            <a:r>
              <a:rPr lang="en-US" sz="1000" dirty="0">
                <a:solidFill>
                  <a:schemeClr val="accent6"/>
                </a:solidFill>
              </a:rPr>
              <a:t> </a:t>
            </a:r>
            <a:endParaRPr lang="en-US" sz="1800" dirty="0"/>
          </a:p>
          <a:p>
            <a:pPr indent="0" marL="0">
              <a:buNone/>
            </a:pPr>
            <a:r>
              <a:rPr lang="en-US" sz="1600" dirty="0">
                <a:solidFill>
                  <a:schemeClr val="accent6"/>
                </a:solidFill>
              </a:rPr>
              <a:t>Routing finance and healthcare decisions between gate-based and annealing quantum computing, on real IBM hardware</a:t>
            </a:r>
            <a:endParaRPr lang="en-US" sz="1800" dirty="0"/>
          </a:p>
          <a:p>
            <a:pPr indent="0" marL="0">
              <a:buNone/>
            </a:pPr>
            <a:r>
              <a:rPr lang="en-US" sz="1000" dirty="0">
                <a:solidFill>
                  <a:schemeClr val="accent6"/>
                </a:solidFill>
              </a:rPr>
              <a:t> </a:t>
            </a:r>
            <a:endParaRPr lang="en-US" sz="1800" dirty="0"/>
          </a:p>
          <a:p>
            <a:pPr indent="0" marL="0">
              <a:buNone/>
            </a:pPr>
            <a:r>
              <a:rPr lang="en-US" sz="1200" dirty="0">
                <a:solidFill>
                  <a:schemeClr val="accent6"/>
                </a:solidFill>
              </a:rPr>
              <a:t>Team Q-Router · Florida Atlantic University · Florida Qiskit Fall Fest 2026</a:t>
            </a:r>
            <a:endParaRPr lang="en-US" sz="1800" dirty="0"/>
          </a:p>
        </p:txBody>
      </p:sp>
      <p:sp>
        <p:nvSpPr>
          <p:cNvPr id="4" name="Decision box"/>
          <p:cNvSpPr/>
          <p:nvPr/>
        </p:nvSpPr>
        <p:spPr>
          <a:xfrm>
            <a:off x="5989320" y="868680"/>
            <a:ext cx="2651760" cy="685800"/>
          </a:xfrm>
          <a:prstGeom prst="roundRect">
            <a:avLst>
              <a:gd name="adj" fmla="val 10667"/>
            </a:avLst>
          </a:prstGeom>
          <a:solidFill>
            <a:srgbClr val="2B2A6B"/>
          </a:solidFill>
          <a:ln w="12700">
            <a:solidFill>
              <a:srgbClr val="2B2A6B"/>
            </a:solidFill>
            <a:prstDash val="solid"/>
          </a:ln>
        </p:spPr>
      </p:sp>
      <p:sp>
        <p:nvSpPr>
          <p:cNvPr id="5" name="Text 3"/>
          <p:cNvSpPr txBox="1"/>
          <p:nvPr/>
        </p:nvSpPr>
        <p:spPr>
          <a:xfrm>
            <a:off x="5989320" y="868680"/>
            <a:ext cx="2651760" cy="685800"/>
          </a:xfrm>
          <a:prstGeom prst="rect">
            <a:avLst/>
          </a:prstGeom>
          <a:noFill/>
          <a:ln/>
        </p:spPr>
        <p:txBody>
          <a:bodyPr wrap="square" lIns="0" tIns="0" rIns="0" bIns="0" rtlCol="0" anchor="ctr"/>
          <a:lstStyle/>
          <a:p>
            <a:pPr algn="ctr" indent="0" marL="0">
              <a:buNone/>
            </a:pPr>
            <a:r>
              <a:rPr lang="en-US" sz="1600" b="1" dirty="0">
                <a:solidFill>
                  <a:schemeClr val="bg1"/>
                </a:solidFill>
              </a:rPr>
              <a:t>A business decision</a:t>
            </a:r>
            <a:endParaRPr lang="en-US" sz="1600" dirty="0"/>
          </a:p>
        </p:txBody>
      </p:sp>
      <p:sp>
        <p:nvSpPr>
          <p:cNvPr id="6" name="route line 0"/>
          <p:cNvSpPr/>
          <p:nvPr/>
        </p:nvSpPr>
        <p:spPr>
          <a:xfrm>
            <a:off x="6400800" y="1554480"/>
            <a:ext cx="0" cy="841248"/>
          </a:xfrm>
          <a:prstGeom prst="line">
            <a:avLst/>
          </a:prstGeom>
          <a:noFill/>
          <a:ln w="12700">
            <a:solidFill>
              <a:srgbClr val="A8A3EC"/>
            </a:solidFill>
            <a:prstDash val="solid"/>
          </a:ln>
        </p:spPr>
      </p:sp>
      <p:sp>
        <p:nvSpPr>
          <p:cNvPr id="7" name="route arrow 0"/>
          <p:cNvSpPr/>
          <p:nvPr/>
        </p:nvSpPr>
        <p:spPr>
          <a:xfrm>
            <a:off x="6400800" y="2395728"/>
            <a:ext cx="274320" cy="0"/>
          </a:xfrm>
          <a:prstGeom prst="line">
            <a:avLst/>
          </a:prstGeom>
          <a:noFill/>
          <a:ln w="12700">
            <a:solidFill>
              <a:srgbClr val="A8A3EC"/>
            </a:solidFill>
            <a:prstDash val="solid"/>
            <a:tailEnd type="triangle"/>
          </a:ln>
        </p:spPr>
      </p:sp>
      <p:sp>
        <p:nvSpPr>
          <p:cNvPr id="8" name="Gate-based box"/>
          <p:cNvSpPr/>
          <p:nvPr/>
        </p:nvSpPr>
        <p:spPr>
          <a:xfrm>
            <a:off x="6720840" y="2057400"/>
            <a:ext cx="1920240" cy="676656"/>
          </a:xfrm>
          <a:prstGeom prst="roundRect">
            <a:avLst>
              <a:gd name="adj" fmla="val 10811"/>
            </a:avLst>
          </a:prstGeom>
          <a:solidFill>
            <a:srgbClr val="5B4FD1"/>
          </a:solidFill>
          <a:ln w="12700">
            <a:solidFill>
              <a:srgbClr val="5B4FD1"/>
            </a:solidFill>
            <a:prstDash val="solid"/>
          </a:ln>
        </p:spPr>
      </p:sp>
      <p:pic>
        <p:nvPicPr>
          <p:cNvPr id="9" name="Gate-based icon" descr="preencoded.png">    </p:cNvPr>
          <p:cNvPicPr>
            <a:picLocks noChangeAspect="1"/>
          </p:cNvPicPr>
          <p:nvPr/>
        </p:nvPicPr>
        <p:blipFill>
          <a:blip r:embed="rId1"/>
          <a:stretch>
            <a:fillRect/>
          </a:stretch>
        </p:blipFill>
        <p:spPr>
          <a:xfrm>
            <a:off x="6858000" y="2240280"/>
            <a:ext cx="310896" cy="310896"/>
          </a:xfrm>
          <a:prstGeom prst="rect">
            <a:avLst/>
          </a:prstGeom>
        </p:spPr>
      </p:pic>
      <p:sp>
        <p:nvSpPr>
          <p:cNvPr id="10" name="Text 7"/>
          <p:cNvSpPr txBox="1"/>
          <p:nvPr/>
        </p:nvSpPr>
        <p:spPr>
          <a:xfrm>
            <a:off x="7269480" y="2057400"/>
            <a:ext cx="1325880" cy="676656"/>
          </a:xfrm>
          <a:prstGeom prst="rect">
            <a:avLst/>
          </a:prstGeom>
          <a:noFill/>
          <a:ln/>
        </p:spPr>
        <p:txBody>
          <a:bodyPr wrap="square" lIns="0" tIns="0" rIns="0" bIns="0" rtlCol="0" anchor="ctr"/>
          <a:lstStyle/>
          <a:p>
            <a:pPr indent="0" marL="0">
              <a:buNone/>
            </a:pPr>
            <a:r>
              <a:rPr lang="en-US" sz="1500" b="1" dirty="0">
                <a:solidFill>
                  <a:schemeClr val="bg1"/>
                </a:solidFill>
              </a:rPr>
              <a:t>Gate-based</a:t>
            </a:r>
            <a:endParaRPr lang="en-US" sz="1500" dirty="0"/>
          </a:p>
        </p:txBody>
      </p:sp>
      <p:sp>
        <p:nvSpPr>
          <p:cNvPr id="11" name="route line 1"/>
          <p:cNvSpPr/>
          <p:nvPr/>
        </p:nvSpPr>
        <p:spPr>
          <a:xfrm>
            <a:off x="6400800" y="1554480"/>
            <a:ext cx="0" cy="1709928"/>
          </a:xfrm>
          <a:prstGeom prst="line">
            <a:avLst/>
          </a:prstGeom>
          <a:noFill/>
          <a:ln w="12700">
            <a:solidFill>
              <a:srgbClr val="A8A3EC"/>
            </a:solidFill>
            <a:prstDash val="solid"/>
          </a:ln>
        </p:spPr>
      </p:sp>
      <p:sp>
        <p:nvSpPr>
          <p:cNvPr id="12" name="route arrow 1"/>
          <p:cNvSpPr/>
          <p:nvPr/>
        </p:nvSpPr>
        <p:spPr>
          <a:xfrm>
            <a:off x="6400800" y="3264408"/>
            <a:ext cx="274320" cy="0"/>
          </a:xfrm>
          <a:prstGeom prst="line">
            <a:avLst/>
          </a:prstGeom>
          <a:noFill/>
          <a:ln w="12700">
            <a:solidFill>
              <a:srgbClr val="A8A3EC"/>
            </a:solidFill>
            <a:prstDash val="solid"/>
            <a:tailEnd type="triangle"/>
          </a:ln>
        </p:spPr>
      </p:sp>
      <p:sp>
        <p:nvSpPr>
          <p:cNvPr id="13" name="Annealing box"/>
          <p:cNvSpPr/>
          <p:nvPr/>
        </p:nvSpPr>
        <p:spPr>
          <a:xfrm>
            <a:off x="6720840" y="2926080"/>
            <a:ext cx="1920240" cy="676656"/>
          </a:xfrm>
          <a:prstGeom prst="roundRect">
            <a:avLst>
              <a:gd name="adj" fmla="val 10811"/>
            </a:avLst>
          </a:prstGeom>
          <a:solidFill>
            <a:srgbClr val="0E9384"/>
          </a:solidFill>
          <a:ln w="12700">
            <a:solidFill>
              <a:srgbClr val="0E9384"/>
            </a:solidFill>
            <a:prstDash val="solid"/>
          </a:ln>
        </p:spPr>
      </p:sp>
      <p:pic>
        <p:nvPicPr>
          <p:cNvPr id="14" name="Annealing icon" descr="preencoded.png">    </p:cNvPr>
          <p:cNvPicPr>
            <a:picLocks noChangeAspect="1"/>
          </p:cNvPicPr>
          <p:nvPr/>
        </p:nvPicPr>
        <p:blipFill>
          <a:blip r:embed="rId2"/>
          <a:stretch>
            <a:fillRect/>
          </a:stretch>
        </p:blipFill>
        <p:spPr>
          <a:xfrm>
            <a:off x="6858000" y="3108960"/>
            <a:ext cx="310896" cy="310896"/>
          </a:xfrm>
          <a:prstGeom prst="rect">
            <a:avLst/>
          </a:prstGeom>
        </p:spPr>
      </p:pic>
      <p:sp>
        <p:nvSpPr>
          <p:cNvPr id="15" name="Text 11"/>
          <p:cNvSpPr txBox="1"/>
          <p:nvPr/>
        </p:nvSpPr>
        <p:spPr>
          <a:xfrm>
            <a:off x="7269480" y="2926080"/>
            <a:ext cx="1325880" cy="676656"/>
          </a:xfrm>
          <a:prstGeom prst="rect">
            <a:avLst/>
          </a:prstGeom>
          <a:noFill/>
          <a:ln/>
        </p:spPr>
        <p:txBody>
          <a:bodyPr wrap="square" lIns="0" tIns="0" rIns="0" bIns="0" rtlCol="0" anchor="ctr"/>
          <a:lstStyle/>
          <a:p>
            <a:pPr indent="0" marL="0">
              <a:buNone/>
            </a:pPr>
            <a:r>
              <a:rPr lang="en-US" sz="1500" b="1" dirty="0">
                <a:solidFill>
                  <a:schemeClr val="bg1"/>
                </a:solidFill>
              </a:rPr>
              <a:t>Annealing</a:t>
            </a:r>
            <a:endParaRPr lang="en-US" sz="1500" dirty="0"/>
          </a:p>
        </p:txBody>
      </p:sp>
      <p:sp>
        <p:nvSpPr>
          <p:cNvPr id="16" name="route line 2"/>
          <p:cNvSpPr/>
          <p:nvPr/>
        </p:nvSpPr>
        <p:spPr>
          <a:xfrm>
            <a:off x="6400800" y="1554480"/>
            <a:ext cx="0" cy="2578608"/>
          </a:xfrm>
          <a:prstGeom prst="line">
            <a:avLst/>
          </a:prstGeom>
          <a:noFill/>
          <a:ln w="12700">
            <a:solidFill>
              <a:srgbClr val="A8A3EC"/>
            </a:solidFill>
            <a:prstDash val="solid"/>
          </a:ln>
        </p:spPr>
      </p:sp>
      <p:sp>
        <p:nvSpPr>
          <p:cNvPr id="17" name="route arrow 2"/>
          <p:cNvSpPr/>
          <p:nvPr/>
        </p:nvSpPr>
        <p:spPr>
          <a:xfrm>
            <a:off x="6400800" y="4133088"/>
            <a:ext cx="274320" cy="0"/>
          </a:xfrm>
          <a:prstGeom prst="line">
            <a:avLst/>
          </a:prstGeom>
          <a:noFill/>
          <a:ln w="12700">
            <a:solidFill>
              <a:srgbClr val="A8A3EC"/>
            </a:solidFill>
            <a:prstDash val="solid"/>
            <a:tailEnd type="triangle"/>
          </a:ln>
        </p:spPr>
      </p:sp>
      <p:sp>
        <p:nvSpPr>
          <p:cNvPr id="18" name="Classical box"/>
          <p:cNvSpPr/>
          <p:nvPr/>
        </p:nvSpPr>
        <p:spPr>
          <a:xfrm>
            <a:off x="6720840" y="3794760"/>
            <a:ext cx="1920240" cy="676656"/>
          </a:xfrm>
          <a:prstGeom prst="roundRect">
            <a:avLst>
              <a:gd name="adj" fmla="val 10811"/>
            </a:avLst>
          </a:prstGeom>
          <a:solidFill>
            <a:srgbClr val="667085"/>
          </a:solidFill>
          <a:ln w="12700">
            <a:solidFill>
              <a:srgbClr val="667085"/>
            </a:solidFill>
            <a:prstDash val="solid"/>
          </a:ln>
        </p:spPr>
      </p:sp>
      <p:pic>
        <p:nvPicPr>
          <p:cNvPr id="19" name="Classical icon" descr="preencoded.png">    </p:cNvPr>
          <p:cNvPicPr>
            <a:picLocks noChangeAspect="1"/>
          </p:cNvPicPr>
          <p:nvPr/>
        </p:nvPicPr>
        <p:blipFill>
          <a:blip r:embed="rId3"/>
          <a:stretch>
            <a:fillRect/>
          </a:stretch>
        </p:blipFill>
        <p:spPr>
          <a:xfrm>
            <a:off x="6858000" y="3977640"/>
            <a:ext cx="310896" cy="310896"/>
          </a:xfrm>
          <a:prstGeom prst="rect">
            <a:avLst/>
          </a:prstGeom>
        </p:spPr>
      </p:pic>
      <p:sp>
        <p:nvSpPr>
          <p:cNvPr id="20" name="Text 15"/>
          <p:cNvSpPr txBox="1"/>
          <p:nvPr/>
        </p:nvSpPr>
        <p:spPr>
          <a:xfrm>
            <a:off x="7269480" y="3794760"/>
            <a:ext cx="1325880" cy="676656"/>
          </a:xfrm>
          <a:prstGeom prst="rect">
            <a:avLst/>
          </a:prstGeom>
          <a:noFill/>
          <a:ln/>
        </p:spPr>
        <p:txBody>
          <a:bodyPr wrap="square" lIns="0" tIns="0" rIns="0" bIns="0" rtlCol="0" anchor="ctr"/>
          <a:lstStyle/>
          <a:p>
            <a:pPr indent="0" marL="0">
              <a:buNone/>
            </a:pPr>
            <a:r>
              <a:rPr lang="en-US" sz="1500" b="1" dirty="0">
                <a:solidFill>
                  <a:schemeClr val="bg1"/>
                </a:solidFill>
              </a:rPr>
              <a:t>Classical</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problem: which quantum computer to use?</a:t>
            </a:r>
            <a:endParaRPr lang="en-US" sz="2800" dirty="0"/>
          </a:p>
        </p:txBody>
      </p:sp>
      <p:sp>
        <p:nvSpPr>
          <p:cNvPr id="3" name="Fact card 0"/>
          <p:cNvSpPr/>
          <p:nvPr/>
        </p:nvSpPr>
        <p:spPr>
          <a:xfrm>
            <a:off x="457200" y="1143000"/>
            <a:ext cx="4206240" cy="1005840"/>
          </a:xfrm>
          <a:prstGeom prst="roundRect">
            <a:avLst>
              <a:gd name="adj" fmla="val 7273"/>
            </a:avLst>
          </a:prstGeom>
          <a:solidFill>
            <a:srgbClr val="F2F2F8"/>
          </a:solidFill>
          <a:ln w="12700">
            <a:solidFill>
              <a:srgbClr val="F2F2F8"/>
            </a:solidFill>
            <a:prstDash val="solid"/>
          </a:ln>
        </p:spPr>
      </p:sp>
      <p:sp>
        <p:nvSpPr>
          <p:cNvPr id="4" name="Fact 0 circle"/>
          <p:cNvSpPr/>
          <p:nvPr/>
        </p:nvSpPr>
        <p:spPr>
          <a:xfrm>
            <a:off x="640080" y="1371600"/>
            <a:ext cx="548640" cy="548640"/>
          </a:xfrm>
          <a:prstGeom prst="ellipse">
            <a:avLst/>
          </a:prstGeom>
          <a:solidFill>
            <a:srgbClr val="E8833A"/>
          </a:solidFill>
          <a:ln w="12700">
            <a:solidFill>
              <a:srgbClr val="E8833A"/>
            </a:solidFill>
            <a:prstDash val="solid"/>
          </a:ln>
        </p:spPr>
      </p:sp>
      <p:pic>
        <p:nvPicPr>
          <p:cNvPr id="5" name="Fact 0 icon" descr="preencoded.png">    </p:cNvPr>
          <p:cNvPicPr>
            <a:picLocks noChangeAspect="1"/>
          </p:cNvPicPr>
          <p:nvPr/>
        </p:nvPicPr>
        <p:blipFill>
          <a:blip r:embed="rId1"/>
          <a:stretch>
            <a:fillRect/>
          </a:stretch>
        </p:blipFill>
        <p:spPr>
          <a:xfrm>
            <a:off x="771754" y="1503274"/>
            <a:ext cx="285293" cy="285293"/>
          </a:xfrm>
          <a:prstGeom prst="rect">
            <a:avLst/>
          </a:prstGeom>
        </p:spPr>
      </p:pic>
      <p:sp>
        <p:nvSpPr>
          <p:cNvPr id="6" name="Text 3"/>
          <p:cNvSpPr txBox="1"/>
          <p:nvPr/>
        </p:nvSpPr>
        <p:spPr>
          <a:xfrm>
            <a:off x="1371600" y="1252728"/>
            <a:ext cx="3154680" cy="274320"/>
          </a:xfrm>
          <a:prstGeom prst="rect">
            <a:avLst/>
          </a:prstGeom>
          <a:noFill/>
          <a:ln/>
        </p:spPr>
        <p:txBody>
          <a:bodyPr wrap="square" lIns="0" tIns="0" rIns="0" bIns="0" rtlCol="0" anchor="t"/>
          <a:lstStyle/>
          <a:p>
            <a:pPr indent="0" marL="0">
              <a:buNone/>
            </a:pPr>
            <a:r>
              <a:rPr lang="en-US" sz="1600" b="1" dirty="0">
                <a:solidFill>
                  <a:schemeClr val="tx1"/>
                </a:solidFill>
              </a:rPr>
              <a:t>Scarce</a:t>
            </a:r>
            <a:endParaRPr lang="en-US" sz="1600" dirty="0"/>
          </a:p>
        </p:txBody>
      </p:sp>
      <p:sp>
        <p:nvSpPr>
          <p:cNvPr id="7" name="Text 4"/>
          <p:cNvSpPr txBox="1"/>
          <p:nvPr/>
        </p:nvSpPr>
        <p:spPr>
          <a:xfrm>
            <a:off x="1371600" y="1527048"/>
            <a:ext cx="3200400" cy="585216"/>
          </a:xfrm>
          <a:prstGeom prst="rect">
            <a:avLst/>
          </a:prstGeom>
          <a:noFill/>
          <a:ln/>
        </p:spPr>
        <p:txBody>
          <a:bodyPr wrap="square" lIns="0" tIns="0" rIns="0" bIns="0" rtlCol="0" anchor="t"/>
          <a:lstStyle/>
          <a:p>
            <a:pPr indent="0" marL="0">
              <a:buNone/>
            </a:pPr>
            <a:r>
              <a:rPr lang="en-US" sz="1300" dirty="0">
                <a:solidFill>
                  <a:schemeClr val="tx1"/>
                </a:solidFill>
              </a:rPr>
              <a:t>10 quantum minutes a month on IBM's free plan; paid time is billed by the second</a:t>
            </a:r>
            <a:endParaRPr lang="en-US" sz="1300" dirty="0"/>
          </a:p>
        </p:txBody>
      </p:sp>
      <p:sp>
        <p:nvSpPr>
          <p:cNvPr id="8" name="Fact card 1"/>
          <p:cNvSpPr/>
          <p:nvPr/>
        </p:nvSpPr>
        <p:spPr>
          <a:xfrm>
            <a:off x="457200" y="2240280"/>
            <a:ext cx="4206240" cy="1005840"/>
          </a:xfrm>
          <a:prstGeom prst="roundRect">
            <a:avLst>
              <a:gd name="adj" fmla="val 7273"/>
            </a:avLst>
          </a:prstGeom>
          <a:solidFill>
            <a:srgbClr val="F2F2F8"/>
          </a:solidFill>
          <a:ln w="12700">
            <a:solidFill>
              <a:srgbClr val="F2F2F8"/>
            </a:solidFill>
            <a:prstDash val="solid"/>
          </a:ln>
        </p:spPr>
      </p:sp>
      <p:sp>
        <p:nvSpPr>
          <p:cNvPr id="9" name="Fact 1 circle"/>
          <p:cNvSpPr/>
          <p:nvPr/>
        </p:nvSpPr>
        <p:spPr>
          <a:xfrm>
            <a:off x="640080" y="2468880"/>
            <a:ext cx="548640" cy="548640"/>
          </a:xfrm>
          <a:prstGeom prst="ellipse">
            <a:avLst/>
          </a:prstGeom>
          <a:solidFill>
            <a:srgbClr val="5B4FD1"/>
          </a:solidFill>
          <a:ln w="12700">
            <a:solidFill>
              <a:srgbClr val="5B4FD1"/>
            </a:solidFill>
            <a:prstDash val="solid"/>
          </a:ln>
        </p:spPr>
      </p:sp>
      <p:pic>
        <p:nvPicPr>
          <p:cNvPr id="10" name="Fact 1 icon" descr="preencoded.png">    </p:cNvPr>
          <p:cNvPicPr>
            <a:picLocks noChangeAspect="1"/>
          </p:cNvPicPr>
          <p:nvPr/>
        </p:nvPicPr>
        <p:blipFill>
          <a:blip r:embed="rId2"/>
          <a:stretch>
            <a:fillRect/>
          </a:stretch>
        </p:blipFill>
        <p:spPr>
          <a:xfrm>
            <a:off x="771754" y="2600554"/>
            <a:ext cx="285293" cy="285293"/>
          </a:xfrm>
          <a:prstGeom prst="rect">
            <a:avLst/>
          </a:prstGeom>
        </p:spPr>
      </p:pic>
      <p:sp>
        <p:nvSpPr>
          <p:cNvPr id="11" name="Text 7"/>
          <p:cNvSpPr txBox="1"/>
          <p:nvPr/>
        </p:nvSpPr>
        <p:spPr>
          <a:xfrm>
            <a:off x="1371600" y="2350008"/>
            <a:ext cx="3154680" cy="274320"/>
          </a:xfrm>
          <a:prstGeom prst="rect">
            <a:avLst/>
          </a:prstGeom>
          <a:noFill/>
          <a:ln/>
        </p:spPr>
        <p:txBody>
          <a:bodyPr wrap="square" lIns="0" tIns="0" rIns="0" bIns="0" rtlCol="0" anchor="t"/>
          <a:lstStyle/>
          <a:p>
            <a:pPr indent="0" marL="0">
              <a:buNone/>
            </a:pPr>
            <a:r>
              <a:rPr lang="en-US" sz="1600" b="1" dirty="0">
                <a:solidFill>
                  <a:schemeClr val="tx1"/>
                </a:solidFill>
              </a:rPr>
              <a:t>Two kinds</a:t>
            </a:r>
            <a:endParaRPr lang="en-US" sz="1600" dirty="0"/>
          </a:p>
        </p:txBody>
      </p:sp>
      <p:sp>
        <p:nvSpPr>
          <p:cNvPr id="12" name="Text 8"/>
          <p:cNvSpPr txBox="1"/>
          <p:nvPr/>
        </p:nvSpPr>
        <p:spPr>
          <a:xfrm>
            <a:off x="1371600" y="2624328"/>
            <a:ext cx="3200400" cy="585216"/>
          </a:xfrm>
          <a:prstGeom prst="rect">
            <a:avLst/>
          </a:prstGeom>
          <a:noFill/>
          <a:ln/>
        </p:spPr>
        <p:txBody>
          <a:bodyPr wrap="square" lIns="0" tIns="0" rIns="0" bIns="0" rtlCol="0" anchor="t"/>
          <a:lstStyle/>
          <a:p>
            <a:pPr indent="0" marL="0">
              <a:buNone/>
            </a:pPr>
            <a:r>
              <a:rPr lang="en-US" sz="1300" dirty="0">
                <a:solidFill>
                  <a:schemeClr val="tx1"/>
                </a:solidFill>
              </a:rPr>
              <a:t>Gate-based (IBM, Google) and annealing (D-Wave) machines suit different problem shapes</a:t>
            </a:r>
            <a:endParaRPr lang="en-US" sz="1300" dirty="0"/>
          </a:p>
        </p:txBody>
      </p:sp>
      <p:sp>
        <p:nvSpPr>
          <p:cNvPr id="13" name="Fact card 2"/>
          <p:cNvSpPr/>
          <p:nvPr/>
        </p:nvSpPr>
        <p:spPr>
          <a:xfrm>
            <a:off x="457200" y="3337560"/>
            <a:ext cx="4206240" cy="1005840"/>
          </a:xfrm>
          <a:prstGeom prst="roundRect">
            <a:avLst>
              <a:gd name="adj" fmla="val 7273"/>
            </a:avLst>
          </a:prstGeom>
          <a:solidFill>
            <a:srgbClr val="F2F2F8"/>
          </a:solidFill>
          <a:ln w="12700">
            <a:solidFill>
              <a:srgbClr val="F2F2F8"/>
            </a:solidFill>
            <a:prstDash val="solid"/>
          </a:ln>
        </p:spPr>
      </p:sp>
      <p:sp>
        <p:nvSpPr>
          <p:cNvPr id="14" name="Fact 2 circle"/>
          <p:cNvSpPr/>
          <p:nvPr/>
        </p:nvSpPr>
        <p:spPr>
          <a:xfrm>
            <a:off x="640080" y="3566160"/>
            <a:ext cx="548640" cy="548640"/>
          </a:xfrm>
          <a:prstGeom prst="ellipse">
            <a:avLst/>
          </a:prstGeom>
          <a:solidFill>
            <a:srgbClr val="D64545"/>
          </a:solidFill>
          <a:ln w="12700">
            <a:solidFill>
              <a:srgbClr val="D64545"/>
            </a:solidFill>
            <a:prstDash val="solid"/>
          </a:ln>
        </p:spPr>
      </p:sp>
      <p:pic>
        <p:nvPicPr>
          <p:cNvPr id="15" name="Fact 2 icon" descr="preencoded.png">    </p:cNvPr>
          <p:cNvPicPr>
            <a:picLocks noChangeAspect="1"/>
          </p:cNvPicPr>
          <p:nvPr/>
        </p:nvPicPr>
        <p:blipFill>
          <a:blip r:embed="rId3"/>
          <a:stretch>
            <a:fillRect/>
          </a:stretch>
        </p:blipFill>
        <p:spPr>
          <a:xfrm>
            <a:off x="771754" y="3697834"/>
            <a:ext cx="285293" cy="285293"/>
          </a:xfrm>
          <a:prstGeom prst="rect">
            <a:avLst/>
          </a:prstGeom>
        </p:spPr>
      </p:pic>
      <p:sp>
        <p:nvSpPr>
          <p:cNvPr id="16" name="Text 11"/>
          <p:cNvSpPr txBox="1"/>
          <p:nvPr/>
        </p:nvSpPr>
        <p:spPr>
          <a:xfrm>
            <a:off x="1371600" y="3447288"/>
            <a:ext cx="3154680" cy="274320"/>
          </a:xfrm>
          <a:prstGeom prst="rect">
            <a:avLst/>
          </a:prstGeom>
          <a:noFill/>
          <a:ln/>
        </p:spPr>
        <p:txBody>
          <a:bodyPr wrap="square" lIns="0" tIns="0" rIns="0" bIns="0" rtlCol="0" anchor="t"/>
          <a:lstStyle/>
          <a:p>
            <a:pPr indent="0" marL="0">
              <a:buNone/>
            </a:pPr>
            <a:r>
              <a:rPr lang="en-US" sz="1600" b="1" dirty="0">
                <a:solidFill>
                  <a:schemeClr val="tx1"/>
                </a:solidFill>
              </a:rPr>
              <a:t>Noisy</a:t>
            </a:r>
            <a:endParaRPr lang="en-US" sz="1600" dirty="0"/>
          </a:p>
        </p:txBody>
      </p:sp>
      <p:sp>
        <p:nvSpPr>
          <p:cNvPr id="17" name="Text 12"/>
          <p:cNvSpPr txBox="1"/>
          <p:nvPr/>
        </p:nvSpPr>
        <p:spPr>
          <a:xfrm>
            <a:off x="1371600" y="3721608"/>
            <a:ext cx="3200400" cy="585216"/>
          </a:xfrm>
          <a:prstGeom prst="rect">
            <a:avLst/>
          </a:prstGeom>
          <a:noFill/>
          <a:ln/>
        </p:spPr>
        <p:txBody>
          <a:bodyPr wrap="square" lIns="0" tIns="0" rIns="0" bIns="0" rtlCol="0" anchor="t"/>
          <a:lstStyle/>
          <a:p>
            <a:pPr indent="0" marL="0">
              <a:buNone/>
            </a:pPr>
            <a:r>
              <a:rPr lang="en-US" sz="1300" dirty="0">
                <a:solidFill>
                  <a:schemeClr val="tx1"/>
                </a:solidFill>
              </a:rPr>
              <a:t>The wrong problem on the wrong chip returns answers no better than a random guess</a:t>
            </a:r>
            <a:endParaRPr lang="en-US" sz="1300" dirty="0"/>
          </a:p>
        </p:txBody>
      </p:sp>
      <p:sp>
        <p:nvSpPr>
          <p:cNvPr id="18" name="Who it affects card"/>
          <p:cNvSpPr/>
          <p:nvPr/>
        </p:nvSpPr>
        <p:spPr>
          <a:xfrm>
            <a:off x="4937760" y="1143000"/>
            <a:ext cx="3749040" cy="2029968"/>
          </a:xfrm>
          <a:prstGeom prst="roundRect">
            <a:avLst>
              <a:gd name="adj" fmla="val 3604"/>
            </a:avLst>
          </a:prstGeom>
          <a:solidFill>
            <a:srgbClr val="2B2A6B"/>
          </a:solidFill>
          <a:ln w="12700">
            <a:solidFill>
              <a:srgbClr val="2B2A6B"/>
            </a:solidFill>
            <a:prstDash val="solid"/>
          </a:ln>
          <a:effectLst>
            <a:outerShdw sx="100000" sy="100000" kx="0" ky="0" algn="bl" rotWithShape="0" blurRad="76200" dist="25400" dir="5400000">
              <a:srgbClr val="000000">
                <a:alpha val="12000"/>
              </a:srgbClr>
            </a:outerShdw>
          </a:effectLst>
        </p:spPr>
      </p:sp>
      <p:sp>
        <p:nvSpPr>
          <p:cNvPr id="19" name="Text 14"/>
          <p:cNvSpPr txBox="1"/>
          <p:nvPr/>
        </p:nvSpPr>
        <p:spPr>
          <a:xfrm>
            <a:off x="5166360" y="1280160"/>
            <a:ext cx="3291840" cy="274320"/>
          </a:xfrm>
          <a:prstGeom prst="rect">
            <a:avLst/>
          </a:prstGeom>
          <a:noFill/>
          <a:ln/>
        </p:spPr>
        <p:txBody>
          <a:bodyPr wrap="square" lIns="0" tIns="0" rIns="0" bIns="0" rtlCol="0" anchor="t"/>
          <a:lstStyle/>
          <a:p>
            <a:pPr indent="0" marL="0">
              <a:buNone/>
            </a:pPr>
            <a:r>
              <a:rPr lang="en-US" sz="1600" b="1" dirty="0">
                <a:solidFill>
                  <a:schemeClr val="bg1"/>
                </a:solidFill>
              </a:rPr>
              <a:t>Who it affects</a:t>
            </a:r>
            <a:endParaRPr lang="en-US" sz="1600" dirty="0"/>
          </a:p>
        </p:txBody>
      </p:sp>
      <p:sp>
        <p:nvSpPr>
          <p:cNvPr id="20" name="Text 15"/>
          <p:cNvSpPr txBox="1"/>
          <p:nvPr/>
        </p:nvSpPr>
        <p:spPr>
          <a:xfrm>
            <a:off x="5166360" y="1627632"/>
            <a:ext cx="33375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bg1"/>
                </a:solidFill>
              </a:rPr>
              <a:t>Companies testing quantum: pharma R&amp;D and finance teams paying for quantum time</a:t>
            </a:r>
            <a:endParaRPr lang="en-US" sz="1300" dirty="0"/>
          </a:p>
          <a:p>
            <a:pPr marL="177800" indent="-177800">
              <a:spcAft>
                <a:spcPts val="400"/>
              </a:spcAft>
              <a:buSzPct val="100000"/>
              <a:buChar char="•"/>
            </a:pPr>
            <a:r>
              <a:rPr lang="en-US" sz="1300" dirty="0">
                <a:solidFill>
                  <a:schemeClr val="bg1"/>
                </a:solidFill>
              </a:rPr>
              <a:t>Quantum cloud providers (IBM, D-Wave, Amazon) deciding where each job should run</a:t>
            </a:r>
            <a:endParaRPr lang="en-US" sz="1300" dirty="0"/>
          </a:p>
          <a:p>
            <a:pPr marL="177800" indent="-177800">
              <a:spcAft>
                <a:spcPts val="400"/>
              </a:spcAft>
              <a:buSzPct val="100000"/>
              <a:buChar char="•"/>
            </a:pPr>
            <a:r>
              <a:rPr lang="en-US" sz="1300" dirty="0">
                <a:solidFill>
                  <a:schemeClr val="bg1"/>
                </a:solidFill>
              </a:rPr>
              <a:t>Researchers and students with small quantum budgets</a:t>
            </a:r>
            <a:endParaRPr lang="en-US" sz="1300" dirty="0"/>
          </a:p>
        </p:txBody>
      </p:sp>
      <p:sp>
        <p:nvSpPr>
          <p:cNvPr id="21" name="Question card"/>
          <p:cNvSpPr/>
          <p:nvPr/>
        </p:nvSpPr>
        <p:spPr>
          <a:xfrm>
            <a:off x="4937760" y="3310128"/>
            <a:ext cx="3749040" cy="1161288"/>
          </a:xfrm>
          <a:prstGeom prst="roundRect">
            <a:avLst>
              <a:gd name="adj" fmla="val 6299"/>
            </a:avLst>
          </a:prstGeom>
          <a:solidFill>
            <a:srgbClr val="FFF4EA"/>
          </a:solidFill>
          <a:ln w="12700">
            <a:solidFill>
              <a:srgbClr val="FFF4EA"/>
            </a:solidFill>
            <a:prstDash val="solid"/>
          </a:ln>
        </p:spPr>
      </p:sp>
      <p:sp>
        <p:nvSpPr>
          <p:cNvPr id="22" name="Text 17"/>
          <p:cNvSpPr txBox="1"/>
          <p:nvPr/>
        </p:nvSpPr>
        <p:spPr>
          <a:xfrm>
            <a:off x="5166360" y="3401568"/>
            <a:ext cx="3291840" cy="274320"/>
          </a:xfrm>
          <a:prstGeom prst="rect">
            <a:avLst/>
          </a:prstGeom>
          <a:noFill/>
          <a:ln/>
        </p:spPr>
        <p:txBody>
          <a:bodyPr wrap="square" lIns="0" tIns="0" rIns="0" bIns="0" rtlCol="0" anchor="t"/>
          <a:lstStyle/>
          <a:p>
            <a:pPr indent="0" marL="0">
              <a:buNone/>
            </a:pPr>
            <a:r>
              <a:rPr lang="en-US" sz="1400" b="1" dirty="0">
                <a:solidFill>
                  <a:schemeClr val="tx1"/>
                </a:solidFill>
              </a:rPr>
              <a:t>Q-Router answers three questions</a:t>
            </a:r>
            <a:endParaRPr lang="en-US" sz="1400" dirty="0"/>
          </a:p>
        </p:txBody>
      </p:sp>
      <p:sp>
        <p:nvSpPr>
          <p:cNvPr id="23" name="Text 18"/>
          <p:cNvSpPr txBox="1"/>
          <p:nvPr/>
        </p:nvSpPr>
        <p:spPr>
          <a:xfrm>
            <a:off x="5166360" y="3703320"/>
            <a:ext cx="3337560" cy="685800"/>
          </a:xfrm>
          <a:prstGeom prst="rect">
            <a:avLst/>
          </a:prstGeom>
          <a:noFill/>
          <a:ln/>
        </p:spPr>
        <p:txBody>
          <a:bodyPr wrap="square" lIns="0" tIns="0" rIns="0" bIns="0" rtlCol="0" anchor="t"/>
          <a:lstStyle/>
          <a:p>
            <a:pPr indent="0" marL="0">
              <a:buNone/>
            </a:pPr>
            <a:r>
              <a:rPr lang="en-US" sz="1400" i="1" dirty="0">
                <a:solidFill>
                  <a:schemeClr val="tx1"/>
                </a:solidFill>
              </a:rPr>
              <a:t>Is quantum worth it?  Which kind?  For which part of the problem?</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Test case: which drugs should we fund?</a:t>
            </a:r>
            <a:endParaRPr lang="en-US" sz="2800" dirty="0"/>
          </a:p>
        </p:txBody>
      </p:sp>
      <p:sp>
        <p:nvSpPr>
          <p:cNvPr id="3" name="Drug card"/>
          <p:cNvSpPr/>
          <p:nvPr/>
        </p:nvSpPr>
        <p:spPr>
          <a:xfrm>
            <a:off x="457200" y="1097280"/>
            <a:ext cx="4160520" cy="3429000"/>
          </a:xfrm>
          <a:prstGeom prst="roundRect">
            <a:avLst>
              <a:gd name="adj" fmla="val 2133"/>
            </a:avLst>
          </a:prstGeom>
          <a:solidFill>
            <a:srgbClr val="F2F2F8"/>
          </a:solidFill>
          <a:ln w="12700">
            <a:solidFill>
              <a:srgbClr val="F2F2F8"/>
            </a:solidFill>
            <a:prstDash val="solid"/>
          </a:ln>
        </p:spPr>
      </p:sp>
      <p:sp>
        <p:nvSpPr>
          <p:cNvPr id="4" name="Drug circle"/>
          <p:cNvSpPr/>
          <p:nvPr/>
        </p:nvSpPr>
        <p:spPr>
          <a:xfrm>
            <a:off x="640080" y="1261872"/>
            <a:ext cx="502920" cy="502920"/>
          </a:xfrm>
          <a:prstGeom prst="ellipse">
            <a:avLst/>
          </a:prstGeom>
          <a:solidFill>
            <a:srgbClr val="5B4FD1"/>
          </a:solidFill>
          <a:ln w="12700">
            <a:solidFill>
              <a:srgbClr val="5B4FD1"/>
            </a:solidFill>
            <a:prstDash val="solid"/>
          </a:ln>
        </p:spPr>
      </p:sp>
      <p:pic>
        <p:nvPicPr>
          <p:cNvPr id="5" name="Drug icon" descr="preencoded.png">    </p:cNvPr>
          <p:cNvPicPr>
            <a:picLocks noChangeAspect="1"/>
          </p:cNvPicPr>
          <p:nvPr/>
        </p:nvPicPr>
        <p:blipFill>
          <a:blip r:embed="rId1"/>
          <a:stretch>
            <a:fillRect/>
          </a:stretch>
        </p:blipFill>
        <p:spPr>
          <a:xfrm>
            <a:off x="760781" y="1382573"/>
            <a:ext cx="261518" cy="261518"/>
          </a:xfrm>
          <a:prstGeom prst="rect">
            <a:avLst/>
          </a:prstGeom>
        </p:spPr>
      </p:pic>
      <p:sp>
        <p:nvSpPr>
          <p:cNvPr id="6" name="Text 3"/>
          <p:cNvSpPr txBox="1"/>
          <p:nvPr/>
        </p:nvSpPr>
        <p:spPr>
          <a:xfrm>
            <a:off x="128016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10 drug candidates, money for 4</a:t>
            </a:r>
            <a:endParaRPr lang="en-US" sz="1600" dirty="0"/>
          </a:p>
        </p:txBody>
      </p:sp>
      <p:sp>
        <p:nvSpPr>
          <p:cNvPr id="7" name="Text 4"/>
          <p:cNvSpPr txBox="1"/>
          <p:nvPr/>
        </p:nvSpPr>
        <p:spPr>
          <a:xfrm>
            <a:off x="685800" y="1828800"/>
            <a:ext cx="3794760" cy="21031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Each drug: </a:t>
            </a:r>
            <a:pPr indent="0" marL="0">
              <a:spcAft>
                <a:spcPts val="400"/>
              </a:spcAft>
              <a:buNone/>
            </a:pPr>
            <a:r>
              <a:rPr lang="en-US" sz="1400" dirty="0">
                <a:solidFill>
                  <a:schemeClr val="tx1"/>
                </a:solidFill>
              </a:rPr>
              <a:t>payoff = chance of approval × sales − cost</a:t>
            </a:r>
            <a:endParaRPr lang="en-US" sz="1400" dirty="0"/>
          </a:p>
          <a:p>
            <a:pPr indent="0" marL="0">
              <a:spcAft>
                <a:spcPts val="400"/>
              </a:spcAft>
              <a:buNone/>
            </a:pPr>
            <a:r>
              <a:rPr lang="en-US" sz="1400" b="1" dirty="0">
                <a:solidFill>
                  <a:schemeClr val="tx1"/>
                </a:solidFill>
              </a:rPr>
              <a:t>Each pair: </a:t>
            </a:r>
            <a:pPr indent="0" marL="0">
              <a:spcAft>
                <a:spcPts val="400"/>
              </a:spcAft>
              <a:buNone/>
            </a:pPr>
            <a:r>
              <a:rPr lang="en-US" sz="1400" dirty="0">
                <a:solidFill>
                  <a:schemeClr val="tx1"/>
                </a:solidFill>
              </a:rPr>
              <a:t>drugs for the same disease succeed or fail together (shared risk)</a:t>
            </a:r>
            <a:endParaRPr lang="en-US" sz="1400" dirty="0"/>
          </a:p>
          <a:p>
            <a:pPr indent="0" marL="0">
              <a:spcAft>
                <a:spcPts val="400"/>
              </a:spcAft>
              <a:buNone/>
            </a:pPr>
            <a:r>
              <a:rPr lang="en-US" sz="1400" b="1" dirty="0">
                <a:solidFill>
                  <a:schemeClr val="tx1"/>
                </a:solidFill>
              </a:rPr>
              <a:t>The rule: </a:t>
            </a:r>
            <a:pPr indent="0" marL="0">
              <a:spcAft>
                <a:spcPts val="400"/>
              </a:spcAft>
              <a:buNone/>
            </a:pPr>
            <a:r>
              <a:rPr lang="en-US" sz="1400" dirty="0">
                <a:solidFill>
                  <a:schemeClr val="tx1"/>
                </a:solidFill>
              </a:rPr>
              <a:t>fund exactly 4 (a large penalty for breaking it)</a:t>
            </a:r>
            <a:endParaRPr lang="en-US" sz="1400" dirty="0"/>
          </a:p>
          <a:p>
            <a:pPr indent="0" marL="0">
              <a:spcAft>
                <a:spcPts val="400"/>
              </a:spcAft>
              <a:buNone/>
            </a:pPr>
            <a:r>
              <a:rPr lang="en-US" sz="1400" b="1" dirty="0">
                <a:solidFill>
                  <a:schemeClr val="tx1"/>
                </a:solidFill>
              </a:rPr>
              <a:t>Goal: </a:t>
            </a:r>
            <a:pPr indent="0" marL="0">
              <a:spcAft>
                <a:spcPts val="400"/>
              </a:spcAft>
              <a:buNone/>
            </a:pPr>
            <a:r>
              <a:rPr lang="en-US" sz="1400" dirty="0">
                <a:solidFill>
                  <a:schemeClr val="tx1"/>
                </a:solidFill>
              </a:rPr>
              <a:t>the best payoff for the least risk out of 210 possible groups</a:t>
            </a:r>
            <a:endParaRPr lang="en-US" sz="1400" dirty="0"/>
          </a:p>
        </p:txBody>
      </p:sp>
      <p:sp>
        <p:nvSpPr>
          <p:cNvPr id="8" name="Text 5"/>
          <p:cNvSpPr txBox="1"/>
          <p:nvPr/>
        </p:nvSpPr>
        <p:spPr>
          <a:xfrm>
            <a:off x="685800" y="4005072"/>
            <a:ext cx="3794760" cy="475488"/>
          </a:xfrm>
          <a:prstGeom prst="rect">
            <a:avLst/>
          </a:prstGeom>
          <a:noFill/>
          <a:ln/>
        </p:spPr>
        <p:txBody>
          <a:bodyPr wrap="square" lIns="0" tIns="0" rIns="0" bIns="0" rtlCol="0" anchor="t"/>
          <a:lstStyle/>
          <a:p>
            <a:pPr indent="0" marL="0">
              <a:buNone/>
            </a:pPr>
            <a:r>
              <a:rPr lang="en-US" sz="1200" i="1" dirty="0">
                <a:solidFill>
                  <a:schemeClr val="tx2"/>
                </a:solidFill>
              </a:rPr>
              <a:t>The same portfolio math investors use for stocks, applied to drugs. Written as a QUBO: one yes/no qubit per drug.</a:t>
            </a:r>
            <a:endParaRPr lang="en-US" sz="1200" dirty="0"/>
          </a:p>
        </p:txBody>
      </p:sp>
      <p:sp>
        <p:nvSpPr>
          <p:cNvPr id="9" name="Text 6"/>
          <p:cNvSpPr txBox="1"/>
          <p:nvPr/>
        </p:nvSpPr>
        <p:spPr>
          <a:xfrm>
            <a:off x="4892040" y="1097280"/>
            <a:ext cx="3794760" cy="320040"/>
          </a:xfrm>
          <a:prstGeom prst="rect">
            <a:avLst/>
          </a:prstGeom>
          <a:noFill/>
          <a:ln/>
        </p:spPr>
        <p:txBody>
          <a:bodyPr wrap="square" lIns="0" tIns="0" rIns="0" bIns="0" rtlCol="0" anchor="t"/>
          <a:lstStyle/>
          <a:p>
            <a:pPr indent="0" marL="0">
              <a:buNone/>
            </a:pPr>
            <a:r>
              <a:rPr lang="en-US" sz="1500" b="1" dirty="0">
                <a:solidFill>
                  <a:schemeClr val="tx1"/>
                </a:solidFill>
              </a:rPr>
              <a:t>The same router is trained on four fields</a:t>
            </a:r>
            <a:endParaRPr lang="en-US" sz="1500" dirty="0"/>
          </a:p>
        </p:txBody>
      </p:sp>
      <p:sp>
        <p:nvSpPr>
          <p:cNvPr id="10" name="Finance circle"/>
          <p:cNvSpPr/>
          <p:nvPr/>
        </p:nvSpPr>
        <p:spPr>
          <a:xfrm>
            <a:off x="4892040" y="1581912"/>
            <a:ext cx="457200" cy="457200"/>
          </a:xfrm>
          <a:prstGeom prst="ellipse">
            <a:avLst/>
          </a:prstGeom>
          <a:solidFill>
            <a:srgbClr val="5B4FD1"/>
          </a:solidFill>
          <a:ln w="12700">
            <a:solidFill>
              <a:srgbClr val="5B4FD1"/>
            </a:solidFill>
            <a:prstDash val="solid"/>
          </a:ln>
        </p:spPr>
      </p:sp>
      <p:pic>
        <p:nvPicPr>
          <p:cNvPr id="11" name="Finance icon" descr="preencoded.png">    </p:cNvPr>
          <p:cNvPicPr>
            <a:picLocks noChangeAspect="1"/>
          </p:cNvPicPr>
          <p:nvPr/>
        </p:nvPicPr>
        <p:blipFill>
          <a:blip r:embed="rId2"/>
          <a:stretch>
            <a:fillRect/>
          </a:stretch>
        </p:blipFill>
        <p:spPr>
          <a:xfrm>
            <a:off x="5001768" y="1691640"/>
            <a:ext cx="237744" cy="237744"/>
          </a:xfrm>
          <a:prstGeom prst="rect">
            <a:avLst/>
          </a:prstGeom>
        </p:spPr>
      </p:pic>
      <p:sp>
        <p:nvSpPr>
          <p:cNvPr id="12" name="Text 8"/>
          <p:cNvSpPr txBox="1"/>
          <p:nvPr/>
        </p:nvSpPr>
        <p:spPr>
          <a:xfrm>
            <a:off x="5486400" y="1536192"/>
            <a:ext cx="3200400" cy="274320"/>
          </a:xfrm>
          <a:prstGeom prst="rect">
            <a:avLst/>
          </a:prstGeom>
          <a:noFill/>
          <a:ln/>
        </p:spPr>
        <p:txBody>
          <a:bodyPr wrap="square" lIns="0" tIns="0" rIns="0" bIns="0" rtlCol="0" anchor="t"/>
          <a:lstStyle/>
          <a:p>
            <a:pPr indent="0" marL="0">
              <a:buNone/>
            </a:pPr>
            <a:r>
              <a:rPr lang="en-US" sz="1400" b="1" dirty="0">
                <a:solidFill>
                  <a:schemeClr val="tx1"/>
                </a:solidFill>
              </a:rPr>
              <a:t>Finance</a:t>
            </a:r>
            <a:endParaRPr lang="en-US" sz="1400" dirty="0"/>
          </a:p>
        </p:txBody>
      </p:sp>
      <p:sp>
        <p:nvSpPr>
          <p:cNvPr id="13" name="Text 9"/>
          <p:cNvSpPr txBox="1"/>
          <p:nvPr/>
        </p:nvSpPr>
        <p:spPr>
          <a:xfrm>
            <a:off x="5486400" y="1810512"/>
            <a:ext cx="3200400" cy="411480"/>
          </a:xfrm>
          <a:prstGeom prst="rect">
            <a:avLst/>
          </a:prstGeom>
          <a:noFill/>
          <a:ln/>
        </p:spPr>
        <p:txBody>
          <a:bodyPr wrap="square" lIns="0" tIns="0" rIns="0" bIns="0" rtlCol="0" anchor="t"/>
          <a:lstStyle/>
          <a:p>
            <a:pPr indent="0" marL="0">
              <a:buNone/>
            </a:pPr>
            <a:r>
              <a:rPr lang="en-US" sz="1200" dirty="0">
                <a:solidFill>
                  <a:schemeClr val="tx1"/>
                </a:solidFill>
              </a:rPr>
              <a:t>Stock portfolio: real prices of 12 healthcare stocks, 2023-25</a:t>
            </a:r>
            <a:endParaRPr lang="en-US" sz="1200" dirty="0"/>
          </a:p>
        </p:txBody>
      </p:sp>
      <p:sp>
        <p:nvSpPr>
          <p:cNvPr id="14" name="Healthcare circle"/>
          <p:cNvSpPr/>
          <p:nvPr/>
        </p:nvSpPr>
        <p:spPr>
          <a:xfrm>
            <a:off x="4892040" y="2340864"/>
            <a:ext cx="457200" cy="457200"/>
          </a:xfrm>
          <a:prstGeom prst="ellipse">
            <a:avLst/>
          </a:prstGeom>
          <a:solidFill>
            <a:srgbClr val="0E9384"/>
          </a:solidFill>
          <a:ln w="12700">
            <a:solidFill>
              <a:srgbClr val="0E9384"/>
            </a:solidFill>
            <a:prstDash val="solid"/>
          </a:ln>
        </p:spPr>
      </p:sp>
      <p:pic>
        <p:nvPicPr>
          <p:cNvPr id="15" name="Healthcare icon" descr="preencoded.png">    </p:cNvPr>
          <p:cNvPicPr>
            <a:picLocks noChangeAspect="1"/>
          </p:cNvPicPr>
          <p:nvPr/>
        </p:nvPicPr>
        <p:blipFill>
          <a:blip r:embed="rId3"/>
          <a:stretch>
            <a:fillRect/>
          </a:stretch>
        </p:blipFill>
        <p:spPr>
          <a:xfrm>
            <a:off x="5001768" y="2450592"/>
            <a:ext cx="237744" cy="237744"/>
          </a:xfrm>
          <a:prstGeom prst="rect">
            <a:avLst/>
          </a:prstGeom>
        </p:spPr>
      </p:pic>
      <p:sp>
        <p:nvSpPr>
          <p:cNvPr id="16" name="Text 11"/>
          <p:cNvSpPr txBox="1"/>
          <p:nvPr/>
        </p:nvSpPr>
        <p:spPr>
          <a:xfrm>
            <a:off x="5486400" y="2295144"/>
            <a:ext cx="3200400" cy="274320"/>
          </a:xfrm>
          <a:prstGeom prst="rect">
            <a:avLst/>
          </a:prstGeom>
          <a:noFill/>
          <a:ln/>
        </p:spPr>
        <p:txBody>
          <a:bodyPr wrap="square" lIns="0" tIns="0" rIns="0" bIns="0" rtlCol="0" anchor="t"/>
          <a:lstStyle/>
          <a:p>
            <a:pPr indent="0" marL="0">
              <a:buNone/>
            </a:pPr>
            <a:r>
              <a:rPr lang="en-US" sz="1400" b="1" dirty="0">
                <a:solidFill>
                  <a:schemeClr val="tx1"/>
                </a:solidFill>
              </a:rPr>
              <a:t>Healthcare</a:t>
            </a:r>
            <a:endParaRPr lang="en-US" sz="1400" dirty="0"/>
          </a:p>
        </p:txBody>
      </p:sp>
      <p:sp>
        <p:nvSpPr>
          <p:cNvPr id="17" name="Text 12"/>
          <p:cNvSpPr txBox="1"/>
          <p:nvPr/>
        </p:nvSpPr>
        <p:spPr>
          <a:xfrm>
            <a:off x="5486400" y="2569464"/>
            <a:ext cx="3200400" cy="411480"/>
          </a:xfrm>
          <a:prstGeom prst="rect">
            <a:avLst/>
          </a:prstGeom>
          <a:noFill/>
          <a:ln/>
        </p:spPr>
        <p:txBody>
          <a:bodyPr wrap="square" lIns="0" tIns="0" rIns="0" bIns="0" rtlCol="0" anchor="t"/>
          <a:lstStyle/>
          <a:p>
            <a:pPr indent="0" marL="0">
              <a:buNone/>
            </a:pPr>
            <a:r>
              <a:rPr lang="en-US" sz="1200" dirty="0">
                <a:solidFill>
                  <a:schemeClr val="tx1"/>
                </a:solidFill>
              </a:rPr>
              <a:t>Diagnostic tests: real breast-cancer dataset</a:t>
            </a:r>
            <a:endParaRPr lang="en-US" sz="1200" dirty="0"/>
          </a:p>
        </p:txBody>
      </p:sp>
      <p:sp>
        <p:nvSpPr>
          <p:cNvPr id="18" name="Finance × healthcare circle"/>
          <p:cNvSpPr/>
          <p:nvPr/>
        </p:nvSpPr>
        <p:spPr>
          <a:xfrm>
            <a:off x="4892040" y="3099816"/>
            <a:ext cx="457200" cy="457200"/>
          </a:xfrm>
          <a:prstGeom prst="ellipse">
            <a:avLst/>
          </a:prstGeom>
          <a:solidFill>
            <a:srgbClr val="E8833A"/>
          </a:solidFill>
          <a:ln w="12700">
            <a:solidFill>
              <a:srgbClr val="E8833A"/>
            </a:solidFill>
            <a:prstDash val="solid"/>
          </a:ln>
        </p:spPr>
      </p:sp>
      <p:pic>
        <p:nvPicPr>
          <p:cNvPr id="19" name="Finance × healthcare icon" descr="preencoded.png">    </p:cNvPr>
          <p:cNvPicPr>
            <a:picLocks noChangeAspect="1"/>
          </p:cNvPicPr>
          <p:nvPr/>
        </p:nvPicPr>
        <p:blipFill>
          <a:blip r:embed="rId4"/>
          <a:stretch>
            <a:fillRect/>
          </a:stretch>
        </p:blipFill>
        <p:spPr>
          <a:xfrm>
            <a:off x="5001768" y="3209544"/>
            <a:ext cx="237744" cy="237744"/>
          </a:xfrm>
          <a:prstGeom prst="rect">
            <a:avLst/>
          </a:prstGeom>
        </p:spPr>
      </p:pic>
      <p:sp>
        <p:nvSpPr>
          <p:cNvPr id="20" name="Text 14"/>
          <p:cNvSpPr txBox="1"/>
          <p:nvPr/>
        </p:nvSpPr>
        <p:spPr>
          <a:xfrm>
            <a:off x="5486400" y="3054096"/>
            <a:ext cx="3200400" cy="274320"/>
          </a:xfrm>
          <a:prstGeom prst="rect">
            <a:avLst/>
          </a:prstGeom>
          <a:noFill/>
          <a:ln/>
        </p:spPr>
        <p:txBody>
          <a:bodyPr wrap="square" lIns="0" tIns="0" rIns="0" bIns="0" rtlCol="0" anchor="t"/>
          <a:lstStyle/>
          <a:p>
            <a:pPr indent="0" marL="0">
              <a:buNone/>
            </a:pPr>
            <a:r>
              <a:rPr lang="en-US" sz="1400" b="1" dirty="0">
                <a:solidFill>
                  <a:schemeClr val="tx1"/>
                </a:solidFill>
              </a:rPr>
              <a:t>Finance × healthcare</a:t>
            </a:r>
            <a:endParaRPr lang="en-US" sz="1400" dirty="0"/>
          </a:p>
        </p:txBody>
      </p:sp>
      <p:sp>
        <p:nvSpPr>
          <p:cNvPr id="21" name="Text 15"/>
          <p:cNvSpPr txBox="1"/>
          <p:nvPr/>
        </p:nvSpPr>
        <p:spPr>
          <a:xfrm>
            <a:off x="5486400" y="3328416"/>
            <a:ext cx="3200400" cy="411480"/>
          </a:xfrm>
          <a:prstGeom prst="rect">
            <a:avLst/>
          </a:prstGeom>
          <a:noFill/>
          <a:ln/>
        </p:spPr>
        <p:txBody>
          <a:bodyPr wrap="square" lIns="0" tIns="0" rIns="0" bIns="0" rtlCol="0" anchor="t"/>
          <a:lstStyle/>
          <a:p>
            <a:pPr indent="0" marL="0">
              <a:buNone/>
            </a:pPr>
            <a:r>
              <a:rPr lang="en-US" sz="1200" dirty="0">
                <a:solidFill>
                  <a:schemeClr val="tx1"/>
                </a:solidFill>
              </a:rPr>
              <a:t>Drug pipeline: industry success rates by trial phase</a:t>
            </a:r>
            <a:endParaRPr lang="en-US" sz="1200" dirty="0"/>
          </a:p>
        </p:txBody>
      </p:sp>
      <p:sp>
        <p:nvSpPr>
          <p:cNvPr id="22" name="Networks circle"/>
          <p:cNvSpPr/>
          <p:nvPr/>
        </p:nvSpPr>
        <p:spPr>
          <a:xfrm>
            <a:off x="4892040" y="3858768"/>
            <a:ext cx="457200" cy="457200"/>
          </a:xfrm>
          <a:prstGeom prst="ellipse">
            <a:avLst/>
          </a:prstGeom>
          <a:solidFill>
            <a:srgbClr val="667085"/>
          </a:solidFill>
          <a:ln w="12700">
            <a:solidFill>
              <a:srgbClr val="667085"/>
            </a:solidFill>
            <a:prstDash val="solid"/>
          </a:ln>
        </p:spPr>
      </p:sp>
      <p:pic>
        <p:nvPicPr>
          <p:cNvPr id="23" name="Networks icon" descr="preencoded.png">    </p:cNvPr>
          <p:cNvPicPr>
            <a:picLocks noChangeAspect="1"/>
          </p:cNvPicPr>
          <p:nvPr/>
        </p:nvPicPr>
        <p:blipFill>
          <a:blip r:embed="rId5"/>
          <a:stretch>
            <a:fillRect/>
          </a:stretch>
        </p:blipFill>
        <p:spPr>
          <a:xfrm>
            <a:off x="5001768" y="3968496"/>
            <a:ext cx="237744" cy="237744"/>
          </a:xfrm>
          <a:prstGeom prst="rect">
            <a:avLst/>
          </a:prstGeom>
        </p:spPr>
      </p:pic>
      <p:sp>
        <p:nvSpPr>
          <p:cNvPr id="24" name="Text 17"/>
          <p:cNvSpPr txBox="1"/>
          <p:nvPr/>
        </p:nvSpPr>
        <p:spPr>
          <a:xfrm>
            <a:off x="5486400" y="3813048"/>
            <a:ext cx="3200400" cy="274320"/>
          </a:xfrm>
          <a:prstGeom prst="rect">
            <a:avLst/>
          </a:prstGeom>
          <a:noFill/>
          <a:ln/>
        </p:spPr>
        <p:txBody>
          <a:bodyPr wrap="square" lIns="0" tIns="0" rIns="0" bIns="0" rtlCol="0" anchor="t"/>
          <a:lstStyle/>
          <a:p>
            <a:pPr indent="0" marL="0">
              <a:buNone/>
            </a:pPr>
            <a:r>
              <a:rPr lang="en-US" sz="1400" b="1" dirty="0">
                <a:solidFill>
                  <a:schemeClr val="tx1"/>
                </a:solidFill>
              </a:rPr>
              <a:t>Networks</a:t>
            </a:r>
            <a:endParaRPr lang="en-US" sz="1400" dirty="0"/>
          </a:p>
        </p:txBody>
      </p:sp>
      <p:sp>
        <p:nvSpPr>
          <p:cNvPr id="25" name="Text 18"/>
          <p:cNvSpPr txBox="1"/>
          <p:nvPr/>
        </p:nvSpPr>
        <p:spPr>
          <a:xfrm>
            <a:off x="5486400" y="4087368"/>
            <a:ext cx="3200400" cy="411480"/>
          </a:xfrm>
          <a:prstGeom prst="rect">
            <a:avLst/>
          </a:prstGeom>
          <a:noFill/>
          <a:ln/>
        </p:spPr>
        <p:txBody>
          <a:bodyPr wrap="square" lIns="0" tIns="0" rIns="0" bIns="0" rtlCol="0" anchor="t"/>
          <a:lstStyle/>
          <a:p>
            <a:pPr indent="0" marL="0">
              <a:buNone/>
            </a:pPr>
            <a:r>
              <a:rPr lang="en-US" sz="1200" dirty="0">
                <a:solidFill>
                  <a:schemeClr val="tx1"/>
                </a:solidFill>
              </a:rPr>
              <a:t>Split a network, e.g. trial sites between two partners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Two kinds of quantum computer, one IBM chip</a:t>
            </a:r>
            <a:endParaRPr lang="en-US" sz="2800" dirty="0"/>
          </a:p>
        </p:txBody>
      </p:sp>
      <p:sp>
        <p:nvSpPr>
          <p:cNvPr id="3" name="Annealing card"/>
          <p:cNvSpPr/>
          <p:nvPr/>
        </p:nvSpPr>
        <p:spPr>
          <a:xfrm>
            <a:off x="457200" y="1097280"/>
            <a:ext cx="4023360" cy="1965960"/>
          </a:xfrm>
          <a:prstGeom prst="roundRect">
            <a:avLst>
              <a:gd name="adj" fmla="val 3721"/>
            </a:avLst>
          </a:prstGeom>
          <a:solidFill>
            <a:srgbClr val="F2F2F8"/>
          </a:solidFill>
          <a:ln w="12700">
            <a:solidFill>
              <a:srgbClr val="F2F2F8"/>
            </a:solidFill>
            <a:prstDash val="solid"/>
          </a:ln>
        </p:spPr>
      </p:sp>
      <p:sp>
        <p:nvSpPr>
          <p:cNvPr id="4" name="Annealing circle"/>
          <p:cNvSpPr/>
          <p:nvPr/>
        </p:nvSpPr>
        <p:spPr>
          <a:xfrm>
            <a:off x="640080" y="1243584"/>
            <a:ext cx="502920" cy="502920"/>
          </a:xfrm>
          <a:prstGeom prst="ellipse">
            <a:avLst/>
          </a:prstGeom>
          <a:solidFill>
            <a:srgbClr val="0E9384"/>
          </a:solidFill>
          <a:ln w="12700">
            <a:solidFill>
              <a:srgbClr val="0E9384"/>
            </a:solidFill>
            <a:prstDash val="solid"/>
          </a:ln>
        </p:spPr>
      </p:sp>
      <p:pic>
        <p:nvPicPr>
          <p:cNvPr id="5" name="Annealing icon" descr="preencoded.png">    </p:cNvPr>
          <p:cNvPicPr>
            <a:picLocks noChangeAspect="1"/>
          </p:cNvPicPr>
          <p:nvPr/>
        </p:nvPicPr>
        <p:blipFill>
          <a:blip r:embed="rId1"/>
          <a:stretch>
            <a:fillRect/>
          </a:stretch>
        </p:blipFill>
        <p:spPr>
          <a:xfrm>
            <a:off x="760781" y="1364285"/>
            <a:ext cx="261518" cy="261518"/>
          </a:xfrm>
          <a:prstGeom prst="rect">
            <a:avLst/>
          </a:prstGeom>
        </p:spPr>
      </p:pic>
      <p:sp>
        <p:nvSpPr>
          <p:cNvPr id="6" name="Text 3"/>
          <p:cNvSpPr txBox="1"/>
          <p:nvPr/>
        </p:nvSpPr>
        <p:spPr>
          <a:xfrm>
            <a:off x="1280160" y="1243584"/>
            <a:ext cx="3017520" cy="274320"/>
          </a:xfrm>
          <a:prstGeom prst="rect">
            <a:avLst/>
          </a:prstGeom>
          <a:noFill/>
          <a:ln/>
        </p:spPr>
        <p:txBody>
          <a:bodyPr wrap="square" lIns="0" tIns="0" rIns="0" bIns="0" rtlCol="0" anchor="t"/>
          <a:lstStyle/>
          <a:p>
            <a:pPr indent="0" marL="0">
              <a:buNone/>
            </a:pPr>
            <a:r>
              <a:rPr lang="en-US" sz="1600" b="1" dirty="0">
                <a:solidFill>
                  <a:schemeClr val="tx1"/>
                </a:solidFill>
              </a:rPr>
              <a:t>Annealing</a:t>
            </a:r>
            <a:endParaRPr lang="en-US" sz="1600" dirty="0"/>
          </a:p>
        </p:txBody>
      </p:sp>
      <p:sp>
        <p:nvSpPr>
          <p:cNvPr id="7" name="Text 4"/>
          <p:cNvSpPr txBox="1"/>
          <p:nvPr/>
        </p:nvSpPr>
        <p:spPr>
          <a:xfrm>
            <a:off x="1280160" y="1517904"/>
            <a:ext cx="3017520" cy="274320"/>
          </a:xfrm>
          <a:prstGeom prst="rect">
            <a:avLst/>
          </a:prstGeom>
          <a:noFill/>
          <a:ln/>
        </p:spPr>
        <p:txBody>
          <a:bodyPr wrap="square" lIns="0" tIns="0" rIns="0" bIns="0" rtlCol="0" anchor="t"/>
          <a:lstStyle/>
          <a:p>
            <a:pPr indent="0" marL="0">
              <a:buNone/>
            </a:pPr>
            <a:r>
              <a:rPr lang="en-US" sz="1200" i="1" dirty="0">
                <a:solidFill>
                  <a:schemeClr val="tx2"/>
                </a:solidFill>
              </a:rPr>
              <a:t>A ball settling into the lowest valley</a:t>
            </a:r>
            <a:endParaRPr lang="en-US" sz="1200" dirty="0"/>
          </a:p>
        </p:txBody>
      </p:sp>
      <p:sp>
        <p:nvSpPr>
          <p:cNvPr id="8" name="Text 5"/>
          <p:cNvSpPr txBox="1"/>
          <p:nvPr/>
        </p:nvSpPr>
        <p:spPr>
          <a:xfrm>
            <a:off x="640080" y="1901952"/>
            <a:ext cx="3657600" cy="1115568"/>
          </a:xfrm>
          <a:prstGeom prst="rect">
            <a:avLst/>
          </a:prstGeom>
          <a:noFill/>
          <a:ln/>
        </p:spPr>
        <p:txBody>
          <a:bodyPr wrap="square" lIns="0" tIns="0" rIns="0" bIns="0" rtlCol="0" anchor="t"/>
          <a:lstStyle/>
          <a:p>
            <a:pPr indent="0" marL="0">
              <a:buNone/>
            </a:pPr>
            <a:r>
              <a:rPr lang="en-US" sz="1300" dirty="0">
                <a:solidFill>
                  <a:schemeClr val="tx1"/>
                </a:solidFill>
              </a:rPr>
              <a:t>A slow, steady sweep from 'all answers mixed' to 'best answer'. Many steps, almost no tuning. D-Wave builds these; we run a digitized anneal (LR-QAOA) as many small gate steps on IBM.</a:t>
            </a:r>
            <a:endParaRPr lang="en-US" sz="1300" dirty="0"/>
          </a:p>
        </p:txBody>
      </p:sp>
      <p:sp>
        <p:nvSpPr>
          <p:cNvPr id="9" name="Gate-based (QAOA) card"/>
          <p:cNvSpPr/>
          <p:nvPr/>
        </p:nvSpPr>
        <p:spPr>
          <a:xfrm>
            <a:off x="4663440" y="1097280"/>
            <a:ext cx="4023360" cy="1965960"/>
          </a:xfrm>
          <a:prstGeom prst="roundRect">
            <a:avLst>
              <a:gd name="adj" fmla="val 3721"/>
            </a:avLst>
          </a:prstGeom>
          <a:solidFill>
            <a:srgbClr val="F2F2F8"/>
          </a:solidFill>
          <a:ln w="12700">
            <a:solidFill>
              <a:srgbClr val="F2F2F8"/>
            </a:solidFill>
            <a:prstDash val="solid"/>
          </a:ln>
        </p:spPr>
      </p:sp>
      <p:sp>
        <p:nvSpPr>
          <p:cNvPr id="10" name="Gate-based (QAOA) circle"/>
          <p:cNvSpPr/>
          <p:nvPr/>
        </p:nvSpPr>
        <p:spPr>
          <a:xfrm>
            <a:off x="4846320" y="1243584"/>
            <a:ext cx="502920" cy="502920"/>
          </a:xfrm>
          <a:prstGeom prst="ellipse">
            <a:avLst/>
          </a:prstGeom>
          <a:solidFill>
            <a:srgbClr val="5B4FD1"/>
          </a:solidFill>
          <a:ln w="12700">
            <a:solidFill>
              <a:srgbClr val="5B4FD1"/>
            </a:solidFill>
            <a:prstDash val="solid"/>
          </a:ln>
        </p:spPr>
      </p:sp>
      <p:pic>
        <p:nvPicPr>
          <p:cNvPr id="11" name="Gate-based (QAOA) icon" descr="preencoded.png">    </p:cNvPr>
          <p:cNvPicPr>
            <a:picLocks noChangeAspect="1"/>
          </p:cNvPicPr>
          <p:nvPr/>
        </p:nvPicPr>
        <p:blipFill>
          <a:blip r:embed="rId2"/>
          <a:stretch>
            <a:fillRect/>
          </a:stretch>
        </p:blipFill>
        <p:spPr>
          <a:xfrm>
            <a:off x="4967021" y="1364285"/>
            <a:ext cx="261518" cy="261518"/>
          </a:xfrm>
          <a:prstGeom prst="rect">
            <a:avLst/>
          </a:prstGeom>
        </p:spPr>
      </p:pic>
      <p:sp>
        <p:nvSpPr>
          <p:cNvPr id="12" name="Text 8"/>
          <p:cNvSpPr txBox="1"/>
          <p:nvPr/>
        </p:nvSpPr>
        <p:spPr>
          <a:xfrm>
            <a:off x="5486400" y="1243584"/>
            <a:ext cx="3017520" cy="274320"/>
          </a:xfrm>
          <a:prstGeom prst="rect">
            <a:avLst/>
          </a:prstGeom>
          <a:noFill/>
          <a:ln/>
        </p:spPr>
        <p:txBody>
          <a:bodyPr wrap="square" lIns="0" tIns="0" rIns="0" bIns="0" rtlCol="0" anchor="t"/>
          <a:lstStyle/>
          <a:p>
            <a:pPr indent="0" marL="0">
              <a:buNone/>
            </a:pPr>
            <a:r>
              <a:rPr lang="en-US" sz="1600" b="1" dirty="0">
                <a:solidFill>
                  <a:schemeClr val="tx1"/>
                </a:solidFill>
              </a:rPr>
              <a:t>Gate-based (QAOA)</a:t>
            </a:r>
            <a:endParaRPr lang="en-US" sz="1600" dirty="0"/>
          </a:p>
        </p:txBody>
      </p:sp>
      <p:sp>
        <p:nvSpPr>
          <p:cNvPr id="13" name="Text 9"/>
          <p:cNvSpPr txBox="1"/>
          <p:nvPr/>
        </p:nvSpPr>
        <p:spPr>
          <a:xfrm>
            <a:off x="5486400" y="1517904"/>
            <a:ext cx="3017520" cy="274320"/>
          </a:xfrm>
          <a:prstGeom prst="rect">
            <a:avLst/>
          </a:prstGeom>
          <a:noFill/>
          <a:ln/>
        </p:spPr>
        <p:txBody>
          <a:bodyPr wrap="square" lIns="0" tIns="0" rIns="0" bIns="0" rtlCol="0" anchor="t"/>
          <a:lstStyle/>
          <a:p>
            <a:pPr indent="0" marL="0">
              <a:buNone/>
            </a:pPr>
            <a:r>
              <a:rPr lang="en-US" sz="1200" i="1" dirty="0">
                <a:solidFill>
                  <a:schemeClr val="tx2"/>
                </a:solidFill>
              </a:rPr>
              <a:t>A short recipe with tuned dials</a:t>
            </a:r>
            <a:endParaRPr lang="en-US" sz="1200" dirty="0"/>
          </a:p>
        </p:txBody>
      </p:sp>
      <p:sp>
        <p:nvSpPr>
          <p:cNvPr id="14" name="Text 10"/>
          <p:cNvSpPr txBox="1"/>
          <p:nvPr/>
        </p:nvSpPr>
        <p:spPr>
          <a:xfrm>
            <a:off x="4846320" y="1901952"/>
            <a:ext cx="3657600" cy="1115568"/>
          </a:xfrm>
          <a:prstGeom prst="rect">
            <a:avLst/>
          </a:prstGeom>
          <a:noFill/>
          <a:ln/>
        </p:spPr>
        <p:txBody>
          <a:bodyPr wrap="square" lIns="0" tIns="0" rIns="0" bIns="0" rtlCol="0" anchor="t"/>
          <a:lstStyle/>
          <a:p>
            <a:pPr indent="0" marL="0">
              <a:buNone/>
            </a:pPr>
            <a:r>
              <a:rPr lang="en-US" sz="1300" dirty="0">
                <a:solidFill>
                  <a:schemeClr val="tx1"/>
                </a:solidFill>
              </a:rPr>
              <a:t>Mix all answers, link decisions that interact (entanglement), shuffle, measure. Few steps; the dials are tuned on a simulator first. IBM and Google build these.</a:t>
            </a:r>
            <a:endParaRPr lang="en-US" sz="1300" dirty="0"/>
          </a:p>
        </p:txBody>
      </p:sp>
      <p:sp>
        <p:nvSpPr>
          <p:cNvPr id="15" name="Why quantum card"/>
          <p:cNvSpPr/>
          <p:nvPr/>
        </p:nvSpPr>
        <p:spPr>
          <a:xfrm>
            <a:off x="457200" y="3200400"/>
            <a:ext cx="4023360" cy="1280160"/>
          </a:xfrm>
          <a:prstGeom prst="roundRect">
            <a:avLst>
              <a:gd name="adj" fmla="val 5714"/>
            </a:avLst>
          </a:prstGeom>
          <a:solidFill>
            <a:srgbClr val="EEF8F6"/>
          </a:solidFill>
          <a:ln w="12700">
            <a:solidFill>
              <a:srgbClr val="EEF8F6"/>
            </a:solidFill>
            <a:prstDash val="solid"/>
          </a:ln>
        </p:spPr>
      </p:sp>
      <p:sp>
        <p:nvSpPr>
          <p:cNvPr id="16" name="Text 12"/>
          <p:cNvSpPr txBox="1"/>
          <p:nvPr/>
        </p:nvSpPr>
        <p:spPr>
          <a:xfrm>
            <a:off x="640080" y="3291840"/>
            <a:ext cx="3657600" cy="274320"/>
          </a:xfrm>
          <a:prstGeom prst="rect">
            <a:avLst/>
          </a:prstGeom>
          <a:noFill/>
          <a:ln/>
        </p:spPr>
        <p:txBody>
          <a:bodyPr wrap="square" lIns="0" tIns="0" rIns="0" bIns="0" rtlCol="0" anchor="t"/>
          <a:lstStyle/>
          <a:p>
            <a:pPr indent="0" marL="0">
              <a:buNone/>
            </a:pPr>
            <a:r>
              <a:rPr lang="en-US" sz="1400" b="1" dirty="0">
                <a:solidFill>
                  <a:schemeClr val="tx1"/>
                </a:solidFill>
              </a:rPr>
              <a:t>Why quantum might help</a:t>
            </a:r>
            <a:endParaRPr lang="en-US" sz="1400" dirty="0"/>
          </a:p>
        </p:txBody>
      </p:sp>
      <p:sp>
        <p:nvSpPr>
          <p:cNvPr id="17" name="Text 13"/>
          <p:cNvSpPr txBox="1"/>
          <p:nvPr/>
        </p:nvSpPr>
        <p:spPr>
          <a:xfrm>
            <a:off x="640080" y="3584448"/>
            <a:ext cx="3703320" cy="868680"/>
          </a:xfrm>
          <a:prstGeom prst="rect">
            <a:avLst/>
          </a:prstGeom>
          <a:noFill/>
          <a:ln/>
        </p:spPr>
        <p:txBody>
          <a:bodyPr wrap="square" lIns="0" tIns="0" rIns="0" bIns="0" rtlCol="0" anchor="t"/>
          <a:lstStyle/>
          <a:p>
            <a:pPr marL="177800" indent="-177800">
              <a:buSzPct val="100000"/>
              <a:buChar char="•"/>
            </a:pPr>
            <a:r>
              <a:rPr lang="en-US" sz="1200" dirty="0">
                <a:solidFill>
                  <a:schemeClr val="tx1"/>
                </a:solidFill>
              </a:rPr>
              <a:t>Superposition explores every combination at once</a:t>
            </a:r>
            <a:endParaRPr lang="en-US" sz="1200" dirty="0"/>
          </a:p>
          <a:p>
            <a:pPr marL="177800" indent="-177800">
              <a:buSzPct val="100000"/>
              <a:buChar char="•"/>
            </a:pPr>
            <a:r>
              <a:rPr lang="en-US" sz="1200" dirty="0">
                <a:solidFill>
                  <a:schemeClr val="tx1"/>
                </a:solidFill>
              </a:rPr>
              <a:t>Entanglement links decisions that affect each other</a:t>
            </a:r>
            <a:endParaRPr lang="en-US" sz="1200" dirty="0"/>
          </a:p>
          <a:p>
            <a:pPr marL="177800" indent="-177800">
              <a:buSzPct val="100000"/>
              <a:buChar char="•"/>
            </a:pPr>
            <a:r>
              <a:rPr lang="en-US" sz="1200" dirty="0">
                <a:solidFill>
                  <a:schemeClr val="tx1"/>
                </a:solidFill>
              </a:rPr>
              <a:t>Sampling returns many good answers, not just one</a:t>
            </a:r>
            <a:endParaRPr lang="en-US" sz="1200" dirty="0"/>
          </a:p>
        </p:txBody>
      </p:sp>
      <p:sp>
        <p:nvSpPr>
          <p:cNvPr id="18" name="Limits card"/>
          <p:cNvSpPr/>
          <p:nvPr/>
        </p:nvSpPr>
        <p:spPr>
          <a:xfrm>
            <a:off x="4663440" y="3200400"/>
            <a:ext cx="4023360" cy="1280160"/>
          </a:xfrm>
          <a:prstGeom prst="roundRect">
            <a:avLst>
              <a:gd name="adj" fmla="val 5714"/>
            </a:avLst>
          </a:prstGeom>
          <a:solidFill>
            <a:srgbClr val="FDECEC"/>
          </a:solidFill>
          <a:ln w="12700">
            <a:solidFill>
              <a:srgbClr val="FDECEC"/>
            </a:solidFill>
            <a:prstDash val="solid"/>
          </a:ln>
        </p:spPr>
      </p:sp>
      <p:sp>
        <p:nvSpPr>
          <p:cNvPr id="19" name="Text 15"/>
          <p:cNvSpPr txBox="1"/>
          <p:nvPr/>
        </p:nvSpPr>
        <p:spPr>
          <a:xfrm>
            <a:off x="4846320" y="3291840"/>
            <a:ext cx="3657600" cy="274320"/>
          </a:xfrm>
          <a:prstGeom prst="rect">
            <a:avLst/>
          </a:prstGeom>
          <a:noFill/>
          <a:ln/>
        </p:spPr>
        <p:txBody>
          <a:bodyPr wrap="square" lIns="0" tIns="0" rIns="0" bIns="0" rtlCol="0" anchor="t"/>
          <a:lstStyle/>
          <a:p>
            <a:pPr indent="0" marL="0">
              <a:buNone/>
            </a:pPr>
            <a:r>
              <a:rPr lang="en-US" sz="1400" b="1" dirty="0">
                <a:solidFill>
                  <a:schemeClr val="tx1"/>
                </a:solidFill>
              </a:rPr>
              <a:t>Honest limits today</a:t>
            </a:r>
            <a:endParaRPr lang="en-US" sz="1400" dirty="0"/>
          </a:p>
        </p:txBody>
      </p:sp>
      <p:sp>
        <p:nvSpPr>
          <p:cNvPr id="20" name="Text 16"/>
          <p:cNvSpPr txBox="1"/>
          <p:nvPr/>
        </p:nvSpPr>
        <p:spPr>
          <a:xfrm>
            <a:off x="4846320" y="3584448"/>
            <a:ext cx="3703320" cy="868680"/>
          </a:xfrm>
          <a:prstGeom prst="rect">
            <a:avLst/>
          </a:prstGeom>
          <a:noFill/>
          <a:ln/>
        </p:spPr>
        <p:txBody>
          <a:bodyPr wrap="square" lIns="0" tIns="0" rIns="0" bIns="0" rtlCol="0" anchor="t"/>
          <a:lstStyle/>
          <a:p>
            <a:pPr marL="177800" indent="-177800">
              <a:buSzPct val="100000"/>
              <a:buChar char="•"/>
            </a:pPr>
            <a:r>
              <a:rPr lang="en-US" sz="1200" dirty="0">
                <a:solidFill>
                  <a:schemeClr val="tx1"/>
                </a:solidFill>
              </a:rPr>
              <a:t>Every gate adds noise; long circuits drift to random</a:t>
            </a:r>
            <a:endParaRPr lang="en-US" sz="1200" dirty="0"/>
          </a:p>
          <a:p>
            <a:pPr marL="177800" indent="-177800">
              <a:buSzPct val="100000"/>
              <a:buChar char="•"/>
            </a:pPr>
            <a:r>
              <a:rPr lang="en-US" sz="1200" dirty="0">
                <a:solidFill>
                  <a:schemeClr val="tx1"/>
                </a:solidFill>
              </a:rPr>
              <a:t>Our problems use 3-18 qubits; real ones need 50-200</a:t>
            </a:r>
            <a:endParaRPr lang="en-US" sz="1200" dirty="0"/>
          </a:p>
          <a:p>
            <a:pPr marL="177800" indent="-177800">
              <a:buSzPct val="100000"/>
              <a:buChar char="•"/>
            </a:pPr>
            <a:r>
              <a:rPr lang="en-US" sz="1200" dirty="0">
                <a:solidFill>
                  <a:schemeClr val="tx1"/>
                </a:solidFill>
              </a:rPr>
              <a:t>No proven speedup: a laptop wins at this size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How Q-Router works, step by step</a:t>
            </a:r>
            <a:endParaRPr lang="en-US" sz="2800" dirty="0"/>
          </a:p>
        </p:txBody>
      </p:sp>
      <p:sp>
        <p:nvSpPr>
          <p:cNvPr id="3" name="Step card 1"/>
          <p:cNvSpPr/>
          <p:nvPr/>
        </p:nvSpPr>
        <p:spPr>
          <a:xfrm>
            <a:off x="457200" y="1097280"/>
            <a:ext cx="2615184" cy="1298448"/>
          </a:xfrm>
          <a:prstGeom prst="roundRect">
            <a:avLst>
              <a:gd name="adj" fmla="val 5634"/>
            </a:avLst>
          </a:prstGeom>
          <a:solidFill>
            <a:srgbClr val="F2F2F8"/>
          </a:solidFill>
          <a:ln w="12700">
            <a:solidFill>
              <a:srgbClr val="F2F2F8"/>
            </a:solidFill>
            <a:prstDash val="solid"/>
          </a:ln>
        </p:spPr>
      </p:sp>
      <p:sp>
        <p:nvSpPr>
          <p:cNvPr id="4" name="Step 1 circle"/>
          <p:cNvSpPr/>
          <p:nvPr/>
        </p:nvSpPr>
        <p:spPr>
          <a:xfrm>
            <a:off x="621792" y="1280160"/>
            <a:ext cx="475488" cy="475488"/>
          </a:xfrm>
          <a:prstGeom prst="ellipse">
            <a:avLst/>
          </a:prstGeom>
          <a:solidFill>
            <a:srgbClr val="5B4FD1"/>
          </a:solidFill>
          <a:ln w="12700">
            <a:solidFill>
              <a:srgbClr val="5B4FD1"/>
            </a:solidFill>
            <a:prstDash val="solid"/>
          </a:ln>
        </p:spPr>
      </p:sp>
      <p:pic>
        <p:nvPicPr>
          <p:cNvPr id="5" name="Step 1 icon" descr="preencoded.png">    </p:cNvPr>
          <p:cNvPicPr>
            <a:picLocks noChangeAspect="1"/>
          </p:cNvPicPr>
          <p:nvPr/>
        </p:nvPicPr>
        <p:blipFill>
          <a:blip r:embed="rId1"/>
          <a:stretch>
            <a:fillRect/>
          </a:stretch>
        </p:blipFill>
        <p:spPr>
          <a:xfrm>
            <a:off x="735909" y="1394277"/>
            <a:ext cx="247254" cy="247254"/>
          </a:xfrm>
          <a:prstGeom prst="rect">
            <a:avLst/>
          </a:prstGeom>
        </p:spPr>
      </p:pic>
      <p:sp>
        <p:nvSpPr>
          <p:cNvPr id="6" name="Text 3"/>
          <p:cNvSpPr txBox="1"/>
          <p:nvPr/>
        </p:nvSpPr>
        <p:spPr>
          <a:xfrm>
            <a:off x="1207008" y="1298448"/>
            <a:ext cx="1783080" cy="411480"/>
          </a:xfrm>
          <a:prstGeom prst="rect">
            <a:avLst/>
          </a:prstGeom>
          <a:noFill/>
          <a:ln/>
        </p:spPr>
        <p:txBody>
          <a:bodyPr wrap="square" lIns="0" tIns="0" rIns="0" bIns="0" rtlCol="0" anchor="ctr"/>
          <a:lstStyle/>
          <a:p>
            <a:pPr indent="0" marL="0">
              <a:buNone/>
            </a:pPr>
            <a:r>
              <a:rPr lang="en-US" sz="1500" b="1" dirty="0">
                <a:solidFill>
                  <a:schemeClr val="tx1"/>
                </a:solidFill>
              </a:rPr>
              <a:t>1. Translate</a:t>
            </a:r>
            <a:endParaRPr lang="en-US" sz="1500" dirty="0"/>
          </a:p>
        </p:txBody>
      </p:sp>
      <p:sp>
        <p:nvSpPr>
          <p:cNvPr id="7" name="Text 4"/>
          <p:cNvSpPr txBox="1"/>
          <p:nvPr/>
        </p:nvSpPr>
        <p:spPr>
          <a:xfrm>
            <a:off x="621792" y="1810512"/>
            <a:ext cx="2331720" cy="548640"/>
          </a:xfrm>
          <a:prstGeom prst="rect">
            <a:avLst/>
          </a:prstGeom>
          <a:noFill/>
          <a:ln/>
        </p:spPr>
        <p:txBody>
          <a:bodyPr wrap="square" lIns="0" tIns="0" rIns="0" bIns="0" rtlCol="0" anchor="t"/>
          <a:lstStyle/>
          <a:p>
            <a:pPr indent="0" marL="0">
              <a:buNone/>
            </a:pPr>
            <a:r>
              <a:rPr lang="en-US" sz="1400" dirty="0">
                <a:solidFill>
                  <a:schemeClr val="tx1"/>
                </a:solidFill>
              </a:rPr>
              <a:t>Write the decision as a QUBO score sheet</a:t>
            </a:r>
            <a:endParaRPr lang="en-US" sz="1400" dirty="0"/>
          </a:p>
        </p:txBody>
      </p:sp>
      <p:sp>
        <p:nvSpPr>
          <p:cNvPr id="8" name="Step card 2"/>
          <p:cNvSpPr/>
          <p:nvPr/>
        </p:nvSpPr>
        <p:spPr>
          <a:xfrm>
            <a:off x="3264408" y="1097280"/>
            <a:ext cx="2615184" cy="1298448"/>
          </a:xfrm>
          <a:prstGeom prst="roundRect">
            <a:avLst>
              <a:gd name="adj" fmla="val 5634"/>
            </a:avLst>
          </a:prstGeom>
          <a:solidFill>
            <a:srgbClr val="F2F2F8"/>
          </a:solidFill>
          <a:ln w="12700">
            <a:solidFill>
              <a:srgbClr val="F2F2F8"/>
            </a:solidFill>
            <a:prstDash val="solid"/>
          </a:ln>
        </p:spPr>
      </p:sp>
      <p:sp>
        <p:nvSpPr>
          <p:cNvPr id="9" name="Step 2 circle"/>
          <p:cNvSpPr/>
          <p:nvPr/>
        </p:nvSpPr>
        <p:spPr>
          <a:xfrm>
            <a:off x="3429000" y="1280160"/>
            <a:ext cx="475488" cy="475488"/>
          </a:xfrm>
          <a:prstGeom prst="ellipse">
            <a:avLst/>
          </a:prstGeom>
          <a:solidFill>
            <a:srgbClr val="5B4FD1"/>
          </a:solidFill>
          <a:ln w="12700">
            <a:solidFill>
              <a:srgbClr val="5B4FD1"/>
            </a:solidFill>
            <a:prstDash val="solid"/>
          </a:ln>
        </p:spPr>
      </p:sp>
      <p:pic>
        <p:nvPicPr>
          <p:cNvPr id="10" name="Step 2 icon" descr="preencoded.png">    </p:cNvPr>
          <p:cNvPicPr>
            <a:picLocks noChangeAspect="1"/>
          </p:cNvPicPr>
          <p:nvPr/>
        </p:nvPicPr>
        <p:blipFill>
          <a:blip r:embed="rId2"/>
          <a:stretch>
            <a:fillRect/>
          </a:stretch>
        </p:blipFill>
        <p:spPr>
          <a:xfrm>
            <a:off x="3543117" y="1394277"/>
            <a:ext cx="247254" cy="247254"/>
          </a:xfrm>
          <a:prstGeom prst="rect">
            <a:avLst/>
          </a:prstGeom>
        </p:spPr>
      </p:pic>
      <p:sp>
        <p:nvSpPr>
          <p:cNvPr id="11" name="Text 7"/>
          <p:cNvSpPr txBox="1"/>
          <p:nvPr/>
        </p:nvSpPr>
        <p:spPr>
          <a:xfrm>
            <a:off x="4014216" y="1298448"/>
            <a:ext cx="1783080" cy="411480"/>
          </a:xfrm>
          <a:prstGeom prst="rect">
            <a:avLst/>
          </a:prstGeom>
          <a:noFill/>
          <a:ln/>
        </p:spPr>
        <p:txBody>
          <a:bodyPr wrap="square" lIns="0" tIns="0" rIns="0" bIns="0" rtlCol="0" anchor="ctr"/>
          <a:lstStyle/>
          <a:p>
            <a:pPr indent="0" marL="0">
              <a:buNone/>
            </a:pPr>
            <a:r>
              <a:rPr lang="en-US" sz="1500" b="1" dirty="0">
                <a:solidFill>
                  <a:schemeClr val="tx1"/>
                </a:solidFill>
              </a:rPr>
              <a:t>2. Break down</a:t>
            </a:r>
            <a:endParaRPr lang="en-US" sz="1500" dirty="0"/>
          </a:p>
        </p:txBody>
      </p:sp>
      <p:sp>
        <p:nvSpPr>
          <p:cNvPr id="12" name="Text 8"/>
          <p:cNvSpPr txBox="1"/>
          <p:nvPr/>
        </p:nvSpPr>
        <p:spPr>
          <a:xfrm>
            <a:off x="3429000" y="1810512"/>
            <a:ext cx="2331720" cy="548640"/>
          </a:xfrm>
          <a:prstGeom prst="rect">
            <a:avLst/>
          </a:prstGeom>
          <a:noFill/>
          <a:ln/>
        </p:spPr>
        <p:txBody>
          <a:bodyPr wrap="square" lIns="0" tIns="0" rIns="0" bIns="0" rtlCol="0" anchor="t"/>
          <a:lstStyle/>
          <a:p>
            <a:pPr indent="0" marL="0">
              <a:buNone/>
            </a:pPr>
            <a:r>
              <a:rPr lang="en-US" sz="1400" dirty="0">
                <a:solidFill>
                  <a:schemeClr val="tx1"/>
                </a:solidFill>
              </a:rPr>
              <a:t>Split big problems into pieces of up to 8 decisions</a:t>
            </a:r>
            <a:endParaRPr lang="en-US" sz="1400" dirty="0"/>
          </a:p>
        </p:txBody>
      </p:sp>
      <p:sp>
        <p:nvSpPr>
          <p:cNvPr id="13" name="Step card 3"/>
          <p:cNvSpPr/>
          <p:nvPr/>
        </p:nvSpPr>
        <p:spPr>
          <a:xfrm>
            <a:off x="6071616" y="1097280"/>
            <a:ext cx="2615184" cy="1298448"/>
          </a:xfrm>
          <a:prstGeom prst="roundRect">
            <a:avLst>
              <a:gd name="adj" fmla="val 5634"/>
            </a:avLst>
          </a:prstGeom>
          <a:solidFill>
            <a:srgbClr val="F2F2F8"/>
          </a:solidFill>
          <a:ln w="12700">
            <a:solidFill>
              <a:srgbClr val="F2F2F8"/>
            </a:solidFill>
            <a:prstDash val="solid"/>
          </a:ln>
        </p:spPr>
      </p:sp>
      <p:sp>
        <p:nvSpPr>
          <p:cNvPr id="14" name="Step 3 circle"/>
          <p:cNvSpPr/>
          <p:nvPr/>
        </p:nvSpPr>
        <p:spPr>
          <a:xfrm>
            <a:off x="6236208" y="1280160"/>
            <a:ext cx="475488" cy="475488"/>
          </a:xfrm>
          <a:prstGeom prst="ellipse">
            <a:avLst/>
          </a:prstGeom>
          <a:solidFill>
            <a:srgbClr val="5B4FD1"/>
          </a:solidFill>
          <a:ln w="12700">
            <a:solidFill>
              <a:srgbClr val="5B4FD1"/>
            </a:solidFill>
            <a:prstDash val="solid"/>
          </a:ln>
        </p:spPr>
      </p:sp>
      <p:pic>
        <p:nvPicPr>
          <p:cNvPr id="15" name="Step 3 icon" descr="preencoded.png">    </p:cNvPr>
          <p:cNvPicPr>
            <a:picLocks noChangeAspect="1"/>
          </p:cNvPicPr>
          <p:nvPr/>
        </p:nvPicPr>
        <p:blipFill>
          <a:blip r:embed="rId3"/>
          <a:stretch>
            <a:fillRect/>
          </a:stretch>
        </p:blipFill>
        <p:spPr>
          <a:xfrm>
            <a:off x="6350325" y="1394277"/>
            <a:ext cx="247254" cy="247254"/>
          </a:xfrm>
          <a:prstGeom prst="rect">
            <a:avLst/>
          </a:prstGeom>
        </p:spPr>
      </p:pic>
      <p:sp>
        <p:nvSpPr>
          <p:cNvPr id="16" name="Text 11"/>
          <p:cNvSpPr txBox="1"/>
          <p:nvPr/>
        </p:nvSpPr>
        <p:spPr>
          <a:xfrm>
            <a:off x="6821424" y="1298448"/>
            <a:ext cx="1783080" cy="411480"/>
          </a:xfrm>
          <a:prstGeom prst="rect">
            <a:avLst/>
          </a:prstGeom>
          <a:noFill/>
          <a:ln/>
        </p:spPr>
        <p:txBody>
          <a:bodyPr wrap="square" lIns="0" tIns="0" rIns="0" bIns="0" rtlCol="0" anchor="ctr"/>
          <a:lstStyle/>
          <a:p>
            <a:pPr indent="0" marL="0">
              <a:buNone/>
            </a:pPr>
            <a:r>
              <a:rPr lang="en-US" sz="1500" b="1" dirty="0">
                <a:solidFill>
                  <a:schemeClr val="tx1"/>
                </a:solidFill>
              </a:rPr>
              <a:t>3. Fingerprint</a:t>
            </a:r>
            <a:endParaRPr lang="en-US" sz="1500" dirty="0"/>
          </a:p>
        </p:txBody>
      </p:sp>
      <p:sp>
        <p:nvSpPr>
          <p:cNvPr id="17" name="Text 12"/>
          <p:cNvSpPr txBox="1"/>
          <p:nvPr/>
        </p:nvSpPr>
        <p:spPr>
          <a:xfrm>
            <a:off x="6236208" y="1810512"/>
            <a:ext cx="2331720" cy="548640"/>
          </a:xfrm>
          <a:prstGeom prst="rect">
            <a:avLst/>
          </a:prstGeom>
          <a:noFill/>
          <a:ln/>
        </p:spPr>
        <p:txBody>
          <a:bodyPr wrap="square" lIns="0" tIns="0" rIns="0" bIns="0" rtlCol="0" anchor="t"/>
          <a:lstStyle/>
          <a:p>
            <a:pPr indent="0" marL="0">
              <a:buNone/>
            </a:pPr>
            <a:r>
              <a:rPr lang="en-US" sz="1400" dirty="0">
                <a:solidFill>
                  <a:schemeClr val="tx1"/>
                </a:solidFill>
              </a:rPr>
              <a:t>9 numbers: shape, size, and the chip's expected noise</a:t>
            </a:r>
            <a:endParaRPr lang="en-US" sz="1400" dirty="0"/>
          </a:p>
        </p:txBody>
      </p:sp>
      <p:sp>
        <p:nvSpPr>
          <p:cNvPr id="18" name="Step card 4"/>
          <p:cNvSpPr/>
          <p:nvPr/>
        </p:nvSpPr>
        <p:spPr>
          <a:xfrm>
            <a:off x="457200" y="2560320"/>
            <a:ext cx="2615184" cy="1298448"/>
          </a:xfrm>
          <a:prstGeom prst="roundRect">
            <a:avLst>
              <a:gd name="adj" fmla="val 5634"/>
            </a:avLst>
          </a:prstGeom>
          <a:solidFill>
            <a:srgbClr val="F2F2F8"/>
          </a:solidFill>
          <a:ln w="12700">
            <a:solidFill>
              <a:srgbClr val="F2F2F8"/>
            </a:solidFill>
            <a:prstDash val="solid"/>
          </a:ln>
        </p:spPr>
      </p:sp>
      <p:sp>
        <p:nvSpPr>
          <p:cNvPr id="19" name="Step 4 circle"/>
          <p:cNvSpPr/>
          <p:nvPr/>
        </p:nvSpPr>
        <p:spPr>
          <a:xfrm>
            <a:off x="621792" y="2743200"/>
            <a:ext cx="475488" cy="475488"/>
          </a:xfrm>
          <a:prstGeom prst="ellipse">
            <a:avLst/>
          </a:prstGeom>
          <a:solidFill>
            <a:srgbClr val="0E9384"/>
          </a:solidFill>
          <a:ln w="12700">
            <a:solidFill>
              <a:srgbClr val="0E9384"/>
            </a:solidFill>
            <a:prstDash val="solid"/>
          </a:ln>
        </p:spPr>
      </p:sp>
      <p:pic>
        <p:nvPicPr>
          <p:cNvPr id="20" name="Step 4 icon" descr="preencoded.png">    </p:cNvPr>
          <p:cNvPicPr>
            <a:picLocks noChangeAspect="1"/>
          </p:cNvPicPr>
          <p:nvPr/>
        </p:nvPicPr>
        <p:blipFill>
          <a:blip r:embed="rId4"/>
          <a:stretch>
            <a:fillRect/>
          </a:stretch>
        </p:blipFill>
        <p:spPr>
          <a:xfrm>
            <a:off x="735909" y="2857317"/>
            <a:ext cx="247254" cy="247254"/>
          </a:xfrm>
          <a:prstGeom prst="rect">
            <a:avLst/>
          </a:prstGeom>
        </p:spPr>
      </p:pic>
      <p:sp>
        <p:nvSpPr>
          <p:cNvPr id="21" name="Text 15"/>
          <p:cNvSpPr txBox="1"/>
          <p:nvPr/>
        </p:nvSpPr>
        <p:spPr>
          <a:xfrm>
            <a:off x="1207008" y="2761488"/>
            <a:ext cx="1783080" cy="411480"/>
          </a:xfrm>
          <a:prstGeom prst="rect">
            <a:avLst/>
          </a:prstGeom>
          <a:noFill/>
          <a:ln/>
        </p:spPr>
        <p:txBody>
          <a:bodyPr wrap="square" lIns="0" tIns="0" rIns="0" bIns="0" rtlCol="0" anchor="ctr"/>
          <a:lstStyle/>
          <a:p>
            <a:pPr indent="0" marL="0">
              <a:buNone/>
            </a:pPr>
            <a:r>
              <a:rPr lang="en-US" sz="1500" b="1" dirty="0">
                <a:solidFill>
                  <a:schemeClr val="tx1"/>
                </a:solidFill>
              </a:rPr>
              <a:t>4. Route</a:t>
            </a:r>
            <a:endParaRPr lang="en-US" sz="1500" dirty="0"/>
          </a:p>
        </p:txBody>
      </p:sp>
      <p:sp>
        <p:nvSpPr>
          <p:cNvPr id="22" name="Text 16"/>
          <p:cNvSpPr txBox="1"/>
          <p:nvPr/>
        </p:nvSpPr>
        <p:spPr>
          <a:xfrm>
            <a:off x="621792" y="3273552"/>
            <a:ext cx="2331720" cy="548640"/>
          </a:xfrm>
          <a:prstGeom prst="rect">
            <a:avLst/>
          </a:prstGeom>
          <a:noFill/>
          <a:ln/>
        </p:spPr>
        <p:txBody>
          <a:bodyPr wrap="square" lIns="0" tIns="0" rIns="0" bIns="0" rtlCol="0" anchor="t"/>
          <a:lstStyle/>
          <a:p>
            <a:pPr indent="0" marL="0">
              <a:buNone/>
            </a:pPr>
            <a:r>
              <a:rPr lang="en-US" sz="1400" dirty="0">
                <a:solidFill>
                  <a:schemeClr val="tx1"/>
                </a:solidFill>
              </a:rPr>
              <a:t>An AI picks gate, anneal or laptop for each piece</a:t>
            </a:r>
            <a:endParaRPr lang="en-US" sz="1400" dirty="0"/>
          </a:p>
        </p:txBody>
      </p:sp>
      <p:sp>
        <p:nvSpPr>
          <p:cNvPr id="23" name="Step card 5"/>
          <p:cNvSpPr/>
          <p:nvPr/>
        </p:nvSpPr>
        <p:spPr>
          <a:xfrm>
            <a:off x="3264408" y="2560320"/>
            <a:ext cx="2615184" cy="1298448"/>
          </a:xfrm>
          <a:prstGeom prst="roundRect">
            <a:avLst>
              <a:gd name="adj" fmla="val 5634"/>
            </a:avLst>
          </a:prstGeom>
          <a:solidFill>
            <a:srgbClr val="F2F2F8"/>
          </a:solidFill>
          <a:ln w="12700">
            <a:solidFill>
              <a:srgbClr val="F2F2F8"/>
            </a:solidFill>
            <a:prstDash val="solid"/>
          </a:ln>
        </p:spPr>
      </p:sp>
      <p:sp>
        <p:nvSpPr>
          <p:cNvPr id="24" name="Step 5 circle"/>
          <p:cNvSpPr/>
          <p:nvPr/>
        </p:nvSpPr>
        <p:spPr>
          <a:xfrm>
            <a:off x="3429000" y="2743200"/>
            <a:ext cx="475488" cy="475488"/>
          </a:xfrm>
          <a:prstGeom prst="ellipse">
            <a:avLst/>
          </a:prstGeom>
          <a:solidFill>
            <a:srgbClr val="0E9384"/>
          </a:solidFill>
          <a:ln w="12700">
            <a:solidFill>
              <a:srgbClr val="0E9384"/>
            </a:solidFill>
            <a:prstDash val="solid"/>
          </a:ln>
        </p:spPr>
      </p:sp>
      <p:pic>
        <p:nvPicPr>
          <p:cNvPr id="25" name="Step 5 icon" descr="preencoded.png">    </p:cNvPr>
          <p:cNvPicPr>
            <a:picLocks noChangeAspect="1"/>
          </p:cNvPicPr>
          <p:nvPr/>
        </p:nvPicPr>
        <p:blipFill>
          <a:blip r:embed="rId5"/>
          <a:stretch>
            <a:fillRect/>
          </a:stretch>
        </p:blipFill>
        <p:spPr>
          <a:xfrm>
            <a:off x="3543117" y="2857317"/>
            <a:ext cx="247254" cy="247254"/>
          </a:xfrm>
          <a:prstGeom prst="rect">
            <a:avLst/>
          </a:prstGeom>
        </p:spPr>
      </p:pic>
      <p:sp>
        <p:nvSpPr>
          <p:cNvPr id="26" name="Text 19"/>
          <p:cNvSpPr txBox="1"/>
          <p:nvPr/>
        </p:nvSpPr>
        <p:spPr>
          <a:xfrm>
            <a:off x="4014216" y="2761488"/>
            <a:ext cx="1783080" cy="411480"/>
          </a:xfrm>
          <a:prstGeom prst="rect">
            <a:avLst/>
          </a:prstGeom>
          <a:noFill/>
          <a:ln/>
        </p:spPr>
        <p:txBody>
          <a:bodyPr wrap="square" lIns="0" tIns="0" rIns="0" bIns="0" rtlCol="0" anchor="ctr"/>
          <a:lstStyle/>
          <a:p>
            <a:pPr indent="0" marL="0">
              <a:buNone/>
            </a:pPr>
            <a:r>
              <a:rPr lang="en-US" sz="1500" b="1" dirty="0">
                <a:solidFill>
                  <a:schemeClr val="tx1"/>
                </a:solidFill>
              </a:rPr>
              <a:t>5. Solve</a:t>
            </a:r>
            <a:endParaRPr lang="en-US" sz="1500" dirty="0"/>
          </a:p>
        </p:txBody>
      </p:sp>
      <p:sp>
        <p:nvSpPr>
          <p:cNvPr id="27" name="Text 20"/>
          <p:cNvSpPr txBox="1"/>
          <p:nvPr/>
        </p:nvSpPr>
        <p:spPr>
          <a:xfrm>
            <a:off x="3429000" y="3273552"/>
            <a:ext cx="2331720" cy="548640"/>
          </a:xfrm>
          <a:prstGeom prst="rect">
            <a:avLst/>
          </a:prstGeom>
          <a:noFill/>
          <a:ln/>
        </p:spPr>
        <p:txBody>
          <a:bodyPr wrap="square" lIns="0" tIns="0" rIns="0" bIns="0" rtlCol="0" anchor="t"/>
          <a:lstStyle/>
          <a:p>
            <a:pPr indent="0" marL="0">
              <a:buNone/>
            </a:pPr>
            <a:r>
              <a:rPr lang="en-US" sz="1400" dirty="0">
                <a:solidFill>
                  <a:schemeClr val="tx1"/>
                </a:solidFill>
              </a:rPr>
              <a:t>Borrow tuned settings from a twin in another industry</a:t>
            </a:r>
            <a:endParaRPr lang="en-US" sz="1400" dirty="0"/>
          </a:p>
        </p:txBody>
      </p:sp>
      <p:sp>
        <p:nvSpPr>
          <p:cNvPr id="28" name="Step card 6"/>
          <p:cNvSpPr/>
          <p:nvPr/>
        </p:nvSpPr>
        <p:spPr>
          <a:xfrm>
            <a:off x="6071616" y="2560320"/>
            <a:ext cx="2615184" cy="1298448"/>
          </a:xfrm>
          <a:prstGeom prst="roundRect">
            <a:avLst>
              <a:gd name="adj" fmla="val 5634"/>
            </a:avLst>
          </a:prstGeom>
          <a:solidFill>
            <a:srgbClr val="F2F2F8"/>
          </a:solidFill>
          <a:ln w="12700">
            <a:solidFill>
              <a:srgbClr val="F2F2F8"/>
            </a:solidFill>
            <a:prstDash val="solid"/>
          </a:ln>
        </p:spPr>
      </p:sp>
      <p:sp>
        <p:nvSpPr>
          <p:cNvPr id="29" name="Step 6 circle"/>
          <p:cNvSpPr/>
          <p:nvPr/>
        </p:nvSpPr>
        <p:spPr>
          <a:xfrm>
            <a:off x="6236208" y="2743200"/>
            <a:ext cx="475488" cy="475488"/>
          </a:xfrm>
          <a:prstGeom prst="ellipse">
            <a:avLst/>
          </a:prstGeom>
          <a:solidFill>
            <a:srgbClr val="0E9384"/>
          </a:solidFill>
          <a:ln w="12700">
            <a:solidFill>
              <a:srgbClr val="0E9384"/>
            </a:solidFill>
            <a:prstDash val="solid"/>
          </a:ln>
        </p:spPr>
      </p:sp>
      <p:pic>
        <p:nvPicPr>
          <p:cNvPr id="30" name="Step 6 icon" descr="preencoded.png">    </p:cNvPr>
          <p:cNvPicPr>
            <a:picLocks noChangeAspect="1"/>
          </p:cNvPicPr>
          <p:nvPr/>
        </p:nvPicPr>
        <p:blipFill>
          <a:blip r:embed="rId6"/>
          <a:stretch>
            <a:fillRect/>
          </a:stretch>
        </p:blipFill>
        <p:spPr>
          <a:xfrm>
            <a:off x="6350325" y="2857317"/>
            <a:ext cx="247254" cy="247254"/>
          </a:xfrm>
          <a:prstGeom prst="rect">
            <a:avLst/>
          </a:prstGeom>
        </p:spPr>
      </p:pic>
      <p:sp>
        <p:nvSpPr>
          <p:cNvPr id="31" name="Text 23"/>
          <p:cNvSpPr txBox="1"/>
          <p:nvPr/>
        </p:nvSpPr>
        <p:spPr>
          <a:xfrm>
            <a:off x="6821424" y="2761488"/>
            <a:ext cx="1783080" cy="411480"/>
          </a:xfrm>
          <a:prstGeom prst="rect">
            <a:avLst/>
          </a:prstGeom>
          <a:noFill/>
          <a:ln/>
        </p:spPr>
        <p:txBody>
          <a:bodyPr wrap="square" lIns="0" tIns="0" rIns="0" bIns="0" rtlCol="0" anchor="ctr"/>
          <a:lstStyle/>
          <a:p>
            <a:pPr indent="0" marL="0">
              <a:buNone/>
            </a:pPr>
            <a:r>
              <a:rPr lang="en-US" sz="1500" b="1" dirty="0">
                <a:solidFill>
                  <a:schemeClr val="tx1"/>
                </a:solidFill>
              </a:rPr>
              <a:t>6. Pack and check</a:t>
            </a:r>
            <a:endParaRPr lang="en-US" sz="1500" dirty="0"/>
          </a:p>
        </p:txBody>
      </p:sp>
      <p:sp>
        <p:nvSpPr>
          <p:cNvPr id="32" name="Text 24"/>
          <p:cNvSpPr txBox="1"/>
          <p:nvPr/>
        </p:nvSpPr>
        <p:spPr>
          <a:xfrm>
            <a:off x="6236208" y="3273552"/>
            <a:ext cx="2331720" cy="548640"/>
          </a:xfrm>
          <a:prstGeom prst="rect">
            <a:avLst/>
          </a:prstGeom>
          <a:noFill/>
          <a:ln/>
        </p:spPr>
        <p:txBody>
          <a:bodyPr wrap="square" lIns="0" tIns="0" rIns="0" bIns="0" rtlCol="0" anchor="t"/>
          <a:lstStyle/>
          <a:p>
            <a:pPr indent="0" marL="0">
              <a:buNone/>
            </a:pPr>
            <a:r>
              <a:rPr lang="en-US" sz="1400" dirty="0">
                <a:solidFill>
                  <a:schemeClr val="tx1"/>
                </a:solidFill>
              </a:rPr>
              <a:t>Several problems in one chip job; scored vs. the exact best</a:t>
            </a:r>
            <a:endParaRPr lang="en-US" sz="1400" dirty="0"/>
          </a:p>
        </p:txBody>
      </p:sp>
      <p:sp>
        <p:nvSpPr>
          <p:cNvPr id="33" name="Text 25"/>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200" i="1" dirty="0">
                <a:solidFill>
                  <a:schemeClr val="tx2"/>
                </a:solidFill>
              </a:rPr>
              <a:t>The AI is a random forest trained on 60 practice problems from all four fields. Score: 1 = exact best answer, 0 = no better than a random guess.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Under the hood: built with Qiskit</a:t>
            </a:r>
            <a:endParaRPr lang="en-US" sz="2800" dirty="0"/>
          </a:p>
        </p:txBody>
      </p:sp>
      <p:sp>
        <p:nvSpPr>
          <p:cNvPr id="3" name="Qiskit row 0"/>
          <p:cNvSpPr/>
          <p:nvPr/>
        </p:nvSpPr>
        <p:spPr>
          <a:xfrm>
            <a:off x="457200" y="1078992"/>
            <a:ext cx="4846320" cy="475488"/>
          </a:xfrm>
          <a:prstGeom prst="roundRect">
            <a:avLst>
              <a:gd name="adj" fmla="val 15385"/>
            </a:avLst>
          </a:prstGeom>
          <a:solidFill>
            <a:srgbClr val="F2F2F8"/>
          </a:solidFill>
          <a:ln w="12700">
            <a:solidFill>
              <a:srgbClr val="F2F2F8"/>
            </a:solidFill>
            <a:prstDash val="solid"/>
          </a:ln>
        </p:spPr>
      </p:sp>
      <p:sp>
        <p:nvSpPr>
          <p:cNvPr id="4" name="Text 2"/>
          <p:cNvSpPr txBox="1"/>
          <p:nvPr/>
        </p:nvSpPr>
        <p:spPr>
          <a:xfrm>
            <a:off x="594360" y="1078992"/>
            <a:ext cx="1325880" cy="475488"/>
          </a:xfrm>
          <a:prstGeom prst="rect">
            <a:avLst/>
          </a:prstGeom>
          <a:noFill/>
          <a:ln/>
        </p:spPr>
        <p:txBody>
          <a:bodyPr wrap="square" lIns="0" tIns="0" rIns="0" bIns="0" rtlCol="0" anchor="ctr"/>
          <a:lstStyle/>
          <a:p>
            <a:pPr indent="0" marL="0">
              <a:buNone/>
            </a:pPr>
            <a:r>
              <a:rPr lang="en-US" sz="1300" b="1" dirty="0">
                <a:solidFill>
                  <a:schemeClr val="accent1"/>
                </a:solidFill>
              </a:rPr>
              <a:t>Circuits</a:t>
            </a:r>
            <a:endParaRPr lang="en-US" sz="1300" dirty="0"/>
          </a:p>
        </p:txBody>
      </p:sp>
      <p:sp>
        <p:nvSpPr>
          <p:cNvPr id="5" name="Text 3"/>
          <p:cNvSpPr txBox="1"/>
          <p:nvPr/>
        </p:nvSpPr>
        <p:spPr>
          <a:xfrm>
            <a:off x="1920240" y="1078992"/>
            <a:ext cx="3291840" cy="475488"/>
          </a:xfrm>
          <a:prstGeom prst="rect">
            <a:avLst/>
          </a:prstGeom>
          <a:noFill/>
          <a:ln/>
        </p:spPr>
        <p:txBody>
          <a:bodyPr wrap="square" lIns="0" tIns="0" rIns="0" bIns="0" rtlCol="0" anchor="ctr"/>
          <a:lstStyle/>
          <a:p>
            <a:pPr indent="0" marL="0">
              <a:buNone/>
            </a:pPr>
            <a:r>
              <a:rPr lang="en-US" sz="1200" dirty="0">
                <a:solidFill>
                  <a:schemeClr val="tx1"/>
                </a:solidFill>
              </a:rPr>
              <a:t>QUBO → Ising SparsePauliOp → QAOAAnsatz; parameterized and bound</a:t>
            </a:r>
            <a:endParaRPr lang="en-US" sz="1200" dirty="0"/>
          </a:p>
        </p:txBody>
      </p:sp>
      <p:sp>
        <p:nvSpPr>
          <p:cNvPr id="6" name="Qiskit row 1"/>
          <p:cNvSpPr/>
          <p:nvPr/>
        </p:nvSpPr>
        <p:spPr>
          <a:xfrm>
            <a:off x="457200" y="1627632"/>
            <a:ext cx="4846320" cy="475488"/>
          </a:xfrm>
          <a:prstGeom prst="roundRect">
            <a:avLst>
              <a:gd name="adj" fmla="val 15385"/>
            </a:avLst>
          </a:prstGeom>
          <a:solidFill>
            <a:srgbClr val="FFFFFF"/>
          </a:solidFill>
          <a:ln w="12700">
            <a:solidFill>
              <a:srgbClr val="FFFFFF"/>
            </a:solidFill>
            <a:prstDash val="solid"/>
          </a:ln>
        </p:spPr>
      </p:sp>
      <p:sp>
        <p:nvSpPr>
          <p:cNvPr id="7" name="Text 5"/>
          <p:cNvSpPr txBox="1"/>
          <p:nvPr/>
        </p:nvSpPr>
        <p:spPr>
          <a:xfrm>
            <a:off x="594360" y="1627632"/>
            <a:ext cx="1325880" cy="475488"/>
          </a:xfrm>
          <a:prstGeom prst="rect">
            <a:avLst/>
          </a:prstGeom>
          <a:noFill/>
          <a:ln/>
        </p:spPr>
        <p:txBody>
          <a:bodyPr wrap="square" lIns="0" tIns="0" rIns="0" bIns="0" rtlCol="0" anchor="ctr"/>
          <a:lstStyle/>
          <a:p>
            <a:pPr indent="0" marL="0">
              <a:buNone/>
            </a:pPr>
            <a:r>
              <a:rPr lang="en-US" sz="1300" b="1" dirty="0">
                <a:solidFill>
                  <a:schemeClr val="accent1"/>
                </a:solidFill>
              </a:rPr>
              <a:t>Transpiler</a:t>
            </a:r>
            <a:endParaRPr lang="en-US" sz="1300" dirty="0"/>
          </a:p>
        </p:txBody>
      </p:sp>
      <p:sp>
        <p:nvSpPr>
          <p:cNvPr id="8" name="Text 6"/>
          <p:cNvSpPr txBox="1"/>
          <p:nvPr/>
        </p:nvSpPr>
        <p:spPr>
          <a:xfrm>
            <a:off x="1920240" y="1627632"/>
            <a:ext cx="3291840" cy="475488"/>
          </a:xfrm>
          <a:prstGeom prst="rect">
            <a:avLst/>
          </a:prstGeom>
          <a:noFill/>
          <a:ln/>
        </p:spPr>
        <p:txBody>
          <a:bodyPr wrap="square" lIns="0" tIns="0" rIns="0" bIns="0" rtlCol="0" anchor="ctr"/>
          <a:lstStyle/>
          <a:p>
            <a:pPr indent="0" marL="0">
              <a:buNone/>
            </a:pPr>
            <a:r>
              <a:rPr lang="en-US" sz="1200" dirty="0">
                <a:solidFill>
                  <a:schemeClr val="tx1"/>
                </a:solidFill>
              </a:rPr>
              <a:t>Preset pass manager compiles to IBM Torino's real layout and calibration</a:t>
            </a:r>
            <a:endParaRPr lang="en-US" sz="1200" dirty="0"/>
          </a:p>
        </p:txBody>
      </p:sp>
      <p:sp>
        <p:nvSpPr>
          <p:cNvPr id="9" name="Qiskit row 2"/>
          <p:cNvSpPr/>
          <p:nvPr/>
        </p:nvSpPr>
        <p:spPr>
          <a:xfrm>
            <a:off x="457200" y="2176272"/>
            <a:ext cx="4846320" cy="475488"/>
          </a:xfrm>
          <a:prstGeom prst="roundRect">
            <a:avLst>
              <a:gd name="adj" fmla="val 15385"/>
            </a:avLst>
          </a:prstGeom>
          <a:solidFill>
            <a:srgbClr val="F2F2F8"/>
          </a:solidFill>
          <a:ln w="12700">
            <a:solidFill>
              <a:srgbClr val="F2F2F8"/>
            </a:solidFill>
            <a:prstDash val="solid"/>
          </a:ln>
        </p:spPr>
      </p:sp>
      <p:sp>
        <p:nvSpPr>
          <p:cNvPr id="10" name="Text 8"/>
          <p:cNvSpPr txBox="1"/>
          <p:nvPr/>
        </p:nvSpPr>
        <p:spPr>
          <a:xfrm>
            <a:off x="594360" y="2176272"/>
            <a:ext cx="1325880" cy="475488"/>
          </a:xfrm>
          <a:prstGeom prst="rect">
            <a:avLst/>
          </a:prstGeom>
          <a:noFill/>
          <a:ln/>
        </p:spPr>
        <p:txBody>
          <a:bodyPr wrap="square" lIns="0" tIns="0" rIns="0" bIns="0" rtlCol="0" anchor="ctr"/>
          <a:lstStyle/>
          <a:p>
            <a:pPr indent="0" marL="0">
              <a:buNone/>
            </a:pPr>
            <a:r>
              <a:rPr lang="en-US" sz="1300" b="1" dirty="0">
                <a:solidFill>
                  <a:schemeClr val="accent1"/>
                </a:solidFill>
              </a:rPr>
              <a:t>Primitives</a:t>
            </a:r>
            <a:endParaRPr lang="en-US" sz="1300" dirty="0"/>
          </a:p>
        </p:txBody>
      </p:sp>
      <p:sp>
        <p:nvSpPr>
          <p:cNvPr id="11" name="Text 9"/>
          <p:cNvSpPr txBox="1"/>
          <p:nvPr/>
        </p:nvSpPr>
        <p:spPr>
          <a:xfrm>
            <a:off x="1920240" y="2176272"/>
            <a:ext cx="3291840" cy="475488"/>
          </a:xfrm>
          <a:prstGeom prst="rect">
            <a:avLst/>
          </a:prstGeom>
          <a:noFill/>
          <a:ln/>
        </p:spPr>
        <p:txBody>
          <a:bodyPr wrap="square" lIns="0" tIns="0" rIns="0" bIns="0" rtlCol="0" anchor="ctr"/>
          <a:lstStyle/>
          <a:p>
            <a:pPr indent="0" marL="0">
              <a:buNone/>
            </a:pPr>
            <a:r>
              <a:rPr lang="en-US" sz="1200" dirty="0">
                <a:solidFill>
                  <a:schemeClr val="tx1"/>
                </a:solidFill>
              </a:rPr>
              <a:t>SamplerV2 on Aer, a noisy Torino model, and the real QPU</a:t>
            </a:r>
            <a:endParaRPr lang="en-US" sz="1200" dirty="0"/>
          </a:p>
        </p:txBody>
      </p:sp>
      <p:sp>
        <p:nvSpPr>
          <p:cNvPr id="12" name="Qiskit row 3"/>
          <p:cNvSpPr/>
          <p:nvPr/>
        </p:nvSpPr>
        <p:spPr>
          <a:xfrm>
            <a:off x="457200" y="2724912"/>
            <a:ext cx="4846320" cy="475488"/>
          </a:xfrm>
          <a:prstGeom prst="roundRect">
            <a:avLst>
              <a:gd name="adj" fmla="val 15385"/>
            </a:avLst>
          </a:prstGeom>
          <a:solidFill>
            <a:srgbClr val="FFFFFF"/>
          </a:solidFill>
          <a:ln w="12700">
            <a:solidFill>
              <a:srgbClr val="FFFFFF"/>
            </a:solidFill>
            <a:prstDash val="solid"/>
          </a:ln>
        </p:spPr>
      </p:sp>
      <p:sp>
        <p:nvSpPr>
          <p:cNvPr id="13" name="Text 11"/>
          <p:cNvSpPr txBox="1"/>
          <p:nvPr/>
        </p:nvSpPr>
        <p:spPr>
          <a:xfrm>
            <a:off x="594360" y="2724912"/>
            <a:ext cx="1325880" cy="475488"/>
          </a:xfrm>
          <a:prstGeom prst="rect">
            <a:avLst/>
          </a:prstGeom>
          <a:noFill/>
          <a:ln/>
        </p:spPr>
        <p:txBody>
          <a:bodyPr wrap="square" lIns="0" tIns="0" rIns="0" bIns="0" rtlCol="0" anchor="ctr"/>
          <a:lstStyle/>
          <a:p>
            <a:pPr indent="0" marL="0">
              <a:buNone/>
            </a:pPr>
            <a:r>
              <a:rPr lang="en-US" sz="1300" b="1" dirty="0">
                <a:solidFill>
                  <a:schemeClr val="accent1"/>
                </a:solidFill>
              </a:rPr>
              <a:t>Optimizer</a:t>
            </a:r>
            <a:endParaRPr lang="en-US" sz="1300" dirty="0"/>
          </a:p>
        </p:txBody>
      </p:sp>
      <p:sp>
        <p:nvSpPr>
          <p:cNvPr id="14" name="Text 12"/>
          <p:cNvSpPr txBox="1"/>
          <p:nvPr/>
        </p:nvSpPr>
        <p:spPr>
          <a:xfrm>
            <a:off x="1920240" y="2724912"/>
            <a:ext cx="3291840" cy="475488"/>
          </a:xfrm>
          <a:prstGeom prst="rect">
            <a:avLst/>
          </a:prstGeom>
          <a:noFill/>
          <a:ln/>
        </p:spPr>
        <p:txBody>
          <a:bodyPr wrap="square" lIns="0" tIns="0" rIns="0" bIns="0" rtlCol="0" anchor="ctr"/>
          <a:lstStyle/>
          <a:p>
            <a:pPr indent="0" marL="0">
              <a:buNone/>
            </a:pPr>
            <a:r>
              <a:rPr lang="en-US" sz="1200" dirty="0">
                <a:solidFill>
                  <a:schemeClr val="tx1"/>
                </a:solidFill>
              </a:rPr>
              <a:t>COBYLA tunes gate-QAOA dials; the anneal uses a fixed linear ramp</a:t>
            </a:r>
            <a:endParaRPr lang="en-US" sz="1200" dirty="0"/>
          </a:p>
        </p:txBody>
      </p:sp>
      <p:sp>
        <p:nvSpPr>
          <p:cNvPr id="15" name="Qiskit row 4"/>
          <p:cNvSpPr/>
          <p:nvPr/>
        </p:nvSpPr>
        <p:spPr>
          <a:xfrm>
            <a:off x="457200" y="3273552"/>
            <a:ext cx="4846320" cy="475488"/>
          </a:xfrm>
          <a:prstGeom prst="roundRect">
            <a:avLst>
              <a:gd name="adj" fmla="val 15385"/>
            </a:avLst>
          </a:prstGeom>
          <a:solidFill>
            <a:srgbClr val="F2F2F8"/>
          </a:solidFill>
          <a:ln w="12700">
            <a:solidFill>
              <a:srgbClr val="F2F2F8"/>
            </a:solidFill>
            <a:prstDash val="solid"/>
          </a:ln>
        </p:spPr>
      </p:sp>
      <p:sp>
        <p:nvSpPr>
          <p:cNvPr id="16" name="Text 14"/>
          <p:cNvSpPr txBox="1"/>
          <p:nvPr/>
        </p:nvSpPr>
        <p:spPr>
          <a:xfrm>
            <a:off x="594360" y="3273552"/>
            <a:ext cx="1325880" cy="475488"/>
          </a:xfrm>
          <a:prstGeom prst="rect">
            <a:avLst/>
          </a:prstGeom>
          <a:noFill/>
          <a:ln/>
        </p:spPr>
        <p:txBody>
          <a:bodyPr wrap="square" lIns="0" tIns="0" rIns="0" bIns="0" rtlCol="0" anchor="ctr"/>
          <a:lstStyle/>
          <a:p>
            <a:pPr indent="0" marL="0">
              <a:buNone/>
            </a:pPr>
            <a:r>
              <a:rPr lang="en-US" sz="1300" b="1" dirty="0">
                <a:solidFill>
                  <a:schemeClr val="accent1"/>
                </a:solidFill>
              </a:rPr>
              <a:t>Error mitigation</a:t>
            </a:r>
            <a:endParaRPr lang="en-US" sz="1300" dirty="0"/>
          </a:p>
        </p:txBody>
      </p:sp>
      <p:sp>
        <p:nvSpPr>
          <p:cNvPr id="17" name="Text 15"/>
          <p:cNvSpPr txBox="1"/>
          <p:nvPr/>
        </p:nvSpPr>
        <p:spPr>
          <a:xfrm>
            <a:off x="1920240" y="3273552"/>
            <a:ext cx="3291840" cy="475488"/>
          </a:xfrm>
          <a:prstGeom prst="rect">
            <a:avLst/>
          </a:prstGeom>
          <a:noFill/>
          <a:ln/>
        </p:spPr>
        <p:txBody>
          <a:bodyPr wrap="square" lIns="0" tIns="0" rIns="0" bIns="0" rtlCol="0" anchor="ctr"/>
          <a:lstStyle/>
          <a:p>
            <a:pPr indent="0" marL="0">
              <a:buNone/>
            </a:pPr>
            <a:r>
              <a:rPr lang="en-US" sz="1200" dirty="0">
                <a:solidFill>
                  <a:schemeClr val="tx1"/>
                </a:solidFill>
              </a:rPr>
              <a:t>Dynamical decoupling, Pauli twirling, zero-noise extrapolation</a:t>
            </a:r>
            <a:endParaRPr lang="en-US" sz="1200" dirty="0"/>
          </a:p>
        </p:txBody>
      </p:sp>
      <p:sp>
        <p:nvSpPr>
          <p:cNvPr id="18" name="Qiskit row 5"/>
          <p:cNvSpPr/>
          <p:nvPr/>
        </p:nvSpPr>
        <p:spPr>
          <a:xfrm>
            <a:off x="457200" y="3822192"/>
            <a:ext cx="4846320" cy="475488"/>
          </a:xfrm>
          <a:prstGeom prst="roundRect">
            <a:avLst>
              <a:gd name="adj" fmla="val 15385"/>
            </a:avLst>
          </a:prstGeom>
          <a:solidFill>
            <a:srgbClr val="FFFFFF"/>
          </a:solidFill>
          <a:ln w="12700">
            <a:solidFill>
              <a:srgbClr val="FFFFFF"/>
            </a:solidFill>
            <a:prstDash val="solid"/>
          </a:ln>
        </p:spPr>
      </p:sp>
      <p:sp>
        <p:nvSpPr>
          <p:cNvPr id="19" name="Text 17"/>
          <p:cNvSpPr txBox="1"/>
          <p:nvPr/>
        </p:nvSpPr>
        <p:spPr>
          <a:xfrm>
            <a:off x="594360" y="3822192"/>
            <a:ext cx="1325880" cy="475488"/>
          </a:xfrm>
          <a:prstGeom prst="rect">
            <a:avLst/>
          </a:prstGeom>
          <a:noFill/>
          <a:ln/>
        </p:spPr>
        <p:txBody>
          <a:bodyPr wrap="square" lIns="0" tIns="0" rIns="0" bIns="0" rtlCol="0" anchor="ctr"/>
          <a:lstStyle/>
          <a:p>
            <a:pPr indent="0" marL="0">
              <a:buNone/>
            </a:pPr>
            <a:r>
              <a:rPr lang="en-US" sz="1300" b="1" dirty="0">
                <a:solidFill>
                  <a:schemeClr val="accent1"/>
                </a:solidFill>
              </a:rPr>
              <a:t>QPU budget</a:t>
            </a:r>
            <a:endParaRPr lang="en-US" sz="1300" dirty="0"/>
          </a:p>
        </p:txBody>
      </p:sp>
      <p:sp>
        <p:nvSpPr>
          <p:cNvPr id="20" name="Text 18"/>
          <p:cNvSpPr txBox="1"/>
          <p:nvPr/>
        </p:nvSpPr>
        <p:spPr>
          <a:xfrm>
            <a:off x="1920240" y="3822192"/>
            <a:ext cx="3291840" cy="475488"/>
          </a:xfrm>
          <a:prstGeom prst="rect">
            <a:avLst/>
          </a:prstGeom>
          <a:noFill/>
          <a:ln/>
        </p:spPr>
        <p:txBody>
          <a:bodyPr wrap="square" lIns="0" tIns="0" rIns="0" bIns="0" rtlCol="0" anchor="ctr"/>
          <a:lstStyle/>
          <a:p>
            <a:pPr indent="0" marL="0">
              <a:buNone/>
            </a:pPr>
            <a:r>
              <a:rPr lang="en-US" sz="1200" dirty="0">
                <a:solidFill>
                  <a:schemeClr val="tx1"/>
                </a:solidFill>
              </a:rPr>
              <a:t>Many circuits batched into one job: about 3 of our 10 minutes</a:t>
            </a:r>
            <a:endParaRPr lang="en-US" sz="1200" dirty="0"/>
          </a:p>
        </p:txBody>
      </p:sp>
      <p:sp>
        <p:nvSpPr>
          <p:cNvPr id="21" name="Hardest bug card"/>
          <p:cNvSpPr/>
          <p:nvPr/>
        </p:nvSpPr>
        <p:spPr>
          <a:xfrm>
            <a:off x="5577840" y="1078992"/>
            <a:ext cx="3108960" cy="2011680"/>
          </a:xfrm>
          <a:prstGeom prst="roundRect">
            <a:avLst>
              <a:gd name="adj" fmla="val 3636"/>
            </a:avLst>
          </a:prstGeom>
          <a:solidFill>
            <a:srgbClr val="2B2A6B"/>
          </a:solidFill>
          <a:ln w="12700">
            <a:solidFill>
              <a:srgbClr val="2B2A6B"/>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5760720" y="1188720"/>
            <a:ext cx="2743200" cy="274320"/>
          </a:xfrm>
          <a:prstGeom prst="rect">
            <a:avLst/>
          </a:prstGeom>
          <a:noFill/>
          <a:ln/>
        </p:spPr>
        <p:txBody>
          <a:bodyPr wrap="square" lIns="0" tIns="0" rIns="0" bIns="0" rtlCol="0" anchor="t"/>
          <a:lstStyle/>
          <a:p>
            <a:pPr indent="0" marL="0">
              <a:buNone/>
            </a:pPr>
            <a:r>
              <a:rPr lang="en-US" sz="1400" b="1" dirty="0">
                <a:solidFill>
                  <a:schemeClr val="bg1"/>
                </a:solidFill>
              </a:rPr>
              <a:t>Hardest bug we fixed</a:t>
            </a:r>
            <a:endParaRPr lang="en-US" sz="1400" dirty="0"/>
          </a:p>
        </p:txBody>
      </p:sp>
      <p:sp>
        <p:nvSpPr>
          <p:cNvPr id="23" name="Text 21"/>
          <p:cNvSpPr txBox="1"/>
          <p:nvPr/>
        </p:nvSpPr>
        <p:spPr>
          <a:xfrm>
            <a:off x="5760720" y="1508760"/>
            <a:ext cx="2788920" cy="1463040"/>
          </a:xfrm>
          <a:prstGeom prst="rect">
            <a:avLst/>
          </a:prstGeom>
          <a:noFill/>
          <a:ln/>
        </p:spPr>
        <p:txBody>
          <a:bodyPr wrap="square" lIns="0" tIns="0" rIns="0" bIns="0" rtlCol="0" anchor="t"/>
          <a:lstStyle/>
          <a:p>
            <a:pPr indent="0" marL="0">
              <a:spcAft>
                <a:spcPts val="400"/>
              </a:spcAft>
              <a:buNone/>
            </a:pPr>
            <a:r>
              <a:rPr lang="en-US" sz="1200" dirty="0">
                <a:solidFill>
                  <a:schemeClr val="bg1"/>
                </a:solidFill>
              </a:rPr>
              <a:t>A sign error made every circuit search for the worst answer.</a:t>
            </a:r>
            <a:endParaRPr lang="en-US" sz="1200" dirty="0"/>
          </a:p>
          <a:p>
            <a:pPr indent="0" marL="0">
              <a:spcAft>
                <a:spcPts val="400"/>
              </a:spcAft>
              <a:buNone/>
            </a:pPr>
            <a:r>
              <a:rPr lang="en-US" sz="1200" b="1" dirty="0">
                <a:solidFill>
                  <a:schemeClr val="bg1"/>
                </a:solidFill>
              </a:rPr>
              <a:t>Score before the fix: −1.37</a:t>
            </a:r>
            <a:endParaRPr lang="en-US" sz="1200" dirty="0"/>
          </a:p>
          <a:p>
            <a:pPr indent="0" marL="0">
              <a:spcAft>
                <a:spcPts val="400"/>
              </a:spcAft>
              <a:buNone/>
            </a:pPr>
            <a:r>
              <a:rPr lang="en-US" sz="1200" b="1" dirty="0">
                <a:solidFill>
                  <a:schemeClr val="bg1"/>
                </a:solidFill>
              </a:rPr>
              <a:t>After the fix: 0.79</a:t>
            </a:r>
            <a:endParaRPr lang="en-US" sz="1200" dirty="0"/>
          </a:p>
          <a:p>
            <a:pPr indent="0" marL="0">
              <a:spcAft>
                <a:spcPts val="400"/>
              </a:spcAft>
              <a:buNone/>
            </a:pPr>
            <a:r>
              <a:rPr lang="en-US" sz="1200" i="1" dirty="0">
                <a:solidFill>
                  <a:schemeClr val="bg1"/>
                </a:solidFill>
              </a:rPr>
              <a:t>Lesson: always score against a known best answer.</a:t>
            </a:r>
            <a:endParaRPr lang="en-US" sz="1200" dirty="0"/>
          </a:p>
        </p:txBody>
      </p:sp>
      <p:sp>
        <p:nvSpPr>
          <p:cNvPr id="24" name="Reproducible card"/>
          <p:cNvSpPr/>
          <p:nvPr/>
        </p:nvSpPr>
        <p:spPr>
          <a:xfrm>
            <a:off x="5577840" y="3218688"/>
            <a:ext cx="3108960" cy="1152144"/>
          </a:xfrm>
          <a:prstGeom prst="roundRect">
            <a:avLst>
              <a:gd name="adj" fmla="val 6349"/>
            </a:avLst>
          </a:prstGeom>
          <a:solidFill>
            <a:srgbClr val="EEF8F6"/>
          </a:solidFill>
          <a:ln w="12700">
            <a:solidFill>
              <a:srgbClr val="EEF8F6"/>
            </a:solidFill>
            <a:prstDash val="solid"/>
          </a:ln>
        </p:spPr>
      </p:sp>
      <p:sp>
        <p:nvSpPr>
          <p:cNvPr id="25" name="Text 23"/>
          <p:cNvSpPr txBox="1"/>
          <p:nvPr/>
        </p:nvSpPr>
        <p:spPr>
          <a:xfrm>
            <a:off x="5760720" y="3291840"/>
            <a:ext cx="2743200" cy="274320"/>
          </a:xfrm>
          <a:prstGeom prst="rect">
            <a:avLst/>
          </a:prstGeom>
          <a:noFill/>
          <a:ln/>
        </p:spPr>
        <p:txBody>
          <a:bodyPr wrap="square" lIns="0" tIns="0" rIns="0" bIns="0" rtlCol="0" anchor="t"/>
          <a:lstStyle/>
          <a:p>
            <a:pPr indent="0" marL="0">
              <a:buNone/>
            </a:pPr>
            <a:r>
              <a:rPr lang="en-US" sz="1400" b="1" dirty="0">
                <a:solidFill>
                  <a:schemeClr val="tx1"/>
                </a:solidFill>
              </a:rPr>
              <a:t>Reproducible</a:t>
            </a:r>
            <a:endParaRPr lang="en-US" sz="1400" dirty="0"/>
          </a:p>
        </p:txBody>
      </p:sp>
      <p:sp>
        <p:nvSpPr>
          <p:cNvPr id="26" name="Text 24"/>
          <p:cNvSpPr txBox="1"/>
          <p:nvPr/>
        </p:nvSpPr>
        <p:spPr>
          <a:xfrm>
            <a:off x="5760720" y="3584448"/>
            <a:ext cx="2788920" cy="749808"/>
          </a:xfrm>
          <a:prstGeom prst="rect">
            <a:avLst/>
          </a:prstGeom>
          <a:noFill/>
          <a:ln/>
        </p:spPr>
        <p:txBody>
          <a:bodyPr wrap="square" lIns="0" tIns="0" rIns="0" bIns="0" rtlCol="0" anchor="t"/>
          <a:lstStyle/>
          <a:p>
            <a:pPr indent="0" marL="0">
              <a:buNone/>
            </a:pPr>
            <a:r>
              <a:rPr lang="en-US" sz="1200" dirty="0">
                <a:solidFill>
                  <a:schemeClr val="tx1"/>
                </a:solidFill>
              </a:rPr>
              <a:t>One notebook, Runtime → Run all. Every hardware cell was dry-run on a fake IBM Torino first.</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Dense pieces → gate-based; sparse → annealing</a:t>
            </a:r>
            <a:endParaRPr lang="en-US" sz="2800" dirty="0"/>
          </a:p>
        </p:txBody>
      </p:sp>
      <p:graphicFrame>
        <p:nvGraphicFramePr>
          <p:cNvPr id="3" name="Chart 0" descr=""/>
          <p:cNvGraphicFramePr/>
          <p:nvPr/>
        </p:nvGraphicFramePr>
        <p:xfrm>
          <a:off x="457200" y="1051560"/>
          <a:ext cx="4937760" cy="3063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160520"/>
            <a:ext cx="4937760" cy="274320"/>
          </a:xfrm>
          <a:prstGeom prst="rect">
            <a:avLst/>
          </a:prstGeom>
          <a:noFill/>
          <a:ln/>
        </p:spPr>
        <p:txBody>
          <a:bodyPr wrap="square" lIns="0" tIns="0" rIns="0" bIns="0" rtlCol="0" anchor="t"/>
          <a:lstStyle/>
          <a:p>
            <a:pPr indent="0" marL="0">
              <a:buNone/>
            </a:pPr>
            <a:r>
              <a:rPr lang="en-US" sz="1000" dirty="0">
                <a:solidFill>
                  <a:schemeClr val="accent3"/>
                </a:solidFill>
              </a:rPr>
              <a:t>Drug funding: 8 qubits, dense · Trial sites A: 7 qubits, sparse · Trial sites B: 3 qubits</a:t>
            </a:r>
            <a:endParaRPr lang="en-US" sz="1000" dirty="0"/>
          </a:p>
        </p:txBody>
      </p:sp>
      <p:sp>
        <p:nvSpPr>
          <p:cNvPr id="5" name="Strategy card"/>
          <p:cNvSpPr/>
          <p:nvPr/>
        </p:nvSpPr>
        <p:spPr>
          <a:xfrm>
            <a:off x="5623560" y="1051560"/>
            <a:ext cx="3063240" cy="1783080"/>
          </a:xfrm>
          <a:prstGeom prst="roundRect">
            <a:avLst>
              <a:gd name="adj" fmla="val 4103"/>
            </a:avLst>
          </a:prstGeom>
          <a:solidFill>
            <a:srgbClr val="F2F2F8"/>
          </a:solidFill>
          <a:ln w="12700">
            <a:solidFill>
              <a:srgbClr val="F2F2F8"/>
            </a:solidFill>
            <a:prstDash val="solid"/>
          </a:ln>
        </p:spPr>
      </p:sp>
      <p:sp>
        <p:nvSpPr>
          <p:cNvPr id="6" name="Text 3"/>
          <p:cNvSpPr txBox="1"/>
          <p:nvPr/>
        </p:nvSpPr>
        <p:spPr>
          <a:xfrm>
            <a:off x="5806440" y="1143000"/>
            <a:ext cx="2743200" cy="274320"/>
          </a:xfrm>
          <a:prstGeom prst="rect">
            <a:avLst/>
          </a:prstGeom>
          <a:noFill/>
          <a:ln/>
        </p:spPr>
        <p:txBody>
          <a:bodyPr wrap="square" lIns="0" tIns="0" rIns="0" bIns="0" rtlCol="0" anchor="t"/>
          <a:lstStyle/>
          <a:p>
            <a:pPr indent="0" marL="0">
              <a:buNone/>
            </a:pPr>
            <a:r>
              <a:rPr lang="en-US" sz="1300" b="1" dirty="0">
                <a:solidFill>
                  <a:schemeClr val="tx1"/>
                </a:solidFill>
              </a:rPr>
              <a:t>Average score by strategy</a:t>
            </a:r>
            <a:endParaRPr lang="en-US" sz="1300" dirty="0"/>
          </a:p>
        </p:txBody>
      </p:sp>
      <p:sp>
        <p:nvSpPr>
          <p:cNvPr id="7" name="Text 4"/>
          <p:cNvSpPr txBox="1"/>
          <p:nvPr/>
        </p:nvSpPr>
        <p:spPr>
          <a:xfrm>
            <a:off x="5806440" y="1481328"/>
            <a:ext cx="1508760" cy="329184"/>
          </a:xfrm>
          <a:prstGeom prst="rect">
            <a:avLst/>
          </a:prstGeom>
          <a:noFill/>
          <a:ln/>
        </p:spPr>
        <p:txBody>
          <a:bodyPr wrap="square" lIns="0" tIns="0" rIns="0" bIns="0" rtlCol="0" anchor="ctr"/>
          <a:lstStyle/>
          <a:p>
            <a:pPr indent="0" marL="0">
              <a:buNone/>
            </a:pPr>
            <a:r>
              <a:rPr lang="en-US" sz="1300" dirty="0">
                <a:solidFill>
                  <a:schemeClr val="tx1"/>
                </a:solidFill>
              </a:rPr>
              <a:t>All gate-based</a:t>
            </a:r>
            <a:endParaRPr lang="en-US" sz="1300" dirty="0"/>
          </a:p>
        </p:txBody>
      </p:sp>
      <p:sp>
        <p:nvSpPr>
          <p:cNvPr id="8" name="Strategy bar 0"/>
          <p:cNvSpPr/>
          <p:nvPr/>
        </p:nvSpPr>
        <p:spPr>
          <a:xfrm>
            <a:off x="7315200" y="1545336"/>
            <a:ext cx="864108" cy="201168"/>
          </a:xfrm>
          <a:prstGeom prst="rect">
            <a:avLst/>
          </a:prstGeom>
          <a:solidFill>
            <a:srgbClr val="5B4FD1"/>
          </a:solidFill>
          <a:ln w="12700">
            <a:solidFill>
              <a:srgbClr val="5B4FD1"/>
            </a:solidFill>
            <a:prstDash val="solid"/>
          </a:ln>
        </p:spPr>
      </p:sp>
      <p:sp>
        <p:nvSpPr>
          <p:cNvPr id="9" name="Text 6"/>
          <p:cNvSpPr txBox="1"/>
          <p:nvPr/>
        </p:nvSpPr>
        <p:spPr>
          <a:xfrm>
            <a:off x="8225028" y="1481328"/>
            <a:ext cx="384048" cy="329184"/>
          </a:xfrm>
          <a:prstGeom prst="rect">
            <a:avLst/>
          </a:prstGeom>
          <a:noFill/>
          <a:ln/>
        </p:spPr>
        <p:txBody>
          <a:bodyPr wrap="square" lIns="0" tIns="0" rIns="0" bIns="0" rtlCol="0" anchor="ctr"/>
          <a:lstStyle/>
          <a:p>
            <a:pPr indent="0" marL="0">
              <a:buNone/>
            </a:pPr>
            <a:r>
              <a:rPr lang="en-US" sz="1200" b="1" dirty="0">
                <a:solidFill>
                  <a:schemeClr val="tx1"/>
                </a:solidFill>
              </a:rPr>
              <a:t>0.45</a:t>
            </a:r>
            <a:endParaRPr lang="en-US" sz="1200" dirty="0"/>
          </a:p>
        </p:txBody>
      </p:sp>
      <p:sp>
        <p:nvSpPr>
          <p:cNvPr id="10" name="Text 7"/>
          <p:cNvSpPr txBox="1"/>
          <p:nvPr/>
        </p:nvSpPr>
        <p:spPr>
          <a:xfrm>
            <a:off x="5806440" y="1911096"/>
            <a:ext cx="1508760" cy="329184"/>
          </a:xfrm>
          <a:prstGeom prst="rect">
            <a:avLst/>
          </a:prstGeom>
          <a:noFill/>
          <a:ln/>
        </p:spPr>
        <p:txBody>
          <a:bodyPr wrap="square" lIns="0" tIns="0" rIns="0" bIns="0" rtlCol="0" anchor="ctr"/>
          <a:lstStyle/>
          <a:p>
            <a:pPr indent="0" marL="0">
              <a:buNone/>
            </a:pPr>
            <a:r>
              <a:rPr lang="en-US" sz="1300" dirty="0">
                <a:solidFill>
                  <a:schemeClr val="tx1"/>
                </a:solidFill>
              </a:rPr>
              <a:t>All annealing</a:t>
            </a:r>
            <a:endParaRPr lang="en-US" sz="1300" dirty="0"/>
          </a:p>
        </p:txBody>
      </p:sp>
      <p:sp>
        <p:nvSpPr>
          <p:cNvPr id="11" name="Strategy bar 1"/>
          <p:cNvSpPr/>
          <p:nvPr/>
        </p:nvSpPr>
        <p:spPr>
          <a:xfrm>
            <a:off x="7315200" y="1975104"/>
            <a:ext cx="1006206" cy="201168"/>
          </a:xfrm>
          <a:prstGeom prst="rect">
            <a:avLst/>
          </a:prstGeom>
          <a:solidFill>
            <a:srgbClr val="0E9384"/>
          </a:solidFill>
          <a:ln w="12700">
            <a:solidFill>
              <a:srgbClr val="0E9384"/>
            </a:solidFill>
            <a:prstDash val="solid"/>
          </a:ln>
        </p:spPr>
      </p:sp>
      <p:sp>
        <p:nvSpPr>
          <p:cNvPr id="12" name="Text 9"/>
          <p:cNvSpPr txBox="1"/>
          <p:nvPr/>
        </p:nvSpPr>
        <p:spPr>
          <a:xfrm>
            <a:off x="8367126" y="1911096"/>
            <a:ext cx="384048" cy="329184"/>
          </a:xfrm>
          <a:prstGeom prst="rect">
            <a:avLst/>
          </a:prstGeom>
          <a:noFill/>
          <a:ln/>
        </p:spPr>
        <p:txBody>
          <a:bodyPr wrap="square" lIns="0" tIns="0" rIns="0" bIns="0" rtlCol="0" anchor="ctr"/>
          <a:lstStyle/>
          <a:p>
            <a:pPr indent="0" marL="0">
              <a:buNone/>
            </a:pPr>
            <a:r>
              <a:rPr lang="en-US" sz="1200" b="1" dirty="0">
                <a:solidFill>
                  <a:schemeClr val="tx1"/>
                </a:solidFill>
              </a:rPr>
              <a:t>0.52</a:t>
            </a:r>
            <a:endParaRPr lang="en-US" sz="1200" dirty="0"/>
          </a:p>
        </p:txBody>
      </p:sp>
      <p:sp>
        <p:nvSpPr>
          <p:cNvPr id="13" name="Text 10"/>
          <p:cNvSpPr txBox="1"/>
          <p:nvPr/>
        </p:nvSpPr>
        <p:spPr>
          <a:xfrm>
            <a:off x="5806440" y="2340864"/>
            <a:ext cx="1508760" cy="329184"/>
          </a:xfrm>
          <a:prstGeom prst="rect">
            <a:avLst/>
          </a:prstGeom>
          <a:noFill/>
          <a:ln/>
        </p:spPr>
        <p:txBody>
          <a:bodyPr wrap="square" lIns="0" tIns="0" rIns="0" bIns="0" rtlCol="0" anchor="ctr"/>
          <a:lstStyle/>
          <a:p>
            <a:pPr indent="0" marL="0">
              <a:buNone/>
            </a:pPr>
            <a:r>
              <a:rPr lang="en-US" sz="1300" b="1" dirty="0">
                <a:solidFill>
                  <a:schemeClr val="tx1"/>
                </a:solidFill>
              </a:rPr>
              <a:t>Router's mix</a:t>
            </a:r>
            <a:endParaRPr lang="en-US" sz="1300" dirty="0"/>
          </a:p>
        </p:txBody>
      </p:sp>
      <p:sp>
        <p:nvSpPr>
          <p:cNvPr id="14" name="Strategy bar 2"/>
          <p:cNvSpPr/>
          <p:nvPr/>
        </p:nvSpPr>
        <p:spPr>
          <a:xfrm>
            <a:off x="7315200" y="2404872"/>
            <a:ext cx="1035009" cy="201168"/>
          </a:xfrm>
          <a:prstGeom prst="rect">
            <a:avLst/>
          </a:prstGeom>
          <a:solidFill>
            <a:srgbClr val="E8833A"/>
          </a:solidFill>
          <a:ln w="12700">
            <a:solidFill>
              <a:srgbClr val="E8833A"/>
            </a:solidFill>
            <a:prstDash val="solid"/>
          </a:ln>
        </p:spPr>
      </p:sp>
      <p:sp>
        <p:nvSpPr>
          <p:cNvPr id="15" name="Text 12"/>
          <p:cNvSpPr txBox="1"/>
          <p:nvPr/>
        </p:nvSpPr>
        <p:spPr>
          <a:xfrm>
            <a:off x="8395929" y="2340864"/>
            <a:ext cx="384048" cy="329184"/>
          </a:xfrm>
          <a:prstGeom prst="rect">
            <a:avLst/>
          </a:prstGeom>
          <a:noFill/>
          <a:ln/>
        </p:spPr>
        <p:txBody>
          <a:bodyPr wrap="square" lIns="0" tIns="0" rIns="0" bIns="0" rtlCol="0" anchor="ctr"/>
          <a:lstStyle/>
          <a:p>
            <a:pPr indent="0" marL="0">
              <a:buNone/>
            </a:pPr>
            <a:r>
              <a:rPr lang="en-US" sz="1200" b="1" dirty="0">
                <a:solidFill>
                  <a:schemeClr val="tx1"/>
                </a:solidFill>
              </a:rPr>
              <a:t>0.54</a:t>
            </a:r>
            <a:endParaRPr lang="en-US" sz="1200" dirty="0"/>
          </a:p>
        </p:txBody>
      </p:sp>
      <p:sp>
        <p:nvSpPr>
          <p:cNvPr id="16" name="Pattern card"/>
          <p:cNvSpPr/>
          <p:nvPr/>
        </p:nvSpPr>
        <p:spPr>
          <a:xfrm>
            <a:off x="5623560" y="2971800"/>
            <a:ext cx="3063240" cy="1463040"/>
          </a:xfrm>
          <a:prstGeom prst="roundRect">
            <a:avLst>
              <a:gd name="adj" fmla="val 5000"/>
            </a:avLst>
          </a:prstGeom>
          <a:solidFill>
            <a:srgbClr val="2B2A6B"/>
          </a:solidFill>
          <a:ln w="12700">
            <a:solidFill>
              <a:srgbClr val="2B2A6B"/>
            </a:solidFill>
            <a:prstDash val="solid"/>
          </a:ln>
          <a:effectLst>
            <a:outerShdw sx="100000" sy="100000" kx="0" ky="0" algn="bl" rotWithShape="0" blurRad="76200" dist="25400" dir="5400000">
              <a:srgbClr val="000000">
                <a:alpha val="12000"/>
              </a:srgbClr>
            </a:outerShdw>
          </a:effectLst>
        </p:spPr>
      </p:sp>
      <p:sp>
        <p:nvSpPr>
          <p:cNvPr id="17" name="Text 14"/>
          <p:cNvSpPr txBox="1"/>
          <p:nvPr/>
        </p:nvSpPr>
        <p:spPr>
          <a:xfrm>
            <a:off x="5806440" y="3044952"/>
            <a:ext cx="2743200" cy="274320"/>
          </a:xfrm>
          <a:prstGeom prst="rect">
            <a:avLst/>
          </a:prstGeom>
          <a:noFill/>
          <a:ln/>
        </p:spPr>
        <p:txBody>
          <a:bodyPr wrap="square" lIns="0" tIns="0" rIns="0" bIns="0" rtlCol="0" anchor="t"/>
          <a:lstStyle/>
          <a:p>
            <a:pPr indent="0" marL="0">
              <a:buNone/>
            </a:pPr>
            <a:r>
              <a:rPr lang="en-US" sz="1300" b="1" dirty="0">
                <a:solidFill>
                  <a:schemeClr val="bg1"/>
                </a:solidFill>
              </a:rPr>
              <a:t>Across 60 problems, annealing wins</a:t>
            </a:r>
            <a:endParaRPr lang="en-US" sz="1300" dirty="0"/>
          </a:p>
        </p:txBody>
      </p:sp>
      <p:sp>
        <p:nvSpPr>
          <p:cNvPr id="18" name="Text 15"/>
          <p:cNvSpPr txBox="1"/>
          <p:nvPr/>
        </p:nvSpPr>
        <p:spPr>
          <a:xfrm>
            <a:off x="5806440" y="3346704"/>
            <a:ext cx="2788920" cy="1024128"/>
          </a:xfrm>
          <a:prstGeom prst="rect">
            <a:avLst/>
          </a:prstGeom>
          <a:noFill/>
          <a:ln/>
        </p:spPr>
        <p:txBody>
          <a:bodyPr wrap="square" lIns="0" tIns="0" rIns="0" bIns="0" rtlCol="0" anchor="t"/>
          <a:lstStyle/>
          <a:p>
            <a:pPr indent="0" marL="0">
              <a:spcAft>
                <a:spcPts val="200"/>
              </a:spcAft>
              <a:buNone/>
            </a:pPr>
            <a:r>
              <a:rPr lang="en-US" sz="1200" dirty="0">
                <a:solidFill>
                  <a:schemeClr val="bg1"/>
                </a:solidFill>
              </a:rPr>
              <a:t>Finance (stocks): 0 of 11</a:t>
            </a:r>
            <a:endParaRPr lang="en-US" sz="1200" dirty="0"/>
          </a:p>
          <a:p>
            <a:pPr indent="0" marL="0">
              <a:spcAft>
                <a:spcPts val="200"/>
              </a:spcAft>
              <a:buNone/>
            </a:pPr>
            <a:r>
              <a:rPr lang="en-US" sz="1200" dirty="0">
                <a:solidFill>
                  <a:schemeClr val="bg1"/>
                </a:solidFill>
              </a:rPr>
              <a:t>Finance × healthcare (drugs): 2 of 16</a:t>
            </a:r>
            <a:endParaRPr lang="en-US" sz="1200" dirty="0"/>
          </a:p>
          <a:p>
            <a:pPr indent="0" marL="0">
              <a:spcAft>
                <a:spcPts val="200"/>
              </a:spcAft>
              <a:buNone/>
            </a:pPr>
            <a:r>
              <a:rPr lang="en-US" sz="1200" dirty="0">
                <a:solidFill>
                  <a:schemeClr val="bg1"/>
                </a:solidFill>
              </a:rPr>
              <a:t>Healthcare (tests): 4 of 15</a:t>
            </a:r>
            <a:endParaRPr lang="en-US" sz="1200" dirty="0"/>
          </a:p>
          <a:p>
            <a:pPr indent="0" marL="0">
              <a:spcAft>
                <a:spcPts val="200"/>
              </a:spcAft>
              <a:buNone/>
            </a:pPr>
            <a:r>
              <a:rPr lang="en-US" sz="1200" dirty="0">
                <a:solidFill>
                  <a:schemeClr val="bg1"/>
                </a:solidFill>
              </a:rPr>
              <a:t>Networks: 10 of 18</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Patterns across industries save quantum time</a:t>
            </a:r>
            <a:endParaRPr lang="en-US" sz="2800" dirty="0"/>
          </a:p>
        </p:txBody>
      </p:sp>
      <p:graphicFrame>
        <p:nvGraphicFramePr>
          <p:cNvPr id="3" name="Chart 0" descr=""/>
          <p:cNvGraphicFramePr/>
          <p:nvPr/>
        </p:nvGraphicFramePr>
        <p:xfrm>
          <a:off x="457200" y="1051560"/>
          <a:ext cx="4480560" cy="29260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023360"/>
            <a:ext cx="4480560" cy="411480"/>
          </a:xfrm>
          <a:prstGeom prst="rect">
            <a:avLst/>
          </a:prstGeom>
          <a:noFill/>
          <a:ln/>
        </p:spPr>
        <p:txBody>
          <a:bodyPr wrap="square" lIns="0" tIns="0" rIns="0" bIns="0" rtlCol="0" anchor="t"/>
          <a:lstStyle/>
          <a:p>
            <a:pPr indent="0" marL="0">
              <a:buNone/>
            </a:pPr>
            <a:r>
              <a:rPr lang="en-US" sz="1100" i="1" dirty="0">
                <a:solidFill>
                  <a:schemeClr val="tx2"/>
                </a:solidFill>
              </a:rPr>
              <a:t>Twin beats random donor by 0.023 ± 0.010 (standard error), on 65% of problems</a:t>
            </a:r>
            <a:endParaRPr lang="en-US" sz="1100" dirty="0"/>
          </a:p>
        </p:txBody>
      </p:sp>
      <p:sp>
        <p:nvSpPr>
          <p:cNvPr id="5" name="Ledger card"/>
          <p:cNvSpPr/>
          <p:nvPr/>
        </p:nvSpPr>
        <p:spPr>
          <a:xfrm>
            <a:off x="5166360" y="1051560"/>
            <a:ext cx="3520440" cy="1783080"/>
          </a:xfrm>
          <a:prstGeom prst="roundRect">
            <a:avLst>
              <a:gd name="adj" fmla="val 4103"/>
            </a:avLst>
          </a:prstGeom>
          <a:solidFill>
            <a:srgbClr val="2B2A6B"/>
          </a:solidFill>
          <a:ln w="12700">
            <a:solidFill>
              <a:srgbClr val="2B2A6B"/>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5349240" y="1115568"/>
            <a:ext cx="1188720" cy="77724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a:t>
            </a:r>
            <a:endParaRPr lang="en-US" sz="4800" dirty="0"/>
          </a:p>
        </p:txBody>
      </p:sp>
      <p:sp>
        <p:nvSpPr>
          <p:cNvPr id="7" name="Text 4"/>
          <p:cNvSpPr txBox="1"/>
          <p:nvPr/>
        </p:nvSpPr>
        <p:spPr>
          <a:xfrm>
            <a:off x="6537960" y="1188720"/>
            <a:ext cx="2011680" cy="685800"/>
          </a:xfrm>
          <a:prstGeom prst="rect">
            <a:avLst/>
          </a:prstGeom>
          <a:noFill/>
          <a:ln/>
        </p:spPr>
        <p:txBody>
          <a:bodyPr wrap="square" lIns="0" tIns="0" rIns="0" bIns="0" rtlCol="0" anchor="ctr"/>
          <a:lstStyle/>
          <a:p>
            <a:pPr indent="0" marL="0">
              <a:buNone/>
            </a:pPr>
            <a:r>
              <a:rPr lang="en-US" sz="1300" b="1" dirty="0">
                <a:solidFill>
                  <a:schemeClr val="bg1"/>
                </a:solidFill>
              </a:rPr>
              <a:t>fewer quantum shots with one tune, one job</a:t>
            </a:r>
            <a:endParaRPr lang="en-US" sz="1300" dirty="0"/>
          </a:p>
        </p:txBody>
      </p:sp>
      <p:sp>
        <p:nvSpPr>
          <p:cNvPr id="8" name="Text 5"/>
          <p:cNvSpPr txBox="1"/>
          <p:nvPr/>
        </p:nvSpPr>
        <p:spPr>
          <a:xfrm>
            <a:off x="5349240" y="1965960"/>
            <a:ext cx="3200400" cy="777240"/>
          </a:xfrm>
          <a:prstGeom prst="rect">
            <a:avLst/>
          </a:prstGeom>
          <a:noFill/>
          <a:ln/>
        </p:spPr>
        <p:txBody>
          <a:bodyPr wrap="square" lIns="0" tIns="0" rIns="0" bIns="0" rtlCol="0" anchor="t"/>
          <a:lstStyle/>
          <a:p>
            <a:pPr indent="0" marL="0">
              <a:buNone/>
            </a:pPr>
            <a:r>
              <a:rPr lang="en-US" sz="1200" dirty="0">
                <a:solidFill>
                  <a:schemeClr val="bg1"/>
                </a:solidFill>
              </a:rPr>
              <a:t>4 problems, 4 industries: tunings 4 → 2, chip jobs 4 → 1, quality kept 96% (0.524 → 0.504)</a:t>
            </a:r>
            <a:endParaRPr lang="en-US" sz="1200" dirty="0"/>
          </a:p>
        </p:txBody>
      </p:sp>
      <p:sp>
        <p:nvSpPr>
          <p:cNvPr id="9" name="Entanglement card"/>
          <p:cNvSpPr/>
          <p:nvPr/>
        </p:nvSpPr>
        <p:spPr>
          <a:xfrm>
            <a:off x="5166360" y="2971800"/>
            <a:ext cx="1691640" cy="1463040"/>
          </a:xfrm>
          <a:prstGeom prst="roundRect">
            <a:avLst>
              <a:gd name="adj" fmla="val 5000"/>
            </a:avLst>
          </a:prstGeom>
          <a:solidFill>
            <a:srgbClr val="F2F2F8"/>
          </a:solidFill>
          <a:ln w="12700">
            <a:solidFill>
              <a:srgbClr val="F2F2F8"/>
            </a:solidFill>
            <a:prstDash val="solid"/>
          </a:ln>
        </p:spPr>
      </p:sp>
      <p:sp>
        <p:nvSpPr>
          <p:cNvPr id="10" name="Text 7"/>
          <p:cNvSpPr txBox="1"/>
          <p:nvPr/>
        </p:nvSpPr>
        <p:spPr>
          <a:xfrm>
            <a:off x="5257800" y="3035808"/>
            <a:ext cx="155448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0.77 → 0.31</a:t>
            </a:r>
            <a:endParaRPr lang="en-US" sz="2000" dirty="0"/>
          </a:p>
        </p:txBody>
      </p:sp>
      <p:sp>
        <p:nvSpPr>
          <p:cNvPr id="11" name="Text 8"/>
          <p:cNvSpPr txBox="1"/>
          <p:nvPr/>
        </p:nvSpPr>
        <p:spPr>
          <a:xfrm>
            <a:off x="5257800" y="3520440"/>
            <a:ext cx="1536192" cy="868680"/>
          </a:xfrm>
          <a:prstGeom prst="rect">
            <a:avLst/>
          </a:prstGeom>
          <a:noFill/>
          <a:ln/>
        </p:spPr>
        <p:txBody>
          <a:bodyPr wrap="square" lIns="0" tIns="0" rIns="0" bIns="0" rtlCol="0" anchor="t"/>
          <a:lstStyle/>
          <a:p>
            <a:pPr indent="0" marL="0">
              <a:buNone/>
            </a:pPr>
            <a:r>
              <a:rPr lang="en-US" sz="1100" dirty="0">
                <a:solidFill>
                  <a:schemeClr val="tx1"/>
                </a:solidFill>
              </a:rPr>
              <a:t>score when entanglement is switched off</a:t>
            </a:r>
            <a:endParaRPr lang="en-US" sz="1100" dirty="0"/>
          </a:p>
        </p:txBody>
      </p:sp>
      <p:sp>
        <p:nvSpPr>
          <p:cNvPr id="12" name="Classical card"/>
          <p:cNvSpPr/>
          <p:nvPr/>
        </p:nvSpPr>
        <p:spPr>
          <a:xfrm>
            <a:off x="6995160" y="2971800"/>
            <a:ext cx="1691640" cy="1463040"/>
          </a:xfrm>
          <a:prstGeom prst="roundRect">
            <a:avLst>
              <a:gd name="adj" fmla="val 5000"/>
            </a:avLst>
          </a:prstGeom>
          <a:solidFill>
            <a:srgbClr val="FDECEC"/>
          </a:solidFill>
          <a:ln w="12700">
            <a:solidFill>
              <a:srgbClr val="FDECEC"/>
            </a:solidFill>
            <a:prstDash val="solid"/>
          </a:ln>
        </p:spPr>
      </p:sp>
      <p:sp>
        <p:nvSpPr>
          <p:cNvPr id="13" name="Text 10"/>
          <p:cNvSpPr txBox="1"/>
          <p:nvPr/>
        </p:nvSpPr>
        <p:spPr>
          <a:xfrm>
            <a:off x="7086600" y="3035808"/>
            <a:ext cx="1554480" cy="45720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0.95-0.98</a:t>
            </a:r>
            <a:endParaRPr lang="en-US" sz="2000" dirty="0"/>
          </a:p>
        </p:txBody>
      </p:sp>
      <p:sp>
        <p:nvSpPr>
          <p:cNvPr id="14" name="Text 11"/>
          <p:cNvSpPr txBox="1"/>
          <p:nvPr/>
        </p:nvSpPr>
        <p:spPr>
          <a:xfrm>
            <a:off x="7086600" y="3520440"/>
            <a:ext cx="1536192" cy="868680"/>
          </a:xfrm>
          <a:prstGeom prst="rect">
            <a:avLst/>
          </a:prstGeom>
          <a:noFill/>
          <a:ln/>
        </p:spPr>
        <p:txBody>
          <a:bodyPr wrap="square" lIns="0" tIns="0" rIns="0" bIns="0" rtlCol="0" anchor="t"/>
          <a:lstStyle/>
          <a:p>
            <a:pPr indent="0" marL="0">
              <a:buNone/>
            </a:pPr>
            <a:r>
              <a:rPr lang="en-US" sz="1100" dirty="0">
                <a:solidFill>
                  <a:schemeClr val="tx1"/>
                </a:solidFill>
              </a:rPr>
              <a:t>classical laptop on every problem: no quantum advantage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Real IBM hardware and noise analysis</a:t>
            </a:r>
            <a:endParaRPr lang="en-US" sz="2800" dirty="0"/>
          </a:p>
        </p:txBody>
      </p:sp>
      <p:sp>
        <p:nvSpPr>
          <p:cNvPr id="3" name="Text 1"/>
          <p:cNvSpPr txBox="1"/>
          <p:nvPr/>
        </p:nvSpPr>
        <p:spPr>
          <a:xfrm>
            <a:off x="457200" y="987552"/>
            <a:ext cx="8229600" cy="274320"/>
          </a:xfrm>
          <a:prstGeom prst="rect">
            <a:avLst/>
          </a:prstGeom>
          <a:noFill/>
          <a:ln/>
        </p:spPr>
        <p:txBody>
          <a:bodyPr wrap="square" lIns="0" tIns="0" rIns="0" bIns="0" rtlCol="0" anchor="t"/>
          <a:lstStyle/>
          <a:p>
            <a:pPr indent="0" marL="0">
              <a:buNone/>
            </a:pPr>
            <a:r>
              <a:rPr lang="en-US" sz="1200" dirty="0">
                <a:solidFill>
                  <a:schemeClr val="tx2"/>
                </a:solidFill>
              </a:rPr>
              <a:t>Flagship drug problem (8 drugs, fund 3) on a real IBM quantum processor · score 1 = best, 0 = random</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486400" cy="914400"/>
        </p:xfrm>
        <a:graphic>
          <a:graphicData uri="http://schemas.openxmlformats.org/drawingml/2006/table">
            <a:tbl>
              <a:tblPr/>
              <a:tblGrid>
                <a:gridCol w="1463040"/>
                <a:gridCol w="1005840"/>
                <a:gridCol w="1005840"/>
                <a:gridCol w="1005840"/>
                <a:gridCol w="1005840"/>
              </a:tblGrid>
              <a:tr h="384048">
                <a:tc>
                  <a:txBody>
                    <a:bodyPr/>
                    <a:lstStyle/>
                    <a:p>
                      <a:pPr algn="ctr" indent="0" marL="0">
                        <a:buNone/>
                      </a:pP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algn="ctr" indent="0" marL="0">
                        <a:buNone/>
                      </a:pPr>
                      <a:r>
                        <a:rPr lang="en-US" sz="1200" b="1" dirty="0">
                          <a:solidFill>
                            <a:srgbClr val="FFFFFF"/>
                          </a:solidFill>
                        </a:rPr>
                        <a:t>Perfect simulator</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algn="ctr" indent="0" marL="0">
                        <a:buNone/>
                      </a:pPr>
                      <a:r>
                        <a:rPr lang="en-US" sz="1200" b="1" dirty="0">
                          <a:solidFill>
                            <a:srgbClr val="FFFFFF"/>
                          </a:solidFill>
                        </a:rPr>
                        <a:t>Noisy chip model</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algn="ctr" indent="0" marL="0">
                        <a:buNone/>
                      </a:pPr>
                      <a:r>
                        <a:rPr lang="en-US" sz="1200" b="1" dirty="0">
                          <a:solidFill>
                            <a:srgbClr val="FFFFFF"/>
                          </a:solidFill>
                        </a:rPr>
                        <a:t>Real QPU raw</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c>
                  <a:txBody>
                    <a:bodyPr/>
                    <a:lstStyle/>
                    <a:p>
                      <a:pPr algn="ctr" indent="0" marL="0">
                        <a:buNone/>
                      </a:pPr>
                      <a:r>
                        <a:rPr lang="en-US" sz="1200" b="1" dirty="0">
                          <a:solidFill>
                            <a:srgbClr val="FFFFFF"/>
                          </a:solidFill>
                        </a:rPr>
                        <a:t>QPU + mitigation</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2B2A6B"/>
                    </a:solidFill>
                  </a:tcPr>
                </a:tc>
              </a:tr>
              <a:tr h="384048">
                <a:tc>
                  <a:txBody>
                    <a:bodyPr/>
                    <a:lstStyle/>
                    <a:p>
                      <a:pPr algn="ctr" indent="0" marL="0">
                        <a:buNone/>
                      </a:pPr>
                      <a:r>
                        <a:rPr lang="en-US" sz="1200" b="1" dirty="0">
                          <a:solidFill>
                            <a:srgbClr val="5B4FD1"/>
                          </a:solidFill>
                        </a:rPr>
                        <a:t>Gate-based QAOA</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0.74</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0.63</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pending</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pending</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0E9384"/>
                          </a:solidFill>
                        </a:rPr>
                        <a:t>Digital anneal</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0.81</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0.49</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pending</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pending</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667085"/>
                          </a:solidFill>
                        </a:rPr>
                        <a:t>Classical (laptop)</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0.94</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D36"/>
                          </a:solidFill>
                        </a:rPr>
                        <a:t>-</a:t>
                      </a:r>
                      <a:endParaRPr lang="en-US" sz="1200" dirty="0"/>
                    </a:p>
                  </a:txBody>
                  <a:tcPr marL="91440" marR="91440" marT="45720" marB="45720" anchor="ctr">
                    <a:lnL w="6350" cap="flat" cmpd="sng" algn="ctr">
                      <a:solidFill>
                        <a:srgbClr val="D9DAE6"/>
                      </a:solidFill>
                      <a:prstDash val="solid"/>
                      <a:round/>
                      <a:headEnd type="none" w="med" len="med"/>
                      <a:tailEnd type="none" w="med" len="med"/>
                    </a:lnL>
                    <a:lnR w="6350" cap="flat" cmpd="sng" algn="ctr">
                      <a:solidFill>
                        <a:srgbClr val="D9DAE6"/>
                      </a:solidFill>
                      <a:prstDash val="solid"/>
                      <a:round/>
                      <a:headEnd type="none" w="med" len="med"/>
                      <a:tailEnd type="none" w="med" len="med"/>
                    </a:lnR>
                    <a:lnT w="6350" cap="flat" cmpd="sng" algn="ctr">
                      <a:solidFill>
                        <a:srgbClr val="D9DAE6"/>
                      </a:solidFill>
                      <a:prstDash val="solid"/>
                      <a:round/>
                      <a:headEnd type="none" w="med" len="med"/>
                      <a:tailEnd type="none" w="med" len="med"/>
                    </a:lnT>
                    <a:lnB w="6350" cap="flat" cmpd="sng" algn="ctr">
                      <a:solidFill>
                        <a:srgbClr val="D9DA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017520"/>
            <a:ext cx="5486400" cy="274320"/>
          </a:xfrm>
          <a:prstGeom prst="rect">
            <a:avLst/>
          </a:prstGeom>
          <a:noFill/>
          <a:ln/>
        </p:spPr>
        <p:txBody>
          <a:bodyPr wrap="square" lIns="0" tIns="0" rIns="0" bIns="0" rtlCol="0" anchor="t"/>
          <a:lstStyle/>
          <a:p>
            <a:pPr indent="0" marL="0">
              <a:buNone/>
            </a:pPr>
            <a:r>
              <a:rPr lang="en-US" sz="1300" b="1" dirty="0">
                <a:solidFill>
                  <a:schemeClr val="tx1"/>
                </a:solidFill>
              </a:rPr>
              <a:t>Hardware experiments (about 3 of our 10 QPU minutes)</a:t>
            </a:r>
            <a:endParaRPr lang="en-US" sz="1300" dirty="0"/>
          </a:p>
        </p:txBody>
      </p:sp>
      <p:sp>
        <p:nvSpPr>
          <p:cNvPr id="6" name="HW run 9"/>
          <p:cNvSpPr/>
          <p:nvPr/>
        </p:nvSpPr>
        <p:spPr>
          <a:xfrm>
            <a:off x="457200" y="3364992"/>
            <a:ext cx="1298448" cy="1069848"/>
          </a:xfrm>
          <a:prstGeom prst="roundRect">
            <a:avLst>
              <a:gd name="adj" fmla="val 6838"/>
            </a:avLst>
          </a:prstGeom>
          <a:solidFill>
            <a:srgbClr val="F2F2F8"/>
          </a:solidFill>
          <a:ln w="12700">
            <a:solidFill>
              <a:srgbClr val="F2F2F8"/>
            </a:solidFill>
            <a:prstDash val="solid"/>
          </a:ln>
        </p:spPr>
      </p:sp>
      <p:sp>
        <p:nvSpPr>
          <p:cNvPr id="7" name="Text 4"/>
          <p:cNvSpPr txBox="1"/>
          <p:nvPr/>
        </p:nvSpPr>
        <p:spPr>
          <a:xfrm>
            <a:off x="566928" y="3419856"/>
            <a:ext cx="1097280" cy="274320"/>
          </a:xfrm>
          <a:prstGeom prst="rect">
            <a:avLst/>
          </a:prstGeom>
          <a:noFill/>
          <a:ln/>
        </p:spPr>
        <p:txBody>
          <a:bodyPr wrap="square" lIns="0" tIns="0" rIns="0" bIns="0" rtlCol="0" anchor="t"/>
          <a:lstStyle/>
          <a:p>
            <a:pPr indent="0" marL="0">
              <a:buNone/>
            </a:pPr>
            <a:r>
              <a:rPr lang="en-US" sz="1400" b="1" dirty="0">
                <a:solidFill>
                  <a:schemeClr val="accent1"/>
                </a:solidFill>
              </a:rPr>
              <a:t>§9</a:t>
            </a:r>
            <a:endParaRPr lang="en-US" sz="1400" dirty="0"/>
          </a:p>
        </p:txBody>
      </p:sp>
      <p:sp>
        <p:nvSpPr>
          <p:cNvPr id="8" name="Text 5"/>
          <p:cNvSpPr txBox="1"/>
          <p:nvPr/>
        </p:nvSpPr>
        <p:spPr>
          <a:xfrm>
            <a:off x="566928" y="3703320"/>
            <a:ext cx="1115568" cy="475488"/>
          </a:xfrm>
          <a:prstGeom prst="rect">
            <a:avLst/>
          </a:prstGeom>
          <a:noFill/>
          <a:ln/>
        </p:spPr>
        <p:txBody>
          <a:bodyPr wrap="square" lIns="0" tIns="0" rIns="0" bIns="0" rtlCol="0" anchor="t"/>
          <a:lstStyle/>
          <a:p>
            <a:pPr indent="0" marL="0">
              <a:buNone/>
            </a:pPr>
            <a:r>
              <a:rPr lang="en-US" sz="1100" dirty="0">
                <a:solidFill>
                  <a:schemeClr val="tx1"/>
                </a:solidFill>
              </a:rPr>
              <a:t>Both styles, raw vs. mitigated</a:t>
            </a:r>
            <a:endParaRPr lang="en-US" sz="1100" dirty="0"/>
          </a:p>
        </p:txBody>
      </p:sp>
      <p:sp>
        <p:nvSpPr>
          <p:cNvPr id="9" name="Text 6"/>
          <p:cNvSpPr txBox="1"/>
          <p:nvPr/>
        </p:nvSpPr>
        <p:spPr>
          <a:xfrm>
            <a:off x="566928" y="4160520"/>
            <a:ext cx="1097280" cy="228600"/>
          </a:xfrm>
          <a:prstGeom prst="rect">
            <a:avLst/>
          </a:prstGeom>
          <a:noFill/>
          <a:ln/>
        </p:spPr>
        <p:txBody>
          <a:bodyPr wrap="square" lIns="0" tIns="0" rIns="0" bIns="0" rtlCol="0" anchor="t"/>
          <a:lstStyle/>
          <a:p>
            <a:pPr indent="0" marL="0">
              <a:buNone/>
            </a:pPr>
            <a:r>
              <a:rPr lang="en-US" sz="1000" dirty="0">
                <a:solidFill>
                  <a:schemeClr val="accent3"/>
                </a:solidFill>
              </a:rPr>
              <a:t>4 jobs</a:t>
            </a:r>
            <a:endParaRPr lang="en-US" sz="1000" dirty="0"/>
          </a:p>
        </p:txBody>
      </p:sp>
      <p:sp>
        <p:nvSpPr>
          <p:cNvPr id="10" name="HW run 9b"/>
          <p:cNvSpPr/>
          <p:nvPr/>
        </p:nvSpPr>
        <p:spPr>
          <a:xfrm>
            <a:off x="1847088" y="3364992"/>
            <a:ext cx="1298448" cy="1069848"/>
          </a:xfrm>
          <a:prstGeom prst="roundRect">
            <a:avLst>
              <a:gd name="adj" fmla="val 6838"/>
            </a:avLst>
          </a:prstGeom>
          <a:solidFill>
            <a:srgbClr val="F2F2F8"/>
          </a:solidFill>
          <a:ln w="12700">
            <a:solidFill>
              <a:srgbClr val="F2F2F8"/>
            </a:solidFill>
            <a:prstDash val="solid"/>
          </a:ln>
        </p:spPr>
      </p:sp>
      <p:sp>
        <p:nvSpPr>
          <p:cNvPr id="11" name="Text 8"/>
          <p:cNvSpPr txBox="1"/>
          <p:nvPr/>
        </p:nvSpPr>
        <p:spPr>
          <a:xfrm>
            <a:off x="1956816" y="3419856"/>
            <a:ext cx="1097280" cy="274320"/>
          </a:xfrm>
          <a:prstGeom prst="rect">
            <a:avLst/>
          </a:prstGeom>
          <a:noFill/>
          <a:ln/>
        </p:spPr>
        <p:txBody>
          <a:bodyPr wrap="square" lIns="0" tIns="0" rIns="0" bIns="0" rtlCol="0" anchor="t"/>
          <a:lstStyle/>
          <a:p>
            <a:pPr indent="0" marL="0">
              <a:buNone/>
            </a:pPr>
            <a:r>
              <a:rPr lang="en-US" sz="1400" b="1" dirty="0">
                <a:solidFill>
                  <a:schemeClr val="accent1"/>
                </a:solidFill>
              </a:rPr>
              <a:t>§9b</a:t>
            </a:r>
            <a:endParaRPr lang="en-US" sz="1400" dirty="0"/>
          </a:p>
        </p:txBody>
      </p:sp>
      <p:sp>
        <p:nvSpPr>
          <p:cNvPr id="12" name="Text 9"/>
          <p:cNvSpPr txBox="1"/>
          <p:nvPr/>
        </p:nvSpPr>
        <p:spPr>
          <a:xfrm>
            <a:off x="1956816" y="3703320"/>
            <a:ext cx="1115568" cy="475488"/>
          </a:xfrm>
          <a:prstGeom prst="rect">
            <a:avLst/>
          </a:prstGeom>
          <a:noFill/>
          <a:ln/>
        </p:spPr>
        <p:txBody>
          <a:bodyPr wrap="square" lIns="0" tIns="0" rIns="0" bIns="0" rtlCol="0" anchor="t"/>
          <a:lstStyle/>
          <a:p>
            <a:pPr indent="0" marL="0">
              <a:buNone/>
            </a:pPr>
            <a:r>
              <a:rPr lang="en-US" sz="1100" dirty="0">
                <a:solidFill>
                  <a:schemeClr val="tx1"/>
                </a:solidFill>
              </a:rPr>
              <a:t>Break-down pieces, both styles</a:t>
            </a:r>
            <a:endParaRPr lang="en-US" sz="1100" dirty="0"/>
          </a:p>
        </p:txBody>
      </p:sp>
      <p:sp>
        <p:nvSpPr>
          <p:cNvPr id="13" name="Text 10"/>
          <p:cNvSpPr txBox="1"/>
          <p:nvPr/>
        </p:nvSpPr>
        <p:spPr>
          <a:xfrm>
            <a:off x="1956816" y="4160520"/>
            <a:ext cx="1097280" cy="228600"/>
          </a:xfrm>
          <a:prstGeom prst="rect">
            <a:avLst/>
          </a:prstGeom>
          <a:noFill/>
          <a:ln/>
        </p:spPr>
        <p:txBody>
          <a:bodyPr wrap="square" lIns="0" tIns="0" rIns="0" bIns="0" rtlCol="0" anchor="t"/>
          <a:lstStyle/>
          <a:p>
            <a:pPr indent="0" marL="0">
              <a:buNone/>
            </a:pPr>
            <a:r>
              <a:rPr lang="en-US" sz="1000" dirty="0">
                <a:solidFill>
                  <a:schemeClr val="accent3"/>
                </a:solidFill>
              </a:rPr>
              <a:t>1 job</a:t>
            </a:r>
            <a:endParaRPr lang="en-US" sz="1000" dirty="0"/>
          </a:p>
        </p:txBody>
      </p:sp>
      <p:sp>
        <p:nvSpPr>
          <p:cNvPr id="14" name="HW run 11"/>
          <p:cNvSpPr/>
          <p:nvPr/>
        </p:nvSpPr>
        <p:spPr>
          <a:xfrm>
            <a:off x="3236976" y="3364992"/>
            <a:ext cx="1298448" cy="1069848"/>
          </a:xfrm>
          <a:prstGeom prst="roundRect">
            <a:avLst>
              <a:gd name="adj" fmla="val 6838"/>
            </a:avLst>
          </a:prstGeom>
          <a:solidFill>
            <a:srgbClr val="F2F2F8"/>
          </a:solidFill>
          <a:ln w="12700">
            <a:solidFill>
              <a:srgbClr val="F2F2F8"/>
            </a:solidFill>
            <a:prstDash val="solid"/>
          </a:ln>
        </p:spPr>
      </p:sp>
      <p:sp>
        <p:nvSpPr>
          <p:cNvPr id="15" name="Text 12"/>
          <p:cNvSpPr txBox="1"/>
          <p:nvPr/>
        </p:nvSpPr>
        <p:spPr>
          <a:xfrm>
            <a:off x="3346704" y="3419856"/>
            <a:ext cx="1097280" cy="274320"/>
          </a:xfrm>
          <a:prstGeom prst="rect">
            <a:avLst/>
          </a:prstGeom>
          <a:noFill/>
          <a:ln/>
        </p:spPr>
        <p:txBody>
          <a:bodyPr wrap="square" lIns="0" tIns="0" rIns="0" bIns="0" rtlCol="0" anchor="t"/>
          <a:lstStyle/>
          <a:p>
            <a:pPr indent="0" marL="0">
              <a:buNone/>
            </a:pPr>
            <a:r>
              <a:rPr lang="en-US" sz="1400" b="1" dirty="0">
                <a:solidFill>
                  <a:schemeClr val="accent1"/>
                </a:solidFill>
              </a:rPr>
              <a:t>§11</a:t>
            </a:r>
            <a:endParaRPr lang="en-US" sz="1400" dirty="0"/>
          </a:p>
        </p:txBody>
      </p:sp>
      <p:sp>
        <p:nvSpPr>
          <p:cNvPr id="16" name="Text 13"/>
          <p:cNvSpPr txBox="1"/>
          <p:nvPr/>
        </p:nvSpPr>
        <p:spPr>
          <a:xfrm>
            <a:off x="3346704" y="3703320"/>
            <a:ext cx="1115568" cy="475488"/>
          </a:xfrm>
          <a:prstGeom prst="rect">
            <a:avLst/>
          </a:prstGeom>
          <a:noFill/>
          <a:ln/>
        </p:spPr>
        <p:txBody>
          <a:bodyPr wrap="square" lIns="0" tIns="0" rIns="0" bIns="0" rtlCol="0" anchor="t"/>
          <a:lstStyle/>
          <a:p>
            <a:pPr indent="0" marL="0">
              <a:buNone/>
            </a:pPr>
            <a:r>
              <a:rPr lang="en-US" sz="1100" dirty="0">
                <a:solidFill>
                  <a:schemeClr val="tx1"/>
                </a:solidFill>
              </a:rPr>
              <a:t>3 industries packed on one chip</a:t>
            </a:r>
            <a:endParaRPr lang="en-US" sz="1100" dirty="0"/>
          </a:p>
        </p:txBody>
      </p:sp>
      <p:sp>
        <p:nvSpPr>
          <p:cNvPr id="17" name="Text 14"/>
          <p:cNvSpPr txBox="1"/>
          <p:nvPr/>
        </p:nvSpPr>
        <p:spPr>
          <a:xfrm>
            <a:off x="3346704" y="4160520"/>
            <a:ext cx="1097280" cy="228600"/>
          </a:xfrm>
          <a:prstGeom prst="rect">
            <a:avLst/>
          </a:prstGeom>
          <a:noFill/>
          <a:ln/>
        </p:spPr>
        <p:txBody>
          <a:bodyPr wrap="square" lIns="0" tIns="0" rIns="0" bIns="0" rtlCol="0" anchor="t"/>
          <a:lstStyle/>
          <a:p>
            <a:pPr indent="0" marL="0">
              <a:buNone/>
            </a:pPr>
            <a:r>
              <a:rPr lang="en-US" sz="1000" dirty="0">
                <a:solidFill>
                  <a:schemeClr val="accent3"/>
                </a:solidFill>
              </a:rPr>
              <a:t>1 job</a:t>
            </a:r>
            <a:endParaRPr lang="en-US" sz="1000" dirty="0"/>
          </a:p>
        </p:txBody>
      </p:sp>
      <p:sp>
        <p:nvSpPr>
          <p:cNvPr id="18" name="HW run 11b"/>
          <p:cNvSpPr/>
          <p:nvPr/>
        </p:nvSpPr>
        <p:spPr>
          <a:xfrm>
            <a:off x="4626864" y="3364992"/>
            <a:ext cx="1298448" cy="1069848"/>
          </a:xfrm>
          <a:prstGeom prst="roundRect">
            <a:avLst>
              <a:gd name="adj" fmla="val 6838"/>
            </a:avLst>
          </a:prstGeom>
          <a:solidFill>
            <a:srgbClr val="F2F2F8"/>
          </a:solidFill>
          <a:ln w="12700">
            <a:solidFill>
              <a:srgbClr val="F2F2F8"/>
            </a:solidFill>
            <a:prstDash val="solid"/>
          </a:ln>
        </p:spPr>
      </p:sp>
      <p:sp>
        <p:nvSpPr>
          <p:cNvPr id="19" name="Text 16"/>
          <p:cNvSpPr txBox="1"/>
          <p:nvPr/>
        </p:nvSpPr>
        <p:spPr>
          <a:xfrm>
            <a:off x="4736592" y="3419856"/>
            <a:ext cx="1097280" cy="274320"/>
          </a:xfrm>
          <a:prstGeom prst="rect">
            <a:avLst/>
          </a:prstGeom>
          <a:noFill/>
          <a:ln/>
        </p:spPr>
        <p:txBody>
          <a:bodyPr wrap="square" lIns="0" tIns="0" rIns="0" bIns="0" rtlCol="0" anchor="t"/>
          <a:lstStyle/>
          <a:p>
            <a:pPr indent="0" marL="0">
              <a:buNone/>
            </a:pPr>
            <a:r>
              <a:rPr lang="en-US" sz="1400" b="1" dirty="0">
                <a:solidFill>
                  <a:schemeClr val="accent1"/>
                </a:solidFill>
              </a:rPr>
              <a:t>§11b</a:t>
            </a:r>
            <a:endParaRPr lang="en-US" sz="1400" dirty="0"/>
          </a:p>
        </p:txBody>
      </p:sp>
      <p:sp>
        <p:nvSpPr>
          <p:cNvPr id="20" name="Text 17"/>
          <p:cNvSpPr txBox="1"/>
          <p:nvPr/>
        </p:nvSpPr>
        <p:spPr>
          <a:xfrm>
            <a:off x="4736592" y="3703320"/>
            <a:ext cx="1115568" cy="475488"/>
          </a:xfrm>
          <a:prstGeom prst="rect">
            <a:avLst/>
          </a:prstGeom>
          <a:noFill/>
          <a:ln/>
        </p:spPr>
        <p:txBody>
          <a:bodyPr wrap="square" lIns="0" tIns="0" rIns="0" bIns="0" rtlCol="0" anchor="t"/>
          <a:lstStyle/>
          <a:p>
            <a:pPr indent="0" marL="0">
              <a:buNone/>
            </a:pPr>
            <a:r>
              <a:rPr lang="en-US" sz="1100" dirty="0">
                <a:solidFill>
                  <a:schemeClr val="tx1"/>
                </a:solidFill>
              </a:rPr>
              <a:t>One tune, one job</a:t>
            </a:r>
            <a:endParaRPr lang="en-US" sz="1100" dirty="0"/>
          </a:p>
        </p:txBody>
      </p:sp>
      <p:sp>
        <p:nvSpPr>
          <p:cNvPr id="21" name="Text 18"/>
          <p:cNvSpPr txBox="1"/>
          <p:nvPr/>
        </p:nvSpPr>
        <p:spPr>
          <a:xfrm>
            <a:off x="4736592" y="4160520"/>
            <a:ext cx="1097280" cy="228600"/>
          </a:xfrm>
          <a:prstGeom prst="rect">
            <a:avLst/>
          </a:prstGeom>
          <a:noFill/>
          <a:ln/>
        </p:spPr>
        <p:txBody>
          <a:bodyPr wrap="square" lIns="0" tIns="0" rIns="0" bIns="0" rtlCol="0" anchor="t"/>
          <a:lstStyle/>
          <a:p>
            <a:pPr indent="0" marL="0">
              <a:buNone/>
            </a:pPr>
            <a:r>
              <a:rPr lang="en-US" sz="1000" dirty="0">
                <a:solidFill>
                  <a:schemeClr val="accent3"/>
                </a:solidFill>
              </a:rPr>
              <a:t>1 job</a:t>
            </a:r>
            <a:endParaRPr lang="en-US" sz="1000" dirty="0"/>
          </a:p>
        </p:txBody>
      </p:sp>
      <p:sp>
        <p:nvSpPr>
          <p:cNvPr id="22" name="Noise card"/>
          <p:cNvSpPr/>
          <p:nvPr/>
        </p:nvSpPr>
        <p:spPr>
          <a:xfrm>
            <a:off x="6217920" y="1325880"/>
            <a:ext cx="2468880" cy="3108960"/>
          </a:xfrm>
          <a:prstGeom prst="roundRect">
            <a:avLst>
              <a:gd name="adj" fmla="val 2963"/>
            </a:avLst>
          </a:prstGeom>
          <a:solidFill>
            <a:srgbClr val="2B2A6B"/>
          </a:solidFill>
          <a:ln w="12700">
            <a:solidFill>
              <a:srgbClr val="2B2A6B"/>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6400800" y="1417320"/>
            <a:ext cx="2103120" cy="274320"/>
          </a:xfrm>
          <a:prstGeom prst="rect">
            <a:avLst/>
          </a:prstGeom>
          <a:noFill/>
          <a:ln/>
        </p:spPr>
        <p:txBody>
          <a:bodyPr wrap="square" lIns="0" tIns="0" rIns="0" bIns="0" rtlCol="0" anchor="t"/>
          <a:lstStyle/>
          <a:p>
            <a:pPr indent="0" marL="0">
              <a:buNone/>
            </a:pPr>
            <a:r>
              <a:rPr lang="en-US" sz="1400" b="1" dirty="0">
                <a:solidFill>
                  <a:schemeClr val="bg1"/>
                </a:solidFill>
              </a:rPr>
              <a:t>Noise, measured</a:t>
            </a:r>
            <a:endParaRPr lang="en-US" sz="1400" dirty="0"/>
          </a:p>
        </p:txBody>
      </p:sp>
      <p:sp>
        <p:nvSpPr>
          <p:cNvPr id="24" name="Text 21"/>
          <p:cNvSpPr txBox="1"/>
          <p:nvPr/>
        </p:nvSpPr>
        <p:spPr>
          <a:xfrm>
            <a:off x="6400800" y="1755648"/>
            <a:ext cx="2176272" cy="26060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bg1"/>
                </a:solidFill>
              </a:rPr>
              <a:t>Zero-noise extrapolation won back ~25% of the quality noise destroyed</a:t>
            </a:r>
            <a:endParaRPr lang="en-US" sz="1200" dirty="0"/>
          </a:p>
          <a:p>
            <a:pPr marL="177800" indent="-177800">
              <a:spcAft>
                <a:spcPts val="600"/>
              </a:spcAft>
              <a:buSzPct val="100000"/>
              <a:buChar char="•"/>
            </a:pPr>
            <a:r>
              <a:rPr lang="en-US" sz="1200" dirty="0">
                <a:solidFill>
                  <a:schemeClr val="bg1"/>
                </a:solidFill>
              </a:rPr>
              <a:t>The anneal wins on a perfect simulator but needs 688 entangling gates vs. 104, so noise drags it down</a:t>
            </a:r>
            <a:endParaRPr lang="en-US" sz="1200" dirty="0"/>
          </a:p>
          <a:p>
            <a:pPr marL="177800" indent="-177800">
              <a:spcAft>
                <a:spcPts val="600"/>
              </a:spcAft>
              <a:buSzPct val="100000"/>
              <a:buChar char="•"/>
            </a:pPr>
            <a:r>
              <a:rPr lang="en-US" sz="1200" dirty="0">
                <a:solidFill>
                  <a:schemeClr val="bg1"/>
                </a:solidFill>
              </a:rPr>
              <a:t>Crosstalk from packing 3 problems: ~0.01</a:t>
            </a:r>
            <a:endParaRPr lang="en-US" sz="1200" dirty="0"/>
          </a:p>
          <a:p>
            <a:pPr marL="177800" indent="-177800">
              <a:spcAft>
                <a:spcPts val="600"/>
              </a:spcAft>
              <a:buSzPct val="100000"/>
              <a:buChar char="•"/>
            </a:pPr>
            <a:r>
              <a:rPr lang="en-US" sz="1200" dirty="0">
                <a:solidFill>
                  <a:schemeClr val="bg1"/>
                </a:solidFill>
              </a:rPr>
              <a:t>On hardware: dynamical decoupling + Pauli twirling, raw vs. mitigated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What's new, what's honest, what's next</a:t>
            </a:r>
            <a:endParaRPr lang="en-US" sz="2800" dirty="0"/>
          </a:p>
        </p:txBody>
      </p:sp>
      <p:sp>
        <p:nvSpPr>
          <p:cNvPr id="3" name="What's new card"/>
          <p:cNvSpPr/>
          <p:nvPr/>
        </p:nvSpPr>
        <p:spPr>
          <a:xfrm>
            <a:off x="457200" y="1097280"/>
            <a:ext cx="2615184" cy="3017520"/>
          </a:xfrm>
          <a:prstGeom prst="roundRect">
            <a:avLst>
              <a:gd name="adj" fmla="val 2797"/>
            </a:avLst>
          </a:prstGeom>
          <a:solidFill>
            <a:srgbClr val="2B2A6B"/>
          </a:solidFill>
          <a:ln w="12700">
            <a:solidFill>
              <a:srgbClr val="2B2A6B"/>
            </a:solidFill>
            <a:prstDash val="solid"/>
          </a:ln>
        </p:spPr>
      </p:sp>
      <p:sp>
        <p:nvSpPr>
          <p:cNvPr id="4" name="What's new circle"/>
          <p:cNvSpPr/>
          <p:nvPr/>
        </p:nvSpPr>
        <p:spPr>
          <a:xfrm>
            <a:off x="621792" y="1234440"/>
            <a:ext cx="457200" cy="457200"/>
          </a:xfrm>
          <a:prstGeom prst="ellipse">
            <a:avLst/>
          </a:prstGeom>
          <a:solidFill>
            <a:srgbClr val="E8833A"/>
          </a:solidFill>
          <a:ln w="12700">
            <a:solidFill>
              <a:srgbClr val="E8833A"/>
            </a:solidFill>
            <a:prstDash val="solid"/>
          </a:ln>
        </p:spPr>
      </p:sp>
      <p:pic>
        <p:nvPicPr>
          <p:cNvPr id="5" name="What's new icon" descr="preencoded.png">    </p:cNvPr>
          <p:cNvPicPr>
            <a:picLocks noChangeAspect="1"/>
          </p:cNvPicPr>
          <p:nvPr/>
        </p:nvPicPr>
        <p:blipFill>
          <a:blip r:embed="rId1"/>
          <a:stretch>
            <a:fillRect/>
          </a:stretch>
        </p:blipFill>
        <p:spPr>
          <a:xfrm>
            <a:off x="731520" y="1344168"/>
            <a:ext cx="237744" cy="237744"/>
          </a:xfrm>
          <a:prstGeom prst="rect">
            <a:avLst/>
          </a:prstGeom>
        </p:spPr>
      </p:pic>
      <p:sp>
        <p:nvSpPr>
          <p:cNvPr id="6" name="Text 3"/>
          <p:cNvSpPr txBox="1"/>
          <p:nvPr/>
        </p:nvSpPr>
        <p:spPr>
          <a:xfrm>
            <a:off x="1188720" y="1234440"/>
            <a:ext cx="1783080" cy="457200"/>
          </a:xfrm>
          <a:prstGeom prst="rect">
            <a:avLst/>
          </a:prstGeom>
          <a:noFill/>
          <a:ln/>
        </p:spPr>
        <p:txBody>
          <a:bodyPr wrap="square" lIns="0" tIns="0" rIns="0" bIns="0" rtlCol="0" anchor="ctr"/>
          <a:lstStyle/>
          <a:p>
            <a:pPr indent="0" marL="0">
              <a:buNone/>
            </a:pPr>
            <a:r>
              <a:rPr lang="en-US" sz="1500" b="1" dirty="0">
                <a:solidFill>
                  <a:schemeClr val="bg1"/>
                </a:solidFill>
              </a:rPr>
              <a:t>What's new</a:t>
            </a:r>
            <a:endParaRPr lang="en-US" sz="1500" dirty="0"/>
          </a:p>
        </p:txBody>
      </p:sp>
      <p:sp>
        <p:nvSpPr>
          <p:cNvPr id="7" name="Text 4"/>
          <p:cNvSpPr txBox="1"/>
          <p:nvPr/>
        </p:nvSpPr>
        <p:spPr>
          <a:xfrm>
            <a:off x="621792" y="1828800"/>
            <a:ext cx="237744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Gate vs. anneal chosen piece by piece inside one problem</a:t>
            </a:r>
            <a:endParaRPr lang="en-US" sz="1300" dirty="0"/>
          </a:p>
          <a:p>
            <a:pPr marL="177800" indent="-177800">
              <a:spcAft>
                <a:spcPts val="600"/>
              </a:spcAft>
              <a:buSzPct val="100000"/>
              <a:buChar char="•"/>
            </a:pPr>
            <a:r>
              <a:rPr lang="en-US" sz="1300" dirty="0">
                <a:solidFill>
                  <a:schemeClr val="bg1"/>
                </a:solidFill>
              </a:rPr>
              <a:t>Settings reused across real industries, with a random-donor control</a:t>
            </a:r>
            <a:endParaRPr lang="en-US" sz="1300" dirty="0"/>
          </a:p>
          <a:p>
            <a:pPr marL="177800" indent="-177800">
              <a:spcAft>
                <a:spcPts val="600"/>
              </a:spcAft>
              <a:buSzPct val="100000"/>
              <a:buChar char="•"/>
            </a:pPr>
            <a:r>
              <a:rPr lang="en-US" sz="1300" dirty="0">
                <a:solidFill>
                  <a:schemeClr val="bg1"/>
                </a:solidFill>
              </a:rPr>
              <a:t>Routing that reads the real chip's noise</a:t>
            </a:r>
            <a:endParaRPr lang="en-US" sz="1300" dirty="0"/>
          </a:p>
          <a:p>
            <a:pPr marL="177800" indent="-177800">
              <a:spcAft>
                <a:spcPts val="600"/>
              </a:spcAft>
              <a:buSzPct val="100000"/>
              <a:buChar char="•"/>
            </a:pPr>
            <a:r>
              <a:rPr lang="en-US" sz="1300" dirty="0">
                <a:solidFill>
                  <a:schemeClr val="bg1"/>
                </a:solidFill>
              </a:rPr>
              <a:t>Compute savings measured: 4× fewer shots</a:t>
            </a:r>
            <a:endParaRPr lang="en-US" sz="1300" dirty="0"/>
          </a:p>
        </p:txBody>
      </p:sp>
      <p:sp>
        <p:nvSpPr>
          <p:cNvPr id="8" name="Honest limits card"/>
          <p:cNvSpPr/>
          <p:nvPr/>
        </p:nvSpPr>
        <p:spPr>
          <a:xfrm>
            <a:off x="3264408" y="1097280"/>
            <a:ext cx="2615184" cy="3017520"/>
          </a:xfrm>
          <a:prstGeom prst="roundRect">
            <a:avLst>
              <a:gd name="adj" fmla="val 2797"/>
            </a:avLst>
          </a:prstGeom>
          <a:solidFill>
            <a:srgbClr val="2B2A6B"/>
          </a:solidFill>
          <a:ln w="12700">
            <a:solidFill>
              <a:srgbClr val="2B2A6B"/>
            </a:solidFill>
            <a:prstDash val="solid"/>
          </a:ln>
        </p:spPr>
      </p:sp>
      <p:sp>
        <p:nvSpPr>
          <p:cNvPr id="9" name="Honest limits circle"/>
          <p:cNvSpPr/>
          <p:nvPr/>
        </p:nvSpPr>
        <p:spPr>
          <a:xfrm>
            <a:off x="3429000" y="1234440"/>
            <a:ext cx="457200" cy="457200"/>
          </a:xfrm>
          <a:prstGeom prst="ellipse">
            <a:avLst/>
          </a:prstGeom>
          <a:solidFill>
            <a:srgbClr val="D64545"/>
          </a:solidFill>
          <a:ln w="12700">
            <a:solidFill>
              <a:srgbClr val="D64545"/>
            </a:solidFill>
            <a:prstDash val="solid"/>
          </a:ln>
        </p:spPr>
      </p:sp>
      <p:pic>
        <p:nvPicPr>
          <p:cNvPr id="10" name="Honest limits icon" descr="preencoded.png">    </p:cNvPr>
          <p:cNvPicPr>
            <a:picLocks noChangeAspect="1"/>
          </p:cNvPicPr>
          <p:nvPr/>
        </p:nvPicPr>
        <p:blipFill>
          <a:blip r:embed="rId2"/>
          <a:stretch>
            <a:fillRect/>
          </a:stretch>
        </p:blipFill>
        <p:spPr>
          <a:xfrm>
            <a:off x="3538728" y="1344168"/>
            <a:ext cx="237744" cy="237744"/>
          </a:xfrm>
          <a:prstGeom prst="rect">
            <a:avLst/>
          </a:prstGeom>
        </p:spPr>
      </p:pic>
      <p:sp>
        <p:nvSpPr>
          <p:cNvPr id="11" name="Text 7"/>
          <p:cNvSpPr txBox="1"/>
          <p:nvPr/>
        </p:nvSpPr>
        <p:spPr>
          <a:xfrm>
            <a:off x="3995928" y="1234440"/>
            <a:ext cx="1783080" cy="457200"/>
          </a:xfrm>
          <a:prstGeom prst="rect">
            <a:avLst/>
          </a:prstGeom>
          <a:noFill/>
          <a:ln/>
        </p:spPr>
        <p:txBody>
          <a:bodyPr wrap="square" lIns="0" tIns="0" rIns="0" bIns="0" rtlCol="0" anchor="ctr"/>
          <a:lstStyle/>
          <a:p>
            <a:pPr indent="0" marL="0">
              <a:buNone/>
            </a:pPr>
            <a:r>
              <a:rPr lang="en-US" sz="1500" b="1" dirty="0">
                <a:solidFill>
                  <a:schemeClr val="bg1"/>
                </a:solidFill>
              </a:rPr>
              <a:t>Honest limits</a:t>
            </a:r>
            <a:endParaRPr lang="en-US" sz="1500" dirty="0"/>
          </a:p>
        </p:txBody>
      </p:sp>
      <p:sp>
        <p:nvSpPr>
          <p:cNvPr id="12" name="Text 8"/>
          <p:cNvSpPr txBox="1"/>
          <p:nvPr/>
        </p:nvSpPr>
        <p:spPr>
          <a:xfrm>
            <a:off x="3429000" y="1828800"/>
            <a:ext cx="237744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No quantum advantage: a laptop wins today</a:t>
            </a:r>
            <a:endParaRPr lang="en-US" sz="1300" dirty="0"/>
          </a:p>
          <a:p>
            <a:pPr marL="177800" indent="-177800">
              <a:spcAft>
                <a:spcPts val="600"/>
              </a:spcAft>
              <a:buSzPct val="100000"/>
              <a:buChar char="•"/>
            </a:pPr>
            <a:r>
              <a:rPr lang="en-US" sz="1300" dirty="0">
                <a:solidFill>
                  <a:schemeClr val="bg1"/>
                </a:solidFill>
              </a:rPr>
              <a:t>Our anneal is imitated on gates, not a D-Wave</a:t>
            </a:r>
            <a:endParaRPr lang="en-US" sz="1300" dirty="0"/>
          </a:p>
          <a:p>
            <a:pPr marL="177800" indent="-177800">
              <a:spcAft>
                <a:spcPts val="600"/>
              </a:spcAft>
              <a:buSzPct val="100000"/>
              <a:buChar char="•"/>
            </a:pPr>
            <a:r>
              <a:rPr lang="en-US" sz="1300" dirty="0">
                <a:solidFill>
                  <a:schemeClr val="bg1"/>
                </a:solidFill>
              </a:rPr>
              <a:t>3-18 qubits vs. 50-200 in real portfolios</a:t>
            </a:r>
            <a:endParaRPr lang="en-US" sz="1300" dirty="0"/>
          </a:p>
          <a:p>
            <a:pPr marL="177800" indent="-177800">
              <a:spcAft>
                <a:spcPts val="600"/>
              </a:spcAft>
              <a:buSzPct val="100000"/>
              <a:buChar char="•"/>
            </a:pPr>
            <a:r>
              <a:rPr lang="en-US" sz="1300" dirty="0">
                <a:solidFill>
                  <a:schemeClr val="bg1"/>
                </a:solidFill>
              </a:rPr>
              <a:t>The noise model undersells the anneal</a:t>
            </a:r>
            <a:endParaRPr lang="en-US" sz="1300" dirty="0"/>
          </a:p>
        </p:txBody>
      </p:sp>
      <p:sp>
        <p:nvSpPr>
          <p:cNvPr id="13" name="With another month card"/>
          <p:cNvSpPr/>
          <p:nvPr/>
        </p:nvSpPr>
        <p:spPr>
          <a:xfrm>
            <a:off x="6071616" y="1097280"/>
            <a:ext cx="2615184" cy="3017520"/>
          </a:xfrm>
          <a:prstGeom prst="roundRect">
            <a:avLst>
              <a:gd name="adj" fmla="val 2797"/>
            </a:avLst>
          </a:prstGeom>
          <a:solidFill>
            <a:srgbClr val="2B2A6B"/>
          </a:solidFill>
          <a:ln w="12700">
            <a:solidFill>
              <a:srgbClr val="2B2A6B"/>
            </a:solidFill>
            <a:prstDash val="solid"/>
          </a:ln>
        </p:spPr>
      </p:sp>
      <p:sp>
        <p:nvSpPr>
          <p:cNvPr id="14" name="With another month circle"/>
          <p:cNvSpPr/>
          <p:nvPr/>
        </p:nvSpPr>
        <p:spPr>
          <a:xfrm>
            <a:off x="6236208" y="1234440"/>
            <a:ext cx="457200" cy="457200"/>
          </a:xfrm>
          <a:prstGeom prst="ellipse">
            <a:avLst/>
          </a:prstGeom>
          <a:solidFill>
            <a:srgbClr val="0E9384"/>
          </a:solidFill>
          <a:ln w="12700">
            <a:solidFill>
              <a:srgbClr val="0E9384"/>
            </a:solidFill>
            <a:prstDash val="solid"/>
          </a:ln>
        </p:spPr>
      </p:sp>
      <p:pic>
        <p:nvPicPr>
          <p:cNvPr id="15" name="With another month icon" descr="preencoded.png">    </p:cNvPr>
          <p:cNvPicPr>
            <a:picLocks noChangeAspect="1"/>
          </p:cNvPicPr>
          <p:nvPr/>
        </p:nvPicPr>
        <p:blipFill>
          <a:blip r:embed="rId3"/>
          <a:stretch>
            <a:fillRect/>
          </a:stretch>
        </p:blipFill>
        <p:spPr>
          <a:xfrm>
            <a:off x="6345936" y="1344168"/>
            <a:ext cx="237744" cy="237744"/>
          </a:xfrm>
          <a:prstGeom prst="rect">
            <a:avLst/>
          </a:prstGeom>
        </p:spPr>
      </p:pic>
      <p:sp>
        <p:nvSpPr>
          <p:cNvPr id="16" name="Text 11"/>
          <p:cNvSpPr txBox="1"/>
          <p:nvPr/>
        </p:nvSpPr>
        <p:spPr>
          <a:xfrm>
            <a:off x="6803136" y="1234440"/>
            <a:ext cx="1783080" cy="457200"/>
          </a:xfrm>
          <a:prstGeom prst="rect">
            <a:avLst/>
          </a:prstGeom>
          <a:noFill/>
          <a:ln/>
        </p:spPr>
        <p:txBody>
          <a:bodyPr wrap="square" lIns="0" tIns="0" rIns="0" bIns="0" rtlCol="0" anchor="ctr"/>
          <a:lstStyle/>
          <a:p>
            <a:pPr indent="0" marL="0">
              <a:buNone/>
            </a:pPr>
            <a:r>
              <a:rPr lang="en-US" sz="1500" b="1" dirty="0">
                <a:solidFill>
                  <a:schemeClr val="bg1"/>
                </a:solidFill>
              </a:rPr>
              <a:t>With another month</a:t>
            </a:r>
            <a:endParaRPr lang="en-US" sz="1500" dirty="0"/>
          </a:p>
        </p:txBody>
      </p:sp>
      <p:sp>
        <p:nvSpPr>
          <p:cNvPr id="17" name="Text 12"/>
          <p:cNvSpPr txBox="1"/>
          <p:nvPr/>
        </p:nvSpPr>
        <p:spPr>
          <a:xfrm>
            <a:off x="6236208" y="1828800"/>
            <a:ext cx="237744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Deeper circuits, where borrowed settings save more</a:t>
            </a:r>
            <a:endParaRPr lang="en-US" sz="1300" dirty="0"/>
          </a:p>
          <a:p>
            <a:pPr marL="177800" indent="-177800">
              <a:spcAft>
                <a:spcPts val="600"/>
              </a:spcAft>
              <a:buSzPct val="100000"/>
              <a:buChar char="•"/>
            </a:pPr>
            <a:r>
              <a:rPr lang="en-US" sz="1300" dirty="0">
                <a:solidFill>
                  <a:schemeClr val="bg1"/>
                </a:solidFill>
              </a:rPr>
              <a:t>A real D-Wave annealer as a third backend</a:t>
            </a:r>
            <a:endParaRPr lang="en-US" sz="1300" dirty="0"/>
          </a:p>
          <a:p>
            <a:pPr marL="177800" indent="-177800">
              <a:spcAft>
                <a:spcPts val="600"/>
              </a:spcAft>
              <a:buSzPct val="100000"/>
              <a:buChar char="•"/>
            </a:pPr>
            <a:r>
              <a:rPr lang="en-US" sz="1300" dirty="0">
                <a:solidFill>
                  <a:schemeClr val="bg1"/>
                </a:solidFill>
              </a:rPr>
              <a:t>Real pipeline data from ClinicalTrials.gov</a:t>
            </a:r>
            <a:endParaRPr lang="en-US" sz="1300" dirty="0"/>
          </a:p>
          <a:p>
            <a:pPr marL="177800" indent="-177800">
              <a:spcAft>
                <a:spcPts val="600"/>
              </a:spcAft>
              <a:buSzPct val="100000"/>
              <a:buChar char="•"/>
            </a:pPr>
            <a:r>
              <a:rPr lang="en-US" sz="1300" dirty="0">
                <a:solidFill>
                  <a:schemeClr val="bg1"/>
                </a:solidFill>
              </a:rPr>
              <a:t>Needs ~10-100× lower two-qubit error to compete</a:t>
            </a:r>
            <a:endParaRPr lang="en-US" sz="1300" dirty="0"/>
          </a:p>
        </p:txBody>
      </p:sp>
      <p:sp>
        <p:nvSpPr>
          <p:cNvPr id="18" name="Text 13"/>
          <p:cNvSpPr txBox="1"/>
          <p:nvPr/>
        </p:nvSpPr>
        <p:spPr>
          <a:xfrm>
            <a:off x="457200" y="4224528"/>
            <a:ext cx="8138160" cy="411480"/>
          </a:xfrm>
          <a:prstGeom prst="rect">
            <a:avLst/>
          </a:prstGeom>
          <a:noFill/>
          <a:ln/>
        </p:spPr>
        <p:txBody>
          <a:bodyPr wrap="square" lIns="0" tIns="0" rIns="0" bIns="0" rtlCol="0" anchor="t"/>
          <a:lstStyle/>
          <a:p>
            <a:pPr indent="0" marL="0">
              <a:buNone/>
            </a:pPr>
            <a:r>
              <a:rPr lang="en-US" sz="1400" i="1" dirty="0">
                <a:solidFill>
                  <a:schemeClr val="accent6"/>
                </a:solidFill>
              </a:rPr>
              <a:t>Q-Router knows when and how to use quantum computing, and admits a laptop still wins today.</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Q-Router">
  <a:themeElements>
    <a:clrScheme name="Q-Router">
      <a:dk1>
        <a:srgbClr val="1B1D36"/>
      </a:dk1>
      <a:lt1>
        <a:srgbClr val="FFFFFF"/>
      </a:lt1>
      <a:dk2>
        <a:srgbClr val="2B2A6B"/>
      </a:dk2>
      <a:lt2>
        <a:srgbClr val="F2F2F8"/>
      </a:lt2>
      <a:accent1>
        <a:srgbClr val="5B4FD1"/>
      </a:accent1>
      <a:accent2>
        <a:srgbClr val="0E9384"/>
      </a:accent2>
      <a:accent3>
        <a:srgbClr val="667085"/>
      </a:accent3>
      <a:accent4>
        <a:srgbClr val="E8833A"/>
      </a:accent4>
      <a:accent5>
        <a:srgbClr val="D64545"/>
      </a:accent5>
      <a:accent6>
        <a:srgbClr val="A8A3EC"/>
      </a:accent6>
      <a:hlink>
        <a:srgbClr val="5B4FD1"/>
      </a:hlink>
      <a:folHlink>
        <a:srgbClr val="2B2A6B"/>
      </a:folHlink>
    </a:clrScheme>
    <a:fontScheme name="Q-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Q-Router</dc:title>
  <dc:subject>PptxGenJS Presentation</dc:subject>
  <dc:creator>Team Q-Router, Florida Atlantic University</dc:creator>
  <cp:lastModifiedBy>Team Q-Router, Florida Atlantic University</cp:lastModifiedBy>
  <cp:revision>1</cp:revision>
  <dcterms:created xsi:type="dcterms:W3CDTF">2026-10-18T02:40:35Z</dcterms:created>
  <dcterms:modified xsi:type="dcterms:W3CDTF">2026-10-18T02:40:35Z</dcterms:modified>
</cp:coreProperties>
</file>