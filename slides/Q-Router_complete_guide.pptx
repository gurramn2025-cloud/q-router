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charts/chart1.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here" id="{89789e3a-4723-ef3d-a681-ae17458d794e}">
          <p14:sldIdLst>
            <p14:sldId id="256"/>
            <p14:sldId id="257"/>
            <p14:sldId id="258"/>
          </p14:sldIdLst>
        </p14:section>
        <p14:section name="Part 1 · The problem" id="{3535d6af-7fa9-684e-08de-cd781fe40619}">
          <p14:sldIdLst>
            <p14:sldId id="259"/>
            <p14:sldId id="260"/>
          </p14:sldIdLst>
        </p14:section>
        <p14:section name="Part 2 · Quantum basics" id="{4022755c-0c83-7499-3314-47667ec0c6c5}">
          <p14:sldIdLst>
            <p14:sldId id="261"/>
            <p14:sldId id="262"/>
            <p14:sldId id="263"/>
            <p14:sldId id="264"/>
            <p14:sldId id="265"/>
          </p14:sldIdLst>
        </p14:section>
        <p14:section name="Part 3 · Turning decisions into math" id="{e775a66b-1c9c-5b35-75ed-d2b6326ddb10}">
          <p14:sldIdLst>
            <p14:sldId id="266"/>
            <p14:sldId id="267"/>
            <p14:sldId id="268"/>
            <p14:sldId id="269"/>
            <p14:sldId id="270"/>
            <p14:sldId id="271"/>
          </p14:sldIdLst>
        </p14:section>
        <p14:section name="Part 4 · The solvers" id="{4a4015f0-2b4a-6142-99c0-f35bcb770525}">
          <p14:sldIdLst>
            <p14:sldId id="272"/>
            <p14:sldId id="273"/>
            <p14:sldId id="274"/>
            <p14:sldId id="275"/>
            <p14:sldId id="276"/>
            <p14:sldId id="277"/>
            <p14:sldId id="278"/>
          </p14:sldIdLst>
        </p14:section>
        <p14:section name="Part 5 · The fingerprint and the AI" id="{a1a54bc9-af16-c30c-1554-e127846b6b64}">
          <p14:sldIdLst>
            <p14:sldId id="279"/>
            <p14:sldId id="280"/>
            <p14:sldId id="281"/>
            <p14:sldId id="282"/>
            <p14:sldId id="283"/>
            <p14:sldId id="284"/>
            <p14:sldId id="285"/>
            <p14:sldId id="286"/>
          </p14:sldIdLst>
        </p14:section>
        <p14:section name="Part 6 · Patterns across industries" id="{ff4a2048-3759-5742-c5a4-070c0a8b4216}">
          <p14:sldIdLst>
            <p14:sldId id="287"/>
            <p14:sldId id="288"/>
            <p14:sldId id="289"/>
            <p14:sldId id="290"/>
          </p14:sldIdLst>
        </p14:section>
        <p14:section name="Part 7 · Breaking problems into pieces" id="{4670b5a4-0a88-f764-c53d-1e7b71cefbf4}">
          <p14:sldIdLst>
            <p14:sldId id="291"/>
            <p14:sldId id="292"/>
            <p14:sldId id="293"/>
            <p14:sldId id="294"/>
            <p14:sldId id="295"/>
          </p14:sldIdLst>
        </p14:section>
        <p14:section name="Part 8 · Running problems together" id="{1f273f0a-50c9-733a-a04c-2d4934efe9fa}">
          <p14:sldIdLst>
            <p14:sldId id="296"/>
            <p14:sldId id="297"/>
            <p14:sldId id="298"/>
          </p14:sldIdLst>
        </p14:section>
        <p14:section name="Part 9 · Errors and how we fight them" id="{e241cb94-4a71-bebf-e18e-6911392c1aa4}">
          <p14:sldIdLst>
            <p14:sldId id="299"/>
            <p14:sldId id="300"/>
            <p14:sldId id="301"/>
            <p14:sldId id="302"/>
          </p14:sldIdLst>
        </p14:section>
        <p14:section name="Part 10 · Real hardware plan" id="{771dbbc8-9a96-be27-a240-88cbf11e639a}">
          <p14:sldIdLst>
            <p14:sldId id="303"/>
            <p14:sldId id="304"/>
          </p14:sldIdLst>
        </p14:section>
        <p14:section name="Part 11 · The roadmap chart" id="{eb869909-f97d-1acd-1f27-976922bd0659}">
          <p14:sldIdLst>
            <p14:sldId id="305"/>
          </p14:sldIdLst>
        </p14:section>
        <p14:section name="Part 12 · Limits, prior work, novelty" id="{948aa967-621a-60ad-8591-142983cf0ffc}">
          <p14:sldIdLst>
            <p14:sldId id="306"/>
            <p14:sldId id="307"/>
            <p14:sldId id="308"/>
            <p14:sldId id="309"/>
          </p14:sldIdLst>
        </p14:section>
        <p14:section name="Part 13 · Quick reference" id="{d74376bf-ce5f-e778-e8cc-9d96f0bfc951}">
          <p14:sldIdLst>
            <p14:sldId id="310"/>
            <p14:sldId id="311"/>
            <p14:sldId id="312"/>
            <p14:sldId id="3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D36"/>
                </a:solidFill>
                <a:latin typeface="+mn-lt"/>
              </a:defRPr>
            </a:pPr>
            <a:r>
              <a:rPr sz="1200" b="0" i="0" u="none" strike="noStrike">
                <a:solidFill>
                  <a:srgbClr val="1B1D36"/>
                </a:solidFill>
                <a:latin typeface="+mn-lt"/>
              </a:rPr>
              <a:t>All 60 problems (± 0.02 each)</a:t>
            </a:r>
          </a:p>
        </c:rich>
      </c:tx>
      <c:layout/>
      <c:overlay val="0"/>
    </c:title>
    <c:autoTitleDeleted val="0"/>
    <c:plotArea>
      <c:layout/>
      <c:barChart>
        <c:barDir val="bar"/>
        <c:grouping val="clustered"/>
        <c:varyColors val="0"/>
        <c:ser>
          <c:idx val="0"/>
          <c:order val="0"/>
          <c:tx>
            <c:strRef>
              <c:f>Sheet1!$B$1</c:f>
              <c:strCache>
                <c:ptCount val="1"/>
                <c:pt idx="0">
                  <c:v>Score</c:v>
                </c:pt>
              </c:strCache>
            </c:strRef>
          </c:tx>
          <c:spPr>
            <a:solidFill>
              <a:srgbClr val="667085"/>
            </a:solidFill>
            <a:effectLst/>
          </c:spPr>
          <c:invertIfNegative val="0"/>
          <c:dLbls>
            <c:numFmt formatCode="0.000" sourceLinked="0"/>
            <c:txPr>
              <a:bodyPr/>
              <a:lstStyle/>
              <a:p>
                <a:pPr>
                  <a:defRPr b="0" i="0" strike="noStrike" sz="1100" u="none">
                    <a:solidFill>
                      <a:srgbClr val="1B1D36"/>
                    </a:solidFill>
                    <a:latin typeface="+mn-lt"/>
                  </a:defRPr>
                </a:pPr>
              </a:p>
            </c:txPr>
            <c:showLegendKey val="0"/>
            <c:showVal val="1"/>
            <c:showCatName val="0"/>
            <c:showSerName val="0"/>
            <c:showPercent val="0"/>
            <c:showBubbleSize val="0"/>
            <c:showLeaderLines val="0"/>
          </c:dLbls>
          <c:dPt>
            <c:idx val="0"/>
            <c:invertIfNegative val="0"/>
            <c:bubble3D val="0"/>
            <c:spPr>
              <a:solidFill>
                <a:srgbClr val="667085"/>
              </a:solidFill>
              <a:effectLst/>
            </c:spPr>
          </c:dPt>
          <c:dPt>
            <c:idx val="1"/>
            <c:invertIfNegative val="0"/>
            <c:bubble3D val="0"/>
            <c:spPr>
              <a:solidFill>
                <a:srgbClr val="E8833A"/>
              </a:solidFill>
              <a:effectLst/>
            </c:spPr>
          </c:dPt>
          <c:dPt>
            <c:idx val="2"/>
            <c:invertIfNegative val="0"/>
            <c:bubble3D val="0"/>
            <c:spPr>
              <a:solidFill>
                <a:srgbClr val="C9CCD6"/>
              </a:solidFill>
              <a:effectLst/>
            </c:spPr>
          </c:dPt>
          <c:dPt>
            <c:idx val="3"/>
            <c:invertIfNegative val="0"/>
            <c:bubble3D val="0"/>
            <c:spPr>
              <a:solidFill>
                <a:srgbClr val="C9CCD6"/>
              </a:solidFill>
              <a:effectLst/>
            </c:spPr>
          </c:dPt>
          <c:cat>
            <c:multiLvlStrRef>
              <c:f>Sheet1!$A$2:$A$5</c:f>
              <c:multiLvlStrCache>
                <c:ptCount val="4"/>
                <c:lvl>
                  <c:pt idx="0">
                    <c:v>Tuned from scratch</c:v>
                  </c:pt>
                  <c:pt idx="1">
                    <c:v>Copied from twin</c:v>
                  </c:pt>
                  <c:pt idx="2">
                    <c:v>Copied from random</c:v>
                  </c:pt>
                  <c:pt idx="3">
                    <c:v>Default dials</c:v>
                  </c:pt>
                </c:lvl>
              </c:multiLvlStrCache>
            </c:multiLvlStrRef>
          </c:cat>
          <c:val>
            <c:numRef>
              <c:f>Sheet1!$B$2:$B$5</c:f>
              <c:numCache>
                <c:formatCode>General</c:formatCode>
                <c:ptCount val="4"/>
                <c:pt idx="0">
                  <c:v>0.633</c:v>
                </c:pt>
                <c:pt idx="1">
                  <c:v>0.599</c:v>
                </c:pt>
                <c:pt idx="2">
                  <c:v>0.577</c:v>
                </c:pt>
                <c:pt idx="3">
                  <c:v>0.581</c:v>
                </c:pt>
              </c:numCache>
            </c:numRef>
          </c:val>
        </c:ser>
        <c:dLbls>
          <c:numFmt formatCode="0.000" sourceLinked="0"/>
          <c:txPr>
            <a:bodyPr/>
            <a:lstStyle/>
            <a:p>
              <a:pPr>
                <a:defRPr b="0" i="0" strike="noStrike" sz="1100" u="none">
                  <a:solidFill>
                    <a:srgbClr val="1B1D3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1D36"/>
                </a:solidFill>
                <a:latin typeface="+mn-lt"/>
              </a:defRPr>
            </a:pPr>
            <a:endParaRPr lang="en-US"/>
          </a:p>
        </c:txPr>
        <c:crossAx val="2094734552"/>
        <c:crosses val="autoZero"/>
        <c:auto val="1"/>
        <c:lblAlgn val="ctr"/>
        <c:noMultiLvlLbl val="1"/>
      </c:catAx>
      <c:valAx>
        <c:axId val="2094734552"/>
        <c:scaling>
          <c:orientation val="minMax"/>
          <c:max val="0.68"/>
          <c:min val="0.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deck to study before the event and as a lookup during Q&amp;A. Every slide's footer names its part, and the Parts list here is the table of contents. When a judge asks "how did you...?", find the part, open the slide, and answer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one-breath version: "A decision becomes yes/no choices, big problems are split into pieces, each piece is described with 9 numbers, a small AI picks gate-based quantum, annealing quantum or a laptop for each piece, settings are copied from a similar problem in another industry, several problems run together on the chip, and every answer is checked against the true best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What problem are you solving, and for whom?
A: Knowing when and how to use quantum computing, so scarce quantum time isn't wasted. For companies paying for quantum time, for the companies renting quantum computers out, and for researchers.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Is this a real problem if a laptop wins today?
A: Yes. IBM, D-Wave and Amazon already rent different kinds of quantum computers. D-Wave's hybrid solvers already split work between classical and quantum behind the scenes. Today the honest answer is usually "use a laptop", and Q-Router says so; the choice gets more valuable as chips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What is a qubit in your project?
A: One yes/no decision, for example "fund drug 3?". 10 drugs = 10 qubits.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Why might quantum help here?
A: Superposition holds every combination at once, entanglement links decisions that affect each other, and measuring many times gives many good answers. Whether that beats a laptop on big problems is an open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What is noise?
A: Random mistakes in the chip: qubits drift, gates are slightly off, readouts get misread. Every step adds a little, so long recipes collect the most. That's the main reason a recipe that is great on paper can fail on a real chip.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What's the difference between annealing and gate-based?
A: Annealing settles slowly toward the best answer through many small steps on a fixed schedule; gate-based follows a short recipe whose settings are tuned. Neither is random guessing: both 'load the dice' toward good answers, and only the final measurement is random.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Is your annealer real?
A: No. IBM only builds gate-based chips, and we have no D-Wave access. We copy the annealing idea by chopping its slow sweep into small gate steps (a 'digitized anneal', also called linear-ramp QAOA). This method has been run on IBM hardware with 100+ qubits by other researchers. A real D-Wave could plug into the same 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What is a QUBO?
A: Our score sheet format: every decision is yes/no, there are points for each yes and for each pair of yeses, and lower total is better. Rules become penalties. It stands for Quadratic Unconstrained Binary Optimization; 'quadratic' means it includes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 judge through this if they ask how the score sheet works. Drugs A and B pay the most, but they're for the same disease (shared risk +3), so the best pair is A + C, not A + B. Breaking the "fund 2" rule costs a penalty of 10 × (number funded − 2)², so it never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How do you make the computer obey 'fund exactly 4'?
A: Add a penalty of P × (number funded − 4)². It's zero when you fund exactly 4 and grows fast otherwise. P is set bigger than the most any single flip could ever gain, so breaking the rule can never pay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Is the drug data real?
A: The drug list is made up, but it uses real industry success rates by trial phase. The math is the same portfolio math investors use for stocks.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Why four different kinds of problem?
A: So the router learns from varied shapes, and so we can test whether patterns learned in one industry help another (Part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What do you mean by the 'shape' of a problem?
A: Draw a dot for each decision and a line between two decisions that affect each other. Density is lines drawn divided by lines possible. Drug and stock problems are fully connected (density 1.0) because the 'pick exactly k' rule links every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How do you know the right answer?
A: Our problems are small, so a laptop checks every combination and finds the exact best. Every result is compared against it. This only works up to about 20 choices (about a million combinations); real problems need other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How do you measure quality?
A: 1 means the true best, 0 means as good as a random guess, below 0 means worse than random. We average over every answer the solver gives, not its luckiest one. With 2,048 shots and only about 1,000 possible answers, the luckiest shot is almost always perfect, so that would be cheating.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What is your classical comparison?
A: Simulated annealing from D-Wave's free software, run on a normal computer. It's the same 'settle slowly' idea as an annealer, but in ordinary code. We also have the exact brute-force answer as a second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Walk me through your circuit.
A: Hadamard gates put every qubit in a 50/50 mix. The cost layer gives each qubit an RZ rotation for its own value and an RZZ link for every connected pair (entanglement). The mixer layer applies RX rotations to shuffle. Repeat p times, then measure. Qiskit builds this with QAOAAnsatz from our score sheet, rewritten as an 'Ising' energy (SparsePauliOp).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How are the dials tuned, and why not on the real chip?
A: An optimizer called COBYLA tries settings, runs the recipe on the simulator, reads the average score, and adjusts, about 60-120 times. Doing that on the real chip would burn our whole 10-minute budget, so the chip only ever runs final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What was hardest to get working?
A: A sign error. Qiskit's QAOA starts at the TOP of its shuffle step's energy ladder, so with both dials positive the circuit was steered toward the HIGHEST energy, the worst answer. Scores were negative, worse than random. Making the problem dial negative fixed it. We verified it by hand on a one-qubit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Does it actually solve the problem?
A: Yes, all three methods found the exact best set of 4 drugs. But the laptop's answers are almost always the best one (0.95), while the quantum recipes give good answers on average but not every time (0.78 and 0.76), and that's before chip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How does it decide the shape of a piece?
A: It draws the connection map and measures 9 numbers: 5 about the map and 4 about how the recipe would run on IBM's real chip.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Where do your noise estimates come from?
A: IBM publishes calibration data: the error rate of every qubit, gate and measurement on each chip. We fit the recipe onto IBM Torino's real layout, then multiply (1 − error) for every step. That's the chance the whole recipe runs with zero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Were the 60 problems solved on the real chip?
A: No. All 60 were solved on a simulator, three ways each, and we know the true best for each. Real-chip errors were estimated with the formula from the previous slide. They're practice problems, the AI's homework, rebuilt each time the notebook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How does the AI decide?
A: A random forest: 300 small decision trees, each asking a chain of yes/no questions about the 9 fingerprint numbers, trained on slightly different samples. Their predictions are averaged. It predicts all three scores at once. Its most important input by far is the annealing recipe's success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How does it decide to use the laptop?
A: It picks whichever quantum kind has the higher predicted score. If even that is predicted below 0.5 (less than half the way from random to perfect), the piece goes to the laptop. Honest caveat: the rule compares quantum to a fixed bar of 0.5, not to the laptop's own predicted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How do you know the AI's predictions are right?
A: 5-fold testing: split the 60 problems into 5 groups of 12, train on 48, predict the other 12, and rotate so every problem is predicted by a model that never saw it. Errors of 0.02-0.03 are small compared with how much scores really vary (0.07-0.12).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Do patterns really carry across industries?
A: We trained on three industries and tested on the fourth, four times. The AI still chose the better quantum kind 72-100% of the time, with small prediction errors, so what it learns isn't tied to one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Does the router actually help?
A: Among the two quantum kinds, the AI scores 0.436 versus 0.423 for always using gate-based, and a perfect 'cheat' that already knows the answers gets 0.438. So it's near-perfect at choosing, but the gain over 'always gate-based' is small, because gate-based usually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What does this chart show?
A: Each dot is one practice problem. Its 9 fingerprint numbers are squashed into 2 axes with a method called PCA, which keeps as much of the difference between problems as possible. Dots close together have similar shapes, even if they come from different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How do you find a 'similar problem'?
A: Rescale the 9 numbers so none dominates, measure the straight-line distance between fingerprints, and take the closest problem from a DIFFERENT industry. It's a lookup, not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How do you know copying from a twin really helps?
A: We compare four ways of setting the dials on all 60 problems. The key comparison is twin vs. random donor: both cost one run, both come from another industry, so if the twin wins, the matching is what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What did you find?
A: Twin 0.599 vs. random 0.577 vs. default 0.581 vs. full tuning 0.633, across 60 problems. The twin beats random by 0.023 ± 0.010 and wins on 65% of problems. So it recovers about half of the tuning gain at 1/60 of the cost. It doesn't help medical-test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How do you break a problem down?
A: Spectral clustering: it treats the connection map as a network and cuts it where the links are weakest, so decisions that strongly affect each other stay in the same piece. Pieces are at most 8 decisions, small enough for today's chips.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If pieces affect each other, how can you solve them separately?
A: Each piece is solved with the other pieces' current choices held fixed; their influence is folded into the piece's score sheet. Then we move to the next piece, keeping a change only if it improves things, and go around twice. This is called block coordinate descent, the same idea D-Wave's qbsolv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judge's question: comparing the two kinds of quantum computer piece by piece. We deliberately ran BOTH kinds on EVERY piece to check the router's choices, scoring each three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When was each type effective?
A: Gate-based won the dense drug piece; annealing won both sparse trial-site pieces. With no errors annealing wins everything, but it needs about 7× more link steps, so errors hurt it most where everything is linked. The router's mix (0.539) beat all-gate (0.450) and all-annealing (0.524), and it chose right on 2 of 3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Is this one example or a pattern?
A: A pattern. Each dot is one of the 60 practice problems. Left-right is how connected it is; up-down is how much annealing beat gate-based. Fully connected problems (right edge) sit below zero: gate-based wins. Looser problems spread around zero and above: annealing can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How can different problems run at the same time?
A: IBM's chips have 133-156 qubits and each problem uses 4-8, so each problem gets its own group of qubits inside one big recipe, sent as one job. To measure interference (crosstalk), we also run each problem alone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How does pattern recognition save compute?
A: Group problems by shape, tune only one per group, let the rest share those settings, and send everything to the chip in one trip. Three versions of each problem separate the two savings: own settings alone, shared settings alone, shared settings packed.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How much do you save, and what does it cost?
A: 4× fewer quantum shots and 1 chip job instead of 4, keeping 96% of the quality (0.524 → 0.504). Almost all the loss came from the network problem being grouped with finance problems; packing itself cost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How do you compare simulator and hardware?
A: The same recipe runs four ways, from ideal to real. The gaps between columns tell us how much errors cost and whether our fixes helped.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What error mitigation did you use on hardware?
A: Dynamical decoupling (XY4 pulses on waiting qubits) and Pauli twirling on gates and measurements, both built into IBM's sampler. They reduce or reshape errors rather than removing them, so we compare raw and fixed results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What is zero-noise extrapolation?
A: Deliberately make errors worse by repeating the recipe forward, backward, forward (3× and 5× the errors, same answer in theory). Measure how the result degrades, draw a line, and extend it back to zero errors. On a simulation of Torino it won back about a quarter of what errors destroyed.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Where is the quantum part, and does it matter?
A: We measured how entangled the gate-based recipe's state is for the 10-drug problem (about 1 bit between its two halves), then removed every link step and re-tuned. The score fell from 0.77 to 0.31. So the links between qubits do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Why not run more on the real chip?
A: The free plan gives 10 minutes per rolling 28 days, so minutes used tonight don't return before the state final on Nov 8. And the free plan has no 'sessions', so we batch many recipes into each job. Everything is tuned on simulators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after the hardware runs to explain the numbers. Whatever the outcome, report it: the handbook rewards honest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What would need to change for quantum to be useful?
A: This chart pretends chip errors shrink by 3×, 10×, 30× and 100×, recomputes each practice problem's predicted quantum score, and counts how many clear the 0.5 bar. With about 10× fewer errors, every problem clears it. Caveat: clearing 0.5 means 'worth trying', not 'beats the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handbook says: a team that clearly explains why quantum may NOT yet beat classical shows more understanding than one that overclaims. Lead with these, don't hide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Hasn't this been done before?
A: Each ingredient exists, and we cite them. What we didn't find is the combination, tested on real industry decisions and real hardware. We say 'we didn't find prior work testing this', never 'first 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What makes your approach different?
A: Four things together: (1) gate-based vs. annealing chosen piece by piece inside one problem, (2) settings copied across real industries with a fair random-copy test, (3) routing that uses the real chip's error rates, and (4) the quantum time saved,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What did you learn? What would you do with another month?
A: Use the two cards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UIDE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00584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548640" y="2286000"/>
            <a:ext cx="7863840" cy="210312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UIDE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2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slideLayout" Target="../slideLayouts/slideLayout3.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00584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Q-Router: the complete guide</a:t>
            </a:r>
            <a:endParaRPr lang="en-US" sz="4800" dirty="0"/>
          </a:p>
        </p:txBody>
      </p:sp>
      <p:sp>
        <p:nvSpPr>
          <p:cNvPr id="3" name="Text 0"/>
          <p:cNvSpPr/>
          <p:nvPr>
            <p:ph idx="101" type="body" hasCustomPrompt="1"/>
          </p:nvPr>
        </p:nvSpPr>
        <p:spPr>
          <a:xfrm>
            <a:off x="548640" y="2286000"/>
            <a:ext cx="7863840" cy="2103120"/>
          </a:xfrm>
          <a:prstGeom prst="rect">
            <a:avLst/>
          </a:prstGeom>
          <a:noFill/>
          <a:ln/>
        </p:spPr>
        <p:txBody>
          <a:bodyPr wrap="square" lIns="0" tIns="0" rIns="0" bIns="0" rtlCol="0" anchor="t"/>
          <a:lstStyle/>
          <a:p>
            <a:pPr indent="0" marL="0">
              <a:buNone/>
            </a:pPr>
            <a:r>
              <a:rPr lang="en-US" sz="2000" dirty="0">
                <a:solidFill>
                  <a:schemeClr val="bg1"/>
                </a:solidFill>
              </a:rPr>
              <a:t>Every step, every decision, every test and every chart, explained in plain language</a:t>
            </a:r>
            <a:endParaRPr lang="en-US" sz="1800" dirty="0"/>
          </a:p>
          <a:p>
            <a:pPr indent="0" marL="0">
              <a:buNone/>
            </a:pPr>
            <a:r>
              <a:rPr lang="en-US" sz="1000" dirty="0">
                <a:solidFill>
                  <a:schemeClr val="accent6"/>
                </a:solidFill>
              </a:rPr>
              <a:t> </a:t>
            </a:r>
            <a:endParaRPr lang="en-US" sz="1800" dirty="0"/>
          </a:p>
          <a:p>
            <a:pPr indent="0" marL="0">
              <a:buNone/>
            </a:pPr>
            <a:r>
              <a:rPr lang="en-US" sz="1500" dirty="0">
                <a:solidFill>
                  <a:schemeClr val="accent6"/>
                </a:solidFill>
              </a:rPr>
              <a:t>A study guide for the team and a reference to open during judges' questions. The 10-slide talk is a separate deck.</a:t>
            </a:r>
            <a:endParaRPr lang="en-US" sz="1800" dirty="0"/>
          </a:p>
          <a:p>
            <a:pPr indent="0" marL="0">
              <a:buNone/>
            </a:pPr>
            <a:r>
              <a:rPr lang="en-US" sz="1000" dirty="0">
                <a:solidFill>
                  <a:schemeClr val="accent6"/>
                </a:solidFill>
              </a:rPr>
              <a:t> </a:t>
            </a:r>
            <a:endParaRPr lang="en-US" sz="1800" dirty="0"/>
          </a:p>
          <a:p>
            <a:pPr indent="0" marL="0">
              <a:buNone/>
            </a:pPr>
            <a:r>
              <a:rPr lang="en-US" sz="1200" dirty="0">
                <a:solidFill>
                  <a:schemeClr val="accent6"/>
                </a:solidFill>
              </a:rPr>
              <a:t>Team Q-Router · Florida Atlantic University · Florida Qiskit Fall Fest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How to use this guide</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Start here</a:t>
            </a:r>
            <a:endParaRPr lang="en-US" sz="1000" dirty="0"/>
          </a:p>
        </p:txBody>
      </p:sp>
      <p:sp>
        <p:nvSpPr>
          <p:cNvPr id="5" name="part 1"/>
          <p:cNvSpPr/>
          <p:nvPr/>
        </p:nvSpPr>
        <p:spPr>
          <a:xfrm>
            <a:off x="457200" y="1088136"/>
            <a:ext cx="347472" cy="347472"/>
          </a:xfrm>
          <a:prstGeom prst="ellipse">
            <a:avLst/>
          </a:prstGeom>
          <a:solidFill>
            <a:srgbClr val="5B4FD1"/>
          </a:solidFill>
          <a:ln w="12700">
            <a:solidFill>
              <a:srgbClr val="5B4FD1"/>
            </a:solidFill>
            <a:prstDash val="solid"/>
          </a:ln>
        </p:spPr>
      </p:sp>
      <p:sp>
        <p:nvSpPr>
          <p:cNvPr id="6" name="Text 3"/>
          <p:cNvSpPr txBox="1"/>
          <p:nvPr/>
        </p:nvSpPr>
        <p:spPr>
          <a:xfrm>
            <a:off x="457200" y="10881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4"/>
          <p:cNvSpPr txBox="1"/>
          <p:nvPr/>
        </p:nvSpPr>
        <p:spPr>
          <a:xfrm>
            <a:off x="914400" y="1051560"/>
            <a:ext cx="3566160" cy="457200"/>
          </a:xfrm>
          <a:prstGeom prst="rect">
            <a:avLst/>
          </a:prstGeom>
          <a:noFill/>
          <a:ln/>
        </p:spPr>
        <p:txBody>
          <a:bodyPr wrap="square" lIns="0" tIns="0" rIns="0" bIns="0" rtlCol="0" anchor="t"/>
          <a:lstStyle/>
          <a:p>
            <a:pPr indent="0" marL="0">
              <a:buNone/>
            </a:pPr>
            <a:r>
              <a:rPr lang="en-US" sz="1300" b="1" dirty="0">
                <a:solidFill>
                  <a:schemeClr val="tx1"/>
                </a:solidFill>
              </a:rPr>
              <a:t>The problem</a:t>
            </a:r>
            <a:endParaRPr lang="en-US" sz="1300" dirty="0"/>
          </a:p>
          <a:p>
            <a:pPr indent="0" marL="0">
              <a:buNone/>
            </a:pPr>
            <a:r>
              <a:rPr lang="en-US" sz="1100" dirty="0">
                <a:solidFill>
                  <a:srgbClr val="667085"/>
                </a:solidFill>
              </a:rPr>
              <a:t>why choosing a quantum computer is hard</a:t>
            </a:r>
            <a:endParaRPr lang="en-US" sz="1300" dirty="0"/>
          </a:p>
        </p:txBody>
      </p:sp>
      <p:sp>
        <p:nvSpPr>
          <p:cNvPr id="8" name="part 2"/>
          <p:cNvSpPr/>
          <p:nvPr/>
        </p:nvSpPr>
        <p:spPr>
          <a:xfrm>
            <a:off x="457200" y="1591056"/>
            <a:ext cx="347472" cy="347472"/>
          </a:xfrm>
          <a:prstGeom prst="ellipse">
            <a:avLst/>
          </a:prstGeom>
          <a:solidFill>
            <a:srgbClr val="5B4FD1"/>
          </a:solidFill>
          <a:ln w="12700">
            <a:solidFill>
              <a:srgbClr val="5B4FD1"/>
            </a:solidFill>
            <a:prstDash val="solid"/>
          </a:ln>
        </p:spPr>
      </p:sp>
      <p:sp>
        <p:nvSpPr>
          <p:cNvPr id="9" name="Text 6"/>
          <p:cNvSpPr txBox="1"/>
          <p:nvPr/>
        </p:nvSpPr>
        <p:spPr>
          <a:xfrm>
            <a:off x="457200" y="159105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0" name="Text 7"/>
          <p:cNvSpPr txBox="1"/>
          <p:nvPr/>
        </p:nvSpPr>
        <p:spPr>
          <a:xfrm>
            <a:off x="914400" y="1554480"/>
            <a:ext cx="3566160" cy="457200"/>
          </a:xfrm>
          <a:prstGeom prst="rect">
            <a:avLst/>
          </a:prstGeom>
          <a:noFill/>
          <a:ln/>
        </p:spPr>
        <p:txBody>
          <a:bodyPr wrap="square" lIns="0" tIns="0" rIns="0" bIns="0" rtlCol="0" anchor="t"/>
          <a:lstStyle/>
          <a:p>
            <a:pPr indent="0" marL="0">
              <a:buNone/>
            </a:pPr>
            <a:r>
              <a:rPr lang="en-US" sz="1300" b="1" dirty="0">
                <a:solidFill>
                  <a:schemeClr val="tx1"/>
                </a:solidFill>
              </a:rPr>
              <a:t>Quantum basics</a:t>
            </a:r>
            <a:endParaRPr lang="en-US" sz="1300" dirty="0"/>
          </a:p>
          <a:p>
            <a:pPr indent="0" marL="0">
              <a:buNone/>
            </a:pPr>
            <a:r>
              <a:rPr lang="en-US" sz="1100" dirty="0">
                <a:solidFill>
                  <a:srgbClr val="667085"/>
                </a:solidFill>
              </a:rPr>
              <a:t>qubits, entanglement, measuring, errors</a:t>
            </a:r>
            <a:endParaRPr lang="en-US" sz="1300" dirty="0"/>
          </a:p>
        </p:txBody>
      </p:sp>
      <p:sp>
        <p:nvSpPr>
          <p:cNvPr id="11" name="part 3"/>
          <p:cNvSpPr/>
          <p:nvPr/>
        </p:nvSpPr>
        <p:spPr>
          <a:xfrm>
            <a:off x="457200" y="2093976"/>
            <a:ext cx="347472" cy="347472"/>
          </a:xfrm>
          <a:prstGeom prst="ellipse">
            <a:avLst/>
          </a:prstGeom>
          <a:solidFill>
            <a:srgbClr val="5B4FD1"/>
          </a:solidFill>
          <a:ln w="12700">
            <a:solidFill>
              <a:srgbClr val="5B4FD1"/>
            </a:solidFill>
            <a:prstDash val="solid"/>
          </a:ln>
        </p:spPr>
      </p:sp>
      <p:sp>
        <p:nvSpPr>
          <p:cNvPr id="12" name="Text 9"/>
          <p:cNvSpPr txBox="1"/>
          <p:nvPr/>
        </p:nvSpPr>
        <p:spPr>
          <a:xfrm>
            <a:off x="457200" y="20939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3" name="Text 10"/>
          <p:cNvSpPr txBox="1"/>
          <p:nvPr/>
        </p:nvSpPr>
        <p:spPr>
          <a:xfrm>
            <a:off x="914400" y="2057400"/>
            <a:ext cx="3566160" cy="457200"/>
          </a:xfrm>
          <a:prstGeom prst="rect">
            <a:avLst/>
          </a:prstGeom>
          <a:noFill/>
          <a:ln/>
        </p:spPr>
        <p:txBody>
          <a:bodyPr wrap="square" lIns="0" tIns="0" rIns="0" bIns="0" rtlCol="0" anchor="t"/>
          <a:lstStyle/>
          <a:p>
            <a:pPr indent="0" marL="0">
              <a:buNone/>
            </a:pPr>
            <a:r>
              <a:rPr lang="en-US" sz="1300" b="1" dirty="0">
                <a:solidFill>
                  <a:schemeClr val="tx1"/>
                </a:solidFill>
              </a:rPr>
              <a:t>Decisions into math</a:t>
            </a:r>
            <a:endParaRPr lang="en-US" sz="1300" dirty="0"/>
          </a:p>
          <a:p>
            <a:pPr indent="0" marL="0">
              <a:buNone/>
            </a:pPr>
            <a:r>
              <a:rPr lang="en-US" sz="1100" dirty="0">
                <a:solidFill>
                  <a:srgbClr val="667085"/>
                </a:solidFill>
              </a:rPr>
              <a:t>the score sheet and our four problems</a:t>
            </a:r>
            <a:endParaRPr lang="en-US" sz="1300" dirty="0"/>
          </a:p>
        </p:txBody>
      </p:sp>
      <p:sp>
        <p:nvSpPr>
          <p:cNvPr id="14" name="part 4"/>
          <p:cNvSpPr/>
          <p:nvPr/>
        </p:nvSpPr>
        <p:spPr>
          <a:xfrm>
            <a:off x="457200" y="2596896"/>
            <a:ext cx="347472" cy="347472"/>
          </a:xfrm>
          <a:prstGeom prst="ellipse">
            <a:avLst/>
          </a:prstGeom>
          <a:solidFill>
            <a:srgbClr val="5B4FD1"/>
          </a:solidFill>
          <a:ln w="12700">
            <a:solidFill>
              <a:srgbClr val="5B4FD1"/>
            </a:solidFill>
            <a:prstDash val="solid"/>
          </a:ln>
        </p:spPr>
      </p:sp>
      <p:sp>
        <p:nvSpPr>
          <p:cNvPr id="15" name="Text 12"/>
          <p:cNvSpPr txBox="1"/>
          <p:nvPr/>
        </p:nvSpPr>
        <p:spPr>
          <a:xfrm>
            <a:off x="457200" y="25968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6" name="Text 13"/>
          <p:cNvSpPr txBox="1"/>
          <p:nvPr/>
        </p:nvSpPr>
        <p:spPr>
          <a:xfrm>
            <a:off x="914400" y="2560320"/>
            <a:ext cx="3566160" cy="457200"/>
          </a:xfrm>
          <a:prstGeom prst="rect">
            <a:avLst/>
          </a:prstGeom>
          <a:noFill/>
          <a:ln/>
        </p:spPr>
        <p:txBody>
          <a:bodyPr wrap="square" lIns="0" tIns="0" rIns="0" bIns="0" rtlCol="0" anchor="t"/>
          <a:lstStyle/>
          <a:p>
            <a:pPr indent="0" marL="0">
              <a:buNone/>
            </a:pPr>
            <a:r>
              <a:rPr lang="en-US" sz="1300" b="1" dirty="0">
                <a:solidFill>
                  <a:schemeClr val="tx1"/>
                </a:solidFill>
              </a:rPr>
              <a:t>The solvers</a:t>
            </a:r>
            <a:endParaRPr lang="en-US" sz="1300" dirty="0"/>
          </a:p>
          <a:p>
            <a:pPr indent="0" marL="0">
              <a:buNone/>
            </a:pPr>
            <a:r>
              <a:rPr lang="en-US" sz="1100" dirty="0">
                <a:solidFill>
                  <a:srgbClr val="667085"/>
                </a:solidFill>
              </a:rPr>
              <a:t>exact answer, laptop, gate-based, annealing</a:t>
            </a:r>
            <a:endParaRPr lang="en-US" sz="1300" dirty="0"/>
          </a:p>
        </p:txBody>
      </p:sp>
      <p:sp>
        <p:nvSpPr>
          <p:cNvPr id="17" name="part 5"/>
          <p:cNvSpPr/>
          <p:nvPr/>
        </p:nvSpPr>
        <p:spPr>
          <a:xfrm>
            <a:off x="457200" y="3099816"/>
            <a:ext cx="347472" cy="347472"/>
          </a:xfrm>
          <a:prstGeom prst="ellipse">
            <a:avLst/>
          </a:prstGeom>
          <a:solidFill>
            <a:srgbClr val="5B4FD1"/>
          </a:solidFill>
          <a:ln w="12700">
            <a:solidFill>
              <a:srgbClr val="5B4FD1"/>
            </a:solidFill>
            <a:prstDash val="solid"/>
          </a:ln>
        </p:spPr>
      </p:sp>
      <p:sp>
        <p:nvSpPr>
          <p:cNvPr id="18" name="Text 15"/>
          <p:cNvSpPr txBox="1"/>
          <p:nvPr/>
        </p:nvSpPr>
        <p:spPr>
          <a:xfrm>
            <a:off x="457200" y="30998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19" name="Text 16"/>
          <p:cNvSpPr txBox="1"/>
          <p:nvPr/>
        </p:nvSpPr>
        <p:spPr>
          <a:xfrm>
            <a:off x="914400" y="3063240"/>
            <a:ext cx="3566160" cy="457200"/>
          </a:xfrm>
          <a:prstGeom prst="rect">
            <a:avLst/>
          </a:prstGeom>
          <a:noFill/>
          <a:ln/>
        </p:spPr>
        <p:txBody>
          <a:bodyPr wrap="square" lIns="0" tIns="0" rIns="0" bIns="0" rtlCol="0" anchor="t"/>
          <a:lstStyle/>
          <a:p>
            <a:pPr indent="0" marL="0">
              <a:buNone/>
            </a:pPr>
            <a:r>
              <a:rPr lang="en-US" sz="1300" b="1" dirty="0">
                <a:solidFill>
                  <a:schemeClr val="tx1"/>
                </a:solidFill>
              </a:rPr>
              <a:t>Fingerprint and AI</a:t>
            </a:r>
            <a:endParaRPr lang="en-US" sz="1300" dirty="0"/>
          </a:p>
          <a:p>
            <a:pPr indent="0" marL="0">
              <a:buNone/>
            </a:pPr>
            <a:r>
              <a:rPr lang="en-US" sz="1100" dirty="0">
                <a:solidFill>
                  <a:srgbClr val="667085"/>
                </a:solidFill>
              </a:rPr>
              <a:t>how the router learns and how we tested it</a:t>
            </a:r>
            <a:endParaRPr lang="en-US" sz="1300" dirty="0"/>
          </a:p>
        </p:txBody>
      </p:sp>
      <p:sp>
        <p:nvSpPr>
          <p:cNvPr id="20" name="part 6"/>
          <p:cNvSpPr/>
          <p:nvPr/>
        </p:nvSpPr>
        <p:spPr>
          <a:xfrm>
            <a:off x="457200" y="3602736"/>
            <a:ext cx="347472" cy="347472"/>
          </a:xfrm>
          <a:prstGeom prst="ellipse">
            <a:avLst/>
          </a:prstGeom>
          <a:solidFill>
            <a:srgbClr val="5B4FD1"/>
          </a:solidFill>
          <a:ln w="12700">
            <a:solidFill>
              <a:srgbClr val="5B4FD1"/>
            </a:solidFill>
            <a:prstDash val="solid"/>
          </a:ln>
        </p:spPr>
      </p:sp>
      <p:sp>
        <p:nvSpPr>
          <p:cNvPr id="21" name="Text 18"/>
          <p:cNvSpPr txBox="1"/>
          <p:nvPr/>
        </p:nvSpPr>
        <p:spPr>
          <a:xfrm>
            <a:off x="457200" y="36027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2" name="Text 19"/>
          <p:cNvSpPr txBox="1"/>
          <p:nvPr/>
        </p:nvSpPr>
        <p:spPr>
          <a:xfrm>
            <a:off x="914400" y="3566160"/>
            <a:ext cx="3566160" cy="457200"/>
          </a:xfrm>
          <a:prstGeom prst="rect">
            <a:avLst/>
          </a:prstGeom>
          <a:noFill/>
          <a:ln/>
        </p:spPr>
        <p:txBody>
          <a:bodyPr wrap="square" lIns="0" tIns="0" rIns="0" bIns="0" rtlCol="0" anchor="t"/>
          <a:lstStyle/>
          <a:p>
            <a:pPr indent="0" marL="0">
              <a:buNone/>
            </a:pPr>
            <a:r>
              <a:rPr lang="en-US" sz="1300" b="1" dirty="0">
                <a:solidFill>
                  <a:schemeClr val="tx1"/>
                </a:solidFill>
              </a:rPr>
              <a:t>Patterns across industries</a:t>
            </a:r>
            <a:endParaRPr lang="en-US" sz="1300" dirty="0"/>
          </a:p>
          <a:p>
            <a:pPr indent="0" marL="0">
              <a:buNone/>
            </a:pPr>
            <a:r>
              <a:rPr lang="en-US" sz="1100" dirty="0">
                <a:solidFill>
                  <a:srgbClr val="667085"/>
                </a:solidFill>
              </a:rPr>
              <a:t>twins and copying settings</a:t>
            </a:r>
            <a:endParaRPr lang="en-US" sz="1300" dirty="0"/>
          </a:p>
        </p:txBody>
      </p:sp>
      <p:sp>
        <p:nvSpPr>
          <p:cNvPr id="23" name="part 7"/>
          <p:cNvSpPr/>
          <p:nvPr/>
        </p:nvSpPr>
        <p:spPr>
          <a:xfrm>
            <a:off x="457200" y="4105656"/>
            <a:ext cx="347472" cy="347472"/>
          </a:xfrm>
          <a:prstGeom prst="ellipse">
            <a:avLst/>
          </a:prstGeom>
          <a:solidFill>
            <a:srgbClr val="5B4FD1"/>
          </a:solidFill>
          <a:ln w="12700">
            <a:solidFill>
              <a:srgbClr val="5B4FD1"/>
            </a:solidFill>
            <a:prstDash val="solid"/>
          </a:ln>
        </p:spPr>
      </p:sp>
      <p:sp>
        <p:nvSpPr>
          <p:cNvPr id="24" name="Text 21"/>
          <p:cNvSpPr txBox="1"/>
          <p:nvPr/>
        </p:nvSpPr>
        <p:spPr>
          <a:xfrm>
            <a:off x="457200" y="410565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25" name="Text 22"/>
          <p:cNvSpPr txBox="1"/>
          <p:nvPr/>
        </p:nvSpPr>
        <p:spPr>
          <a:xfrm>
            <a:off x="914400" y="4069080"/>
            <a:ext cx="3566160" cy="457200"/>
          </a:xfrm>
          <a:prstGeom prst="rect">
            <a:avLst/>
          </a:prstGeom>
          <a:noFill/>
          <a:ln/>
        </p:spPr>
        <p:txBody>
          <a:bodyPr wrap="square" lIns="0" tIns="0" rIns="0" bIns="0" rtlCol="0" anchor="t"/>
          <a:lstStyle/>
          <a:p>
            <a:pPr indent="0" marL="0">
              <a:buNone/>
            </a:pPr>
            <a:r>
              <a:rPr lang="en-US" sz="1300" b="1" dirty="0">
                <a:solidFill>
                  <a:schemeClr val="tx1"/>
                </a:solidFill>
              </a:rPr>
              <a:t>Breaking problems down</a:t>
            </a:r>
            <a:endParaRPr lang="en-US" sz="1300" dirty="0"/>
          </a:p>
          <a:p>
            <a:pPr indent="0" marL="0">
              <a:buNone/>
            </a:pPr>
            <a:r>
              <a:rPr lang="en-US" sz="1100" dirty="0">
                <a:solidFill>
                  <a:srgbClr val="667085"/>
                </a:solidFill>
              </a:rPr>
              <a:t>pieces and the gate-vs-annealing test</a:t>
            </a:r>
            <a:endParaRPr lang="en-US" sz="1300" dirty="0"/>
          </a:p>
        </p:txBody>
      </p:sp>
      <p:sp>
        <p:nvSpPr>
          <p:cNvPr id="26" name="part 8"/>
          <p:cNvSpPr/>
          <p:nvPr/>
        </p:nvSpPr>
        <p:spPr>
          <a:xfrm>
            <a:off x="4663440" y="1088136"/>
            <a:ext cx="347472" cy="347472"/>
          </a:xfrm>
          <a:prstGeom prst="ellipse">
            <a:avLst/>
          </a:prstGeom>
          <a:solidFill>
            <a:srgbClr val="0E9384"/>
          </a:solidFill>
          <a:ln w="12700">
            <a:solidFill>
              <a:srgbClr val="0E9384"/>
            </a:solidFill>
            <a:prstDash val="solid"/>
          </a:ln>
        </p:spPr>
      </p:sp>
      <p:sp>
        <p:nvSpPr>
          <p:cNvPr id="27" name="Text 24"/>
          <p:cNvSpPr txBox="1"/>
          <p:nvPr/>
        </p:nvSpPr>
        <p:spPr>
          <a:xfrm>
            <a:off x="4663440" y="10881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8</a:t>
            </a:r>
            <a:endParaRPr lang="en-US" sz="1200" dirty="0"/>
          </a:p>
        </p:txBody>
      </p:sp>
      <p:sp>
        <p:nvSpPr>
          <p:cNvPr id="28" name="Text 25"/>
          <p:cNvSpPr txBox="1"/>
          <p:nvPr/>
        </p:nvSpPr>
        <p:spPr>
          <a:xfrm>
            <a:off x="5120640" y="1051560"/>
            <a:ext cx="3566160" cy="457200"/>
          </a:xfrm>
          <a:prstGeom prst="rect">
            <a:avLst/>
          </a:prstGeom>
          <a:noFill/>
          <a:ln/>
        </p:spPr>
        <p:txBody>
          <a:bodyPr wrap="square" lIns="0" tIns="0" rIns="0" bIns="0" rtlCol="0" anchor="t"/>
          <a:lstStyle/>
          <a:p>
            <a:pPr indent="0" marL="0">
              <a:buNone/>
            </a:pPr>
            <a:r>
              <a:rPr lang="en-US" sz="1300" b="1" dirty="0">
                <a:solidFill>
                  <a:schemeClr val="tx1"/>
                </a:solidFill>
              </a:rPr>
              <a:t>Running problems together</a:t>
            </a:r>
            <a:endParaRPr lang="en-US" sz="1300" dirty="0"/>
          </a:p>
          <a:p>
            <a:pPr indent="0" marL="0">
              <a:buNone/>
            </a:pPr>
            <a:r>
              <a:rPr lang="en-US" sz="1100" dirty="0">
                <a:solidFill>
                  <a:srgbClr val="667085"/>
                </a:solidFill>
              </a:rPr>
              <a:t>packing, crosstalk, compute saved</a:t>
            </a:r>
            <a:endParaRPr lang="en-US" sz="1300" dirty="0"/>
          </a:p>
        </p:txBody>
      </p:sp>
      <p:sp>
        <p:nvSpPr>
          <p:cNvPr id="29" name="part 9"/>
          <p:cNvSpPr/>
          <p:nvPr/>
        </p:nvSpPr>
        <p:spPr>
          <a:xfrm>
            <a:off x="4663440" y="1591056"/>
            <a:ext cx="347472" cy="347472"/>
          </a:xfrm>
          <a:prstGeom prst="ellipse">
            <a:avLst/>
          </a:prstGeom>
          <a:solidFill>
            <a:srgbClr val="0E9384"/>
          </a:solidFill>
          <a:ln w="12700">
            <a:solidFill>
              <a:srgbClr val="0E9384"/>
            </a:solidFill>
            <a:prstDash val="solid"/>
          </a:ln>
        </p:spPr>
      </p:sp>
      <p:sp>
        <p:nvSpPr>
          <p:cNvPr id="30" name="Text 27"/>
          <p:cNvSpPr txBox="1"/>
          <p:nvPr/>
        </p:nvSpPr>
        <p:spPr>
          <a:xfrm>
            <a:off x="4663440" y="159105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9</a:t>
            </a:r>
            <a:endParaRPr lang="en-US" sz="1200" dirty="0"/>
          </a:p>
        </p:txBody>
      </p:sp>
      <p:sp>
        <p:nvSpPr>
          <p:cNvPr id="31" name="Text 28"/>
          <p:cNvSpPr txBox="1"/>
          <p:nvPr/>
        </p:nvSpPr>
        <p:spPr>
          <a:xfrm>
            <a:off x="5120640" y="1554480"/>
            <a:ext cx="3566160" cy="457200"/>
          </a:xfrm>
          <a:prstGeom prst="rect">
            <a:avLst/>
          </a:prstGeom>
          <a:noFill/>
          <a:ln/>
        </p:spPr>
        <p:txBody>
          <a:bodyPr wrap="square" lIns="0" tIns="0" rIns="0" bIns="0" rtlCol="0" anchor="t"/>
          <a:lstStyle/>
          <a:p>
            <a:pPr indent="0" marL="0">
              <a:buNone/>
            </a:pPr>
            <a:r>
              <a:rPr lang="en-US" sz="1300" b="1" dirty="0">
                <a:solidFill>
                  <a:schemeClr val="tx1"/>
                </a:solidFill>
              </a:rPr>
              <a:t>Errors and fixes</a:t>
            </a:r>
            <a:endParaRPr lang="en-US" sz="1300" dirty="0"/>
          </a:p>
          <a:p>
            <a:pPr indent="0" marL="0">
              <a:buNone/>
            </a:pPr>
            <a:r>
              <a:rPr lang="en-US" sz="1100" dirty="0">
                <a:solidFill>
                  <a:srgbClr val="667085"/>
                </a:solidFill>
              </a:rPr>
              <a:t>mistake-reducing tricks and entanglement test</a:t>
            </a:r>
            <a:endParaRPr lang="en-US" sz="1300" dirty="0"/>
          </a:p>
        </p:txBody>
      </p:sp>
      <p:sp>
        <p:nvSpPr>
          <p:cNvPr id="32" name="part 10"/>
          <p:cNvSpPr/>
          <p:nvPr/>
        </p:nvSpPr>
        <p:spPr>
          <a:xfrm>
            <a:off x="4663440" y="2093976"/>
            <a:ext cx="347472" cy="347472"/>
          </a:xfrm>
          <a:prstGeom prst="ellipse">
            <a:avLst/>
          </a:prstGeom>
          <a:solidFill>
            <a:srgbClr val="0E9384"/>
          </a:solidFill>
          <a:ln w="12700">
            <a:solidFill>
              <a:srgbClr val="0E9384"/>
            </a:solidFill>
            <a:prstDash val="solid"/>
          </a:ln>
        </p:spPr>
      </p:sp>
      <p:sp>
        <p:nvSpPr>
          <p:cNvPr id="33" name="Text 30"/>
          <p:cNvSpPr txBox="1"/>
          <p:nvPr/>
        </p:nvSpPr>
        <p:spPr>
          <a:xfrm>
            <a:off x="4663440" y="20939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10</a:t>
            </a:r>
            <a:endParaRPr lang="en-US" sz="1200" dirty="0"/>
          </a:p>
        </p:txBody>
      </p:sp>
      <p:sp>
        <p:nvSpPr>
          <p:cNvPr id="34" name="Text 31"/>
          <p:cNvSpPr txBox="1"/>
          <p:nvPr/>
        </p:nvSpPr>
        <p:spPr>
          <a:xfrm>
            <a:off x="5120640" y="2057400"/>
            <a:ext cx="3566160" cy="457200"/>
          </a:xfrm>
          <a:prstGeom prst="rect">
            <a:avLst/>
          </a:prstGeom>
          <a:noFill/>
          <a:ln/>
        </p:spPr>
        <p:txBody>
          <a:bodyPr wrap="square" lIns="0" tIns="0" rIns="0" bIns="0" rtlCol="0" anchor="t"/>
          <a:lstStyle/>
          <a:p>
            <a:pPr indent="0" marL="0">
              <a:buNone/>
            </a:pPr>
            <a:r>
              <a:rPr lang="en-US" sz="1300" b="1" dirty="0">
                <a:solidFill>
                  <a:schemeClr val="tx1"/>
                </a:solidFill>
              </a:rPr>
              <a:t>Real hardware plan</a:t>
            </a:r>
            <a:endParaRPr lang="en-US" sz="1300" dirty="0"/>
          </a:p>
          <a:p>
            <a:pPr indent="0" marL="0">
              <a:buNone/>
            </a:pPr>
            <a:r>
              <a:rPr lang="en-US" sz="1100" dirty="0">
                <a:solidFill>
                  <a:srgbClr val="667085"/>
                </a:solidFill>
              </a:rPr>
              <a:t>budget, tests, how to read results</a:t>
            </a:r>
            <a:endParaRPr lang="en-US" sz="1300" dirty="0"/>
          </a:p>
        </p:txBody>
      </p:sp>
      <p:sp>
        <p:nvSpPr>
          <p:cNvPr id="35" name="part 11"/>
          <p:cNvSpPr/>
          <p:nvPr/>
        </p:nvSpPr>
        <p:spPr>
          <a:xfrm>
            <a:off x="4663440" y="2596896"/>
            <a:ext cx="347472" cy="347472"/>
          </a:xfrm>
          <a:prstGeom prst="ellipse">
            <a:avLst/>
          </a:prstGeom>
          <a:solidFill>
            <a:srgbClr val="0E9384"/>
          </a:solidFill>
          <a:ln w="12700">
            <a:solidFill>
              <a:srgbClr val="0E9384"/>
            </a:solidFill>
            <a:prstDash val="solid"/>
          </a:ln>
        </p:spPr>
      </p:sp>
      <p:sp>
        <p:nvSpPr>
          <p:cNvPr id="36" name="Text 33"/>
          <p:cNvSpPr txBox="1"/>
          <p:nvPr/>
        </p:nvSpPr>
        <p:spPr>
          <a:xfrm>
            <a:off x="4663440" y="25968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11</a:t>
            </a:r>
            <a:endParaRPr lang="en-US" sz="1200" dirty="0"/>
          </a:p>
        </p:txBody>
      </p:sp>
      <p:sp>
        <p:nvSpPr>
          <p:cNvPr id="37" name="Text 34"/>
          <p:cNvSpPr txBox="1"/>
          <p:nvPr/>
        </p:nvSpPr>
        <p:spPr>
          <a:xfrm>
            <a:off x="5120640" y="2560320"/>
            <a:ext cx="3566160" cy="457200"/>
          </a:xfrm>
          <a:prstGeom prst="rect">
            <a:avLst/>
          </a:prstGeom>
          <a:noFill/>
          <a:ln/>
        </p:spPr>
        <p:txBody>
          <a:bodyPr wrap="square" lIns="0" tIns="0" rIns="0" bIns="0" rtlCol="0" anchor="t"/>
          <a:lstStyle/>
          <a:p>
            <a:pPr indent="0" marL="0">
              <a:buNone/>
            </a:pPr>
            <a:r>
              <a:rPr lang="en-US" sz="1300" b="1" dirty="0">
                <a:solidFill>
                  <a:schemeClr val="tx1"/>
                </a:solidFill>
              </a:rPr>
              <a:t>The roadmap chart</a:t>
            </a:r>
            <a:endParaRPr lang="en-US" sz="1300" dirty="0"/>
          </a:p>
          <a:p>
            <a:pPr indent="0" marL="0">
              <a:buNone/>
            </a:pPr>
            <a:r>
              <a:rPr lang="en-US" sz="1100" dirty="0">
                <a:solidFill>
                  <a:srgbClr val="667085"/>
                </a:solidFill>
              </a:rPr>
              <a:t>what changes as chips improve</a:t>
            </a:r>
            <a:endParaRPr lang="en-US" sz="1300" dirty="0"/>
          </a:p>
        </p:txBody>
      </p:sp>
      <p:sp>
        <p:nvSpPr>
          <p:cNvPr id="38" name="part 12"/>
          <p:cNvSpPr/>
          <p:nvPr/>
        </p:nvSpPr>
        <p:spPr>
          <a:xfrm>
            <a:off x="4663440" y="3099816"/>
            <a:ext cx="347472" cy="347472"/>
          </a:xfrm>
          <a:prstGeom prst="ellipse">
            <a:avLst/>
          </a:prstGeom>
          <a:solidFill>
            <a:srgbClr val="0E9384"/>
          </a:solidFill>
          <a:ln w="12700">
            <a:solidFill>
              <a:srgbClr val="0E9384"/>
            </a:solidFill>
            <a:prstDash val="solid"/>
          </a:ln>
        </p:spPr>
      </p:sp>
      <p:sp>
        <p:nvSpPr>
          <p:cNvPr id="39" name="Text 36"/>
          <p:cNvSpPr txBox="1"/>
          <p:nvPr/>
        </p:nvSpPr>
        <p:spPr>
          <a:xfrm>
            <a:off x="4663440" y="30998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12</a:t>
            </a:r>
            <a:endParaRPr lang="en-US" sz="1200" dirty="0"/>
          </a:p>
        </p:txBody>
      </p:sp>
      <p:sp>
        <p:nvSpPr>
          <p:cNvPr id="40" name="Text 37"/>
          <p:cNvSpPr txBox="1"/>
          <p:nvPr/>
        </p:nvSpPr>
        <p:spPr>
          <a:xfrm>
            <a:off x="5120640" y="3063240"/>
            <a:ext cx="3566160" cy="457200"/>
          </a:xfrm>
          <a:prstGeom prst="rect">
            <a:avLst/>
          </a:prstGeom>
          <a:noFill/>
          <a:ln/>
        </p:spPr>
        <p:txBody>
          <a:bodyPr wrap="square" lIns="0" tIns="0" rIns="0" bIns="0" rtlCol="0" anchor="t"/>
          <a:lstStyle/>
          <a:p>
            <a:pPr indent="0" marL="0">
              <a:buNone/>
            </a:pPr>
            <a:r>
              <a:rPr lang="en-US" sz="1300" b="1" dirty="0">
                <a:solidFill>
                  <a:schemeClr val="tx1"/>
                </a:solidFill>
              </a:rPr>
              <a:t>Limits, prior work, novelty</a:t>
            </a:r>
            <a:endParaRPr lang="en-US" sz="1300" dirty="0"/>
          </a:p>
          <a:p>
            <a:pPr indent="0" marL="0">
              <a:buNone/>
            </a:pPr>
            <a:r>
              <a:rPr lang="en-US" sz="1100" dirty="0">
                <a:solidFill>
                  <a:srgbClr val="667085"/>
                </a:solidFill>
              </a:rPr>
              <a:t>what's honest and what's new</a:t>
            </a:r>
            <a:endParaRPr lang="en-US" sz="1300" dirty="0"/>
          </a:p>
        </p:txBody>
      </p:sp>
      <p:sp>
        <p:nvSpPr>
          <p:cNvPr id="41" name="part 13"/>
          <p:cNvSpPr/>
          <p:nvPr/>
        </p:nvSpPr>
        <p:spPr>
          <a:xfrm>
            <a:off x="4663440" y="3602736"/>
            <a:ext cx="347472" cy="347472"/>
          </a:xfrm>
          <a:prstGeom prst="ellipse">
            <a:avLst/>
          </a:prstGeom>
          <a:solidFill>
            <a:srgbClr val="0E9384"/>
          </a:solidFill>
          <a:ln w="12700">
            <a:solidFill>
              <a:srgbClr val="0E9384"/>
            </a:solidFill>
            <a:prstDash val="solid"/>
          </a:ln>
        </p:spPr>
      </p:sp>
      <p:sp>
        <p:nvSpPr>
          <p:cNvPr id="42" name="Text 39"/>
          <p:cNvSpPr txBox="1"/>
          <p:nvPr/>
        </p:nvSpPr>
        <p:spPr>
          <a:xfrm>
            <a:off x="4663440" y="36027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13</a:t>
            </a:r>
            <a:endParaRPr lang="en-US" sz="1200" dirty="0"/>
          </a:p>
        </p:txBody>
      </p:sp>
      <p:sp>
        <p:nvSpPr>
          <p:cNvPr id="43" name="Text 40"/>
          <p:cNvSpPr txBox="1"/>
          <p:nvPr/>
        </p:nvSpPr>
        <p:spPr>
          <a:xfrm>
            <a:off x="5120640" y="3566160"/>
            <a:ext cx="3566160" cy="457200"/>
          </a:xfrm>
          <a:prstGeom prst="rect">
            <a:avLst/>
          </a:prstGeom>
          <a:noFill/>
          <a:ln/>
        </p:spPr>
        <p:txBody>
          <a:bodyPr wrap="square" lIns="0" tIns="0" rIns="0" bIns="0" rtlCol="0" anchor="t"/>
          <a:lstStyle/>
          <a:p>
            <a:pPr indent="0" marL="0">
              <a:buNone/>
            </a:pPr>
            <a:r>
              <a:rPr lang="en-US" sz="1300" b="1" dirty="0">
                <a:solidFill>
                  <a:schemeClr val="tx1"/>
                </a:solidFill>
              </a:rPr>
              <a:t>Quick reference</a:t>
            </a:r>
            <a:endParaRPr lang="en-US" sz="1300" dirty="0"/>
          </a:p>
          <a:p>
            <a:pPr indent="0" marL="0">
              <a:buNone/>
            </a:pPr>
            <a:r>
              <a:rPr lang="en-US" sz="1100" dirty="0">
                <a:solidFill>
                  <a:srgbClr val="667085"/>
                </a:solidFill>
              </a:rPr>
              <a:t>glossary and judge questions</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The whole project in one picture</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Start here</a:t>
            </a:r>
            <a:endParaRPr lang="en-US" sz="1000" dirty="0"/>
          </a:p>
        </p:txBody>
      </p:sp>
      <p:sp>
        <p:nvSpPr>
          <p:cNvPr id="5" name="flow step 1"/>
          <p:cNvSpPr/>
          <p:nvPr/>
        </p:nvSpPr>
        <p:spPr>
          <a:xfrm>
            <a:off x="457200" y="1097280"/>
            <a:ext cx="1865376" cy="1234440"/>
          </a:xfrm>
          <a:prstGeom prst="roundRect">
            <a:avLst>
              <a:gd name="adj" fmla="val 5926"/>
            </a:avLst>
          </a:prstGeom>
          <a:solidFill>
            <a:srgbClr val="5B4FD1"/>
          </a:solidFill>
          <a:ln w="12700">
            <a:solidFill>
              <a:srgbClr val="5B4FD1"/>
            </a:solidFill>
            <a:prstDash val="solid"/>
          </a:ln>
        </p:spPr>
      </p:sp>
      <p:sp>
        <p:nvSpPr>
          <p:cNvPr id="6" name="Text 3"/>
          <p:cNvSpPr txBox="1"/>
          <p:nvPr/>
        </p:nvSpPr>
        <p:spPr>
          <a:xfrm>
            <a:off x="548640" y="1188720"/>
            <a:ext cx="1682496" cy="1051560"/>
          </a:xfrm>
          <a:prstGeom prst="rect">
            <a:avLst/>
          </a:prstGeom>
          <a:noFill/>
          <a:ln/>
        </p:spPr>
        <p:txBody>
          <a:bodyPr wrap="square" lIns="0" tIns="0" rIns="0" bIns="0" rtlCol="0" anchor="ctr"/>
          <a:lstStyle/>
          <a:p>
            <a:pPr algn="ctr" indent="0" marL="0">
              <a:buNone/>
            </a:pPr>
            <a:r>
              <a:rPr lang="en-US" sz="1300" b="1" dirty="0">
                <a:solidFill>
                  <a:srgbClr val="FFFFFF"/>
                </a:solidFill>
              </a:rPr>
              <a:t>1. Translate</a:t>
            </a:r>
            <a:endParaRPr lang="en-US" sz="1300" dirty="0"/>
          </a:p>
          <a:p>
            <a:pPr algn="ctr" indent="0" marL="0">
              <a:buNone/>
            </a:pPr>
            <a:r>
              <a:rPr lang="en-US" sz="1100" dirty="0">
                <a:solidFill>
                  <a:srgbClr val="FFFFFF"/>
                </a:solidFill>
              </a:rPr>
              <a:t>decision → yes/no choices (Part 3)</a:t>
            </a:r>
            <a:endParaRPr lang="en-US" sz="1300" dirty="0"/>
          </a:p>
        </p:txBody>
      </p:sp>
      <p:sp>
        <p:nvSpPr>
          <p:cNvPr id="7" name="flow arrow 1"/>
          <p:cNvSpPr/>
          <p:nvPr/>
        </p:nvSpPr>
        <p:spPr>
          <a:xfrm>
            <a:off x="2359152" y="1714500"/>
            <a:ext cx="182880" cy="0"/>
          </a:xfrm>
          <a:prstGeom prst="line">
            <a:avLst/>
          </a:prstGeom>
          <a:noFill/>
          <a:ln w="15875">
            <a:solidFill>
              <a:srgbClr val="667085"/>
            </a:solidFill>
            <a:prstDash val="solid"/>
            <a:tailEnd type="triangle"/>
          </a:ln>
        </p:spPr>
      </p:sp>
      <p:sp>
        <p:nvSpPr>
          <p:cNvPr id="8" name="flow step 2"/>
          <p:cNvSpPr/>
          <p:nvPr/>
        </p:nvSpPr>
        <p:spPr>
          <a:xfrm>
            <a:off x="2578608" y="1097280"/>
            <a:ext cx="1865376" cy="1234440"/>
          </a:xfrm>
          <a:prstGeom prst="roundRect">
            <a:avLst>
              <a:gd name="adj" fmla="val 5926"/>
            </a:avLst>
          </a:prstGeom>
          <a:solidFill>
            <a:srgbClr val="5B4FD1"/>
          </a:solidFill>
          <a:ln w="12700">
            <a:solidFill>
              <a:srgbClr val="5B4FD1"/>
            </a:solidFill>
            <a:prstDash val="solid"/>
          </a:ln>
        </p:spPr>
      </p:sp>
      <p:sp>
        <p:nvSpPr>
          <p:cNvPr id="9" name="Text 6"/>
          <p:cNvSpPr txBox="1"/>
          <p:nvPr/>
        </p:nvSpPr>
        <p:spPr>
          <a:xfrm>
            <a:off x="2670048" y="1188720"/>
            <a:ext cx="1682496" cy="1051560"/>
          </a:xfrm>
          <a:prstGeom prst="rect">
            <a:avLst/>
          </a:prstGeom>
          <a:noFill/>
          <a:ln/>
        </p:spPr>
        <p:txBody>
          <a:bodyPr wrap="square" lIns="0" tIns="0" rIns="0" bIns="0" rtlCol="0" anchor="ctr"/>
          <a:lstStyle/>
          <a:p>
            <a:pPr algn="ctr" indent="0" marL="0">
              <a:buNone/>
            </a:pPr>
            <a:r>
              <a:rPr lang="en-US" sz="1300" b="1" dirty="0">
                <a:solidFill>
                  <a:srgbClr val="FFFFFF"/>
                </a:solidFill>
              </a:rPr>
              <a:t>2. Break down</a:t>
            </a:r>
            <a:endParaRPr lang="en-US" sz="1300" dirty="0"/>
          </a:p>
          <a:p>
            <a:pPr algn="ctr" indent="0" marL="0">
              <a:buNone/>
            </a:pPr>
            <a:r>
              <a:rPr lang="en-US" sz="1100" dirty="0">
                <a:solidFill>
                  <a:srgbClr val="FFFFFF"/>
                </a:solidFill>
              </a:rPr>
              <a:t>big problem → pieces of ≤ 8 (Part 7)</a:t>
            </a:r>
            <a:endParaRPr lang="en-US" sz="1300" dirty="0"/>
          </a:p>
        </p:txBody>
      </p:sp>
      <p:sp>
        <p:nvSpPr>
          <p:cNvPr id="10" name="flow arrow 2"/>
          <p:cNvSpPr/>
          <p:nvPr/>
        </p:nvSpPr>
        <p:spPr>
          <a:xfrm>
            <a:off x="4480560" y="1714500"/>
            <a:ext cx="182880" cy="0"/>
          </a:xfrm>
          <a:prstGeom prst="line">
            <a:avLst/>
          </a:prstGeom>
          <a:noFill/>
          <a:ln w="15875">
            <a:solidFill>
              <a:srgbClr val="667085"/>
            </a:solidFill>
            <a:prstDash val="solid"/>
            <a:tailEnd type="triangle"/>
          </a:ln>
        </p:spPr>
      </p:sp>
      <p:sp>
        <p:nvSpPr>
          <p:cNvPr id="11" name="flow step 3"/>
          <p:cNvSpPr/>
          <p:nvPr/>
        </p:nvSpPr>
        <p:spPr>
          <a:xfrm>
            <a:off x="4700016" y="1097280"/>
            <a:ext cx="1865376" cy="1234440"/>
          </a:xfrm>
          <a:prstGeom prst="roundRect">
            <a:avLst>
              <a:gd name="adj" fmla="val 5926"/>
            </a:avLst>
          </a:prstGeom>
          <a:solidFill>
            <a:srgbClr val="5B4FD1"/>
          </a:solidFill>
          <a:ln w="12700">
            <a:solidFill>
              <a:srgbClr val="5B4FD1"/>
            </a:solidFill>
            <a:prstDash val="solid"/>
          </a:ln>
        </p:spPr>
      </p:sp>
      <p:sp>
        <p:nvSpPr>
          <p:cNvPr id="12" name="Text 9"/>
          <p:cNvSpPr txBox="1"/>
          <p:nvPr/>
        </p:nvSpPr>
        <p:spPr>
          <a:xfrm>
            <a:off x="4791456" y="1188720"/>
            <a:ext cx="1682496" cy="1051560"/>
          </a:xfrm>
          <a:prstGeom prst="rect">
            <a:avLst/>
          </a:prstGeom>
          <a:noFill/>
          <a:ln/>
        </p:spPr>
        <p:txBody>
          <a:bodyPr wrap="square" lIns="0" tIns="0" rIns="0" bIns="0" rtlCol="0" anchor="ctr"/>
          <a:lstStyle/>
          <a:p>
            <a:pPr algn="ctr" indent="0" marL="0">
              <a:buNone/>
            </a:pPr>
            <a:r>
              <a:rPr lang="en-US" sz="1300" b="1" dirty="0">
                <a:solidFill>
                  <a:srgbClr val="FFFFFF"/>
                </a:solidFill>
              </a:rPr>
              <a:t>3. Describe</a:t>
            </a:r>
            <a:endParaRPr lang="en-US" sz="1300" dirty="0"/>
          </a:p>
          <a:p>
            <a:pPr algn="ctr" indent="0" marL="0">
              <a:buNone/>
            </a:pPr>
            <a:r>
              <a:rPr lang="en-US" sz="1100" dirty="0">
                <a:solidFill>
                  <a:srgbClr val="FFFFFF"/>
                </a:solidFill>
              </a:rPr>
              <a:t>9-number fingerprint (Part 5)</a:t>
            </a:r>
            <a:endParaRPr lang="en-US" sz="1300" dirty="0"/>
          </a:p>
        </p:txBody>
      </p:sp>
      <p:sp>
        <p:nvSpPr>
          <p:cNvPr id="13" name="flow arrow 3"/>
          <p:cNvSpPr/>
          <p:nvPr/>
        </p:nvSpPr>
        <p:spPr>
          <a:xfrm>
            <a:off x="6601968" y="1714500"/>
            <a:ext cx="182880" cy="0"/>
          </a:xfrm>
          <a:prstGeom prst="line">
            <a:avLst/>
          </a:prstGeom>
          <a:noFill/>
          <a:ln w="15875">
            <a:solidFill>
              <a:srgbClr val="667085"/>
            </a:solidFill>
            <a:prstDash val="solid"/>
            <a:tailEnd type="triangle"/>
          </a:ln>
        </p:spPr>
      </p:sp>
      <p:sp>
        <p:nvSpPr>
          <p:cNvPr id="14" name="flow step 4"/>
          <p:cNvSpPr/>
          <p:nvPr/>
        </p:nvSpPr>
        <p:spPr>
          <a:xfrm>
            <a:off x="6821424" y="1097280"/>
            <a:ext cx="1865376" cy="1234440"/>
          </a:xfrm>
          <a:prstGeom prst="roundRect">
            <a:avLst>
              <a:gd name="adj" fmla="val 5926"/>
            </a:avLst>
          </a:prstGeom>
          <a:solidFill>
            <a:srgbClr val="5B4FD1"/>
          </a:solidFill>
          <a:ln w="12700">
            <a:solidFill>
              <a:srgbClr val="5B4FD1"/>
            </a:solidFill>
            <a:prstDash val="solid"/>
          </a:ln>
        </p:spPr>
      </p:sp>
      <p:sp>
        <p:nvSpPr>
          <p:cNvPr id="15" name="Text 12"/>
          <p:cNvSpPr txBox="1"/>
          <p:nvPr/>
        </p:nvSpPr>
        <p:spPr>
          <a:xfrm>
            <a:off x="6912864" y="1188720"/>
            <a:ext cx="1682496" cy="1051560"/>
          </a:xfrm>
          <a:prstGeom prst="rect">
            <a:avLst/>
          </a:prstGeom>
          <a:noFill/>
          <a:ln/>
        </p:spPr>
        <p:txBody>
          <a:bodyPr wrap="square" lIns="0" tIns="0" rIns="0" bIns="0" rtlCol="0" anchor="ctr"/>
          <a:lstStyle/>
          <a:p>
            <a:pPr algn="ctr" indent="0" marL="0">
              <a:buNone/>
            </a:pPr>
            <a:r>
              <a:rPr lang="en-US" sz="1300" b="1" dirty="0">
                <a:solidFill>
                  <a:srgbClr val="FFFFFF"/>
                </a:solidFill>
              </a:rPr>
              <a:t>4. Choose</a:t>
            </a:r>
            <a:endParaRPr lang="en-US" sz="1300" dirty="0"/>
          </a:p>
          <a:p>
            <a:pPr algn="ctr" indent="0" marL="0">
              <a:buNone/>
            </a:pPr>
            <a:r>
              <a:rPr lang="en-US" sz="1100" dirty="0">
                <a:solidFill>
                  <a:srgbClr val="FFFFFF"/>
                </a:solidFill>
              </a:rPr>
              <a:t>AI picks a computer (Part 5)</a:t>
            </a:r>
            <a:endParaRPr lang="en-US" sz="1300" dirty="0"/>
          </a:p>
        </p:txBody>
      </p:sp>
      <p:sp>
        <p:nvSpPr>
          <p:cNvPr id="16" name="flow step 1"/>
          <p:cNvSpPr/>
          <p:nvPr/>
        </p:nvSpPr>
        <p:spPr>
          <a:xfrm>
            <a:off x="457200" y="2606040"/>
            <a:ext cx="1865376" cy="1234440"/>
          </a:xfrm>
          <a:prstGeom prst="roundRect">
            <a:avLst>
              <a:gd name="adj" fmla="val 5926"/>
            </a:avLst>
          </a:prstGeom>
          <a:solidFill>
            <a:srgbClr val="0E9384"/>
          </a:solidFill>
          <a:ln w="12700">
            <a:solidFill>
              <a:srgbClr val="0E9384"/>
            </a:solidFill>
            <a:prstDash val="solid"/>
          </a:ln>
        </p:spPr>
      </p:sp>
      <p:sp>
        <p:nvSpPr>
          <p:cNvPr id="17" name="Text 14"/>
          <p:cNvSpPr txBox="1"/>
          <p:nvPr/>
        </p:nvSpPr>
        <p:spPr>
          <a:xfrm>
            <a:off x="548640" y="2697480"/>
            <a:ext cx="1682496" cy="1051560"/>
          </a:xfrm>
          <a:prstGeom prst="rect">
            <a:avLst/>
          </a:prstGeom>
          <a:noFill/>
          <a:ln/>
        </p:spPr>
        <p:txBody>
          <a:bodyPr wrap="square" lIns="0" tIns="0" rIns="0" bIns="0" rtlCol="0" anchor="ctr"/>
          <a:lstStyle/>
          <a:p>
            <a:pPr algn="ctr" indent="0" marL="0">
              <a:buNone/>
            </a:pPr>
            <a:r>
              <a:rPr lang="en-US" sz="1300" b="1" dirty="0">
                <a:solidFill>
                  <a:srgbClr val="FFFFFF"/>
                </a:solidFill>
              </a:rPr>
              <a:t>5. Reuse</a:t>
            </a:r>
            <a:endParaRPr lang="en-US" sz="1300" dirty="0"/>
          </a:p>
          <a:p>
            <a:pPr algn="ctr" indent="0" marL="0">
              <a:buNone/>
            </a:pPr>
            <a:r>
              <a:rPr lang="en-US" sz="1100" dirty="0">
                <a:solidFill>
                  <a:srgbClr val="FFFFFF"/>
                </a:solidFill>
              </a:rPr>
              <a:t>copy settings from a twin (Part 6)</a:t>
            </a:r>
            <a:endParaRPr lang="en-US" sz="1300" dirty="0"/>
          </a:p>
        </p:txBody>
      </p:sp>
      <p:sp>
        <p:nvSpPr>
          <p:cNvPr id="18" name="flow arrow 1"/>
          <p:cNvSpPr/>
          <p:nvPr/>
        </p:nvSpPr>
        <p:spPr>
          <a:xfrm>
            <a:off x="2359152" y="3223260"/>
            <a:ext cx="182880" cy="0"/>
          </a:xfrm>
          <a:prstGeom prst="line">
            <a:avLst/>
          </a:prstGeom>
          <a:noFill/>
          <a:ln w="15875">
            <a:solidFill>
              <a:srgbClr val="667085"/>
            </a:solidFill>
            <a:prstDash val="solid"/>
            <a:tailEnd type="triangle"/>
          </a:ln>
        </p:spPr>
      </p:sp>
      <p:sp>
        <p:nvSpPr>
          <p:cNvPr id="19" name="flow step 2"/>
          <p:cNvSpPr/>
          <p:nvPr/>
        </p:nvSpPr>
        <p:spPr>
          <a:xfrm>
            <a:off x="2578608" y="2606040"/>
            <a:ext cx="1865376" cy="1234440"/>
          </a:xfrm>
          <a:prstGeom prst="roundRect">
            <a:avLst>
              <a:gd name="adj" fmla="val 5926"/>
            </a:avLst>
          </a:prstGeom>
          <a:solidFill>
            <a:srgbClr val="0E9384"/>
          </a:solidFill>
          <a:ln w="12700">
            <a:solidFill>
              <a:srgbClr val="0E9384"/>
            </a:solidFill>
            <a:prstDash val="solid"/>
          </a:ln>
        </p:spPr>
      </p:sp>
      <p:sp>
        <p:nvSpPr>
          <p:cNvPr id="20" name="Text 17"/>
          <p:cNvSpPr txBox="1"/>
          <p:nvPr/>
        </p:nvSpPr>
        <p:spPr>
          <a:xfrm>
            <a:off x="2670048" y="2697480"/>
            <a:ext cx="1682496" cy="1051560"/>
          </a:xfrm>
          <a:prstGeom prst="rect">
            <a:avLst/>
          </a:prstGeom>
          <a:noFill/>
          <a:ln/>
        </p:spPr>
        <p:txBody>
          <a:bodyPr wrap="square" lIns="0" tIns="0" rIns="0" bIns="0" rtlCol="0" anchor="ctr"/>
          <a:lstStyle/>
          <a:p>
            <a:pPr algn="ctr" indent="0" marL="0">
              <a:buNone/>
            </a:pPr>
            <a:r>
              <a:rPr lang="en-US" sz="1300" b="1" dirty="0">
                <a:solidFill>
                  <a:srgbClr val="FFFFFF"/>
                </a:solidFill>
              </a:rPr>
              <a:t>6. Run together</a:t>
            </a:r>
            <a:endParaRPr lang="en-US" sz="1300" dirty="0"/>
          </a:p>
          <a:p>
            <a:pPr algn="ctr" indent="0" marL="0">
              <a:buNone/>
            </a:pPr>
            <a:r>
              <a:rPr lang="en-US" sz="1100" dirty="0">
                <a:solidFill>
                  <a:srgbClr val="FFFFFF"/>
                </a:solidFill>
              </a:rPr>
              <a:t>several problems, one job (Part 8)</a:t>
            </a:r>
            <a:endParaRPr lang="en-US" sz="1300" dirty="0"/>
          </a:p>
        </p:txBody>
      </p:sp>
      <p:sp>
        <p:nvSpPr>
          <p:cNvPr id="21" name="flow arrow 2"/>
          <p:cNvSpPr/>
          <p:nvPr/>
        </p:nvSpPr>
        <p:spPr>
          <a:xfrm>
            <a:off x="4480560" y="3223260"/>
            <a:ext cx="182880" cy="0"/>
          </a:xfrm>
          <a:prstGeom prst="line">
            <a:avLst/>
          </a:prstGeom>
          <a:noFill/>
          <a:ln w="15875">
            <a:solidFill>
              <a:srgbClr val="667085"/>
            </a:solidFill>
            <a:prstDash val="solid"/>
            <a:tailEnd type="triangle"/>
          </a:ln>
        </p:spPr>
      </p:sp>
      <p:sp>
        <p:nvSpPr>
          <p:cNvPr id="22" name="flow step 3"/>
          <p:cNvSpPr/>
          <p:nvPr/>
        </p:nvSpPr>
        <p:spPr>
          <a:xfrm>
            <a:off x="4700016" y="2606040"/>
            <a:ext cx="1865376" cy="1234440"/>
          </a:xfrm>
          <a:prstGeom prst="roundRect">
            <a:avLst>
              <a:gd name="adj" fmla="val 5926"/>
            </a:avLst>
          </a:prstGeom>
          <a:solidFill>
            <a:srgbClr val="0E9384"/>
          </a:solidFill>
          <a:ln w="12700">
            <a:solidFill>
              <a:srgbClr val="0E9384"/>
            </a:solidFill>
            <a:prstDash val="solid"/>
          </a:ln>
        </p:spPr>
      </p:sp>
      <p:sp>
        <p:nvSpPr>
          <p:cNvPr id="23" name="Text 20"/>
          <p:cNvSpPr txBox="1"/>
          <p:nvPr/>
        </p:nvSpPr>
        <p:spPr>
          <a:xfrm>
            <a:off x="4791456" y="2697480"/>
            <a:ext cx="1682496" cy="1051560"/>
          </a:xfrm>
          <a:prstGeom prst="rect">
            <a:avLst/>
          </a:prstGeom>
          <a:noFill/>
          <a:ln/>
        </p:spPr>
        <p:txBody>
          <a:bodyPr wrap="square" lIns="0" tIns="0" rIns="0" bIns="0" rtlCol="0" anchor="ctr"/>
          <a:lstStyle/>
          <a:p>
            <a:pPr algn="ctr" indent="0" marL="0">
              <a:buNone/>
            </a:pPr>
            <a:r>
              <a:rPr lang="en-US" sz="1300" b="1" dirty="0">
                <a:solidFill>
                  <a:srgbClr val="FFFFFF"/>
                </a:solidFill>
              </a:rPr>
              <a:t>7. Fight errors</a:t>
            </a:r>
            <a:endParaRPr lang="en-US" sz="1300" dirty="0"/>
          </a:p>
          <a:p>
            <a:pPr algn="ctr" indent="0" marL="0">
              <a:buNone/>
            </a:pPr>
            <a:r>
              <a:rPr lang="en-US" sz="1100" dirty="0">
                <a:solidFill>
                  <a:srgbClr val="FFFFFF"/>
                </a:solidFill>
              </a:rPr>
              <a:t>fixes on the chip (Part 9)</a:t>
            </a:r>
            <a:endParaRPr lang="en-US" sz="1300" dirty="0"/>
          </a:p>
        </p:txBody>
      </p:sp>
      <p:sp>
        <p:nvSpPr>
          <p:cNvPr id="24" name="flow arrow 3"/>
          <p:cNvSpPr/>
          <p:nvPr/>
        </p:nvSpPr>
        <p:spPr>
          <a:xfrm>
            <a:off x="6601968" y="3223260"/>
            <a:ext cx="182880" cy="0"/>
          </a:xfrm>
          <a:prstGeom prst="line">
            <a:avLst/>
          </a:prstGeom>
          <a:noFill/>
          <a:ln w="15875">
            <a:solidFill>
              <a:srgbClr val="667085"/>
            </a:solidFill>
            <a:prstDash val="solid"/>
            <a:tailEnd type="triangle"/>
          </a:ln>
        </p:spPr>
      </p:sp>
      <p:sp>
        <p:nvSpPr>
          <p:cNvPr id="25" name="flow step 4"/>
          <p:cNvSpPr/>
          <p:nvPr/>
        </p:nvSpPr>
        <p:spPr>
          <a:xfrm>
            <a:off x="6821424" y="2606040"/>
            <a:ext cx="1865376" cy="1234440"/>
          </a:xfrm>
          <a:prstGeom prst="roundRect">
            <a:avLst>
              <a:gd name="adj" fmla="val 5926"/>
            </a:avLst>
          </a:prstGeom>
          <a:solidFill>
            <a:srgbClr val="0E9384"/>
          </a:solidFill>
          <a:ln w="12700">
            <a:solidFill>
              <a:srgbClr val="0E9384"/>
            </a:solidFill>
            <a:prstDash val="solid"/>
          </a:ln>
        </p:spPr>
      </p:sp>
      <p:sp>
        <p:nvSpPr>
          <p:cNvPr id="26" name="Text 23"/>
          <p:cNvSpPr txBox="1"/>
          <p:nvPr/>
        </p:nvSpPr>
        <p:spPr>
          <a:xfrm>
            <a:off x="6912864" y="2697480"/>
            <a:ext cx="1682496" cy="1051560"/>
          </a:xfrm>
          <a:prstGeom prst="rect">
            <a:avLst/>
          </a:prstGeom>
          <a:noFill/>
          <a:ln/>
        </p:spPr>
        <p:txBody>
          <a:bodyPr wrap="square" lIns="0" tIns="0" rIns="0" bIns="0" rtlCol="0" anchor="ctr"/>
          <a:lstStyle/>
          <a:p>
            <a:pPr algn="ctr" indent="0" marL="0">
              <a:buNone/>
            </a:pPr>
            <a:r>
              <a:rPr lang="en-US" sz="1300" b="1" dirty="0">
                <a:solidFill>
                  <a:srgbClr val="FFFFFF"/>
                </a:solidFill>
              </a:rPr>
              <a:t>8. Check</a:t>
            </a:r>
            <a:endParaRPr lang="en-US" sz="1300" dirty="0"/>
          </a:p>
          <a:p>
            <a:pPr algn="ctr" indent="0" marL="0">
              <a:buNone/>
            </a:pPr>
            <a:r>
              <a:rPr lang="en-US" sz="1100" dirty="0">
                <a:solidFill>
                  <a:srgbClr val="FFFFFF"/>
                </a:solidFill>
              </a:rPr>
              <a:t>compare to the true best (Part 4)</a:t>
            </a:r>
            <a:endParaRPr lang="en-US" sz="1300" dirty="0"/>
          </a:p>
        </p:txBody>
      </p:sp>
      <p:sp>
        <p:nvSpPr>
          <p:cNvPr id="27" name="card card"/>
          <p:cNvSpPr/>
          <p:nvPr/>
        </p:nvSpPr>
        <p:spPr>
          <a:xfrm>
            <a:off x="457200" y="4023360"/>
            <a:ext cx="8229600" cy="566928"/>
          </a:xfrm>
          <a:prstGeom prst="roundRect">
            <a:avLst>
              <a:gd name="adj" fmla="val 12903"/>
            </a:avLst>
          </a:prstGeom>
          <a:solidFill>
            <a:srgbClr val="FFF4EA"/>
          </a:solidFill>
          <a:ln w="12700">
            <a:solidFill>
              <a:srgbClr val="FFF4EA"/>
            </a:solidFill>
            <a:prstDash val="solid"/>
          </a:ln>
        </p:spPr>
      </p:sp>
      <p:sp>
        <p:nvSpPr>
          <p:cNvPr id="28" name="Text 25"/>
          <p:cNvSpPr txBox="1"/>
          <p:nvPr/>
        </p:nvSpPr>
        <p:spPr>
          <a:xfrm>
            <a:off x="640080" y="4151376"/>
            <a:ext cx="7882128" cy="347472"/>
          </a:xfrm>
          <a:prstGeom prst="rect">
            <a:avLst/>
          </a:prstGeom>
          <a:noFill/>
          <a:ln/>
        </p:spPr>
        <p:txBody>
          <a:bodyPr wrap="square" lIns="0" tIns="0" rIns="0" bIns="0" rtlCol="0" anchor="t"/>
          <a:lstStyle/>
          <a:p>
            <a:pPr indent="0" marL="0">
              <a:buNone/>
            </a:pPr>
            <a:r>
              <a:rPr lang="en-US" sz="1300" dirty="0">
                <a:solidFill>
                  <a:schemeClr val="tx1"/>
                </a:solidFill>
              </a:rPr>
              <a:t>Bottom line: dense pieces suit gate-based, sparse pieces suit annealing, mixing beats either alone, copying settings saves quantum time, and a normal laptop still wins today.</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Why choosing a quantum computer is hard</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1 · The problem</a:t>
            </a:r>
            <a:endParaRPr lang="en-US" sz="1000" dirty="0"/>
          </a:p>
        </p:txBody>
      </p:sp>
      <p:sp>
        <p:nvSpPr>
          <p:cNvPr id="5" name="card card"/>
          <p:cNvSpPr/>
          <p:nvPr/>
        </p:nvSpPr>
        <p:spPr>
          <a:xfrm>
            <a:off x="457200" y="1097280"/>
            <a:ext cx="2615184" cy="3429000"/>
          </a:xfrm>
          <a:prstGeom prst="roundRect">
            <a:avLst>
              <a:gd name="adj" fmla="val 2797"/>
            </a:avLst>
          </a:prstGeom>
          <a:solidFill>
            <a:srgbClr val="F2F2F8"/>
          </a:solidFill>
          <a:ln w="12700">
            <a:solidFill>
              <a:srgbClr val="F2F2F8"/>
            </a:solidFill>
            <a:prstDash val="solid"/>
          </a:ln>
        </p:spPr>
      </p:sp>
      <p:sp>
        <p:nvSpPr>
          <p:cNvPr id="6" name="Rare and expensive circle"/>
          <p:cNvSpPr/>
          <p:nvPr/>
        </p:nvSpPr>
        <p:spPr>
          <a:xfrm>
            <a:off x="640080" y="1261872"/>
            <a:ext cx="548640" cy="548640"/>
          </a:xfrm>
          <a:prstGeom prst="ellipse">
            <a:avLst/>
          </a:prstGeom>
          <a:solidFill>
            <a:srgbClr val="E8833A"/>
          </a:solidFill>
          <a:ln w="12700">
            <a:solidFill>
              <a:srgbClr val="E8833A"/>
            </a:solidFill>
            <a:prstDash val="solid"/>
          </a:ln>
        </p:spPr>
      </p:sp>
      <p:pic>
        <p:nvPicPr>
          <p:cNvPr id="7" name="Rare and expensive icon" descr="preencoded.png">    </p:cNvPr>
          <p:cNvPicPr>
            <a:picLocks noChangeAspect="1"/>
          </p:cNvPicPr>
          <p:nvPr/>
        </p:nvPicPr>
        <p:blipFill>
          <a:blip r:embed="rId1"/>
          <a:stretch>
            <a:fillRect/>
          </a:stretch>
        </p:blipFill>
        <p:spPr>
          <a:xfrm>
            <a:off x="771754" y="1393546"/>
            <a:ext cx="285293" cy="285293"/>
          </a:xfrm>
          <a:prstGeom prst="rect">
            <a:avLst/>
          </a:prstGeom>
        </p:spPr>
      </p:pic>
      <p:sp>
        <p:nvSpPr>
          <p:cNvPr id="8" name="Text 4"/>
          <p:cNvSpPr txBox="1"/>
          <p:nvPr/>
        </p:nvSpPr>
        <p:spPr>
          <a:xfrm>
            <a:off x="1325880" y="1261872"/>
            <a:ext cx="1645920" cy="548640"/>
          </a:xfrm>
          <a:prstGeom prst="rect">
            <a:avLst/>
          </a:prstGeom>
          <a:noFill/>
          <a:ln/>
        </p:spPr>
        <p:txBody>
          <a:bodyPr wrap="square" lIns="0" tIns="0" rIns="0" bIns="0" rtlCol="0" anchor="ctr"/>
          <a:lstStyle/>
          <a:p>
            <a:pPr indent="0" marL="0">
              <a:buNone/>
            </a:pPr>
            <a:r>
              <a:rPr lang="en-US" sz="1500" b="1" dirty="0">
                <a:solidFill>
                  <a:schemeClr val="tx1"/>
                </a:solidFill>
              </a:rPr>
              <a:t>Rare and expensive</a:t>
            </a:r>
            <a:endParaRPr lang="en-US" sz="1500" dirty="0"/>
          </a:p>
        </p:txBody>
      </p:sp>
      <p:sp>
        <p:nvSpPr>
          <p:cNvPr id="9" name="Text 5"/>
          <p:cNvSpPr txBox="1"/>
          <p:nvPr/>
        </p:nvSpPr>
        <p:spPr>
          <a:xfrm>
            <a:off x="640080" y="2011680"/>
            <a:ext cx="2286000" cy="23774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chemeClr val="tx1"/>
                </a:solidFill>
              </a:rPr>
              <a:t>Our free IBM plan: 10 minutes per rolling 28 days</a:t>
            </a:r>
            <a:endParaRPr lang="en-US" sz="1300" dirty="0"/>
          </a:p>
          <a:p>
            <a:pPr marL="177800" indent="-177800">
              <a:spcAft>
                <a:spcPts val="800"/>
              </a:spcAft>
              <a:buSzPct val="100000"/>
              <a:buChar char="•"/>
            </a:pPr>
            <a:r>
              <a:rPr lang="en-US" sz="1300" dirty="0">
                <a:solidFill>
                  <a:schemeClr val="tx1"/>
                </a:solidFill>
              </a:rPr>
              <a:t>Minutes used today come back only after 28 days</a:t>
            </a:r>
            <a:endParaRPr lang="en-US" sz="1300" dirty="0"/>
          </a:p>
          <a:p>
            <a:pPr marL="177800" indent="-177800">
              <a:spcAft>
                <a:spcPts val="800"/>
              </a:spcAft>
              <a:buSzPct val="100000"/>
              <a:buChar char="•"/>
            </a:pPr>
            <a:r>
              <a:rPr lang="en-US" sz="1300" dirty="0">
                <a:solidFill>
                  <a:schemeClr val="tx1"/>
                </a:solidFill>
              </a:rPr>
              <a:t>Companies pay for quantum time by the second</a:t>
            </a:r>
            <a:endParaRPr lang="en-US" sz="1300" dirty="0"/>
          </a:p>
        </p:txBody>
      </p:sp>
      <p:sp>
        <p:nvSpPr>
          <p:cNvPr id="10" name="card card"/>
          <p:cNvSpPr/>
          <p:nvPr/>
        </p:nvSpPr>
        <p:spPr>
          <a:xfrm>
            <a:off x="3264408" y="1097280"/>
            <a:ext cx="2615184" cy="3429000"/>
          </a:xfrm>
          <a:prstGeom prst="roundRect">
            <a:avLst>
              <a:gd name="adj" fmla="val 2797"/>
            </a:avLst>
          </a:prstGeom>
          <a:solidFill>
            <a:srgbClr val="F2F2F8"/>
          </a:solidFill>
          <a:ln w="12700">
            <a:solidFill>
              <a:srgbClr val="F2F2F8"/>
            </a:solidFill>
            <a:prstDash val="solid"/>
          </a:ln>
        </p:spPr>
      </p:sp>
      <p:sp>
        <p:nvSpPr>
          <p:cNvPr id="11" name="Two different kinds circle"/>
          <p:cNvSpPr/>
          <p:nvPr/>
        </p:nvSpPr>
        <p:spPr>
          <a:xfrm>
            <a:off x="3447288" y="1261872"/>
            <a:ext cx="548640" cy="548640"/>
          </a:xfrm>
          <a:prstGeom prst="ellipse">
            <a:avLst/>
          </a:prstGeom>
          <a:solidFill>
            <a:srgbClr val="5B4FD1"/>
          </a:solidFill>
          <a:ln w="12700">
            <a:solidFill>
              <a:srgbClr val="5B4FD1"/>
            </a:solidFill>
            <a:prstDash val="solid"/>
          </a:ln>
        </p:spPr>
      </p:sp>
      <p:pic>
        <p:nvPicPr>
          <p:cNvPr id="12" name="Two different kinds icon" descr="preencoded.png">    </p:cNvPr>
          <p:cNvPicPr>
            <a:picLocks noChangeAspect="1"/>
          </p:cNvPicPr>
          <p:nvPr/>
        </p:nvPicPr>
        <p:blipFill>
          <a:blip r:embed="rId2"/>
          <a:stretch>
            <a:fillRect/>
          </a:stretch>
        </p:blipFill>
        <p:spPr>
          <a:xfrm>
            <a:off x="3578962" y="1393546"/>
            <a:ext cx="285293" cy="285293"/>
          </a:xfrm>
          <a:prstGeom prst="rect">
            <a:avLst/>
          </a:prstGeom>
        </p:spPr>
      </p:pic>
      <p:sp>
        <p:nvSpPr>
          <p:cNvPr id="13" name="Text 8"/>
          <p:cNvSpPr txBox="1"/>
          <p:nvPr/>
        </p:nvSpPr>
        <p:spPr>
          <a:xfrm>
            <a:off x="4133088" y="1261872"/>
            <a:ext cx="1645920" cy="548640"/>
          </a:xfrm>
          <a:prstGeom prst="rect">
            <a:avLst/>
          </a:prstGeom>
          <a:noFill/>
          <a:ln/>
        </p:spPr>
        <p:txBody>
          <a:bodyPr wrap="square" lIns="0" tIns="0" rIns="0" bIns="0" rtlCol="0" anchor="ctr"/>
          <a:lstStyle/>
          <a:p>
            <a:pPr indent="0" marL="0">
              <a:buNone/>
            </a:pPr>
            <a:r>
              <a:rPr lang="en-US" sz="1500" b="1" dirty="0">
                <a:solidFill>
                  <a:schemeClr val="tx1"/>
                </a:solidFill>
              </a:rPr>
              <a:t>Two different kinds</a:t>
            </a:r>
            <a:endParaRPr lang="en-US" sz="1500" dirty="0"/>
          </a:p>
        </p:txBody>
      </p:sp>
      <p:sp>
        <p:nvSpPr>
          <p:cNvPr id="14" name="Text 9"/>
          <p:cNvSpPr txBox="1"/>
          <p:nvPr/>
        </p:nvSpPr>
        <p:spPr>
          <a:xfrm>
            <a:off x="3447288" y="2011680"/>
            <a:ext cx="2286000" cy="23774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chemeClr val="tx1"/>
                </a:solidFill>
              </a:rPr>
              <a:t>Gate-based (IBM, Google): short recipes with tuned settings</a:t>
            </a:r>
            <a:endParaRPr lang="en-US" sz="1300" dirty="0"/>
          </a:p>
          <a:p>
            <a:pPr marL="177800" indent="-177800">
              <a:spcAft>
                <a:spcPts val="800"/>
              </a:spcAft>
              <a:buSzPct val="100000"/>
              <a:buChar char="•"/>
            </a:pPr>
            <a:r>
              <a:rPr lang="en-US" sz="1300" dirty="0">
                <a:solidFill>
                  <a:schemeClr val="tx1"/>
                </a:solidFill>
              </a:rPr>
              <a:t>Annealing (D-Wave): slow settling toward the best answer</a:t>
            </a:r>
            <a:endParaRPr lang="en-US" sz="1300" dirty="0"/>
          </a:p>
          <a:p>
            <a:pPr marL="177800" indent="-177800">
              <a:spcAft>
                <a:spcPts val="800"/>
              </a:spcAft>
              <a:buSzPct val="100000"/>
              <a:buChar char="•"/>
            </a:pPr>
            <a:r>
              <a:rPr lang="en-US" sz="1300" dirty="0">
                <a:solidFill>
                  <a:schemeClr val="tx1"/>
                </a:solidFill>
              </a:rPr>
              <a:t>Each suits different problem shapes</a:t>
            </a:r>
            <a:endParaRPr lang="en-US" sz="1300" dirty="0"/>
          </a:p>
        </p:txBody>
      </p:sp>
      <p:sp>
        <p:nvSpPr>
          <p:cNvPr id="15" name="card card"/>
          <p:cNvSpPr/>
          <p:nvPr/>
        </p:nvSpPr>
        <p:spPr>
          <a:xfrm>
            <a:off x="6071616" y="1097280"/>
            <a:ext cx="2615184" cy="3429000"/>
          </a:xfrm>
          <a:prstGeom prst="roundRect">
            <a:avLst>
              <a:gd name="adj" fmla="val 2797"/>
            </a:avLst>
          </a:prstGeom>
          <a:solidFill>
            <a:srgbClr val="F2F2F8"/>
          </a:solidFill>
          <a:ln w="12700">
            <a:solidFill>
              <a:srgbClr val="F2F2F8"/>
            </a:solidFill>
            <a:prstDash val="solid"/>
          </a:ln>
        </p:spPr>
      </p:sp>
      <p:sp>
        <p:nvSpPr>
          <p:cNvPr id="16" name="They make mistakes circle"/>
          <p:cNvSpPr/>
          <p:nvPr/>
        </p:nvSpPr>
        <p:spPr>
          <a:xfrm>
            <a:off x="6254496" y="1261872"/>
            <a:ext cx="548640" cy="548640"/>
          </a:xfrm>
          <a:prstGeom prst="ellipse">
            <a:avLst/>
          </a:prstGeom>
          <a:solidFill>
            <a:srgbClr val="D64545"/>
          </a:solidFill>
          <a:ln w="12700">
            <a:solidFill>
              <a:srgbClr val="D64545"/>
            </a:solidFill>
            <a:prstDash val="solid"/>
          </a:ln>
        </p:spPr>
      </p:sp>
      <p:pic>
        <p:nvPicPr>
          <p:cNvPr id="17" name="They make mistakes icon" descr="preencoded.png">    </p:cNvPr>
          <p:cNvPicPr>
            <a:picLocks noChangeAspect="1"/>
          </p:cNvPicPr>
          <p:nvPr/>
        </p:nvPicPr>
        <p:blipFill>
          <a:blip r:embed="rId3"/>
          <a:stretch>
            <a:fillRect/>
          </a:stretch>
        </p:blipFill>
        <p:spPr>
          <a:xfrm>
            <a:off x="6386170" y="1393546"/>
            <a:ext cx="285293" cy="285293"/>
          </a:xfrm>
          <a:prstGeom prst="rect">
            <a:avLst/>
          </a:prstGeom>
        </p:spPr>
      </p:pic>
      <p:sp>
        <p:nvSpPr>
          <p:cNvPr id="18" name="Text 12"/>
          <p:cNvSpPr txBox="1"/>
          <p:nvPr/>
        </p:nvSpPr>
        <p:spPr>
          <a:xfrm>
            <a:off x="6940296" y="1261872"/>
            <a:ext cx="1645920" cy="548640"/>
          </a:xfrm>
          <a:prstGeom prst="rect">
            <a:avLst/>
          </a:prstGeom>
          <a:noFill/>
          <a:ln/>
        </p:spPr>
        <p:txBody>
          <a:bodyPr wrap="square" lIns="0" tIns="0" rIns="0" bIns="0" rtlCol="0" anchor="ctr"/>
          <a:lstStyle/>
          <a:p>
            <a:pPr indent="0" marL="0">
              <a:buNone/>
            </a:pPr>
            <a:r>
              <a:rPr lang="en-US" sz="1500" b="1" dirty="0">
                <a:solidFill>
                  <a:schemeClr val="tx1"/>
                </a:solidFill>
              </a:rPr>
              <a:t>They make mistakes</a:t>
            </a:r>
            <a:endParaRPr lang="en-US" sz="1500" dirty="0"/>
          </a:p>
        </p:txBody>
      </p:sp>
      <p:sp>
        <p:nvSpPr>
          <p:cNvPr id="19" name="Text 13"/>
          <p:cNvSpPr txBox="1"/>
          <p:nvPr/>
        </p:nvSpPr>
        <p:spPr>
          <a:xfrm>
            <a:off x="6254496" y="2011680"/>
            <a:ext cx="2286000" cy="23774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chemeClr val="tx1"/>
                </a:solidFill>
              </a:rPr>
              <a:t>Every step on today's chips has a small chance of error</a:t>
            </a:r>
            <a:endParaRPr lang="en-US" sz="1300" dirty="0"/>
          </a:p>
          <a:p>
            <a:pPr marL="177800" indent="-177800">
              <a:spcAft>
                <a:spcPts val="800"/>
              </a:spcAft>
              <a:buSzPct val="100000"/>
              <a:buChar char="•"/>
            </a:pPr>
            <a:r>
              <a:rPr lang="en-US" sz="1300" dirty="0">
                <a:solidFill>
                  <a:schemeClr val="tx1"/>
                </a:solidFill>
              </a:rPr>
              <a:t>Errors pile up in long recipes</a:t>
            </a:r>
            <a:endParaRPr lang="en-US" sz="1300" dirty="0"/>
          </a:p>
          <a:p>
            <a:pPr marL="177800" indent="-177800">
              <a:spcAft>
                <a:spcPts val="800"/>
              </a:spcAft>
              <a:buSzPct val="100000"/>
              <a:buChar char="•"/>
            </a:pPr>
            <a:r>
              <a:rPr lang="en-US" sz="1300" dirty="0">
                <a:solidFill>
                  <a:schemeClr val="tx1"/>
                </a:solidFill>
              </a:rPr>
              <a:t>Too many errors → no better than a random guess</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Who has this problem, and how it's handled today</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1 · The problem</a:t>
            </a:r>
            <a:endParaRPr lang="en-US" sz="1000" dirty="0"/>
          </a:p>
        </p:txBody>
      </p:sp>
      <p:sp>
        <p:nvSpPr>
          <p:cNvPr id="5" name="Who it affects card"/>
          <p:cNvSpPr/>
          <p:nvPr/>
        </p:nvSpPr>
        <p:spPr>
          <a:xfrm>
            <a:off x="457200" y="1097280"/>
            <a:ext cx="4023360" cy="2103120"/>
          </a:xfrm>
          <a:prstGeom prst="roundRect">
            <a:avLst>
              <a:gd name="adj" fmla="val 3478"/>
            </a:avLst>
          </a:prstGeom>
          <a:solidFill>
            <a:srgbClr val="2B2A6B"/>
          </a:solidFill>
          <a:ln w="12700">
            <a:solidFill>
              <a:srgbClr val="2B2A6B"/>
            </a:solidFill>
            <a:prstDash val="solid"/>
          </a:ln>
        </p:spPr>
      </p:sp>
      <p:sp>
        <p:nvSpPr>
          <p:cNvPr id="6" name="Text 3"/>
          <p:cNvSpPr txBox="1"/>
          <p:nvPr/>
        </p:nvSpPr>
        <p:spPr>
          <a:xfrm>
            <a:off x="640080" y="1225296"/>
            <a:ext cx="3657600" cy="292608"/>
          </a:xfrm>
          <a:prstGeom prst="rect">
            <a:avLst/>
          </a:prstGeom>
          <a:noFill/>
          <a:ln/>
        </p:spPr>
        <p:txBody>
          <a:bodyPr wrap="square" lIns="0" tIns="0" rIns="0" bIns="0" rtlCol="0" anchor="t"/>
          <a:lstStyle/>
          <a:p>
            <a:pPr indent="0" marL="0">
              <a:buNone/>
            </a:pPr>
            <a:r>
              <a:rPr lang="en-US" sz="1400" b="1" dirty="0">
                <a:solidFill>
                  <a:schemeClr val="bg1"/>
                </a:solidFill>
              </a:rPr>
              <a:t>Who it affects</a:t>
            </a:r>
            <a:endParaRPr lang="en-US" sz="1400" dirty="0"/>
          </a:p>
        </p:txBody>
      </p:sp>
      <p:sp>
        <p:nvSpPr>
          <p:cNvPr id="7" name="Text 4"/>
          <p:cNvSpPr txBox="1"/>
          <p:nvPr/>
        </p:nvSpPr>
        <p:spPr>
          <a:xfrm>
            <a:off x="640080" y="1591056"/>
            <a:ext cx="3675888" cy="1517904"/>
          </a:xfrm>
          <a:prstGeom prst="rect">
            <a:avLst/>
          </a:prstGeom>
          <a:noFill/>
          <a:ln/>
        </p:spPr>
        <p:txBody>
          <a:bodyPr wrap="square" lIns="0" tIns="0" rIns="0" bIns="0" rtlCol="0" anchor="t"/>
          <a:lstStyle/>
          <a:p>
            <a:pPr marL="177800" indent="-177800">
              <a:spcAft>
                <a:spcPts val="400"/>
              </a:spcAft>
              <a:buSzPct val="100000"/>
              <a:buChar char="•"/>
            </a:pPr>
            <a:r>
              <a:rPr lang="en-US" sz="1300" b="1" dirty="0">
                <a:solidFill>
                  <a:schemeClr val="bg1"/>
                </a:solidFill>
              </a:rPr>
              <a:t>Companies trying quantum: </a:t>
            </a:r>
            <a:pPr indent="0" marL="0">
              <a:spcAft>
                <a:spcPts val="400"/>
              </a:spcAft>
              <a:buNone/>
            </a:pPr>
            <a:r>
              <a:rPr lang="en-US" sz="1300" dirty="0">
                <a:solidFill>
                  <a:schemeClr val="bg1"/>
                </a:solidFill>
              </a:rPr>
              <a:t>drug makers, banks; they pay for every minute</a:t>
            </a:r>
            <a:endParaRPr lang="en-US" sz="1300" dirty="0"/>
          </a:p>
          <a:p>
            <a:pPr marL="177800" indent="-177800">
              <a:spcAft>
                <a:spcPts val="400"/>
              </a:spcAft>
              <a:buSzPct val="100000"/>
              <a:buChar char="•"/>
            </a:pPr>
            <a:r>
              <a:rPr lang="en-US" sz="1300" b="1" dirty="0">
                <a:solidFill>
                  <a:schemeClr val="bg1"/>
                </a:solidFill>
              </a:rPr>
              <a:t>Quantum cloud providers: </a:t>
            </a:r>
            <a:pPr indent="0" marL="0">
              <a:spcAft>
                <a:spcPts val="400"/>
              </a:spcAft>
              <a:buNone/>
            </a:pPr>
            <a:r>
              <a:rPr lang="en-US" sz="1300" dirty="0">
                <a:solidFill>
                  <a:schemeClr val="bg1"/>
                </a:solidFill>
              </a:rPr>
              <a:t>IBM, D-Wave, Amazon must decide where each job runs</a:t>
            </a:r>
            <a:endParaRPr lang="en-US" sz="1300" dirty="0"/>
          </a:p>
          <a:p>
            <a:pPr marL="177800" indent="-177800">
              <a:spcAft>
                <a:spcPts val="400"/>
              </a:spcAft>
              <a:buSzPct val="100000"/>
              <a:buChar char="•"/>
            </a:pPr>
            <a:r>
              <a:rPr lang="en-US" sz="1300" b="1" dirty="0">
                <a:solidFill>
                  <a:schemeClr val="bg1"/>
                </a:solidFill>
              </a:rPr>
              <a:t>Researchers and students: </a:t>
            </a:r>
            <a:pPr indent="0" marL="0">
              <a:spcAft>
                <a:spcPts val="400"/>
              </a:spcAft>
              <a:buNone/>
            </a:pPr>
            <a:r>
              <a:rPr lang="en-US" sz="1300" dirty="0">
                <a:solidFill>
                  <a:schemeClr val="bg1"/>
                </a:solidFill>
              </a:rPr>
              <a:t>tiny budgets, like our 10 minutes</a:t>
            </a:r>
            <a:endParaRPr lang="en-US" sz="1300" dirty="0"/>
          </a:p>
        </p:txBody>
      </p:sp>
      <p:sp>
        <p:nvSpPr>
          <p:cNvPr id="8" name="How it's handled today card"/>
          <p:cNvSpPr/>
          <p:nvPr/>
        </p:nvSpPr>
        <p:spPr>
          <a:xfrm>
            <a:off x="4663440" y="1097280"/>
            <a:ext cx="4023360" cy="2103120"/>
          </a:xfrm>
          <a:prstGeom prst="roundRect">
            <a:avLst>
              <a:gd name="adj" fmla="val 3478"/>
            </a:avLst>
          </a:prstGeom>
          <a:solidFill>
            <a:srgbClr val="F2F2F8"/>
          </a:solidFill>
          <a:ln w="12700">
            <a:solidFill>
              <a:srgbClr val="F2F2F8"/>
            </a:solidFill>
            <a:prstDash val="solid"/>
          </a:ln>
        </p:spPr>
      </p:sp>
      <p:sp>
        <p:nvSpPr>
          <p:cNvPr id="9" name="Text 6"/>
          <p:cNvSpPr txBox="1"/>
          <p:nvPr/>
        </p:nvSpPr>
        <p:spPr>
          <a:xfrm>
            <a:off x="484632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How it's handled today</a:t>
            </a:r>
            <a:endParaRPr lang="en-US" sz="1400" dirty="0"/>
          </a:p>
        </p:txBody>
      </p:sp>
      <p:sp>
        <p:nvSpPr>
          <p:cNvPr id="10" name="Text 7"/>
          <p:cNvSpPr txBox="1"/>
          <p:nvPr/>
        </p:nvSpPr>
        <p:spPr>
          <a:xfrm>
            <a:off x="4846320" y="1591056"/>
            <a:ext cx="3675888" cy="151790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People mostly guess, or use the vendor's default</a:t>
            </a:r>
            <a:endParaRPr lang="en-US" sz="1300" dirty="0"/>
          </a:p>
          <a:p>
            <a:pPr marL="177800" indent="-177800">
              <a:spcAft>
                <a:spcPts val="400"/>
              </a:spcAft>
              <a:buSzPct val="100000"/>
              <a:buChar char="•"/>
            </a:pPr>
            <a:r>
              <a:rPr lang="en-US" sz="1300" dirty="0">
                <a:solidFill>
                  <a:schemeClr val="tx1"/>
                </a:solidFill>
              </a:rPr>
              <a:t>Questionnaires like the Next-Step Quantum Decision Guide rate readiness</a:t>
            </a:r>
            <a:endParaRPr lang="en-US" sz="1300" dirty="0"/>
          </a:p>
          <a:p>
            <a:pPr marL="177800" indent="-177800">
              <a:spcAft>
                <a:spcPts val="400"/>
              </a:spcAft>
              <a:buSzPct val="100000"/>
              <a:buChar char="•"/>
            </a:pPr>
            <a:r>
              <a:rPr lang="en-US" sz="1300" dirty="0">
                <a:solidFill>
                  <a:schemeClr val="tx1"/>
                </a:solidFill>
              </a:rPr>
              <a:t>D-Wave's hybrid solvers split work internally, but not between gate-based and annealing</a:t>
            </a:r>
            <a:endParaRPr lang="en-US" sz="1300" dirty="0"/>
          </a:p>
        </p:txBody>
      </p:sp>
      <p:sp>
        <p:nvSpPr>
          <p:cNvPr id="11" name="The three questions Q-Router answers with data card"/>
          <p:cNvSpPr/>
          <p:nvPr/>
        </p:nvSpPr>
        <p:spPr>
          <a:xfrm>
            <a:off x="457200" y="3337560"/>
            <a:ext cx="8229600" cy="1188720"/>
          </a:xfrm>
          <a:prstGeom prst="roundRect">
            <a:avLst>
              <a:gd name="adj" fmla="val 6154"/>
            </a:avLst>
          </a:prstGeom>
          <a:solidFill>
            <a:srgbClr val="FFF4EA"/>
          </a:solidFill>
          <a:ln w="12700">
            <a:solidFill>
              <a:srgbClr val="FFF4EA"/>
            </a:solidFill>
            <a:prstDash val="solid"/>
          </a:ln>
        </p:spPr>
      </p:sp>
      <p:sp>
        <p:nvSpPr>
          <p:cNvPr id="12" name="Text 9"/>
          <p:cNvSpPr txBox="1"/>
          <p:nvPr/>
        </p:nvSpPr>
        <p:spPr>
          <a:xfrm>
            <a:off x="640080" y="3465576"/>
            <a:ext cx="7863840" cy="292608"/>
          </a:xfrm>
          <a:prstGeom prst="rect">
            <a:avLst/>
          </a:prstGeom>
          <a:noFill/>
          <a:ln/>
        </p:spPr>
        <p:txBody>
          <a:bodyPr wrap="square" lIns="0" tIns="0" rIns="0" bIns="0" rtlCol="0" anchor="t"/>
          <a:lstStyle/>
          <a:p>
            <a:pPr indent="0" marL="0">
              <a:buNone/>
            </a:pPr>
            <a:r>
              <a:rPr lang="en-US" sz="1400" b="1" dirty="0">
                <a:solidFill>
                  <a:schemeClr val="tx1"/>
                </a:solidFill>
              </a:rPr>
              <a:t>The three questions Q-Router answers with data</a:t>
            </a:r>
            <a:endParaRPr lang="en-US" sz="1400" dirty="0"/>
          </a:p>
        </p:txBody>
      </p:sp>
      <p:sp>
        <p:nvSpPr>
          <p:cNvPr id="13" name="Text 10"/>
          <p:cNvSpPr txBox="1"/>
          <p:nvPr/>
        </p:nvSpPr>
        <p:spPr>
          <a:xfrm>
            <a:off x="640080" y="3831336"/>
            <a:ext cx="7882128" cy="603504"/>
          </a:xfrm>
          <a:prstGeom prst="rect">
            <a:avLst/>
          </a:prstGeom>
          <a:noFill/>
          <a:ln/>
        </p:spPr>
        <p:txBody>
          <a:bodyPr wrap="square" lIns="0" tIns="0" rIns="0" bIns="0" rtlCol="0" anchor="t"/>
          <a:lstStyle/>
          <a:p>
            <a:pPr marL="177800" indent="-177800">
              <a:spcAft>
                <a:spcPts val="400"/>
              </a:spcAft>
              <a:buSzPct val="100000"/>
              <a:buChar char="•"/>
            </a:pPr>
            <a:r>
              <a:rPr lang="en-US" sz="1300" b="1" dirty="0">
                <a:solidFill>
                  <a:schemeClr val="tx1"/>
                </a:solidFill>
              </a:rPr>
              <a:t>Is quantum worth it? </a:t>
            </a:r>
            <a:pPr indent="0" marL="0">
              <a:spcAft>
                <a:spcPts val="400"/>
              </a:spcAft>
              <a:buNone/>
            </a:pPr>
            <a:r>
              <a:rPr lang="en-US" sz="1300" dirty="0">
                <a:solidFill>
                  <a:schemeClr val="tx1"/>
                </a:solidFill>
              </a:rPr>
              <a:t>the router sends a piece to the laptop if no quantum option is predicted to be good enough (Part 5)</a:t>
            </a:r>
            <a:endParaRPr lang="en-US" sz="1300" dirty="0"/>
          </a:p>
          <a:p>
            <a:pPr marL="177800" indent="-177800">
              <a:spcAft>
                <a:spcPts val="400"/>
              </a:spcAft>
              <a:buSzPct val="100000"/>
              <a:buChar char="•"/>
            </a:pPr>
            <a:r>
              <a:rPr lang="en-US" sz="1300" b="1" dirty="0">
                <a:solidFill>
                  <a:schemeClr val="tx1"/>
                </a:solidFill>
              </a:rPr>
              <a:t>Which kind, and for which part? </a:t>
            </a:r>
            <a:pPr indent="0" marL="0">
              <a:spcAft>
                <a:spcPts val="400"/>
              </a:spcAft>
              <a:buNone/>
            </a:pPr>
            <a:r>
              <a:rPr lang="en-US" sz="1300" dirty="0">
                <a:solidFill>
                  <a:schemeClr val="tx1"/>
                </a:solidFill>
              </a:rPr>
              <a:t>it splits the problem and picks gate-based or annealing for each piece (Part 7)</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Bits and qubits</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2 · Quantum basics</a:t>
            </a:r>
            <a:endParaRPr lang="en-US" sz="1000" dirty="0"/>
          </a:p>
        </p:txBody>
      </p:sp>
      <p:sp>
        <p:nvSpPr>
          <p:cNvPr id="5" name="A normal bit card"/>
          <p:cNvSpPr/>
          <p:nvPr/>
        </p:nvSpPr>
        <p:spPr>
          <a:xfrm>
            <a:off x="457200" y="1097280"/>
            <a:ext cx="4023360" cy="2194560"/>
          </a:xfrm>
          <a:prstGeom prst="roundRect">
            <a:avLst>
              <a:gd name="adj" fmla="val 3333"/>
            </a:avLst>
          </a:prstGeom>
          <a:solidFill>
            <a:srgbClr val="F2F2F8"/>
          </a:solidFill>
          <a:ln w="12700">
            <a:solidFill>
              <a:srgbClr val="F2F2F8"/>
            </a:solidFill>
            <a:prstDash val="solid"/>
          </a:ln>
        </p:spPr>
      </p:sp>
      <p:sp>
        <p:nvSpPr>
          <p:cNvPr id="6" name="Text 3"/>
          <p:cNvSpPr txBox="1"/>
          <p:nvPr/>
        </p:nvSpPr>
        <p:spPr>
          <a:xfrm>
            <a:off x="64008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A normal bit</a:t>
            </a:r>
            <a:endParaRPr lang="en-US" sz="1400" dirty="0"/>
          </a:p>
        </p:txBody>
      </p:sp>
      <p:sp>
        <p:nvSpPr>
          <p:cNvPr id="7" name="Text 4"/>
          <p:cNvSpPr txBox="1"/>
          <p:nvPr/>
        </p:nvSpPr>
        <p:spPr>
          <a:xfrm>
            <a:off x="640080" y="1591056"/>
            <a:ext cx="3675888" cy="160934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A light switch: either 0 (off) or 1 (on)</a:t>
            </a:r>
            <a:endParaRPr lang="en-US" sz="1300" dirty="0"/>
          </a:p>
          <a:p>
            <a:pPr marL="177800" indent="-177800">
              <a:spcAft>
                <a:spcPts val="400"/>
              </a:spcAft>
              <a:buSzPct val="100000"/>
              <a:buChar char="•"/>
            </a:pPr>
            <a:r>
              <a:rPr lang="en-US" sz="1300" dirty="0">
                <a:solidFill>
                  <a:schemeClr val="tx1"/>
                </a:solidFill>
              </a:rPr>
              <a:t>10 bits hold ONE combination at a time</a:t>
            </a:r>
            <a:endParaRPr lang="en-US" sz="1300" dirty="0"/>
          </a:p>
          <a:p>
            <a:pPr marL="177800" indent="-177800">
              <a:spcAft>
                <a:spcPts val="400"/>
              </a:spcAft>
              <a:buSzPct val="100000"/>
              <a:buChar char="•"/>
            </a:pPr>
            <a:r>
              <a:rPr lang="en-US" sz="1300" dirty="0">
                <a:solidFill>
                  <a:schemeClr val="tx1"/>
                </a:solidFill>
              </a:rPr>
              <a:t>To check all 1,024 combinations of 10 choices, a laptop checks them one after another (very fast at this size)</a:t>
            </a:r>
            <a:endParaRPr lang="en-US" sz="1300" dirty="0"/>
          </a:p>
        </p:txBody>
      </p:sp>
      <p:sp>
        <p:nvSpPr>
          <p:cNvPr id="8" name="A qubit card"/>
          <p:cNvSpPr/>
          <p:nvPr/>
        </p:nvSpPr>
        <p:spPr>
          <a:xfrm>
            <a:off x="4663440" y="1097280"/>
            <a:ext cx="4023360" cy="2194560"/>
          </a:xfrm>
          <a:prstGeom prst="roundRect">
            <a:avLst>
              <a:gd name="adj" fmla="val 3333"/>
            </a:avLst>
          </a:prstGeom>
          <a:solidFill>
            <a:srgbClr val="EEF8F6"/>
          </a:solidFill>
          <a:ln w="12700">
            <a:solidFill>
              <a:srgbClr val="EEF8F6"/>
            </a:solidFill>
            <a:prstDash val="solid"/>
          </a:ln>
        </p:spPr>
      </p:sp>
      <p:sp>
        <p:nvSpPr>
          <p:cNvPr id="9" name="Text 6"/>
          <p:cNvSpPr txBox="1"/>
          <p:nvPr/>
        </p:nvSpPr>
        <p:spPr>
          <a:xfrm>
            <a:off x="484632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A qubit</a:t>
            </a:r>
            <a:endParaRPr lang="en-US" sz="1400" dirty="0"/>
          </a:p>
        </p:txBody>
      </p:sp>
      <p:sp>
        <p:nvSpPr>
          <p:cNvPr id="10" name="Text 7"/>
          <p:cNvSpPr txBox="1"/>
          <p:nvPr/>
        </p:nvSpPr>
        <p:spPr>
          <a:xfrm>
            <a:off x="4846320" y="1591056"/>
            <a:ext cx="3675888" cy="160934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Can be 0, 1, or a mix of both until you look at it</a:t>
            </a:r>
            <a:endParaRPr lang="en-US" sz="1300" dirty="0"/>
          </a:p>
          <a:p>
            <a:pPr marL="177800" indent="-177800">
              <a:spcAft>
                <a:spcPts val="400"/>
              </a:spcAft>
              <a:buSzPct val="100000"/>
              <a:buChar char="•"/>
            </a:pPr>
            <a:r>
              <a:rPr lang="en-US" sz="1300" dirty="0">
                <a:solidFill>
                  <a:schemeClr val="tx1"/>
                </a:solidFill>
              </a:rPr>
              <a:t>When you look (measure), it settles on 0 or 1</a:t>
            </a:r>
            <a:endParaRPr lang="en-US" sz="1300" dirty="0"/>
          </a:p>
          <a:p>
            <a:pPr marL="177800" indent="-177800">
              <a:spcAft>
                <a:spcPts val="400"/>
              </a:spcAft>
              <a:buSzPct val="100000"/>
              <a:buChar char="•"/>
            </a:pPr>
            <a:r>
              <a:rPr lang="en-US" sz="1300" dirty="0">
                <a:solidFill>
                  <a:schemeClr val="tx1"/>
                </a:solidFill>
              </a:rPr>
              <a:t>In Q-Router, one qubit = one yes/no decision: fund this drug? buy this stock?</a:t>
            </a:r>
            <a:endParaRPr lang="en-US" sz="1300" dirty="0"/>
          </a:p>
        </p:txBody>
      </p:sp>
      <p:sp>
        <p:nvSpPr>
          <p:cNvPr id="11" name="Why this matters for us card"/>
          <p:cNvSpPr/>
          <p:nvPr/>
        </p:nvSpPr>
        <p:spPr>
          <a:xfrm>
            <a:off x="457200" y="3429000"/>
            <a:ext cx="8229600" cy="1097280"/>
          </a:xfrm>
          <a:prstGeom prst="roundRect">
            <a:avLst>
              <a:gd name="adj" fmla="val 6667"/>
            </a:avLst>
          </a:prstGeom>
          <a:solidFill>
            <a:srgbClr val="FFF4EA"/>
          </a:solidFill>
          <a:ln w="12700">
            <a:solidFill>
              <a:srgbClr val="FFF4EA"/>
            </a:solidFill>
            <a:prstDash val="solid"/>
          </a:ln>
        </p:spPr>
      </p:sp>
      <p:sp>
        <p:nvSpPr>
          <p:cNvPr id="12" name="Text 9"/>
          <p:cNvSpPr txBox="1"/>
          <p:nvPr/>
        </p:nvSpPr>
        <p:spPr>
          <a:xfrm>
            <a:off x="640080" y="3557016"/>
            <a:ext cx="7863840" cy="292608"/>
          </a:xfrm>
          <a:prstGeom prst="rect">
            <a:avLst/>
          </a:prstGeom>
          <a:noFill/>
          <a:ln/>
        </p:spPr>
        <p:txBody>
          <a:bodyPr wrap="square" lIns="0" tIns="0" rIns="0" bIns="0" rtlCol="0" anchor="t"/>
          <a:lstStyle/>
          <a:p>
            <a:pPr indent="0" marL="0">
              <a:buNone/>
            </a:pPr>
            <a:r>
              <a:rPr lang="en-US" sz="1400" b="1" dirty="0">
                <a:solidFill>
                  <a:schemeClr val="tx1"/>
                </a:solidFill>
              </a:rPr>
              <a:t>Why this matters for us</a:t>
            </a:r>
            <a:endParaRPr lang="en-US" sz="1400" dirty="0"/>
          </a:p>
        </p:txBody>
      </p:sp>
      <p:sp>
        <p:nvSpPr>
          <p:cNvPr id="13" name="Text 10"/>
          <p:cNvSpPr txBox="1"/>
          <p:nvPr/>
        </p:nvSpPr>
        <p:spPr>
          <a:xfrm>
            <a:off x="640080" y="3922776"/>
            <a:ext cx="7882128" cy="51206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Our test problems use 3 to 18 qubits. Real company decisions need 50 to 200, plus extra for the chip's wiring.</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Superposition, entanglement and measuring</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2 · Quantum basics</a:t>
            </a:r>
            <a:endParaRPr lang="en-US" sz="1000" dirty="0"/>
          </a:p>
        </p:txBody>
      </p:sp>
      <p:sp>
        <p:nvSpPr>
          <p:cNvPr id="5" name="Superposition card"/>
          <p:cNvSpPr/>
          <p:nvPr/>
        </p:nvSpPr>
        <p:spPr>
          <a:xfrm>
            <a:off x="457200" y="1097280"/>
            <a:ext cx="2651760" cy="3429000"/>
          </a:xfrm>
          <a:prstGeom prst="roundRect">
            <a:avLst>
              <a:gd name="adj" fmla="val 2759"/>
            </a:avLst>
          </a:prstGeom>
          <a:solidFill>
            <a:srgbClr val="F2F2F8"/>
          </a:solidFill>
          <a:ln w="12700">
            <a:solidFill>
              <a:srgbClr val="F2F2F8"/>
            </a:solidFill>
            <a:prstDash val="solid"/>
          </a:ln>
        </p:spPr>
      </p:sp>
      <p:sp>
        <p:nvSpPr>
          <p:cNvPr id="6" name="Text 3"/>
          <p:cNvSpPr txBox="1"/>
          <p:nvPr/>
        </p:nvSpPr>
        <p:spPr>
          <a:xfrm>
            <a:off x="640080" y="1225296"/>
            <a:ext cx="2286000" cy="292608"/>
          </a:xfrm>
          <a:prstGeom prst="rect">
            <a:avLst/>
          </a:prstGeom>
          <a:noFill/>
          <a:ln/>
        </p:spPr>
        <p:txBody>
          <a:bodyPr wrap="square" lIns="0" tIns="0" rIns="0" bIns="0" rtlCol="0" anchor="t"/>
          <a:lstStyle/>
          <a:p>
            <a:pPr indent="0" marL="0">
              <a:buNone/>
            </a:pPr>
            <a:r>
              <a:rPr lang="en-US" sz="1400" b="1" dirty="0">
                <a:solidFill>
                  <a:schemeClr val="tx1"/>
                </a:solidFill>
              </a:rPr>
              <a:t>Superposition</a:t>
            </a:r>
            <a:endParaRPr lang="en-US" sz="1400" dirty="0"/>
          </a:p>
        </p:txBody>
      </p:sp>
      <p:sp>
        <p:nvSpPr>
          <p:cNvPr id="7" name="Text 4"/>
          <p:cNvSpPr txBox="1"/>
          <p:nvPr/>
        </p:nvSpPr>
        <p:spPr>
          <a:xfrm>
            <a:off x="640080" y="1591056"/>
            <a:ext cx="2304288" cy="28437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Every qubit starts as a 50/50 mix of yes and no</a:t>
            </a:r>
            <a:endParaRPr lang="en-US" sz="1300" dirty="0"/>
          </a:p>
          <a:p>
            <a:pPr marL="177800" indent="-177800">
              <a:spcAft>
                <a:spcPts val="400"/>
              </a:spcAft>
              <a:buSzPct val="100000"/>
              <a:buChar char="•"/>
            </a:pPr>
            <a:r>
              <a:rPr lang="en-US" sz="1300" dirty="0">
                <a:solidFill>
                  <a:schemeClr val="tx1"/>
                </a:solidFill>
              </a:rPr>
              <a:t>10 qubits → all 1,024 combinations exist at once</a:t>
            </a:r>
            <a:endParaRPr lang="en-US" sz="1300" dirty="0"/>
          </a:p>
          <a:p>
            <a:pPr marL="177800" indent="-177800">
              <a:spcAft>
                <a:spcPts val="400"/>
              </a:spcAft>
              <a:buSzPct val="100000"/>
              <a:buChar char="•"/>
            </a:pPr>
            <a:r>
              <a:rPr lang="en-US" sz="1300" dirty="0">
                <a:solidFill>
                  <a:schemeClr val="tx1"/>
                </a:solidFill>
              </a:rPr>
              <a:t>The recipe then makes good combinations more likely and bad ones less likely</a:t>
            </a:r>
            <a:endParaRPr lang="en-US" sz="1300" dirty="0"/>
          </a:p>
        </p:txBody>
      </p:sp>
      <p:sp>
        <p:nvSpPr>
          <p:cNvPr id="8" name="Entanglement card"/>
          <p:cNvSpPr/>
          <p:nvPr/>
        </p:nvSpPr>
        <p:spPr>
          <a:xfrm>
            <a:off x="3246120" y="1097280"/>
            <a:ext cx="2651760" cy="3429000"/>
          </a:xfrm>
          <a:prstGeom prst="roundRect">
            <a:avLst>
              <a:gd name="adj" fmla="val 2759"/>
            </a:avLst>
          </a:prstGeom>
          <a:solidFill>
            <a:srgbClr val="F2F2F8"/>
          </a:solidFill>
          <a:ln w="12700">
            <a:solidFill>
              <a:srgbClr val="F2F2F8"/>
            </a:solidFill>
            <a:prstDash val="solid"/>
          </a:ln>
        </p:spPr>
      </p:sp>
      <p:sp>
        <p:nvSpPr>
          <p:cNvPr id="9" name="Text 6"/>
          <p:cNvSpPr txBox="1"/>
          <p:nvPr/>
        </p:nvSpPr>
        <p:spPr>
          <a:xfrm>
            <a:off x="3429000" y="1225296"/>
            <a:ext cx="2286000" cy="292608"/>
          </a:xfrm>
          <a:prstGeom prst="rect">
            <a:avLst/>
          </a:prstGeom>
          <a:noFill/>
          <a:ln/>
        </p:spPr>
        <p:txBody>
          <a:bodyPr wrap="square" lIns="0" tIns="0" rIns="0" bIns="0" rtlCol="0" anchor="t"/>
          <a:lstStyle/>
          <a:p>
            <a:pPr indent="0" marL="0">
              <a:buNone/>
            </a:pPr>
            <a:r>
              <a:rPr lang="en-US" sz="1400" b="1" dirty="0">
                <a:solidFill>
                  <a:schemeClr val="tx1"/>
                </a:solidFill>
              </a:rPr>
              <a:t>Entanglement</a:t>
            </a:r>
            <a:endParaRPr lang="en-US" sz="1400" dirty="0"/>
          </a:p>
        </p:txBody>
      </p:sp>
      <p:sp>
        <p:nvSpPr>
          <p:cNvPr id="10" name="Text 7"/>
          <p:cNvSpPr txBox="1"/>
          <p:nvPr/>
        </p:nvSpPr>
        <p:spPr>
          <a:xfrm>
            <a:off x="3429000" y="1591056"/>
            <a:ext cx="2304288" cy="28437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Links qubits so they affect each other</a:t>
            </a:r>
            <a:endParaRPr lang="en-US" sz="1300" dirty="0"/>
          </a:p>
          <a:p>
            <a:pPr marL="177800" indent="-177800">
              <a:spcAft>
                <a:spcPts val="400"/>
              </a:spcAft>
              <a:buSzPct val="100000"/>
              <a:buChar char="•"/>
            </a:pPr>
            <a:r>
              <a:rPr lang="en-US" sz="1300" dirty="0">
                <a:solidFill>
                  <a:schemeClr val="tx1"/>
                </a:solidFill>
              </a:rPr>
              <a:t>Example: two cancer drugs share risk, so their qubits get linked: 'if A is yes, B should lean no'</a:t>
            </a:r>
            <a:endParaRPr lang="en-US" sz="1300" dirty="0"/>
          </a:p>
          <a:p>
            <a:pPr marL="177800" indent="-177800">
              <a:spcAft>
                <a:spcPts val="400"/>
              </a:spcAft>
              <a:buSzPct val="100000"/>
              <a:buChar char="•"/>
            </a:pPr>
            <a:r>
              <a:rPr lang="en-US" sz="1300" dirty="0">
                <a:solidFill>
                  <a:schemeClr val="tx1"/>
                </a:solidFill>
              </a:rPr>
              <a:t>Done by a two-qubit 'link' step (an RZZ gate) for every connected pair</a:t>
            </a:r>
            <a:endParaRPr lang="en-US" sz="1300" dirty="0"/>
          </a:p>
        </p:txBody>
      </p:sp>
      <p:sp>
        <p:nvSpPr>
          <p:cNvPr id="11" name="Measuring and shots card"/>
          <p:cNvSpPr/>
          <p:nvPr/>
        </p:nvSpPr>
        <p:spPr>
          <a:xfrm>
            <a:off x="6035040" y="1097280"/>
            <a:ext cx="2651760" cy="3429000"/>
          </a:xfrm>
          <a:prstGeom prst="roundRect">
            <a:avLst>
              <a:gd name="adj" fmla="val 2759"/>
            </a:avLst>
          </a:prstGeom>
          <a:solidFill>
            <a:srgbClr val="F2F2F8"/>
          </a:solidFill>
          <a:ln w="12700">
            <a:solidFill>
              <a:srgbClr val="F2F2F8"/>
            </a:solidFill>
            <a:prstDash val="solid"/>
          </a:ln>
        </p:spPr>
      </p:sp>
      <p:sp>
        <p:nvSpPr>
          <p:cNvPr id="12" name="Text 9"/>
          <p:cNvSpPr txBox="1"/>
          <p:nvPr/>
        </p:nvSpPr>
        <p:spPr>
          <a:xfrm>
            <a:off x="6217920" y="1225296"/>
            <a:ext cx="2286000" cy="292608"/>
          </a:xfrm>
          <a:prstGeom prst="rect">
            <a:avLst/>
          </a:prstGeom>
          <a:noFill/>
          <a:ln/>
        </p:spPr>
        <p:txBody>
          <a:bodyPr wrap="square" lIns="0" tIns="0" rIns="0" bIns="0" rtlCol="0" anchor="t"/>
          <a:lstStyle/>
          <a:p>
            <a:pPr indent="0" marL="0">
              <a:buNone/>
            </a:pPr>
            <a:r>
              <a:rPr lang="en-US" sz="1400" b="1" dirty="0">
                <a:solidFill>
                  <a:schemeClr val="tx1"/>
                </a:solidFill>
              </a:rPr>
              <a:t>Measuring and shots</a:t>
            </a:r>
            <a:endParaRPr lang="en-US" sz="1400" dirty="0"/>
          </a:p>
        </p:txBody>
      </p:sp>
      <p:sp>
        <p:nvSpPr>
          <p:cNvPr id="13" name="Text 10"/>
          <p:cNvSpPr txBox="1"/>
          <p:nvPr/>
        </p:nvSpPr>
        <p:spPr>
          <a:xfrm>
            <a:off x="6217920" y="1591056"/>
            <a:ext cx="2304288" cy="28437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Looking at the qubits gives ONE answer, like rolling dice</a:t>
            </a:r>
            <a:endParaRPr lang="en-US" sz="1300" dirty="0"/>
          </a:p>
          <a:p>
            <a:pPr marL="177800" indent="-177800">
              <a:spcAft>
                <a:spcPts val="400"/>
              </a:spcAft>
              <a:buSzPct val="100000"/>
              <a:buChar char="•"/>
            </a:pPr>
            <a:r>
              <a:rPr lang="en-US" sz="1300" dirty="0">
                <a:solidFill>
                  <a:schemeClr val="tx1"/>
                </a:solidFill>
              </a:rPr>
              <a:t>The recipe 'loads the dice' toward good answers</a:t>
            </a:r>
            <a:endParaRPr lang="en-US" sz="1300" dirty="0"/>
          </a:p>
          <a:p>
            <a:pPr marL="177800" indent="-177800">
              <a:spcAft>
                <a:spcPts val="400"/>
              </a:spcAft>
              <a:buSzPct val="100000"/>
              <a:buChar char="•"/>
            </a:pPr>
            <a:r>
              <a:rPr lang="en-US" sz="1300" dirty="0">
                <a:solidFill>
                  <a:schemeClr val="tx1"/>
                </a:solidFill>
              </a:rPr>
              <a:t>We roll 1,024-4,096 times ('shots') and average the quality of every answer</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Errors (noise): why quantum chips make mistakes</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2 · Quantum basics</a:t>
            </a:r>
            <a:endParaRPr lang="en-US" sz="1000" dirty="0"/>
          </a:p>
        </p:txBody>
      </p:sp>
      <p:sp>
        <p:nvSpPr>
          <p:cNvPr id="5" name="Where mistakes come from card"/>
          <p:cNvSpPr/>
          <p:nvPr/>
        </p:nvSpPr>
        <p:spPr>
          <a:xfrm>
            <a:off x="457200" y="1097280"/>
            <a:ext cx="4023360" cy="2331720"/>
          </a:xfrm>
          <a:prstGeom prst="roundRect">
            <a:avLst>
              <a:gd name="adj" fmla="val 3137"/>
            </a:avLst>
          </a:prstGeom>
          <a:solidFill>
            <a:srgbClr val="F2F2F8"/>
          </a:solidFill>
          <a:ln w="12700">
            <a:solidFill>
              <a:srgbClr val="F2F2F8"/>
            </a:solidFill>
            <a:prstDash val="solid"/>
          </a:ln>
        </p:spPr>
      </p:sp>
      <p:sp>
        <p:nvSpPr>
          <p:cNvPr id="6" name="Text 3"/>
          <p:cNvSpPr txBox="1"/>
          <p:nvPr/>
        </p:nvSpPr>
        <p:spPr>
          <a:xfrm>
            <a:off x="64008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Where mistakes come from</a:t>
            </a:r>
            <a:endParaRPr lang="en-US" sz="1400" dirty="0"/>
          </a:p>
        </p:txBody>
      </p:sp>
      <p:sp>
        <p:nvSpPr>
          <p:cNvPr id="7" name="Text 4"/>
          <p:cNvSpPr txBox="1"/>
          <p:nvPr/>
        </p:nvSpPr>
        <p:spPr>
          <a:xfrm>
            <a:off x="640080" y="1591056"/>
            <a:ext cx="3675888" cy="1746504"/>
          </a:xfrm>
          <a:prstGeom prst="rect">
            <a:avLst/>
          </a:prstGeom>
          <a:noFill/>
          <a:ln/>
        </p:spPr>
        <p:txBody>
          <a:bodyPr wrap="square" lIns="0" tIns="0" rIns="0" bIns="0" rtlCol="0" anchor="t"/>
          <a:lstStyle/>
          <a:p>
            <a:pPr marL="177800" indent="-177800">
              <a:spcAft>
                <a:spcPts val="400"/>
              </a:spcAft>
              <a:buSzPct val="100000"/>
              <a:buChar char="•"/>
            </a:pPr>
            <a:r>
              <a:rPr lang="en-US" sz="1300" b="1" dirty="0">
                <a:solidFill>
                  <a:schemeClr val="tx1"/>
                </a:solidFill>
              </a:rPr>
              <a:t>Drift: </a:t>
            </a:r>
            <a:pPr indent="0" marL="0">
              <a:spcAft>
                <a:spcPts val="400"/>
              </a:spcAft>
              <a:buNone/>
            </a:pPr>
            <a:r>
              <a:rPr lang="en-US" sz="1300" dirty="0">
                <a:solidFill>
                  <a:schemeClr val="tx1"/>
                </a:solidFill>
              </a:rPr>
              <a:t>qubits slowly lose their state while waiting (heat, stray signals)</a:t>
            </a:r>
            <a:endParaRPr lang="en-US" sz="1300" dirty="0"/>
          </a:p>
          <a:p>
            <a:pPr marL="177800" indent="-177800">
              <a:spcAft>
                <a:spcPts val="400"/>
              </a:spcAft>
              <a:buSzPct val="100000"/>
              <a:buChar char="•"/>
            </a:pPr>
            <a:r>
              <a:rPr lang="en-US" sz="1300" b="1" dirty="0">
                <a:solidFill>
                  <a:schemeClr val="tx1"/>
                </a:solidFill>
              </a:rPr>
              <a:t>Imperfect steps: </a:t>
            </a:r>
            <a:pPr indent="0" marL="0">
              <a:spcAft>
                <a:spcPts val="400"/>
              </a:spcAft>
              <a:buNone/>
            </a:pPr>
            <a:r>
              <a:rPr lang="en-US" sz="1300" dirty="0">
                <a:solidFill>
                  <a:schemeClr val="tx1"/>
                </a:solidFill>
              </a:rPr>
              <a:t>each gate is slightly off; two-qubit link steps are the worst, roughly 10× worse than one-qubit steps</a:t>
            </a:r>
            <a:endParaRPr lang="en-US" sz="1300" dirty="0"/>
          </a:p>
          <a:p>
            <a:pPr marL="177800" indent="-177800">
              <a:spcAft>
                <a:spcPts val="400"/>
              </a:spcAft>
              <a:buSzPct val="100000"/>
              <a:buChar char="•"/>
            </a:pPr>
            <a:r>
              <a:rPr lang="en-US" sz="1300" b="1" dirty="0">
                <a:solidFill>
                  <a:schemeClr val="tx1"/>
                </a:solidFill>
              </a:rPr>
              <a:t>Misreading: </a:t>
            </a:r>
            <a:pPr indent="0" marL="0">
              <a:spcAft>
                <a:spcPts val="400"/>
              </a:spcAft>
              <a:buNone/>
            </a:pPr>
            <a:r>
              <a:rPr lang="en-US" sz="1300" dirty="0">
                <a:solidFill>
                  <a:schemeClr val="tx1"/>
                </a:solidFill>
              </a:rPr>
              <a:t>the final measurement sometimes reads 0 as 1</a:t>
            </a:r>
            <a:endParaRPr lang="en-US" sz="1300" dirty="0"/>
          </a:p>
        </p:txBody>
      </p:sp>
      <p:sp>
        <p:nvSpPr>
          <p:cNvPr id="8" name="Why longer recipes are worse card"/>
          <p:cNvSpPr/>
          <p:nvPr/>
        </p:nvSpPr>
        <p:spPr>
          <a:xfrm>
            <a:off x="4663440" y="1097280"/>
            <a:ext cx="4023360" cy="2331720"/>
          </a:xfrm>
          <a:prstGeom prst="roundRect">
            <a:avLst>
              <a:gd name="adj" fmla="val 3137"/>
            </a:avLst>
          </a:prstGeom>
          <a:solidFill>
            <a:srgbClr val="FDECEC"/>
          </a:solidFill>
          <a:ln w="12700">
            <a:solidFill>
              <a:srgbClr val="FDECEC"/>
            </a:solidFill>
            <a:prstDash val="solid"/>
          </a:ln>
        </p:spPr>
      </p:sp>
      <p:sp>
        <p:nvSpPr>
          <p:cNvPr id="9" name="Text 6"/>
          <p:cNvSpPr txBox="1"/>
          <p:nvPr/>
        </p:nvSpPr>
        <p:spPr>
          <a:xfrm>
            <a:off x="484632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Why longer recipes are worse</a:t>
            </a:r>
            <a:endParaRPr lang="en-US" sz="1400" dirty="0"/>
          </a:p>
        </p:txBody>
      </p:sp>
      <p:sp>
        <p:nvSpPr>
          <p:cNvPr id="10" name="Text 7"/>
          <p:cNvSpPr txBox="1"/>
          <p:nvPr/>
        </p:nvSpPr>
        <p:spPr>
          <a:xfrm>
            <a:off x="4846320" y="1591056"/>
            <a:ext cx="3675888" cy="174650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Each step works correctly with probability (1 − its error)</a:t>
            </a:r>
            <a:endParaRPr lang="en-US" sz="1300" dirty="0"/>
          </a:p>
          <a:p>
            <a:pPr marL="177800" indent="-177800">
              <a:spcAft>
                <a:spcPts val="400"/>
              </a:spcAft>
              <a:buSzPct val="100000"/>
              <a:buChar char="•"/>
            </a:pPr>
            <a:r>
              <a:rPr lang="en-US" sz="1300" dirty="0">
                <a:solidFill>
                  <a:schemeClr val="tx1"/>
                </a:solidFill>
              </a:rPr>
              <a:t>The whole recipe works only if every step does, so the chances multiply</a:t>
            </a:r>
            <a:endParaRPr lang="en-US" sz="1300" dirty="0"/>
          </a:p>
          <a:p>
            <a:pPr marL="177800" indent="-177800">
              <a:spcAft>
                <a:spcPts val="400"/>
              </a:spcAft>
              <a:buSzPct val="100000"/>
              <a:buChar char="•"/>
            </a:pPr>
            <a:r>
              <a:rPr lang="en-US" sz="1300" dirty="0">
                <a:solidFill>
                  <a:schemeClr val="tx1"/>
                </a:solidFill>
              </a:rPr>
              <a:t>Example: 100 link steps at 0.5% error each → 0.995^100 ≈ 0.61, a 39% chance something went wrong</a:t>
            </a:r>
            <a:endParaRPr lang="en-US" sz="1300" dirty="0"/>
          </a:p>
        </p:txBody>
      </p:sp>
      <p:sp>
        <p:nvSpPr>
          <p:cNvPr id="11" name="card card"/>
          <p:cNvSpPr/>
          <p:nvPr/>
        </p:nvSpPr>
        <p:spPr>
          <a:xfrm>
            <a:off x="457200" y="3566160"/>
            <a:ext cx="8229600" cy="960120"/>
          </a:xfrm>
          <a:prstGeom prst="roundRect">
            <a:avLst>
              <a:gd name="adj" fmla="val 7619"/>
            </a:avLst>
          </a:prstGeom>
          <a:solidFill>
            <a:srgbClr val="FFF4EA"/>
          </a:solidFill>
          <a:ln w="12700">
            <a:solidFill>
              <a:srgbClr val="FFF4EA"/>
            </a:solidFill>
            <a:prstDash val="solid"/>
          </a:ln>
        </p:spPr>
      </p:sp>
      <p:sp>
        <p:nvSpPr>
          <p:cNvPr id="12" name="Text 9"/>
          <p:cNvSpPr txBox="1"/>
          <p:nvPr/>
        </p:nvSpPr>
        <p:spPr>
          <a:xfrm>
            <a:off x="640080" y="3694176"/>
            <a:ext cx="7882128" cy="740664"/>
          </a:xfrm>
          <a:prstGeom prst="rect">
            <a:avLst/>
          </a:prstGeom>
          <a:noFill/>
          <a:ln/>
        </p:spPr>
        <p:txBody>
          <a:bodyPr wrap="square" lIns="0" tIns="0" rIns="0" bIns="0" rtlCol="0" anchor="t"/>
          <a:lstStyle/>
          <a:p>
            <a:pPr indent="0" marL="0">
              <a:buNone/>
            </a:pPr>
            <a:r>
              <a:rPr lang="en-US" sz="1300" dirty="0">
                <a:solidFill>
                  <a:schemeClr val="tx1"/>
                </a:solidFill>
              </a:rPr>
              <a:t>This multiplying rule is exactly how Q-Router predicts the chip's errors (Part 5): it multiplies the chance of success of every step, using IBM's measured error rates for each qubit and gate.</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The two kinds of quantum computer</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2 · Quantum basics</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645920"/>
                <a:gridCol w="3291840"/>
                <a:gridCol w="3291840"/>
              </a:tblGrid>
              <a:tr h="384048">
                <a:tc>
                  <a:txBody>
                    <a:bodyPr/>
                    <a:lstStyle/>
                    <a:p>
                      <a:pPr indent="0" marL="0">
                        <a:buNone/>
                      </a:pP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Annealing</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Gate-based (QAOA)</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384048">
                <a:tc>
                  <a:txBody>
                    <a:bodyPr/>
                    <a:lstStyle/>
                    <a:p>
                      <a:pPr indent="0" marL="0">
                        <a:buNone/>
                      </a:pPr>
                      <a:r>
                        <a:rPr lang="en-US" sz="1200" dirty="0">
                          <a:solidFill>
                            <a:srgbClr val="1B1D36"/>
                          </a:solidFill>
                        </a:rPr>
                        <a:t>Picture</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A ball rolling slowly into the lowest valley</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A short recipe with a few dials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384048">
                <a:tc>
                  <a:txBody>
                    <a:bodyPr/>
                    <a:lstStyle/>
                    <a:p>
                      <a:pPr indent="0" marL="0">
                        <a:buNone/>
                      </a:pPr>
                      <a:r>
                        <a:rPr lang="en-US" sz="1200" dirty="0">
                          <a:solidFill>
                            <a:srgbClr val="1B1D36"/>
                          </a:solidFill>
                        </a:rPr>
                        <a:t>Steps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Many (we use 3-6 rounds)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Few (we use 1-2 rounds)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1D36"/>
                          </a:solidFill>
                        </a:rPr>
                        <a:t>Settings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Fixed even schedule (a 'ramp'); only the step size is picked</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2 dials per round, tuned by trial and adjustment</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384048">
                <a:tc>
                  <a:txBody>
                    <a:bodyPr/>
                    <a:lstStyle/>
                    <a:p>
                      <a:pPr indent="0" marL="0">
                        <a:buNone/>
                      </a:pPr>
                      <a:r>
                        <a:rPr lang="en-US" sz="1200" dirty="0">
                          <a:solidFill>
                            <a:srgbClr val="1B1D36"/>
                          </a:solidFill>
                        </a:rPr>
                        <a:t>Tuning cost</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Tiny: try 16 schedules on the simulator</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About 60-120 trial runs on the simulator</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1D36"/>
                          </a:solidFill>
                        </a:rPr>
                        <a:t>Error risk</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Higher: more steps, more link steps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Lower: fewer steps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384048">
                <a:tc>
                  <a:txBody>
                    <a:bodyPr/>
                    <a:lstStyle/>
                    <a:p>
                      <a:pPr indent="0" marL="0">
                        <a:buNone/>
                      </a:pPr>
                      <a:r>
                        <a:rPr lang="en-US" sz="1200" dirty="0">
                          <a:solidFill>
                            <a:srgbClr val="1B1D36"/>
                          </a:solidFill>
                        </a:rPr>
                        <a:t>Built by</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D-Wave (we copy it on IBM's chip)</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IBM, Google</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1D36"/>
                          </a:solidFill>
                        </a:rPr>
                        <a:t>Best for (our finding)</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Loosely connected (sparse) pieces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Tightly connected (dense) pieces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Our annealer is a copy built from gate steps</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2 · Quantum basics</a:t>
            </a:r>
            <a:endParaRPr lang="en-US" sz="1000" dirty="0"/>
          </a:p>
        </p:txBody>
      </p:sp>
      <p:sp>
        <p:nvSpPr>
          <p:cNvPr id="5" name="How the copy works card"/>
          <p:cNvSpPr/>
          <p:nvPr/>
        </p:nvSpPr>
        <p:spPr>
          <a:xfrm>
            <a:off x="457200" y="1097280"/>
            <a:ext cx="4023360" cy="3429000"/>
          </a:xfrm>
          <a:prstGeom prst="roundRect">
            <a:avLst>
              <a:gd name="adj" fmla="val 2133"/>
            </a:avLst>
          </a:prstGeom>
          <a:solidFill>
            <a:srgbClr val="F2F2F8"/>
          </a:solidFill>
          <a:ln w="12700">
            <a:solidFill>
              <a:srgbClr val="F2F2F8"/>
            </a:solidFill>
            <a:prstDash val="solid"/>
          </a:ln>
        </p:spPr>
      </p:sp>
      <p:sp>
        <p:nvSpPr>
          <p:cNvPr id="6" name="Text 3"/>
          <p:cNvSpPr txBox="1"/>
          <p:nvPr/>
        </p:nvSpPr>
        <p:spPr>
          <a:xfrm>
            <a:off x="64008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How the copy works</a:t>
            </a:r>
            <a:endParaRPr lang="en-US" sz="1400" dirty="0"/>
          </a:p>
        </p:txBody>
      </p:sp>
      <p:sp>
        <p:nvSpPr>
          <p:cNvPr id="7" name="Text 4"/>
          <p:cNvSpPr txBox="1"/>
          <p:nvPr/>
        </p:nvSpPr>
        <p:spPr>
          <a:xfrm>
            <a:off x="640080" y="1591056"/>
            <a:ext cx="3675888" cy="28437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A real annealer slowly turns down a 'shuffle' force and turns up a 'problem' force</a:t>
            </a:r>
            <a:endParaRPr lang="en-US" sz="1300" dirty="0"/>
          </a:p>
          <a:p>
            <a:pPr marL="177800" indent="-177800">
              <a:spcAft>
                <a:spcPts val="400"/>
              </a:spcAft>
              <a:buSzPct val="100000"/>
              <a:buChar char="•"/>
            </a:pPr>
            <a:r>
              <a:rPr lang="en-US" sz="1300" dirty="0">
                <a:solidFill>
                  <a:schemeClr val="tx1"/>
                </a:solidFill>
              </a:rPr>
              <a:t>We chop that smooth change into p small rounds, like a flip-book making motion from still pictures</a:t>
            </a:r>
            <a:endParaRPr lang="en-US" sz="1300" dirty="0"/>
          </a:p>
          <a:p>
            <a:pPr marL="177800" indent="-177800">
              <a:spcAft>
                <a:spcPts val="400"/>
              </a:spcAft>
              <a:buSzPct val="100000"/>
              <a:buChar char="•"/>
            </a:pPr>
            <a:r>
              <a:rPr lang="en-US" sz="1300" dirty="0">
                <a:solidFill>
                  <a:schemeClr val="tx1"/>
                </a:solidFill>
              </a:rPr>
              <a:t>Each round = one shuffle step + one problem step, the same building blocks as gate-based QAOA</a:t>
            </a:r>
            <a:endParaRPr lang="en-US" sz="1300" dirty="0"/>
          </a:p>
          <a:p>
            <a:pPr marL="177800" indent="-177800">
              <a:spcAft>
                <a:spcPts val="400"/>
              </a:spcAft>
              <a:buSzPct val="100000"/>
              <a:buChar char="•"/>
            </a:pPr>
            <a:r>
              <a:rPr lang="en-US" sz="1300" dirty="0">
                <a:solidFill>
                  <a:schemeClr val="tx1"/>
                </a:solidFill>
              </a:rPr>
              <a:t>Round by round: shuffle strength goes DOWN evenly, problem strength goes UP evenly (a linear ramp)</a:t>
            </a:r>
            <a:endParaRPr lang="en-US" sz="1300" dirty="0"/>
          </a:p>
        </p:txBody>
      </p:sp>
      <p:sp>
        <p:nvSpPr>
          <p:cNvPr id="8" name="The choices we made card"/>
          <p:cNvSpPr/>
          <p:nvPr/>
        </p:nvSpPr>
        <p:spPr>
          <a:xfrm>
            <a:off x="4663440" y="1097280"/>
            <a:ext cx="4023360" cy="3429000"/>
          </a:xfrm>
          <a:prstGeom prst="roundRect">
            <a:avLst>
              <a:gd name="adj" fmla="val 2133"/>
            </a:avLst>
          </a:prstGeom>
          <a:solidFill>
            <a:srgbClr val="EEF8F6"/>
          </a:solidFill>
          <a:ln w="12700">
            <a:solidFill>
              <a:srgbClr val="EEF8F6"/>
            </a:solidFill>
            <a:prstDash val="solid"/>
          </a:ln>
        </p:spPr>
      </p:sp>
      <p:sp>
        <p:nvSpPr>
          <p:cNvPr id="9" name="Text 6"/>
          <p:cNvSpPr txBox="1"/>
          <p:nvPr/>
        </p:nvSpPr>
        <p:spPr>
          <a:xfrm>
            <a:off x="484632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The choices we made</a:t>
            </a:r>
            <a:endParaRPr lang="en-US" sz="1400" dirty="0"/>
          </a:p>
        </p:txBody>
      </p:sp>
      <p:sp>
        <p:nvSpPr>
          <p:cNvPr id="10" name="Text 7"/>
          <p:cNvSpPr txBox="1"/>
          <p:nvPr/>
        </p:nvSpPr>
        <p:spPr>
          <a:xfrm>
            <a:off x="4846320" y="1591056"/>
            <a:ext cx="3675888" cy="2843784"/>
          </a:xfrm>
          <a:prstGeom prst="rect">
            <a:avLst/>
          </a:prstGeom>
          <a:noFill/>
          <a:ln/>
        </p:spPr>
        <p:txBody>
          <a:bodyPr wrap="square" lIns="0" tIns="0" rIns="0" bIns="0" rtlCol="0" anchor="t"/>
          <a:lstStyle/>
          <a:p>
            <a:pPr marL="177800" indent="-177800">
              <a:spcAft>
                <a:spcPts val="400"/>
              </a:spcAft>
              <a:buSzPct val="100000"/>
              <a:buChar char="•"/>
            </a:pPr>
            <a:r>
              <a:rPr lang="en-US" sz="1300" b="1" dirty="0">
                <a:solidFill>
                  <a:schemeClr val="tx1"/>
                </a:solidFill>
              </a:rPr>
              <a:t>Rounds (p): </a:t>
            </a:r>
            <a:pPr indent="0" marL="0">
              <a:spcAft>
                <a:spcPts val="400"/>
              </a:spcAft>
              <a:buNone/>
            </a:pPr>
            <a:r>
              <a:rPr lang="en-US" sz="1300" dirty="0">
                <a:solidFill>
                  <a:schemeClr val="tx1"/>
                </a:solidFill>
              </a:rPr>
              <a:t>2, 3, 4 or 6; more rounds = smoother sweep but more errors</a:t>
            </a:r>
            <a:endParaRPr lang="en-US" sz="1300" dirty="0"/>
          </a:p>
          <a:p>
            <a:pPr marL="177800" indent="-177800">
              <a:spcAft>
                <a:spcPts val="400"/>
              </a:spcAft>
              <a:buSzPct val="100000"/>
              <a:buChar char="•"/>
            </a:pPr>
            <a:r>
              <a:rPr lang="en-US" sz="1300" b="1" dirty="0">
                <a:solidFill>
                  <a:schemeClr val="tx1"/>
                </a:solidFill>
              </a:rPr>
              <a:t>Step size (Δ): </a:t>
            </a:r>
            <a:pPr indent="0" marL="0">
              <a:spcAft>
                <a:spcPts val="400"/>
              </a:spcAft>
              <a:buNone/>
            </a:pPr>
            <a:r>
              <a:rPr lang="en-US" sz="1300" dirty="0">
                <a:solidFill>
                  <a:schemeClr val="tx1"/>
                </a:solidFill>
              </a:rPr>
              <a:t>0.3, 0.6, 0.9 or 1.2; how big each change is</a:t>
            </a:r>
            <a:endParaRPr lang="en-US" sz="1300" dirty="0"/>
          </a:p>
          <a:p>
            <a:pPr marL="177800" indent="-177800">
              <a:spcAft>
                <a:spcPts val="400"/>
              </a:spcAft>
              <a:buSzPct val="100000"/>
              <a:buChar char="•"/>
            </a:pPr>
            <a:r>
              <a:rPr lang="en-US" sz="1300" b="1" dirty="0">
                <a:solidFill>
                  <a:schemeClr val="tx1"/>
                </a:solidFill>
              </a:rPr>
              <a:t>Picking them: </a:t>
            </a:r>
            <a:pPr indent="0" marL="0">
              <a:spcAft>
                <a:spcPts val="400"/>
              </a:spcAft>
              <a:buNone/>
            </a:pPr>
            <a:r>
              <a:rPr lang="en-US" sz="1300" dirty="0">
                <a:solidFill>
                  <a:schemeClr val="tx1"/>
                </a:solidFill>
              </a:rPr>
              <a:t>try all 16 combinations on the simulator, keep the best average score</a:t>
            </a:r>
            <a:endParaRPr lang="en-US" sz="1300" dirty="0"/>
          </a:p>
          <a:p>
            <a:pPr marL="177800" indent="-177800">
              <a:spcAft>
                <a:spcPts val="400"/>
              </a:spcAft>
              <a:buSzPct val="100000"/>
              <a:buChar char="•"/>
            </a:pPr>
            <a:r>
              <a:rPr lang="en-US" sz="1300" b="1" dirty="0">
                <a:solidFill>
                  <a:schemeClr val="tx1"/>
                </a:solidFill>
              </a:rPr>
              <a:t>For the 60 practice problems: </a:t>
            </a:r>
            <a:pPr indent="0" marL="0">
              <a:spcAft>
                <a:spcPts val="400"/>
              </a:spcAft>
              <a:buNone/>
            </a:pPr>
            <a:r>
              <a:rPr lang="en-US" sz="1300" dirty="0">
                <a:solidFill>
                  <a:schemeClr val="tx1"/>
                </a:solidFill>
              </a:rPr>
              <a:t>a fixed p = 3, Δ = 0.6, to keep training fast</a:t>
            </a:r>
            <a:endParaRPr lang="en-US" sz="1300" dirty="0"/>
          </a:p>
          <a:p>
            <a:pPr marL="177800" indent="-177800">
              <a:spcAft>
                <a:spcPts val="400"/>
              </a:spcAft>
              <a:buSzPct val="100000"/>
              <a:buChar char="•"/>
            </a:pPr>
            <a:r>
              <a:rPr lang="en-US" sz="1300" b="1" dirty="0">
                <a:solidFill>
                  <a:schemeClr val="tx1"/>
                </a:solidFill>
              </a:rPr>
              <a:t>Flagship result: </a:t>
            </a:r>
            <a:pPr indent="0" marL="0">
              <a:spcAft>
                <a:spcPts val="400"/>
              </a:spcAft>
              <a:buNone/>
            </a:pPr>
            <a:r>
              <a:rPr lang="en-US" sz="1300" dirty="0">
                <a:solidFill>
                  <a:schemeClr val="tx1"/>
                </a:solidFill>
              </a:rPr>
              <a:t>best was p = 6, Δ = 0.3</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The score sheet (QUBO)</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3 · Turning decisions into math</a:t>
            </a:r>
            <a:endParaRPr lang="en-US" sz="1000" dirty="0"/>
          </a:p>
        </p:txBody>
      </p:sp>
      <p:sp>
        <p:nvSpPr>
          <p:cNvPr id="5" name="How it works card"/>
          <p:cNvSpPr/>
          <p:nvPr/>
        </p:nvSpPr>
        <p:spPr>
          <a:xfrm>
            <a:off x="457200" y="1097280"/>
            <a:ext cx="4937760" cy="3429000"/>
          </a:xfrm>
          <a:prstGeom prst="roundRect">
            <a:avLst>
              <a:gd name="adj" fmla="val 2133"/>
            </a:avLst>
          </a:prstGeom>
          <a:solidFill>
            <a:srgbClr val="F2F2F8"/>
          </a:solidFill>
          <a:ln w="12700">
            <a:solidFill>
              <a:srgbClr val="F2F2F8"/>
            </a:solidFill>
            <a:prstDash val="solid"/>
          </a:ln>
        </p:spPr>
      </p:sp>
      <p:sp>
        <p:nvSpPr>
          <p:cNvPr id="6" name="Text 3"/>
          <p:cNvSpPr txBox="1"/>
          <p:nvPr/>
        </p:nvSpPr>
        <p:spPr>
          <a:xfrm>
            <a:off x="640080" y="1225296"/>
            <a:ext cx="4572000" cy="292608"/>
          </a:xfrm>
          <a:prstGeom prst="rect">
            <a:avLst/>
          </a:prstGeom>
          <a:noFill/>
          <a:ln/>
        </p:spPr>
        <p:txBody>
          <a:bodyPr wrap="square" lIns="0" tIns="0" rIns="0" bIns="0" rtlCol="0" anchor="t"/>
          <a:lstStyle/>
          <a:p>
            <a:pPr indent="0" marL="0">
              <a:buNone/>
            </a:pPr>
            <a:r>
              <a:rPr lang="en-US" sz="1400" b="1" dirty="0">
                <a:solidFill>
                  <a:schemeClr val="tx1"/>
                </a:solidFill>
              </a:rPr>
              <a:t>How it works</a:t>
            </a:r>
            <a:endParaRPr lang="en-US" sz="1400" dirty="0"/>
          </a:p>
        </p:txBody>
      </p:sp>
      <p:sp>
        <p:nvSpPr>
          <p:cNvPr id="7" name="Text 4"/>
          <p:cNvSpPr txBox="1"/>
          <p:nvPr/>
        </p:nvSpPr>
        <p:spPr>
          <a:xfrm>
            <a:off x="640080" y="1591056"/>
            <a:ext cx="4590288" cy="2843784"/>
          </a:xfrm>
          <a:prstGeom prst="rect">
            <a:avLst/>
          </a:prstGeom>
          <a:noFill/>
          <a:ln/>
        </p:spPr>
        <p:txBody>
          <a:bodyPr wrap="square" lIns="0" tIns="0" rIns="0" bIns="0" rtlCol="0" anchor="t"/>
          <a:lstStyle/>
          <a:p>
            <a:pPr marL="177800" indent="-177800">
              <a:spcAft>
                <a:spcPts val="400"/>
              </a:spcAft>
              <a:buSzPct val="100000"/>
              <a:buChar char="•"/>
            </a:pPr>
            <a:r>
              <a:rPr lang="en-US" sz="1300" b="1" dirty="0">
                <a:solidFill>
                  <a:schemeClr val="tx1"/>
                </a:solidFill>
              </a:rPr>
              <a:t>Choices: </a:t>
            </a:r>
            <a:pPr indent="0" marL="0">
              <a:spcAft>
                <a:spcPts val="400"/>
              </a:spcAft>
              <a:buNone/>
            </a:pPr>
            <a:r>
              <a:rPr lang="en-US" sz="1300" dirty="0">
                <a:solidFill>
                  <a:schemeClr val="tx1"/>
                </a:solidFill>
              </a:rPr>
              <a:t>a list of yes/no switches, one per decision (x = 1 means yes)</a:t>
            </a:r>
            <a:endParaRPr lang="en-US" sz="1300" dirty="0"/>
          </a:p>
          <a:p>
            <a:pPr marL="177800" indent="-177800">
              <a:spcAft>
                <a:spcPts val="400"/>
              </a:spcAft>
              <a:buSzPct val="100000"/>
              <a:buChar char="•"/>
            </a:pPr>
            <a:r>
              <a:rPr lang="en-US" sz="1300" b="1" dirty="0">
                <a:solidFill>
                  <a:schemeClr val="tx1"/>
                </a:solidFill>
              </a:rPr>
              <a:t>Single points: </a:t>
            </a:r>
            <a:pPr indent="0" marL="0">
              <a:spcAft>
                <a:spcPts val="400"/>
              </a:spcAft>
              <a:buNone/>
            </a:pPr>
            <a:r>
              <a:rPr lang="en-US" sz="1300" dirty="0">
                <a:solidFill>
                  <a:schemeClr val="tx1"/>
                </a:solidFill>
              </a:rPr>
              <a:t>each 'yes' adds its own number (good choices get negative numbers, which lower the total)</a:t>
            </a:r>
            <a:endParaRPr lang="en-US" sz="1300" dirty="0"/>
          </a:p>
          <a:p>
            <a:pPr marL="177800" indent="-177800">
              <a:spcAft>
                <a:spcPts val="400"/>
              </a:spcAft>
              <a:buSzPct val="100000"/>
              <a:buChar char="•"/>
            </a:pPr>
            <a:r>
              <a:rPr lang="en-US" sz="1300" b="1" dirty="0">
                <a:solidFill>
                  <a:schemeClr val="tx1"/>
                </a:solidFill>
              </a:rPr>
              <a:t>Pair points: </a:t>
            </a:r>
            <a:pPr indent="0" marL="0">
              <a:spcAft>
                <a:spcPts val="400"/>
              </a:spcAft>
              <a:buNone/>
            </a:pPr>
            <a:r>
              <a:rPr lang="en-US" sz="1300" dirty="0">
                <a:solidFill>
                  <a:schemeClr val="tx1"/>
                </a:solidFill>
              </a:rPr>
              <a:t>each pair of 'yeses' adds a number for how they interact (shared risk raises the total)</a:t>
            </a:r>
            <a:endParaRPr lang="en-US" sz="1300" dirty="0"/>
          </a:p>
          <a:p>
            <a:pPr marL="177800" indent="-177800">
              <a:spcAft>
                <a:spcPts val="400"/>
              </a:spcAft>
              <a:buSzPct val="100000"/>
              <a:buChar char="•"/>
            </a:pPr>
            <a:r>
              <a:rPr lang="en-US" sz="1300" b="1" dirty="0">
                <a:solidFill>
                  <a:schemeClr val="tx1"/>
                </a:solidFill>
              </a:rPr>
              <a:t>Goal: </a:t>
            </a:r>
            <a:pPr indent="0" marL="0">
              <a:spcAft>
                <a:spcPts val="400"/>
              </a:spcAft>
              <a:buNone/>
            </a:pPr>
            <a:r>
              <a:rPr lang="en-US" sz="1300" dirty="0">
                <a:solidFill>
                  <a:schemeClr val="tx1"/>
                </a:solidFill>
              </a:rPr>
              <a:t>find the combination with the LOWEST total</a:t>
            </a:r>
            <a:endParaRPr lang="en-US" sz="1300" dirty="0"/>
          </a:p>
          <a:p>
            <a:pPr marL="177800" indent="-177800">
              <a:spcAft>
                <a:spcPts val="400"/>
              </a:spcAft>
              <a:buSzPct val="100000"/>
              <a:buChar char="•"/>
            </a:pPr>
            <a:r>
              <a:rPr lang="en-US" sz="1300" b="1" dirty="0">
                <a:solidFill>
                  <a:schemeClr val="tx1"/>
                </a:solidFill>
              </a:rPr>
              <a:t>Rules: </a:t>
            </a:r>
            <a:pPr indent="0" marL="0">
              <a:spcAft>
                <a:spcPts val="400"/>
              </a:spcAft>
              <a:buNone/>
            </a:pPr>
            <a:r>
              <a:rPr lang="en-US" sz="1300" dirty="0">
                <a:solidFill>
                  <a:schemeClr val="tx1"/>
                </a:solidFill>
              </a:rPr>
              <a:t>turned into big penalties so breaking them never pays</a:t>
            </a:r>
            <a:endParaRPr lang="en-US" sz="1300" dirty="0"/>
          </a:p>
          <a:p>
            <a:pPr marL="177800" indent="-177800">
              <a:spcAft>
                <a:spcPts val="400"/>
              </a:spcAft>
              <a:buSzPct val="100000"/>
              <a:buChar char="•"/>
            </a:pPr>
            <a:r>
              <a:rPr lang="en-US" sz="1300" b="1" dirty="0">
                <a:solidFill>
                  <a:schemeClr val="tx1"/>
                </a:solidFill>
              </a:rPr>
              <a:t>Why this format: </a:t>
            </a:r>
            <a:pPr indent="0" marL="0">
              <a:spcAft>
                <a:spcPts val="400"/>
              </a:spcAft>
              <a:buNone/>
            </a:pPr>
            <a:r>
              <a:rPr lang="en-US" sz="1300" dirty="0">
                <a:solidFill>
                  <a:schemeClr val="tx1"/>
                </a:solidFill>
              </a:rPr>
              <a:t>every solver in the project reads it: the laptop, gate-based and annealing</a:t>
            </a:r>
            <a:endParaRPr lang="en-US" sz="1300" dirty="0"/>
          </a:p>
        </p:txBody>
      </p:sp>
      <p:sp>
        <p:nvSpPr>
          <p:cNvPr id="8" name="In one line card"/>
          <p:cNvSpPr/>
          <p:nvPr/>
        </p:nvSpPr>
        <p:spPr>
          <a:xfrm>
            <a:off x="5577840" y="1097280"/>
            <a:ext cx="3108960" cy="3429000"/>
          </a:xfrm>
          <a:prstGeom prst="roundRect">
            <a:avLst>
              <a:gd name="adj" fmla="val 2353"/>
            </a:avLst>
          </a:prstGeom>
          <a:solidFill>
            <a:srgbClr val="2B2A6B"/>
          </a:solidFill>
          <a:ln w="12700">
            <a:solidFill>
              <a:srgbClr val="2B2A6B"/>
            </a:solidFill>
            <a:prstDash val="solid"/>
          </a:ln>
        </p:spPr>
      </p:sp>
      <p:sp>
        <p:nvSpPr>
          <p:cNvPr id="9" name="Text 6"/>
          <p:cNvSpPr txBox="1"/>
          <p:nvPr/>
        </p:nvSpPr>
        <p:spPr>
          <a:xfrm>
            <a:off x="5760720" y="1225296"/>
            <a:ext cx="2743200" cy="292608"/>
          </a:xfrm>
          <a:prstGeom prst="rect">
            <a:avLst/>
          </a:prstGeom>
          <a:noFill/>
          <a:ln/>
        </p:spPr>
        <p:txBody>
          <a:bodyPr wrap="square" lIns="0" tIns="0" rIns="0" bIns="0" rtlCol="0" anchor="t"/>
          <a:lstStyle/>
          <a:p>
            <a:pPr indent="0" marL="0">
              <a:buNone/>
            </a:pPr>
            <a:r>
              <a:rPr lang="en-US" sz="1400" b="1" dirty="0">
                <a:solidFill>
                  <a:schemeClr val="bg1"/>
                </a:solidFill>
              </a:rPr>
              <a:t>In one line</a:t>
            </a:r>
            <a:endParaRPr lang="en-US" sz="1400" dirty="0"/>
          </a:p>
        </p:txBody>
      </p:sp>
      <p:sp>
        <p:nvSpPr>
          <p:cNvPr id="10" name="Text 7"/>
          <p:cNvSpPr txBox="1"/>
          <p:nvPr/>
        </p:nvSpPr>
        <p:spPr>
          <a:xfrm>
            <a:off x="5760720" y="1591056"/>
            <a:ext cx="2761488" cy="2843784"/>
          </a:xfrm>
          <a:prstGeom prst="rect">
            <a:avLst/>
          </a:prstGeom>
          <a:noFill/>
          <a:ln/>
        </p:spPr>
        <p:txBody>
          <a:bodyPr wrap="square" lIns="0" tIns="0" rIns="0" bIns="0" rtlCol="0" anchor="t"/>
          <a:lstStyle/>
          <a:p>
            <a:pPr indent="0" marL="0">
              <a:buNone/>
            </a:pPr>
            <a:r>
              <a:rPr lang="en-US" sz="1400" dirty="0">
                <a:solidFill>
                  <a:schemeClr val="bg1"/>
                </a:solidFill>
              </a:rPr>
              <a:t>Total = (sum of each yes's own points) + (sum of each pair of yeses' points) + (penalties for broken rules). Lower is better.</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A tiny worked example: 3 drugs, fund exactly 2</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3 · Turning decisions into math</a:t>
            </a:r>
            <a:endParaRPr lang="en-US" sz="1000" dirty="0"/>
          </a:p>
        </p:txBody>
      </p:sp>
      <p:sp>
        <p:nvSpPr>
          <p:cNvPr id="5" name="The setup card"/>
          <p:cNvSpPr/>
          <p:nvPr/>
        </p:nvSpPr>
        <p:spPr>
          <a:xfrm>
            <a:off x="457200" y="1097280"/>
            <a:ext cx="3017520" cy="3429000"/>
          </a:xfrm>
          <a:prstGeom prst="roundRect">
            <a:avLst>
              <a:gd name="adj" fmla="val 2424"/>
            </a:avLst>
          </a:prstGeom>
          <a:solidFill>
            <a:srgbClr val="F2F2F8"/>
          </a:solidFill>
          <a:ln w="12700">
            <a:solidFill>
              <a:srgbClr val="F2F2F8"/>
            </a:solidFill>
            <a:prstDash val="solid"/>
          </a:ln>
        </p:spPr>
      </p:sp>
      <p:sp>
        <p:nvSpPr>
          <p:cNvPr id="6" name="Text 3"/>
          <p:cNvSpPr txBox="1"/>
          <p:nvPr/>
        </p:nvSpPr>
        <p:spPr>
          <a:xfrm>
            <a:off x="640080" y="1225296"/>
            <a:ext cx="2651760" cy="292608"/>
          </a:xfrm>
          <a:prstGeom prst="rect">
            <a:avLst/>
          </a:prstGeom>
          <a:noFill/>
          <a:ln/>
        </p:spPr>
        <p:txBody>
          <a:bodyPr wrap="square" lIns="0" tIns="0" rIns="0" bIns="0" rtlCol="0" anchor="t"/>
          <a:lstStyle/>
          <a:p>
            <a:pPr indent="0" marL="0">
              <a:buNone/>
            </a:pPr>
            <a:r>
              <a:rPr lang="en-US" sz="1400" b="1" dirty="0">
                <a:solidFill>
                  <a:schemeClr val="tx1"/>
                </a:solidFill>
              </a:rPr>
              <a:t>The setup</a:t>
            </a:r>
            <a:endParaRPr lang="en-US" sz="1400" dirty="0"/>
          </a:p>
        </p:txBody>
      </p:sp>
      <p:sp>
        <p:nvSpPr>
          <p:cNvPr id="7" name="Text 4"/>
          <p:cNvSpPr txBox="1"/>
          <p:nvPr/>
        </p:nvSpPr>
        <p:spPr>
          <a:xfrm>
            <a:off x="640080" y="1591056"/>
            <a:ext cx="2670048" cy="2843784"/>
          </a:xfrm>
          <a:prstGeom prst="rect">
            <a:avLst/>
          </a:prstGeom>
          <a:noFill/>
          <a:ln/>
        </p:spPr>
        <p:txBody>
          <a:bodyPr wrap="square" lIns="0" tIns="0" rIns="0" bIns="0" rtlCol="0" anchor="t"/>
          <a:lstStyle/>
          <a:p>
            <a:pPr marL="177800" indent="-177800">
              <a:spcAft>
                <a:spcPts val="400"/>
              </a:spcAft>
              <a:buSzPct val="100000"/>
              <a:buChar char="•"/>
            </a:pPr>
            <a:r>
              <a:rPr lang="en-US" sz="1300" b="1" dirty="0">
                <a:solidFill>
                  <a:schemeClr val="tx1"/>
                </a:solidFill>
              </a:rPr>
              <a:t>Drug A: </a:t>
            </a:r>
            <a:pPr indent="0" marL="0">
              <a:spcAft>
                <a:spcPts val="400"/>
              </a:spcAft>
              <a:buNone/>
            </a:pPr>
            <a:r>
              <a:rPr lang="en-US" sz="1300" dirty="0">
                <a:solidFill>
                  <a:schemeClr val="tx1"/>
                </a:solidFill>
              </a:rPr>
              <a:t>−5 (good)</a:t>
            </a:r>
            <a:endParaRPr lang="en-US" sz="1300" dirty="0"/>
          </a:p>
          <a:p>
            <a:pPr marL="177800" indent="-177800">
              <a:spcAft>
                <a:spcPts val="400"/>
              </a:spcAft>
              <a:buSzPct val="100000"/>
              <a:buChar char="•"/>
            </a:pPr>
            <a:r>
              <a:rPr lang="en-US" sz="1300" b="1" dirty="0">
                <a:solidFill>
                  <a:schemeClr val="tx1"/>
                </a:solidFill>
              </a:rPr>
              <a:t>Drug B: </a:t>
            </a:r>
            <a:pPr indent="0" marL="0">
              <a:spcAft>
                <a:spcPts val="400"/>
              </a:spcAft>
              <a:buNone/>
            </a:pPr>
            <a:r>
              <a:rPr lang="en-US" sz="1300" dirty="0">
                <a:solidFill>
                  <a:schemeClr val="tx1"/>
                </a:solidFill>
              </a:rPr>
              <a:t>−4</a:t>
            </a:r>
            <a:endParaRPr lang="en-US" sz="1300" dirty="0"/>
          </a:p>
          <a:p>
            <a:pPr marL="177800" indent="-177800">
              <a:spcAft>
                <a:spcPts val="400"/>
              </a:spcAft>
              <a:buSzPct val="100000"/>
              <a:buChar char="•"/>
            </a:pPr>
            <a:r>
              <a:rPr lang="en-US" sz="1300" b="1" dirty="0">
                <a:solidFill>
                  <a:schemeClr val="tx1"/>
                </a:solidFill>
              </a:rPr>
              <a:t>Drug C: </a:t>
            </a:r>
            <a:pPr indent="0" marL="0">
              <a:spcAft>
                <a:spcPts val="400"/>
              </a:spcAft>
              <a:buNone/>
            </a:pPr>
            <a:r>
              <a:rPr lang="en-US" sz="1300" dirty="0">
                <a:solidFill>
                  <a:schemeClr val="tx1"/>
                </a:solidFill>
              </a:rPr>
              <a:t>−3</a:t>
            </a:r>
            <a:endParaRPr lang="en-US" sz="1300" dirty="0"/>
          </a:p>
          <a:p>
            <a:pPr marL="177800" indent="-177800">
              <a:spcAft>
                <a:spcPts val="400"/>
              </a:spcAft>
              <a:buSzPct val="100000"/>
              <a:buChar char="•"/>
            </a:pPr>
            <a:r>
              <a:rPr lang="en-US" sz="1300" b="1" dirty="0">
                <a:solidFill>
                  <a:schemeClr val="tx1"/>
                </a:solidFill>
              </a:rPr>
              <a:t>A and B together: </a:t>
            </a:r>
            <a:pPr indent="0" marL="0">
              <a:spcAft>
                <a:spcPts val="400"/>
              </a:spcAft>
              <a:buNone/>
            </a:pPr>
            <a:r>
              <a:rPr lang="en-US" sz="1300" dirty="0">
                <a:solidFill>
                  <a:schemeClr val="tx1"/>
                </a:solidFill>
              </a:rPr>
              <a:t>+3 (same disease)</a:t>
            </a:r>
            <a:endParaRPr lang="en-US" sz="1300" dirty="0"/>
          </a:p>
          <a:p>
            <a:pPr marL="177800" indent="-177800">
              <a:spcAft>
                <a:spcPts val="400"/>
              </a:spcAft>
              <a:buSzPct val="100000"/>
              <a:buChar char="•"/>
            </a:pPr>
            <a:r>
              <a:rPr lang="en-US" sz="1300" b="1" dirty="0">
                <a:solidFill>
                  <a:schemeClr val="tx1"/>
                </a:solidFill>
              </a:rPr>
              <a:t>Rule: </a:t>
            </a:r>
            <a:pPr indent="0" marL="0">
              <a:spcAft>
                <a:spcPts val="400"/>
              </a:spcAft>
              <a:buNone/>
            </a:pPr>
            <a:r>
              <a:rPr lang="en-US" sz="1300" dirty="0">
                <a:solidFill>
                  <a:schemeClr val="tx1"/>
                </a:solidFill>
              </a:rPr>
              <a:t>fund exactly 2; penalty 10 × (count − 2)²</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0" y="1097280"/>
          <a:ext cx="5029200" cy="914400"/>
        </p:xfrm>
        <a:graphic>
          <a:graphicData uri="http://schemas.openxmlformats.org/drawingml/2006/table">
            <a:tbl>
              <a:tblPr/>
              <a:tblGrid>
                <a:gridCol w="1371600"/>
                <a:gridCol w="914400"/>
                <a:gridCol w="914400"/>
                <a:gridCol w="914400"/>
                <a:gridCol w="914400"/>
              </a:tblGrid>
              <a:tr h="365760">
                <a:tc>
                  <a:txBody>
                    <a:bodyPr/>
                    <a:lstStyle/>
                    <a:p>
                      <a:pPr indent="0" marL="0">
                        <a:buNone/>
                      </a:pPr>
                      <a:r>
                        <a:rPr lang="en-US" sz="1200" b="1" dirty="0">
                          <a:solidFill>
                            <a:srgbClr val="FFFFFF"/>
                          </a:solidFill>
                        </a:rPr>
                        <a:t>Funded</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Own points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Pair points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Penalty</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Total</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365760">
                <a:tc>
                  <a:txBody>
                    <a:bodyPr/>
                    <a:lstStyle/>
                    <a:p>
                      <a:pPr indent="0" marL="0">
                        <a:buNone/>
                      </a:pPr>
                      <a:r>
                        <a:rPr lang="en-US" sz="1200" dirty="0">
                          <a:solidFill>
                            <a:srgbClr val="1B1D36"/>
                          </a:solidFill>
                        </a:rPr>
                        <a:t>none</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40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40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365760">
                <a:tc>
                  <a:txBody>
                    <a:bodyPr/>
                    <a:lstStyle/>
                    <a:p>
                      <a:pPr indent="0" marL="0">
                        <a:buNone/>
                      </a:pPr>
                      <a:r>
                        <a:rPr lang="en-US" sz="1200" dirty="0">
                          <a:solidFill>
                            <a:srgbClr val="1B1D36"/>
                          </a:solidFill>
                        </a:rPr>
                        <a:t>A</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−5</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10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5</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1D36"/>
                          </a:solidFill>
                        </a:rPr>
                        <a:t>B</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−4</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10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6</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365760">
                <a:tc>
                  <a:txBody>
                    <a:bodyPr/>
                    <a:lstStyle/>
                    <a:p>
                      <a:pPr indent="0" marL="0">
                        <a:buNone/>
                      </a:pPr>
                      <a:r>
                        <a:rPr lang="en-US" sz="1200" dirty="0">
                          <a:solidFill>
                            <a:srgbClr val="1B1D36"/>
                          </a:solidFill>
                        </a:rPr>
                        <a:t>C</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−3</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10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7</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1D36"/>
                          </a:solidFill>
                        </a:rPr>
                        <a:t>A + B</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−9</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+3</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−6</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365760">
                <a:tc>
                  <a:txBody>
                    <a:bodyPr/>
                    <a:lstStyle/>
                    <a:p>
                      <a:pPr indent="0" marL="0">
                        <a:buNone/>
                      </a:pPr>
                      <a:r>
                        <a:rPr lang="en-US" sz="1200" b="1" dirty="0">
                          <a:solidFill>
                            <a:srgbClr val="1B1D36"/>
                          </a:solidFill>
                        </a:rPr>
                        <a:t>A + C  (best)</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4EA"/>
                    </a:solidFill>
                  </a:tcPr>
                </a:tc>
                <a:tc>
                  <a:txBody>
                    <a:bodyPr/>
                    <a:lstStyle/>
                    <a:p>
                      <a:pPr indent="0" marL="0">
                        <a:buNone/>
                      </a:pPr>
                      <a:r>
                        <a:rPr lang="en-US" sz="1200" b="1" dirty="0">
                          <a:solidFill>
                            <a:srgbClr val="1B1D36"/>
                          </a:solidFill>
                        </a:rPr>
                        <a:t>−8</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4EA"/>
                    </a:solidFill>
                  </a:tcPr>
                </a:tc>
                <a:tc>
                  <a:txBody>
                    <a:bodyPr/>
                    <a:lstStyle/>
                    <a:p>
                      <a:pPr indent="0" marL="0">
                        <a:buNone/>
                      </a:pPr>
                      <a:r>
                        <a:rPr lang="en-US" sz="1200" dirty="0">
                          <a:solidFill>
                            <a:srgbClr val="1B1D36"/>
                          </a:solidFill>
                        </a:rPr>
                        <a:t>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4EA"/>
                    </a:solidFill>
                  </a:tcPr>
                </a:tc>
                <a:tc>
                  <a:txBody>
                    <a:bodyPr/>
                    <a:lstStyle/>
                    <a:p>
                      <a:pPr indent="0" marL="0">
                        <a:buNone/>
                      </a:pPr>
                      <a:r>
                        <a:rPr lang="en-US" sz="1200" dirty="0">
                          <a:solidFill>
                            <a:srgbClr val="1B1D36"/>
                          </a:solidFill>
                        </a:rPr>
                        <a:t>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4EA"/>
                    </a:solidFill>
                  </a:tcPr>
                </a:tc>
                <a:tc>
                  <a:txBody>
                    <a:bodyPr/>
                    <a:lstStyle/>
                    <a:p>
                      <a:pPr indent="0" marL="0">
                        <a:buNone/>
                      </a:pPr>
                      <a:r>
                        <a:rPr lang="en-US" sz="1200" b="1" dirty="0">
                          <a:solidFill>
                            <a:srgbClr val="1B1D36"/>
                          </a:solidFill>
                        </a:rPr>
                        <a:t>−8</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4EA"/>
                    </a:solidFill>
                  </a:tcPr>
                </a:tc>
              </a:tr>
              <a:tr h="365760">
                <a:tc>
                  <a:txBody>
                    <a:bodyPr/>
                    <a:lstStyle/>
                    <a:p>
                      <a:pPr indent="0" marL="0">
                        <a:buNone/>
                      </a:pPr>
                      <a:r>
                        <a:rPr lang="en-US" sz="1200" dirty="0">
                          <a:solidFill>
                            <a:srgbClr val="1B1D36"/>
                          </a:solidFill>
                        </a:rPr>
                        <a:t>B + C</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−7</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−7</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365760">
                <a:tc>
                  <a:txBody>
                    <a:bodyPr/>
                    <a:lstStyle/>
                    <a:p>
                      <a:pPr indent="0" marL="0">
                        <a:buNone/>
                      </a:pPr>
                      <a:r>
                        <a:rPr lang="en-US" sz="1200" dirty="0">
                          <a:solidFill>
                            <a:srgbClr val="1B1D36"/>
                          </a:solidFill>
                        </a:rPr>
                        <a:t>A + B + C</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−12</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+3</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10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1</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Rules become penalties</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3 · Turning decisions into math</a:t>
            </a:r>
            <a:endParaRPr lang="en-US" sz="1000" dirty="0"/>
          </a:p>
        </p:txBody>
      </p:sp>
      <p:sp>
        <p:nvSpPr>
          <p:cNvPr id="5" name="The penalty card"/>
          <p:cNvSpPr/>
          <p:nvPr/>
        </p:nvSpPr>
        <p:spPr>
          <a:xfrm>
            <a:off x="457200" y="1097280"/>
            <a:ext cx="4023360" cy="3429000"/>
          </a:xfrm>
          <a:prstGeom prst="roundRect">
            <a:avLst>
              <a:gd name="adj" fmla="val 2133"/>
            </a:avLst>
          </a:prstGeom>
          <a:solidFill>
            <a:srgbClr val="F2F2F8"/>
          </a:solidFill>
          <a:ln w="12700">
            <a:solidFill>
              <a:srgbClr val="F2F2F8"/>
            </a:solidFill>
            <a:prstDash val="solid"/>
          </a:ln>
        </p:spPr>
      </p:sp>
      <p:sp>
        <p:nvSpPr>
          <p:cNvPr id="6" name="Text 3"/>
          <p:cNvSpPr txBox="1"/>
          <p:nvPr/>
        </p:nvSpPr>
        <p:spPr>
          <a:xfrm>
            <a:off x="64008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The penalty</a:t>
            </a:r>
            <a:endParaRPr lang="en-US" sz="1400" dirty="0"/>
          </a:p>
        </p:txBody>
      </p:sp>
      <p:sp>
        <p:nvSpPr>
          <p:cNvPr id="7" name="Text 4"/>
          <p:cNvSpPr txBox="1"/>
          <p:nvPr/>
        </p:nvSpPr>
        <p:spPr>
          <a:xfrm>
            <a:off x="640080" y="1591056"/>
            <a:ext cx="3675888" cy="28437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Penalty = P × (number chosen − k)²</a:t>
            </a:r>
            <a:endParaRPr lang="en-US" sz="1300" dirty="0"/>
          </a:p>
          <a:p>
            <a:pPr marL="177800" indent="-177800">
              <a:spcAft>
                <a:spcPts val="400"/>
              </a:spcAft>
              <a:buSzPct val="100000"/>
              <a:buChar char="•"/>
            </a:pPr>
            <a:r>
              <a:rPr lang="en-US" sz="1300" dirty="0">
                <a:solidFill>
                  <a:schemeClr val="tx1"/>
                </a:solidFill>
              </a:rPr>
              <a:t>Exactly k chosen → penalty 0</a:t>
            </a:r>
            <a:endParaRPr lang="en-US" sz="1300" dirty="0"/>
          </a:p>
          <a:p>
            <a:pPr marL="177800" indent="-177800">
              <a:spcAft>
                <a:spcPts val="400"/>
              </a:spcAft>
              <a:buSzPct val="100000"/>
              <a:buChar char="•"/>
            </a:pPr>
            <a:r>
              <a:rPr lang="en-US" sz="1300" dirty="0">
                <a:solidFill>
                  <a:schemeClr val="tx1"/>
                </a:solidFill>
              </a:rPr>
              <a:t>One too many or too few → P; two off → 4P</a:t>
            </a:r>
            <a:endParaRPr lang="en-US" sz="1300" dirty="0"/>
          </a:p>
          <a:p>
            <a:pPr marL="177800" indent="-177800">
              <a:spcAft>
                <a:spcPts val="400"/>
              </a:spcAft>
              <a:buSzPct val="100000"/>
              <a:buChar char="•"/>
            </a:pPr>
            <a:r>
              <a:rPr lang="en-US" sz="1300" dirty="0">
                <a:solidFill>
                  <a:schemeClr val="tx1"/>
                </a:solidFill>
              </a:rPr>
              <a:t>Squaring makes it the same kind of math as the score sheet (singles and pairs), so it fits the QUBO format</a:t>
            </a:r>
            <a:endParaRPr lang="en-US" sz="1300" dirty="0"/>
          </a:p>
        </p:txBody>
      </p:sp>
      <p:sp>
        <p:nvSpPr>
          <p:cNvPr id="8" name="How big is P? card"/>
          <p:cNvSpPr/>
          <p:nvPr/>
        </p:nvSpPr>
        <p:spPr>
          <a:xfrm>
            <a:off x="4663440" y="1097280"/>
            <a:ext cx="4023360" cy="3429000"/>
          </a:xfrm>
          <a:prstGeom prst="roundRect">
            <a:avLst>
              <a:gd name="adj" fmla="val 2133"/>
            </a:avLst>
          </a:prstGeom>
          <a:solidFill>
            <a:srgbClr val="EEF8F6"/>
          </a:solidFill>
          <a:ln w="12700">
            <a:solidFill>
              <a:srgbClr val="EEF8F6"/>
            </a:solidFill>
            <a:prstDash val="solid"/>
          </a:ln>
        </p:spPr>
      </p:sp>
      <p:sp>
        <p:nvSpPr>
          <p:cNvPr id="9" name="Text 6"/>
          <p:cNvSpPr txBox="1"/>
          <p:nvPr/>
        </p:nvSpPr>
        <p:spPr>
          <a:xfrm>
            <a:off x="484632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How big is P?</a:t>
            </a:r>
            <a:endParaRPr lang="en-US" sz="1400" dirty="0"/>
          </a:p>
        </p:txBody>
      </p:sp>
      <p:sp>
        <p:nvSpPr>
          <p:cNvPr id="10" name="Text 7"/>
          <p:cNvSpPr txBox="1"/>
          <p:nvPr/>
        </p:nvSpPr>
        <p:spPr>
          <a:xfrm>
            <a:off x="4846320" y="1591056"/>
            <a:ext cx="3675888" cy="28437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We set P just above the largest change any single yes/no flip could make to the score</a:t>
            </a:r>
            <a:endParaRPr lang="en-US" sz="1300" dirty="0"/>
          </a:p>
          <a:p>
            <a:pPr marL="177800" indent="-177800">
              <a:spcAft>
                <a:spcPts val="400"/>
              </a:spcAft>
              <a:buSzPct val="100000"/>
              <a:buChar char="•"/>
            </a:pPr>
            <a:r>
              <a:rPr lang="en-US" sz="1300" dirty="0">
                <a:solidFill>
                  <a:schemeClr val="tx1"/>
                </a:solidFill>
              </a:rPr>
              <a:t>So breaking the rule always costs more than it could gain</a:t>
            </a:r>
            <a:endParaRPr lang="en-US" sz="1300" dirty="0"/>
          </a:p>
          <a:p>
            <a:pPr marL="177800" indent="-177800">
              <a:spcAft>
                <a:spcPts val="400"/>
              </a:spcAft>
              <a:buSzPct val="100000"/>
              <a:buChar char="•"/>
            </a:pPr>
            <a:r>
              <a:rPr lang="en-US" sz="1300" dirty="0">
                <a:solidFill>
                  <a:schemeClr val="tx1"/>
                </a:solidFill>
              </a:rPr>
              <a:t>Side effect: huge numbers in the score sheet. That's why we score answers against a random guess, not against the worst answer (Part 4)</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Problem 1: which drugs to fund (our main example)</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3 · Turning decisions into math</a:t>
            </a:r>
            <a:endParaRPr lang="en-US" sz="1000" dirty="0"/>
          </a:p>
        </p:txBody>
      </p:sp>
      <p:sp>
        <p:nvSpPr>
          <p:cNvPr id="5" name="The decision card"/>
          <p:cNvSpPr/>
          <p:nvPr/>
        </p:nvSpPr>
        <p:spPr>
          <a:xfrm>
            <a:off x="457200" y="1097280"/>
            <a:ext cx="4023360" cy="3429000"/>
          </a:xfrm>
          <a:prstGeom prst="roundRect">
            <a:avLst>
              <a:gd name="adj" fmla="val 2133"/>
            </a:avLst>
          </a:prstGeom>
          <a:solidFill>
            <a:srgbClr val="F2F2F8"/>
          </a:solidFill>
          <a:ln w="12700">
            <a:solidFill>
              <a:srgbClr val="F2F2F8"/>
            </a:solidFill>
            <a:prstDash val="solid"/>
          </a:ln>
        </p:spPr>
      </p:sp>
      <p:sp>
        <p:nvSpPr>
          <p:cNvPr id="6" name="Text 3"/>
          <p:cNvSpPr txBox="1"/>
          <p:nvPr/>
        </p:nvSpPr>
        <p:spPr>
          <a:xfrm>
            <a:off x="64008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The decision</a:t>
            </a:r>
            <a:endParaRPr lang="en-US" sz="1400" dirty="0"/>
          </a:p>
        </p:txBody>
      </p:sp>
      <p:sp>
        <p:nvSpPr>
          <p:cNvPr id="7" name="Text 4"/>
          <p:cNvSpPr txBox="1"/>
          <p:nvPr/>
        </p:nvSpPr>
        <p:spPr>
          <a:xfrm>
            <a:off x="640080" y="1591056"/>
            <a:ext cx="3675888" cy="2843784"/>
          </a:xfrm>
          <a:prstGeom prst="rect">
            <a:avLst/>
          </a:prstGeom>
          <a:noFill/>
          <a:ln/>
        </p:spPr>
        <p:txBody>
          <a:bodyPr wrap="square" lIns="0" tIns="0" rIns="0" bIns="0" rtlCol="0" anchor="t"/>
          <a:lstStyle/>
          <a:p>
            <a:pPr marL="177800" indent="-177800">
              <a:spcAft>
                <a:spcPts val="400"/>
              </a:spcAft>
              <a:buSzPct val="100000"/>
              <a:buChar char="•"/>
            </a:pPr>
            <a:r>
              <a:rPr lang="en-US" sz="1300" b="1" dirty="0">
                <a:solidFill>
                  <a:schemeClr val="tx1"/>
                </a:solidFill>
              </a:rPr>
              <a:t>Choices: </a:t>
            </a:r>
            <a:pPr indent="0" marL="0">
              <a:spcAft>
                <a:spcPts val="400"/>
              </a:spcAft>
              <a:buNone/>
            </a:pPr>
            <a:r>
              <a:rPr lang="en-US" sz="1300" dirty="0">
                <a:solidFill>
                  <a:schemeClr val="tx1"/>
                </a:solidFill>
              </a:rPr>
              <a:t>10 drugs (8 in some tests), fund exactly 4 (or 3)</a:t>
            </a:r>
            <a:endParaRPr lang="en-US" sz="1300" dirty="0"/>
          </a:p>
          <a:p>
            <a:pPr marL="177800" indent="-177800">
              <a:spcAft>
                <a:spcPts val="400"/>
              </a:spcAft>
              <a:buSzPct val="100000"/>
              <a:buChar char="•"/>
            </a:pPr>
            <a:r>
              <a:rPr lang="en-US" sz="1300" b="1" dirty="0">
                <a:solidFill>
                  <a:schemeClr val="tx1"/>
                </a:solidFill>
              </a:rPr>
              <a:t>Each drug's value: </a:t>
            </a:r>
            <a:pPr indent="0" marL="0">
              <a:spcAft>
                <a:spcPts val="400"/>
              </a:spcAft>
              <a:buNone/>
            </a:pPr>
            <a:r>
              <a:rPr lang="en-US" sz="1300" dirty="0">
                <a:solidFill>
                  <a:schemeClr val="tx1"/>
                </a:solidFill>
              </a:rPr>
              <a:t>chance of approval × sales if approved − development cost</a:t>
            </a:r>
            <a:endParaRPr lang="en-US" sz="1300" dirty="0"/>
          </a:p>
          <a:p>
            <a:pPr marL="177800" indent="-177800">
              <a:spcAft>
                <a:spcPts val="400"/>
              </a:spcAft>
              <a:buSzPct val="100000"/>
              <a:buChar char="•"/>
            </a:pPr>
            <a:r>
              <a:rPr lang="en-US" sz="1300" b="1" dirty="0">
                <a:solidFill>
                  <a:schemeClr val="tx1"/>
                </a:solidFill>
              </a:rPr>
              <a:t>Each drug's risk: </a:t>
            </a:r>
            <a:pPr indent="0" marL="0">
              <a:spcAft>
                <a:spcPts val="400"/>
              </a:spcAft>
              <a:buNone/>
            </a:pPr>
            <a:r>
              <a:rPr lang="en-US" sz="1300" dirty="0">
                <a:solidFill>
                  <a:schemeClr val="tx1"/>
                </a:solidFill>
              </a:rPr>
              <a:t>how much its outcome can swing (higher when approval is a coin flip)</a:t>
            </a:r>
            <a:endParaRPr lang="en-US" sz="1300" dirty="0"/>
          </a:p>
          <a:p>
            <a:pPr marL="177800" indent="-177800">
              <a:spcAft>
                <a:spcPts val="400"/>
              </a:spcAft>
              <a:buSzPct val="100000"/>
              <a:buChar char="•"/>
            </a:pPr>
            <a:r>
              <a:rPr lang="en-US" sz="1300" b="1" dirty="0">
                <a:solidFill>
                  <a:schemeClr val="tx1"/>
                </a:solidFill>
              </a:rPr>
              <a:t>Pairs: </a:t>
            </a:r>
            <a:pPr indent="0" marL="0">
              <a:spcAft>
                <a:spcPts val="400"/>
              </a:spcAft>
              <a:buNone/>
            </a:pPr>
            <a:r>
              <a:rPr lang="en-US" sz="1300" dirty="0">
                <a:solidFill>
                  <a:schemeClr val="tx1"/>
                </a:solidFill>
              </a:rPr>
              <a:t>same disease → outcomes strongly linked (0.6); different diseases → weakly linked (0.1)</a:t>
            </a:r>
            <a:endParaRPr lang="en-US" sz="1300" dirty="0"/>
          </a:p>
          <a:p>
            <a:pPr marL="177800" indent="-177800">
              <a:spcAft>
                <a:spcPts val="400"/>
              </a:spcAft>
              <a:buSzPct val="100000"/>
              <a:buChar char="•"/>
            </a:pPr>
            <a:r>
              <a:rPr lang="en-US" sz="1300" b="1" dirty="0">
                <a:solidFill>
                  <a:schemeClr val="tx1"/>
                </a:solidFill>
              </a:rPr>
              <a:t>Goal: </a:t>
            </a:r>
            <a:pPr indent="0" marL="0">
              <a:spcAft>
                <a:spcPts val="400"/>
              </a:spcAft>
              <a:buNone/>
            </a:pPr>
            <a:r>
              <a:rPr lang="en-US" sz="1300" dirty="0">
                <a:solidFill>
                  <a:schemeClr val="tx1"/>
                </a:solidFill>
              </a:rPr>
              <a:t>most value for least risk (risk weight 0.5)</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663440" y="1097280"/>
          <a:ext cx="4023360" cy="914400"/>
        </p:xfrm>
        <a:graphic>
          <a:graphicData uri="http://schemas.openxmlformats.org/drawingml/2006/table">
            <a:tbl>
              <a:tblPr/>
              <a:tblGrid>
                <a:gridCol w="1554480"/>
                <a:gridCol w="2468880"/>
              </a:tblGrid>
              <a:tr h="457200">
                <a:tc>
                  <a:txBody>
                    <a:bodyPr/>
                    <a:lstStyle/>
                    <a:p>
                      <a:pPr indent="0" marL="0">
                        <a:buNone/>
                      </a:pPr>
                      <a:r>
                        <a:rPr lang="en-US" sz="1100" b="1" dirty="0">
                          <a:solidFill>
                            <a:srgbClr val="FFFFFF"/>
                          </a:solidFill>
                        </a:rPr>
                        <a:t>Made-up but realistic data</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Value used</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457200">
                <a:tc>
                  <a:txBody>
                    <a:bodyPr/>
                    <a:lstStyle/>
                    <a:p>
                      <a:pPr indent="0" marL="0">
                        <a:buNone/>
                      </a:pPr>
                      <a:r>
                        <a:rPr lang="en-US" sz="1100" dirty="0">
                          <a:solidFill>
                            <a:srgbClr val="1B1D36"/>
                          </a:solidFill>
                        </a:rPr>
                        <a:t>Trial phases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Phase I, II or III, picked at random</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57200">
                <a:tc>
                  <a:txBody>
                    <a:bodyPr/>
                    <a:lstStyle/>
                    <a:p>
                      <a:pPr indent="0" marL="0">
                        <a:buNone/>
                      </a:pPr>
                      <a:r>
                        <a:rPr lang="en-US" sz="1100" dirty="0">
                          <a:solidFill>
                            <a:srgbClr val="1B1D36"/>
                          </a:solidFill>
                        </a:rPr>
                        <a:t>Chance of approval</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Phase I 8% · Phase II 15% · Phase III 55%</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B1D36"/>
                          </a:solidFill>
                        </a:rPr>
                        <a:t>Development cost</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$30M / $80M / $300M by phase, ±30%</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57200">
                <a:tc>
                  <a:txBody>
                    <a:bodyPr/>
                    <a:lstStyle/>
                    <a:p>
                      <a:pPr indent="0" marL="0">
                        <a:buNone/>
                      </a:pPr>
                      <a:r>
                        <a:rPr lang="en-US" sz="1100" dirty="0">
                          <a:solidFill>
                            <a:srgbClr val="1B1D36"/>
                          </a:solidFill>
                        </a:rPr>
                        <a:t>Sales if approved</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typical ~$665M, varies randomly</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B1D36"/>
                          </a:solidFill>
                        </a:rPr>
                        <a:t>Disease areas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cancer, heart, brain, immune system</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bl>
          </a:graphicData>
        </a:graphic>
      </p:graphicFrame>
      <p:sp>
        <p:nvSpPr>
          <p:cNvPr id="9" name="Text 5"/>
          <p:cNvSpPr txBox="1"/>
          <p:nvPr/>
        </p:nvSpPr>
        <p:spPr>
          <a:xfrm>
            <a:off x="4663440" y="3977640"/>
            <a:ext cx="4023360" cy="548640"/>
          </a:xfrm>
          <a:prstGeom prst="rect">
            <a:avLst/>
          </a:prstGeom>
          <a:noFill/>
          <a:ln/>
        </p:spPr>
        <p:txBody>
          <a:bodyPr wrap="square" lIns="0" tIns="0" rIns="0" bIns="0" rtlCol="0" anchor="t"/>
          <a:lstStyle/>
          <a:p>
            <a:pPr indent="0" marL="0">
              <a:buNone/>
            </a:pPr>
            <a:r>
              <a:rPr lang="en-US" sz="1200" i="1" dirty="0">
                <a:solidFill>
                  <a:schemeClr val="tx2"/>
                </a:solidFill>
              </a:rPr>
              <a:t>Same math as picking stocks (Markowitz portfolio), applied to drugs: the 'money + health' bridge.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Problems 2-4: stocks, medical tests, networks</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3 · Turning decisions into math</a:t>
            </a:r>
            <a:endParaRPr lang="en-US" sz="1000" dirty="0"/>
          </a:p>
        </p:txBody>
      </p:sp>
      <p:sp>
        <p:nvSpPr>
          <p:cNvPr id="5" name="2 · Which stocks card"/>
          <p:cNvSpPr/>
          <p:nvPr/>
        </p:nvSpPr>
        <p:spPr>
          <a:xfrm>
            <a:off x="457200" y="1097280"/>
            <a:ext cx="2651760" cy="3429000"/>
          </a:xfrm>
          <a:prstGeom prst="roundRect">
            <a:avLst>
              <a:gd name="adj" fmla="val 2759"/>
            </a:avLst>
          </a:prstGeom>
          <a:solidFill>
            <a:srgbClr val="F2F2F8"/>
          </a:solidFill>
          <a:ln w="12700">
            <a:solidFill>
              <a:srgbClr val="F2F2F8"/>
            </a:solidFill>
            <a:prstDash val="solid"/>
          </a:ln>
        </p:spPr>
      </p:sp>
      <p:sp>
        <p:nvSpPr>
          <p:cNvPr id="6" name="Text 3"/>
          <p:cNvSpPr txBox="1"/>
          <p:nvPr/>
        </p:nvSpPr>
        <p:spPr>
          <a:xfrm>
            <a:off x="640080" y="1225296"/>
            <a:ext cx="2286000" cy="292608"/>
          </a:xfrm>
          <a:prstGeom prst="rect">
            <a:avLst/>
          </a:prstGeom>
          <a:noFill/>
          <a:ln/>
        </p:spPr>
        <p:txBody>
          <a:bodyPr wrap="square" lIns="0" tIns="0" rIns="0" bIns="0" rtlCol="0" anchor="t"/>
          <a:lstStyle/>
          <a:p>
            <a:pPr indent="0" marL="0">
              <a:buNone/>
            </a:pPr>
            <a:r>
              <a:rPr lang="en-US" sz="1400" b="1" dirty="0">
                <a:solidFill>
                  <a:schemeClr val="tx1"/>
                </a:solidFill>
              </a:rPr>
              <a:t>2 · Which stocks</a:t>
            </a:r>
            <a:endParaRPr lang="en-US" sz="1400" dirty="0"/>
          </a:p>
        </p:txBody>
      </p:sp>
      <p:sp>
        <p:nvSpPr>
          <p:cNvPr id="7" name="Text 4"/>
          <p:cNvSpPr txBox="1"/>
          <p:nvPr/>
        </p:nvSpPr>
        <p:spPr>
          <a:xfrm>
            <a:off x="640080" y="1591056"/>
            <a:ext cx="2304288" cy="2843784"/>
          </a:xfrm>
          <a:prstGeom prst="rect">
            <a:avLst/>
          </a:prstGeom>
          <a:noFill/>
          <a:ln/>
        </p:spPr>
        <p:txBody>
          <a:bodyPr wrap="square" lIns="0" tIns="0" rIns="0" bIns="0" rtlCol="0" anchor="t"/>
          <a:lstStyle/>
          <a:p>
            <a:pPr marL="177800" indent="-177800">
              <a:spcAft>
                <a:spcPts val="400"/>
              </a:spcAft>
              <a:buSzPct val="100000"/>
              <a:buChar char="•"/>
            </a:pPr>
            <a:r>
              <a:rPr lang="en-US" sz="1300" b="1" dirty="0">
                <a:solidFill>
                  <a:schemeClr val="tx1"/>
                </a:solidFill>
              </a:rPr>
              <a:t>Data: </a:t>
            </a:r>
            <a:pPr indent="0" marL="0">
              <a:spcAft>
                <a:spcPts val="400"/>
              </a:spcAft>
              <a:buNone/>
            </a:pPr>
            <a:r>
              <a:rPr lang="en-US" sz="1300" dirty="0">
                <a:solidFill>
                  <a:schemeClr val="tx1"/>
                </a:solidFill>
              </a:rPr>
              <a:t>real daily prices of 12 healthcare stocks, 2023-2025 (Yahoo Finance)</a:t>
            </a:r>
            <a:endParaRPr lang="en-US" sz="1300" dirty="0"/>
          </a:p>
          <a:p>
            <a:pPr marL="177800" indent="-177800">
              <a:spcAft>
                <a:spcPts val="400"/>
              </a:spcAft>
              <a:buSzPct val="100000"/>
              <a:buChar char="•"/>
            </a:pPr>
            <a:r>
              <a:rPr lang="en-US" sz="1300" b="1" dirty="0">
                <a:solidFill>
                  <a:schemeClr val="tx1"/>
                </a:solidFill>
              </a:rPr>
              <a:t>Value: </a:t>
            </a:r>
            <a:pPr indent="0" marL="0">
              <a:spcAft>
                <a:spcPts val="400"/>
              </a:spcAft>
              <a:buNone/>
            </a:pPr>
            <a:r>
              <a:rPr lang="en-US" sz="1300" dirty="0">
                <a:solidFill>
                  <a:schemeClr val="tx1"/>
                </a:solidFill>
              </a:rPr>
              <a:t>average yearly return</a:t>
            </a:r>
            <a:endParaRPr lang="en-US" sz="1300" dirty="0"/>
          </a:p>
          <a:p>
            <a:pPr marL="177800" indent="-177800">
              <a:spcAft>
                <a:spcPts val="400"/>
              </a:spcAft>
              <a:buSzPct val="100000"/>
              <a:buChar char="•"/>
            </a:pPr>
            <a:r>
              <a:rPr lang="en-US" sz="1300" b="1" dirty="0">
                <a:solidFill>
                  <a:schemeClr val="tx1"/>
                </a:solidFill>
              </a:rPr>
              <a:t>Pairs: </a:t>
            </a:r>
            <a:pPr indent="0" marL="0">
              <a:spcAft>
                <a:spcPts val="400"/>
              </a:spcAft>
              <a:buNone/>
            </a:pPr>
            <a:r>
              <a:rPr lang="en-US" sz="1300" dirty="0">
                <a:solidFill>
                  <a:schemeClr val="tx1"/>
                </a:solidFill>
              </a:rPr>
              <a:t>how much two stocks move together (risk)</a:t>
            </a:r>
            <a:endParaRPr lang="en-US" sz="1300" dirty="0"/>
          </a:p>
          <a:p>
            <a:pPr marL="177800" indent="-177800">
              <a:spcAft>
                <a:spcPts val="400"/>
              </a:spcAft>
              <a:buSzPct val="100000"/>
              <a:buChar char="•"/>
            </a:pPr>
            <a:r>
              <a:rPr lang="en-US" sz="1300" b="1" dirty="0">
                <a:solidFill>
                  <a:schemeClr val="tx1"/>
                </a:solidFill>
              </a:rPr>
              <a:t>Rule: </a:t>
            </a:r>
            <a:pPr indent="0" marL="0">
              <a:spcAft>
                <a:spcPts val="400"/>
              </a:spcAft>
              <a:buNone/>
            </a:pPr>
            <a:r>
              <a:rPr lang="en-US" sz="1300" dirty="0">
                <a:solidFill>
                  <a:schemeClr val="tx1"/>
                </a:solidFill>
              </a:rPr>
              <a:t>hold exactly about a third of them</a:t>
            </a:r>
            <a:endParaRPr lang="en-US" sz="1300" dirty="0"/>
          </a:p>
        </p:txBody>
      </p:sp>
      <p:sp>
        <p:nvSpPr>
          <p:cNvPr id="8" name="3 · Which medical tests card"/>
          <p:cNvSpPr/>
          <p:nvPr/>
        </p:nvSpPr>
        <p:spPr>
          <a:xfrm>
            <a:off x="3246120" y="1097280"/>
            <a:ext cx="2651760" cy="3429000"/>
          </a:xfrm>
          <a:prstGeom prst="roundRect">
            <a:avLst>
              <a:gd name="adj" fmla="val 2759"/>
            </a:avLst>
          </a:prstGeom>
          <a:solidFill>
            <a:srgbClr val="F2F2F8"/>
          </a:solidFill>
          <a:ln w="12700">
            <a:solidFill>
              <a:srgbClr val="F2F2F8"/>
            </a:solidFill>
            <a:prstDash val="solid"/>
          </a:ln>
        </p:spPr>
      </p:sp>
      <p:sp>
        <p:nvSpPr>
          <p:cNvPr id="9" name="Text 6"/>
          <p:cNvSpPr txBox="1"/>
          <p:nvPr/>
        </p:nvSpPr>
        <p:spPr>
          <a:xfrm>
            <a:off x="3429000" y="1225296"/>
            <a:ext cx="2286000" cy="292608"/>
          </a:xfrm>
          <a:prstGeom prst="rect">
            <a:avLst/>
          </a:prstGeom>
          <a:noFill/>
          <a:ln/>
        </p:spPr>
        <p:txBody>
          <a:bodyPr wrap="square" lIns="0" tIns="0" rIns="0" bIns="0" rtlCol="0" anchor="t"/>
          <a:lstStyle/>
          <a:p>
            <a:pPr indent="0" marL="0">
              <a:buNone/>
            </a:pPr>
            <a:r>
              <a:rPr lang="en-US" sz="1400" b="1" dirty="0">
                <a:solidFill>
                  <a:schemeClr val="tx1"/>
                </a:solidFill>
              </a:rPr>
              <a:t>3 · Which medical tests</a:t>
            </a:r>
            <a:endParaRPr lang="en-US" sz="1400" dirty="0"/>
          </a:p>
        </p:txBody>
      </p:sp>
      <p:sp>
        <p:nvSpPr>
          <p:cNvPr id="10" name="Text 7"/>
          <p:cNvSpPr txBox="1"/>
          <p:nvPr/>
        </p:nvSpPr>
        <p:spPr>
          <a:xfrm>
            <a:off x="3429000" y="1591056"/>
            <a:ext cx="2304288" cy="2843784"/>
          </a:xfrm>
          <a:prstGeom prst="rect">
            <a:avLst/>
          </a:prstGeom>
          <a:noFill/>
          <a:ln/>
        </p:spPr>
        <p:txBody>
          <a:bodyPr wrap="square" lIns="0" tIns="0" rIns="0" bIns="0" rtlCol="0" anchor="t"/>
          <a:lstStyle/>
          <a:p>
            <a:pPr marL="177800" indent="-177800">
              <a:spcAft>
                <a:spcPts val="400"/>
              </a:spcAft>
              <a:buSzPct val="100000"/>
              <a:buChar char="•"/>
            </a:pPr>
            <a:r>
              <a:rPr lang="en-US" sz="1300" b="1" dirty="0">
                <a:solidFill>
                  <a:schemeClr val="tx1"/>
                </a:solidFill>
              </a:rPr>
              <a:t>Data: </a:t>
            </a:r>
            <a:pPr indent="0" marL="0">
              <a:spcAft>
                <a:spcPts val="400"/>
              </a:spcAft>
              <a:buNone/>
            </a:pPr>
            <a:r>
              <a:rPr lang="en-US" sz="1300" dirty="0">
                <a:solidFill>
                  <a:schemeClr val="tx1"/>
                </a:solidFill>
              </a:rPr>
              <a:t>real breast-cancer dataset (569 patients)</a:t>
            </a:r>
            <a:endParaRPr lang="en-US" sz="1300" dirty="0"/>
          </a:p>
          <a:p>
            <a:pPr marL="177800" indent="-177800">
              <a:spcAft>
                <a:spcPts val="400"/>
              </a:spcAft>
              <a:buSzPct val="100000"/>
              <a:buChar char="•"/>
            </a:pPr>
            <a:r>
              <a:rPr lang="en-US" sz="1300" b="1" dirty="0">
                <a:solidFill>
                  <a:schemeClr val="tx1"/>
                </a:solidFill>
              </a:rPr>
              <a:t>Value: </a:t>
            </a:r>
            <a:pPr indent="0" marL="0">
              <a:spcAft>
                <a:spcPts val="400"/>
              </a:spcAft>
              <a:buNone/>
            </a:pPr>
            <a:r>
              <a:rPr lang="en-US" sz="1300" dirty="0">
                <a:solidFill>
                  <a:schemeClr val="tx1"/>
                </a:solidFill>
              </a:rPr>
              <a:t>how well a test predicts the diagnosis</a:t>
            </a:r>
            <a:endParaRPr lang="en-US" sz="1300" dirty="0"/>
          </a:p>
          <a:p>
            <a:pPr marL="177800" indent="-177800">
              <a:spcAft>
                <a:spcPts val="400"/>
              </a:spcAft>
              <a:buSzPct val="100000"/>
              <a:buChar char="•"/>
            </a:pPr>
            <a:r>
              <a:rPr lang="en-US" sz="1300" b="1" dirty="0">
                <a:solidFill>
                  <a:schemeClr val="tx1"/>
                </a:solidFill>
              </a:rPr>
              <a:t>Pairs: </a:t>
            </a:r>
            <a:pPr indent="0" marL="0">
              <a:spcAft>
                <a:spcPts val="400"/>
              </a:spcAft>
              <a:buNone/>
            </a:pPr>
            <a:r>
              <a:rPr lang="en-US" sz="1300" dirty="0">
                <a:solidFill>
                  <a:schemeClr val="tx1"/>
                </a:solidFill>
              </a:rPr>
              <a:t>how much two tests repeat each other</a:t>
            </a:r>
            <a:endParaRPr lang="en-US" sz="1300" dirty="0"/>
          </a:p>
          <a:p>
            <a:pPr marL="177800" indent="-177800">
              <a:spcAft>
                <a:spcPts val="400"/>
              </a:spcAft>
              <a:buSzPct val="100000"/>
              <a:buChar char="•"/>
            </a:pPr>
            <a:r>
              <a:rPr lang="en-US" sz="1300" b="1" dirty="0">
                <a:solidFill>
                  <a:schemeClr val="tx1"/>
                </a:solidFill>
              </a:rPr>
              <a:t>Rule: </a:t>
            </a:r>
            <a:pPr indent="0" marL="0">
              <a:spcAft>
                <a:spcPts val="400"/>
              </a:spcAft>
              <a:buNone/>
            </a:pPr>
            <a:r>
              <a:rPr lang="en-US" sz="1300" dirty="0">
                <a:solidFill>
                  <a:schemeClr val="tx1"/>
                </a:solidFill>
              </a:rPr>
              <a:t>no fixed count; each test has a small cost</a:t>
            </a:r>
            <a:endParaRPr lang="en-US" sz="1300" dirty="0"/>
          </a:p>
          <a:p>
            <a:pPr marL="177800" indent="-177800">
              <a:spcAft>
                <a:spcPts val="400"/>
              </a:spcAft>
              <a:buSzPct val="100000"/>
              <a:buChar char="•"/>
            </a:pPr>
            <a:r>
              <a:rPr lang="en-US" sz="1300" b="1" dirty="0">
                <a:solidFill>
                  <a:schemeClr val="tx1"/>
                </a:solidFill>
              </a:rPr>
              <a:t>Variety: </a:t>
            </a:r>
            <a:pPr indent="0" marL="0">
              <a:spcAft>
                <a:spcPts val="400"/>
              </a:spcAft>
              <a:buNone/>
            </a:pPr>
            <a:r>
              <a:rPr lang="en-US" sz="1300" dirty="0">
                <a:solidFill>
                  <a:schemeClr val="tx1"/>
                </a:solidFill>
              </a:rPr>
              <a:t>weak links sometimes dropped to change the shape</a:t>
            </a:r>
            <a:endParaRPr lang="en-US" sz="1300" dirty="0"/>
          </a:p>
        </p:txBody>
      </p:sp>
      <p:sp>
        <p:nvSpPr>
          <p:cNvPr id="11" name="4 · Splitting a network card"/>
          <p:cNvSpPr/>
          <p:nvPr/>
        </p:nvSpPr>
        <p:spPr>
          <a:xfrm>
            <a:off x="6035040" y="1097280"/>
            <a:ext cx="2651760" cy="3429000"/>
          </a:xfrm>
          <a:prstGeom prst="roundRect">
            <a:avLst>
              <a:gd name="adj" fmla="val 2759"/>
            </a:avLst>
          </a:prstGeom>
          <a:solidFill>
            <a:srgbClr val="F2F2F8"/>
          </a:solidFill>
          <a:ln w="12700">
            <a:solidFill>
              <a:srgbClr val="F2F2F8"/>
            </a:solidFill>
            <a:prstDash val="solid"/>
          </a:ln>
        </p:spPr>
      </p:sp>
      <p:sp>
        <p:nvSpPr>
          <p:cNvPr id="12" name="Text 9"/>
          <p:cNvSpPr txBox="1"/>
          <p:nvPr/>
        </p:nvSpPr>
        <p:spPr>
          <a:xfrm>
            <a:off x="6217920" y="1225296"/>
            <a:ext cx="2286000" cy="292608"/>
          </a:xfrm>
          <a:prstGeom prst="rect">
            <a:avLst/>
          </a:prstGeom>
          <a:noFill/>
          <a:ln/>
        </p:spPr>
        <p:txBody>
          <a:bodyPr wrap="square" lIns="0" tIns="0" rIns="0" bIns="0" rtlCol="0" anchor="t"/>
          <a:lstStyle/>
          <a:p>
            <a:pPr indent="0" marL="0">
              <a:buNone/>
            </a:pPr>
            <a:r>
              <a:rPr lang="en-US" sz="1400" b="1" dirty="0">
                <a:solidFill>
                  <a:schemeClr val="tx1"/>
                </a:solidFill>
              </a:rPr>
              <a:t>4 · Splitting a network</a:t>
            </a:r>
            <a:endParaRPr lang="en-US" sz="1400" dirty="0"/>
          </a:p>
        </p:txBody>
      </p:sp>
      <p:sp>
        <p:nvSpPr>
          <p:cNvPr id="13" name="Text 10"/>
          <p:cNvSpPr txBox="1"/>
          <p:nvPr/>
        </p:nvSpPr>
        <p:spPr>
          <a:xfrm>
            <a:off x="6217920" y="1591056"/>
            <a:ext cx="2304288" cy="2843784"/>
          </a:xfrm>
          <a:prstGeom prst="rect">
            <a:avLst/>
          </a:prstGeom>
          <a:noFill/>
          <a:ln/>
        </p:spPr>
        <p:txBody>
          <a:bodyPr wrap="square" lIns="0" tIns="0" rIns="0" bIns="0" rtlCol="0" anchor="t"/>
          <a:lstStyle/>
          <a:p>
            <a:pPr marL="177800" indent="-177800">
              <a:spcAft>
                <a:spcPts val="400"/>
              </a:spcAft>
              <a:buSzPct val="100000"/>
              <a:buChar char="•"/>
            </a:pPr>
            <a:r>
              <a:rPr lang="en-US" sz="1300" b="1" dirty="0">
                <a:solidFill>
                  <a:schemeClr val="tx1"/>
                </a:solidFill>
              </a:rPr>
              <a:t>Data: </a:t>
            </a:r>
            <a:pPr indent="0" marL="0">
              <a:spcAft>
                <a:spcPts val="400"/>
              </a:spcAft>
              <a:buNone/>
            </a:pPr>
            <a:r>
              <a:rPr lang="en-US" sz="1300" dirty="0">
                <a:solidFill>
                  <a:schemeClr val="tx1"/>
                </a:solidFill>
              </a:rPr>
              <a:t>made-up networks, links of strength 0.5-1.5</a:t>
            </a:r>
            <a:endParaRPr lang="en-US" sz="1300" dirty="0"/>
          </a:p>
          <a:p>
            <a:pPr marL="177800" indent="-177800">
              <a:spcAft>
                <a:spcPts val="400"/>
              </a:spcAft>
              <a:buSzPct val="100000"/>
              <a:buChar char="•"/>
            </a:pPr>
            <a:r>
              <a:rPr lang="en-US" sz="1300" b="1" dirty="0">
                <a:solidFill>
                  <a:schemeClr val="tx1"/>
                </a:solidFill>
              </a:rPr>
              <a:t>Decision: </a:t>
            </a:r>
            <a:pPr indent="0" marL="0">
              <a:spcAft>
                <a:spcPts val="400"/>
              </a:spcAft>
              <a:buNone/>
            </a:pPr>
            <a:r>
              <a:rPr lang="en-US" sz="1300" dirty="0">
                <a:solidFill>
                  <a:schemeClr val="tx1"/>
                </a:solidFill>
              </a:rPr>
              <a:t>put each node in group A or B</a:t>
            </a:r>
            <a:endParaRPr lang="en-US" sz="1300" dirty="0"/>
          </a:p>
          <a:p>
            <a:pPr marL="177800" indent="-177800">
              <a:spcAft>
                <a:spcPts val="400"/>
              </a:spcAft>
              <a:buSzPct val="100000"/>
              <a:buChar char="•"/>
            </a:pPr>
            <a:r>
              <a:rPr lang="en-US" sz="1300" b="1" dirty="0">
                <a:solidFill>
                  <a:schemeClr val="tx1"/>
                </a:solidFill>
              </a:rPr>
              <a:t>Goal: </a:t>
            </a:r>
            <a:pPr indent="0" marL="0">
              <a:spcAft>
                <a:spcPts val="400"/>
              </a:spcAft>
              <a:buNone/>
            </a:pPr>
            <a:r>
              <a:rPr lang="en-US" sz="1300" dirty="0">
                <a:solidFill>
                  <a:schemeClr val="tx1"/>
                </a:solidFill>
              </a:rPr>
              <a:t>as much link strength crossing between the groups as possible (Max-Cut)</a:t>
            </a:r>
            <a:endParaRPr lang="en-US" sz="1300" dirty="0"/>
          </a:p>
          <a:p>
            <a:pPr marL="177800" indent="-177800">
              <a:spcAft>
                <a:spcPts val="400"/>
              </a:spcAft>
              <a:buSzPct val="100000"/>
              <a:buChar char="•"/>
            </a:pPr>
            <a:r>
              <a:rPr lang="en-US" sz="1300" b="1" dirty="0">
                <a:solidFill>
                  <a:schemeClr val="tx1"/>
                </a:solidFill>
              </a:rPr>
              <a:t>Example: </a:t>
            </a:r>
            <a:pPr indent="0" marL="0">
              <a:spcAft>
                <a:spcPts val="400"/>
              </a:spcAft>
              <a:buNone/>
            </a:pPr>
            <a:r>
              <a:rPr lang="en-US" sz="1300" dirty="0">
                <a:solidFill>
                  <a:schemeClr val="tx1"/>
                </a:solidFill>
              </a:rPr>
              <a:t>trial sites split between two partners</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Every problem becomes a connection map</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3 · Turning decisions into math</a:t>
            </a:r>
            <a:endParaRPr lang="en-US" sz="1000" dirty="0"/>
          </a:p>
        </p:txBody>
      </p:sp>
      <p:sp>
        <p:nvSpPr>
          <p:cNvPr id="5" name="How to read a connection map card"/>
          <p:cNvSpPr/>
          <p:nvPr/>
        </p:nvSpPr>
        <p:spPr>
          <a:xfrm>
            <a:off x="457200" y="1097280"/>
            <a:ext cx="4023360" cy="3429000"/>
          </a:xfrm>
          <a:prstGeom prst="roundRect">
            <a:avLst>
              <a:gd name="adj" fmla="val 2133"/>
            </a:avLst>
          </a:prstGeom>
          <a:solidFill>
            <a:srgbClr val="F2F2F8"/>
          </a:solidFill>
          <a:ln w="12700">
            <a:solidFill>
              <a:srgbClr val="F2F2F8"/>
            </a:solidFill>
            <a:prstDash val="solid"/>
          </a:ln>
        </p:spPr>
      </p:sp>
      <p:sp>
        <p:nvSpPr>
          <p:cNvPr id="6" name="Text 3"/>
          <p:cNvSpPr txBox="1"/>
          <p:nvPr/>
        </p:nvSpPr>
        <p:spPr>
          <a:xfrm>
            <a:off x="64008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How to read a connection map</a:t>
            </a:r>
            <a:endParaRPr lang="en-US" sz="1400" dirty="0"/>
          </a:p>
        </p:txBody>
      </p:sp>
      <p:sp>
        <p:nvSpPr>
          <p:cNvPr id="7" name="Text 4"/>
          <p:cNvSpPr txBox="1"/>
          <p:nvPr/>
        </p:nvSpPr>
        <p:spPr>
          <a:xfrm>
            <a:off x="640080" y="1591056"/>
            <a:ext cx="3675888" cy="28437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Dot = one decision (one qubit)</a:t>
            </a:r>
            <a:endParaRPr lang="en-US" sz="1300" dirty="0"/>
          </a:p>
          <a:p>
            <a:pPr marL="177800" indent="-177800">
              <a:spcAft>
                <a:spcPts val="400"/>
              </a:spcAft>
              <a:buSzPct val="100000"/>
              <a:buChar char="•"/>
            </a:pPr>
            <a:r>
              <a:rPr lang="en-US" sz="1300" dirty="0">
                <a:solidFill>
                  <a:schemeClr val="tx1"/>
                </a:solidFill>
              </a:rPr>
              <a:t>Line = two decisions affect each other (a pair term in the score sheet)</a:t>
            </a:r>
            <a:endParaRPr lang="en-US" sz="1300" dirty="0"/>
          </a:p>
          <a:p>
            <a:pPr marL="177800" indent="-177800">
              <a:spcAft>
                <a:spcPts val="400"/>
              </a:spcAft>
              <a:buSzPct val="100000"/>
              <a:buChar char="•"/>
            </a:pPr>
            <a:r>
              <a:rPr lang="en-US" sz="1300" b="1" dirty="0">
                <a:solidFill>
                  <a:schemeClr val="tx1"/>
                </a:solidFill>
              </a:rPr>
              <a:t>Density: </a:t>
            </a:r>
            <a:pPr indent="0" marL="0">
              <a:spcAft>
                <a:spcPts val="400"/>
              </a:spcAft>
              <a:buNone/>
            </a:pPr>
            <a:r>
              <a:rPr lang="en-US" sz="1300" dirty="0">
                <a:solidFill>
                  <a:schemeClr val="tx1"/>
                </a:solidFill>
              </a:rPr>
              <a:t>lines drawn ÷ lines possible (1.0 = everything linked)</a:t>
            </a:r>
            <a:endParaRPr lang="en-US" sz="1300" dirty="0"/>
          </a:p>
          <a:p>
            <a:pPr marL="177800" indent="-177800">
              <a:spcAft>
                <a:spcPts val="400"/>
              </a:spcAft>
              <a:buSzPct val="100000"/>
              <a:buChar char="•"/>
            </a:pPr>
            <a:r>
              <a:rPr lang="en-US" sz="1300" b="1" dirty="0">
                <a:solidFill>
                  <a:schemeClr val="tx1"/>
                </a:solidFill>
              </a:rPr>
              <a:t>Why 'pick exactly k' makes it dense: </a:t>
            </a:r>
            <a:pPr indent="0" marL="0">
              <a:spcAft>
                <a:spcPts val="400"/>
              </a:spcAft>
              <a:buNone/>
            </a:pPr>
            <a:r>
              <a:rPr lang="en-US" sz="1300" dirty="0">
                <a:solidFill>
                  <a:schemeClr val="tx1"/>
                </a:solidFill>
              </a:rPr>
              <a:t>choosing one item changes whether you can choose any other, so every pair gets a line</a:t>
            </a:r>
            <a:endParaRPr lang="en-US" sz="1300" dirty="0"/>
          </a:p>
          <a:p>
            <a:pPr marL="177800" indent="-177800">
              <a:spcAft>
                <a:spcPts val="400"/>
              </a:spcAft>
              <a:buSzPct val="100000"/>
              <a:buChar char="•"/>
            </a:pPr>
            <a:r>
              <a:rPr lang="en-US" sz="1300" dirty="0">
                <a:solidFill>
                  <a:schemeClr val="tx1"/>
                </a:solidFill>
              </a:rPr>
              <a:t>Every line costs link steps on the chip, so density drives errors</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663440" y="1097280"/>
          <a:ext cx="4023360" cy="914400"/>
        </p:xfrm>
        <a:graphic>
          <a:graphicData uri="http://schemas.openxmlformats.org/drawingml/2006/table">
            <a:tbl>
              <a:tblPr/>
              <a:tblGrid>
                <a:gridCol w="1554480"/>
                <a:gridCol w="731520"/>
                <a:gridCol w="868680"/>
                <a:gridCol w="868680"/>
              </a:tblGrid>
              <a:tr h="411480">
                <a:tc>
                  <a:txBody>
                    <a:bodyPr/>
                    <a:lstStyle/>
                    <a:p>
                      <a:pPr indent="0" marL="0">
                        <a:buNone/>
                      </a:pPr>
                      <a:r>
                        <a:rPr lang="en-US" sz="1100" b="1" dirty="0">
                          <a:solidFill>
                            <a:srgbClr val="FFFFFF"/>
                          </a:solidFill>
                        </a:rPr>
                        <a:t>8-choice example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Density</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Link steps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Recipe length</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411480">
                <a:tc>
                  <a:txBody>
                    <a:bodyPr/>
                    <a:lstStyle/>
                    <a:p>
                      <a:pPr indent="0" marL="0">
                        <a:buNone/>
                      </a:pPr>
                      <a:r>
                        <a:rPr lang="en-US" sz="1100" dirty="0">
                          <a:solidFill>
                            <a:srgbClr val="1B1D36"/>
                          </a:solidFill>
                        </a:rPr>
                        <a:t>Drugs (dense)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1.00</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99</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214</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11480">
                <a:tc>
                  <a:txBody>
                    <a:bodyPr/>
                    <a:lstStyle/>
                    <a:p>
                      <a:pPr indent="0" marL="0">
                        <a:buNone/>
                      </a:pPr>
                      <a:r>
                        <a:rPr lang="en-US" sz="1100" dirty="0">
                          <a:solidFill>
                            <a:srgbClr val="1B1D36"/>
                          </a:solidFill>
                        </a:rPr>
                        <a:t>Network (sparse)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0.50</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49</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112</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B1D36"/>
                          </a:solidFill>
                        </a:rPr>
                        <a:t>Medical tests (trimmed)</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0.61</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53</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141</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bl>
          </a:graphicData>
        </a:graphic>
      </p:graphicFrame>
      <p:sp>
        <p:nvSpPr>
          <p:cNvPr id="9" name="Text 5"/>
          <p:cNvSpPr txBox="1"/>
          <p:nvPr/>
        </p:nvSpPr>
        <p:spPr>
          <a:xfrm>
            <a:off x="4663440" y="2926080"/>
            <a:ext cx="4023360" cy="914400"/>
          </a:xfrm>
          <a:prstGeom prst="rect">
            <a:avLst/>
          </a:prstGeom>
          <a:noFill/>
          <a:ln/>
        </p:spPr>
        <p:txBody>
          <a:bodyPr wrap="square" lIns="0" tIns="0" rIns="0" bIns="0" rtlCol="0" anchor="t"/>
          <a:lstStyle/>
          <a:p>
            <a:pPr indent="0" marL="0">
              <a:buNone/>
            </a:pPr>
            <a:r>
              <a:rPr lang="en-US" sz="1200" i="1" dirty="0">
                <a:solidFill>
                  <a:schemeClr val="tx2"/>
                </a:solidFill>
              </a:rPr>
              <a:t>Link steps and length were counted after fitting each recipe onto IBM's real Torino chip layout. Fewer lines → fewer link steps → fewer errors.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Step zero: the true best answer</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4 · The solvers</a:t>
            </a:r>
            <a:endParaRPr lang="en-US" sz="1000" dirty="0"/>
          </a:p>
        </p:txBody>
      </p:sp>
      <p:sp>
        <p:nvSpPr>
          <p:cNvPr id="5" name="Checking every combination (brute force) card"/>
          <p:cNvSpPr/>
          <p:nvPr/>
        </p:nvSpPr>
        <p:spPr>
          <a:xfrm>
            <a:off x="457200" y="1097280"/>
            <a:ext cx="4937760" cy="3429000"/>
          </a:xfrm>
          <a:prstGeom prst="roundRect">
            <a:avLst>
              <a:gd name="adj" fmla="val 2133"/>
            </a:avLst>
          </a:prstGeom>
          <a:solidFill>
            <a:srgbClr val="F2F2F8"/>
          </a:solidFill>
          <a:ln w="12700">
            <a:solidFill>
              <a:srgbClr val="F2F2F8"/>
            </a:solidFill>
            <a:prstDash val="solid"/>
          </a:ln>
        </p:spPr>
      </p:sp>
      <p:sp>
        <p:nvSpPr>
          <p:cNvPr id="6" name="Text 3"/>
          <p:cNvSpPr txBox="1"/>
          <p:nvPr/>
        </p:nvSpPr>
        <p:spPr>
          <a:xfrm>
            <a:off x="640080" y="1225296"/>
            <a:ext cx="4572000" cy="292608"/>
          </a:xfrm>
          <a:prstGeom prst="rect">
            <a:avLst/>
          </a:prstGeom>
          <a:noFill/>
          <a:ln/>
        </p:spPr>
        <p:txBody>
          <a:bodyPr wrap="square" lIns="0" tIns="0" rIns="0" bIns="0" rtlCol="0" anchor="t"/>
          <a:lstStyle/>
          <a:p>
            <a:pPr indent="0" marL="0">
              <a:buNone/>
            </a:pPr>
            <a:r>
              <a:rPr lang="en-US" sz="1400" b="1" dirty="0">
                <a:solidFill>
                  <a:schemeClr val="tx1"/>
                </a:solidFill>
              </a:rPr>
              <a:t>Checking every combination (brute force)</a:t>
            </a:r>
            <a:endParaRPr lang="en-US" sz="1400" dirty="0"/>
          </a:p>
        </p:txBody>
      </p:sp>
      <p:sp>
        <p:nvSpPr>
          <p:cNvPr id="7" name="Text 4"/>
          <p:cNvSpPr txBox="1"/>
          <p:nvPr/>
        </p:nvSpPr>
        <p:spPr>
          <a:xfrm>
            <a:off x="640080" y="1591056"/>
            <a:ext cx="4590288" cy="28437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List every possible combination of yes/no choices</a:t>
            </a:r>
            <a:endParaRPr lang="en-US" sz="1300" dirty="0"/>
          </a:p>
          <a:p>
            <a:pPr marL="177800" indent="-177800">
              <a:spcAft>
                <a:spcPts val="400"/>
              </a:spcAft>
              <a:buSzPct val="100000"/>
              <a:buChar char="•"/>
            </a:pPr>
            <a:r>
              <a:rPr lang="en-US" sz="1300" dirty="0">
                <a:solidFill>
                  <a:schemeClr val="tx1"/>
                </a:solidFill>
              </a:rPr>
              <a:t>Add up the score sheet for each one</a:t>
            </a:r>
            <a:endParaRPr lang="en-US" sz="1300" dirty="0"/>
          </a:p>
          <a:p>
            <a:pPr marL="177800" indent="-177800">
              <a:spcAft>
                <a:spcPts val="400"/>
              </a:spcAft>
              <a:buSzPct val="100000"/>
              <a:buChar char="•"/>
            </a:pPr>
            <a:r>
              <a:rPr lang="en-US" sz="1300" dirty="0">
                <a:solidFill>
                  <a:schemeClr val="tx1"/>
                </a:solidFill>
              </a:rPr>
              <a:t>The lowest total is the true best answer</a:t>
            </a:r>
            <a:endParaRPr lang="en-US" sz="1300" dirty="0"/>
          </a:p>
          <a:p>
            <a:pPr marL="177800" indent="-177800">
              <a:spcAft>
                <a:spcPts val="400"/>
              </a:spcAft>
              <a:buSzPct val="100000"/>
              <a:buChar char="•"/>
            </a:pPr>
            <a:r>
              <a:rPr lang="en-US" sz="1300" dirty="0">
                <a:solidFill>
                  <a:schemeClr val="tx1"/>
                </a:solidFill>
              </a:rPr>
              <a:t>Also keep the average total of all combinations: that's what a random guess scores</a:t>
            </a:r>
            <a:endParaRPr lang="en-US" sz="1300" dirty="0"/>
          </a:p>
          <a:p>
            <a:pPr marL="177800" indent="-177800">
              <a:spcAft>
                <a:spcPts val="400"/>
              </a:spcAft>
              <a:buSzPct val="100000"/>
              <a:buChar char="•"/>
            </a:pPr>
            <a:r>
              <a:rPr lang="en-US" sz="1300" dirty="0">
                <a:solidFill>
                  <a:schemeClr val="tx1"/>
                </a:solidFill>
              </a:rPr>
              <a:t>Works up to about 20 choices (about a million combinations); our tests use 3-18</a:t>
            </a:r>
            <a:endParaRPr lang="en-US" sz="1300" dirty="0"/>
          </a:p>
        </p:txBody>
      </p:sp>
      <p:sp>
        <p:nvSpPr>
          <p:cNvPr id="8" name="Combinations grow fast card"/>
          <p:cNvSpPr/>
          <p:nvPr/>
        </p:nvSpPr>
        <p:spPr>
          <a:xfrm>
            <a:off x="5577840" y="1097280"/>
            <a:ext cx="3108960" cy="3429000"/>
          </a:xfrm>
          <a:prstGeom prst="roundRect">
            <a:avLst>
              <a:gd name="adj" fmla="val 2353"/>
            </a:avLst>
          </a:prstGeom>
          <a:solidFill>
            <a:srgbClr val="EEF8F6"/>
          </a:solidFill>
          <a:ln w="12700">
            <a:solidFill>
              <a:srgbClr val="EEF8F6"/>
            </a:solidFill>
            <a:prstDash val="solid"/>
          </a:ln>
        </p:spPr>
      </p:sp>
      <p:sp>
        <p:nvSpPr>
          <p:cNvPr id="9" name="Text 6"/>
          <p:cNvSpPr txBox="1"/>
          <p:nvPr/>
        </p:nvSpPr>
        <p:spPr>
          <a:xfrm>
            <a:off x="5760720" y="1225296"/>
            <a:ext cx="2743200" cy="292608"/>
          </a:xfrm>
          <a:prstGeom prst="rect">
            <a:avLst/>
          </a:prstGeom>
          <a:noFill/>
          <a:ln/>
        </p:spPr>
        <p:txBody>
          <a:bodyPr wrap="square" lIns="0" tIns="0" rIns="0" bIns="0" rtlCol="0" anchor="t"/>
          <a:lstStyle/>
          <a:p>
            <a:pPr indent="0" marL="0">
              <a:buNone/>
            </a:pPr>
            <a:r>
              <a:rPr lang="en-US" sz="1400" b="1" dirty="0">
                <a:solidFill>
                  <a:schemeClr val="tx1"/>
                </a:solidFill>
              </a:rPr>
              <a:t>Combinations grow fast</a:t>
            </a:r>
            <a:endParaRPr lang="en-US" sz="1400" dirty="0"/>
          </a:p>
        </p:txBody>
      </p:sp>
      <p:sp>
        <p:nvSpPr>
          <p:cNvPr id="10" name="Text 7"/>
          <p:cNvSpPr txBox="1"/>
          <p:nvPr/>
        </p:nvSpPr>
        <p:spPr>
          <a:xfrm>
            <a:off x="5760720" y="1591056"/>
            <a:ext cx="2761488" cy="28437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10 choices → 1,024</a:t>
            </a:r>
            <a:endParaRPr lang="en-US" sz="1300" dirty="0"/>
          </a:p>
          <a:p>
            <a:pPr marL="177800" indent="-177800">
              <a:spcAft>
                <a:spcPts val="400"/>
              </a:spcAft>
              <a:buSzPct val="100000"/>
              <a:buChar char="•"/>
            </a:pPr>
            <a:r>
              <a:rPr lang="en-US" sz="1300" dirty="0">
                <a:solidFill>
                  <a:schemeClr val="tx1"/>
                </a:solidFill>
              </a:rPr>
              <a:t>18 choices → 262,144</a:t>
            </a:r>
            <a:endParaRPr lang="en-US" sz="1300" dirty="0"/>
          </a:p>
          <a:p>
            <a:pPr marL="177800" indent="-177800">
              <a:spcAft>
                <a:spcPts val="400"/>
              </a:spcAft>
              <a:buSzPct val="100000"/>
              <a:buChar char="•"/>
            </a:pPr>
            <a:r>
              <a:rPr lang="en-US" sz="1300" dirty="0">
                <a:solidFill>
                  <a:schemeClr val="tx1"/>
                </a:solidFill>
              </a:rPr>
              <a:t>20 choices → about 1 million</a:t>
            </a:r>
            <a:endParaRPr lang="en-US" sz="1300" dirty="0"/>
          </a:p>
          <a:p>
            <a:pPr marL="177800" indent="-177800">
              <a:spcAft>
                <a:spcPts val="400"/>
              </a:spcAft>
              <a:buSzPct val="100000"/>
              <a:buChar char="•"/>
            </a:pPr>
            <a:r>
              <a:rPr lang="en-US" sz="1300" dirty="0">
                <a:solidFill>
                  <a:schemeClr val="tx1"/>
                </a:solidFill>
              </a:rPr>
              <a:t>50 choices → about a quadrillion</a:t>
            </a:r>
            <a:endParaRPr lang="en-US" sz="1300" dirty="0"/>
          </a:p>
          <a:p>
            <a:pPr marL="177800" indent="-177800">
              <a:spcAft>
                <a:spcPts val="400"/>
              </a:spcAft>
              <a:buSzPct val="100000"/>
              <a:buChar char="•"/>
            </a:pPr>
            <a:r>
              <a:rPr lang="en-US" sz="1300" dirty="0">
                <a:solidFill>
                  <a:schemeClr val="tx1"/>
                </a:solidFill>
              </a:rPr>
              <a:t>That explosion is why hard decisions need clever search</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How we score every answer</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4 · The solvers</a:t>
            </a:r>
            <a:endParaRPr lang="en-US" sz="1000" dirty="0"/>
          </a:p>
        </p:txBody>
      </p:sp>
      <p:sp>
        <p:nvSpPr>
          <p:cNvPr id="5" name="The score (approximation ratio) card"/>
          <p:cNvSpPr/>
          <p:nvPr/>
        </p:nvSpPr>
        <p:spPr>
          <a:xfrm>
            <a:off x="457200" y="1097280"/>
            <a:ext cx="4023360" cy="3429000"/>
          </a:xfrm>
          <a:prstGeom prst="roundRect">
            <a:avLst>
              <a:gd name="adj" fmla="val 2133"/>
            </a:avLst>
          </a:prstGeom>
          <a:solidFill>
            <a:srgbClr val="F2F2F8"/>
          </a:solidFill>
          <a:ln w="12700">
            <a:solidFill>
              <a:srgbClr val="F2F2F8"/>
            </a:solidFill>
            <a:prstDash val="solid"/>
          </a:ln>
        </p:spPr>
      </p:sp>
      <p:sp>
        <p:nvSpPr>
          <p:cNvPr id="6" name="Text 3"/>
          <p:cNvSpPr txBox="1"/>
          <p:nvPr/>
        </p:nvSpPr>
        <p:spPr>
          <a:xfrm>
            <a:off x="64008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The score (approximation ratio)</a:t>
            </a:r>
            <a:endParaRPr lang="en-US" sz="1400" dirty="0"/>
          </a:p>
        </p:txBody>
      </p:sp>
      <p:sp>
        <p:nvSpPr>
          <p:cNvPr id="7" name="Text 4"/>
          <p:cNvSpPr txBox="1"/>
          <p:nvPr/>
        </p:nvSpPr>
        <p:spPr>
          <a:xfrm>
            <a:off x="640080" y="1591056"/>
            <a:ext cx="3675888" cy="28437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Score = (random-guess average − your average) ÷ (random-guess average − true best)</a:t>
            </a:r>
            <a:endParaRPr lang="en-US" sz="1300" dirty="0"/>
          </a:p>
          <a:p>
            <a:pPr marL="177800" indent="-177800">
              <a:spcAft>
                <a:spcPts val="400"/>
              </a:spcAft>
              <a:buSzPct val="100000"/>
              <a:buChar char="•"/>
            </a:pPr>
            <a:r>
              <a:rPr lang="en-US" sz="1300" dirty="0">
                <a:solidFill>
                  <a:schemeClr val="tx1"/>
                </a:solidFill>
              </a:rPr>
              <a:t>1 = perfect · 0 = random guess · below 0 = worse than random</a:t>
            </a:r>
            <a:endParaRPr lang="en-US" sz="1300" dirty="0"/>
          </a:p>
          <a:p>
            <a:pPr marL="177800" indent="-177800">
              <a:spcAft>
                <a:spcPts val="400"/>
              </a:spcAft>
              <a:buSzPct val="100000"/>
              <a:buChar char="•"/>
            </a:pPr>
            <a:r>
              <a:rPr lang="en-US" sz="1300" b="1" dirty="0">
                <a:solidFill>
                  <a:schemeClr val="tx1"/>
                </a:solidFill>
              </a:rPr>
              <a:t>Your average: </a:t>
            </a:r>
            <a:pPr indent="0" marL="0">
              <a:spcAft>
                <a:spcPts val="400"/>
              </a:spcAft>
              <a:buNone/>
            </a:pPr>
            <a:r>
              <a:rPr lang="en-US" sz="1300" dirty="0">
                <a:solidFill>
                  <a:schemeClr val="tx1"/>
                </a:solidFill>
              </a:rPr>
              <a:t>over EVERY answer the solver returns (every shot or every run)</a:t>
            </a:r>
            <a:endParaRPr lang="en-US" sz="1300" dirty="0"/>
          </a:p>
          <a:p>
            <a:pPr marL="177800" indent="-177800">
              <a:spcAft>
                <a:spcPts val="400"/>
              </a:spcAft>
              <a:buSzPct val="100000"/>
              <a:buChar char="•"/>
            </a:pPr>
            <a:r>
              <a:rPr lang="en-US" sz="1300" b="1" dirty="0">
                <a:solidFill>
                  <a:schemeClr val="tx1"/>
                </a:solidFill>
              </a:rPr>
              <a:t>Why not 'worst answer' as the zero? </a:t>
            </a:r>
            <a:pPr indent="0" marL="0">
              <a:spcAft>
                <a:spcPts val="400"/>
              </a:spcAft>
              <a:buNone/>
            </a:pPr>
            <a:r>
              <a:rPr lang="en-US" sz="1300" dirty="0">
                <a:solidFill>
                  <a:schemeClr val="tx1"/>
                </a:solidFill>
              </a:rPr>
              <a:t>penalties make the worst answers enormous, so everything would look like 0.99</a:t>
            </a:r>
            <a:endParaRPr lang="en-US" sz="1300" dirty="0"/>
          </a:p>
        </p:txBody>
      </p:sp>
      <p:sp>
        <p:nvSpPr>
          <p:cNvPr id="8" name="Worked example (3 drugs, slide 'tiny example') card"/>
          <p:cNvSpPr/>
          <p:nvPr/>
        </p:nvSpPr>
        <p:spPr>
          <a:xfrm>
            <a:off x="4663440" y="1097280"/>
            <a:ext cx="4023360" cy="3429000"/>
          </a:xfrm>
          <a:prstGeom prst="roundRect">
            <a:avLst>
              <a:gd name="adj" fmla="val 2133"/>
            </a:avLst>
          </a:prstGeom>
          <a:solidFill>
            <a:srgbClr val="FFF4EA"/>
          </a:solidFill>
          <a:ln w="12700">
            <a:solidFill>
              <a:srgbClr val="FFF4EA"/>
            </a:solidFill>
            <a:prstDash val="solid"/>
          </a:ln>
        </p:spPr>
      </p:sp>
      <p:sp>
        <p:nvSpPr>
          <p:cNvPr id="9" name="Text 6"/>
          <p:cNvSpPr txBox="1"/>
          <p:nvPr/>
        </p:nvSpPr>
        <p:spPr>
          <a:xfrm>
            <a:off x="484632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Worked example (3 drugs, slide 'tiny example')</a:t>
            </a:r>
            <a:endParaRPr lang="en-US" sz="1400" dirty="0"/>
          </a:p>
        </p:txBody>
      </p:sp>
      <p:sp>
        <p:nvSpPr>
          <p:cNvPr id="10" name="Text 7"/>
          <p:cNvSpPr txBox="1"/>
          <p:nvPr/>
        </p:nvSpPr>
        <p:spPr>
          <a:xfrm>
            <a:off x="4846320" y="1591056"/>
            <a:ext cx="3675888" cy="28437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Random-guess average of all 8 totals = 4.75</a:t>
            </a:r>
            <a:endParaRPr lang="en-US" sz="1300" dirty="0"/>
          </a:p>
          <a:p>
            <a:pPr marL="177800" indent="-177800">
              <a:spcAft>
                <a:spcPts val="400"/>
              </a:spcAft>
              <a:buSzPct val="100000"/>
              <a:buChar char="•"/>
            </a:pPr>
            <a:r>
              <a:rPr lang="en-US" sz="1300" dirty="0">
                <a:solidFill>
                  <a:schemeClr val="tx1"/>
                </a:solidFill>
              </a:rPr>
              <a:t>True best = −8</a:t>
            </a:r>
            <a:endParaRPr lang="en-US" sz="1300" dirty="0"/>
          </a:p>
          <a:p>
            <a:pPr marL="177800" indent="-177800">
              <a:spcAft>
                <a:spcPts val="400"/>
              </a:spcAft>
              <a:buSzPct val="100000"/>
              <a:buChar char="•"/>
            </a:pPr>
            <a:r>
              <a:rPr lang="en-US" sz="1300" dirty="0">
                <a:solidFill>
                  <a:schemeClr val="tx1"/>
                </a:solidFill>
              </a:rPr>
              <a:t>Suppose a solver's answers average −6</a:t>
            </a:r>
            <a:endParaRPr lang="en-US" sz="1300" dirty="0"/>
          </a:p>
          <a:p>
            <a:pPr marL="177800" indent="-177800">
              <a:spcAft>
                <a:spcPts val="400"/>
              </a:spcAft>
              <a:buSzPct val="100000"/>
              <a:buChar char="•"/>
            </a:pPr>
            <a:r>
              <a:rPr lang="en-US" sz="1300" dirty="0">
                <a:solidFill>
                  <a:schemeClr val="tx1"/>
                </a:solidFill>
              </a:rPr>
              <a:t>Score = (4.75 − (−6)) ÷ (4.75 − (−8)) = 10.75 ÷ 12.75 ≈ 0.84</a:t>
            </a:r>
            <a:endParaRPr lang="en-US" sz="1300" dirty="0"/>
          </a:p>
          <a:p>
            <a:pPr marL="177800" indent="-177800">
              <a:spcAft>
                <a:spcPts val="400"/>
              </a:spcAft>
              <a:buSzPct val="100000"/>
              <a:buChar char="•"/>
            </a:pPr>
            <a:r>
              <a:rPr lang="en-US" sz="1300" dirty="0">
                <a:solidFill>
                  <a:schemeClr val="tx1"/>
                </a:solidFill>
              </a:rPr>
              <a:t>So it captured 84% of the gap between guessing and perfect</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Solver 1: the normal laptop (simulated annealing)</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4 · The solvers</a:t>
            </a:r>
            <a:endParaRPr lang="en-US" sz="1000" dirty="0"/>
          </a:p>
        </p:txBody>
      </p:sp>
      <p:sp>
        <p:nvSpPr>
          <p:cNvPr id="5" name="flow step 1"/>
          <p:cNvSpPr/>
          <p:nvPr/>
        </p:nvSpPr>
        <p:spPr>
          <a:xfrm>
            <a:off x="457200" y="1143000"/>
            <a:ext cx="1441094" cy="1188720"/>
          </a:xfrm>
          <a:prstGeom prst="roundRect">
            <a:avLst>
              <a:gd name="adj" fmla="val 6154"/>
            </a:avLst>
          </a:prstGeom>
          <a:solidFill>
            <a:srgbClr val="667085"/>
          </a:solidFill>
          <a:ln w="12700">
            <a:solidFill>
              <a:srgbClr val="667085"/>
            </a:solidFill>
            <a:prstDash val="solid"/>
          </a:ln>
        </p:spPr>
      </p:sp>
      <p:sp>
        <p:nvSpPr>
          <p:cNvPr id="6" name="Text 3"/>
          <p:cNvSpPr txBox="1"/>
          <p:nvPr/>
        </p:nvSpPr>
        <p:spPr>
          <a:xfrm>
            <a:off x="548640" y="1234440"/>
            <a:ext cx="1258214" cy="1005840"/>
          </a:xfrm>
          <a:prstGeom prst="rect">
            <a:avLst/>
          </a:prstGeom>
          <a:noFill/>
          <a:ln/>
        </p:spPr>
        <p:txBody>
          <a:bodyPr wrap="square" lIns="0" tIns="0" rIns="0" bIns="0" rtlCol="0" anchor="ctr"/>
          <a:lstStyle/>
          <a:p>
            <a:pPr algn="ctr" indent="0" marL="0">
              <a:buNone/>
            </a:pPr>
            <a:r>
              <a:rPr lang="en-US" sz="1300" b="1" dirty="0">
                <a:solidFill>
                  <a:srgbClr val="FFFFFF"/>
                </a:solidFill>
              </a:rPr>
              <a:t>Start</a:t>
            </a:r>
            <a:endParaRPr lang="en-US" sz="1300" dirty="0"/>
          </a:p>
          <a:p>
            <a:pPr algn="ctr" indent="0" marL="0">
              <a:buNone/>
            </a:pPr>
            <a:r>
              <a:rPr lang="en-US" sz="1100" dirty="0">
                <a:solidFill>
                  <a:srgbClr val="FFFFFF"/>
                </a:solidFill>
              </a:rPr>
              <a:t>a random set of yes/no choices</a:t>
            </a:r>
            <a:endParaRPr lang="en-US" sz="1300" dirty="0"/>
          </a:p>
        </p:txBody>
      </p:sp>
      <p:sp>
        <p:nvSpPr>
          <p:cNvPr id="7" name="flow arrow 1"/>
          <p:cNvSpPr/>
          <p:nvPr/>
        </p:nvSpPr>
        <p:spPr>
          <a:xfrm>
            <a:off x="1934870" y="1737360"/>
            <a:ext cx="182880" cy="0"/>
          </a:xfrm>
          <a:prstGeom prst="line">
            <a:avLst/>
          </a:prstGeom>
          <a:noFill/>
          <a:ln w="15875">
            <a:solidFill>
              <a:srgbClr val="667085"/>
            </a:solidFill>
            <a:prstDash val="solid"/>
            <a:tailEnd type="triangle"/>
          </a:ln>
        </p:spPr>
      </p:sp>
      <p:sp>
        <p:nvSpPr>
          <p:cNvPr id="8" name="flow step 2"/>
          <p:cNvSpPr/>
          <p:nvPr/>
        </p:nvSpPr>
        <p:spPr>
          <a:xfrm>
            <a:off x="2154326" y="1143000"/>
            <a:ext cx="1441094" cy="1188720"/>
          </a:xfrm>
          <a:prstGeom prst="roundRect">
            <a:avLst>
              <a:gd name="adj" fmla="val 6154"/>
            </a:avLst>
          </a:prstGeom>
          <a:solidFill>
            <a:srgbClr val="667085"/>
          </a:solidFill>
          <a:ln w="12700">
            <a:solidFill>
              <a:srgbClr val="667085"/>
            </a:solidFill>
            <a:prstDash val="solid"/>
          </a:ln>
        </p:spPr>
      </p:sp>
      <p:sp>
        <p:nvSpPr>
          <p:cNvPr id="9" name="Text 6"/>
          <p:cNvSpPr txBox="1"/>
          <p:nvPr/>
        </p:nvSpPr>
        <p:spPr>
          <a:xfrm>
            <a:off x="2245766" y="1234440"/>
            <a:ext cx="1258214" cy="1005840"/>
          </a:xfrm>
          <a:prstGeom prst="rect">
            <a:avLst/>
          </a:prstGeom>
          <a:noFill/>
          <a:ln/>
        </p:spPr>
        <p:txBody>
          <a:bodyPr wrap="square" lIns="0" tIns="0" rIns="0" bIns="0" rtlCol="0" anchor="ctr"/>
          <a:lstStyle/>
          <a:p>
            <a:pPr algn="ctr" indent="0" marL="0">
              <a:buNone/>
            </a:pPr>
            <a:r>
              <a:rPr lang="en-US" sz="1300" b="1" dirty="0">
                <a:solidFill>
                  <a:srgbClr val="FFFFFF"/>
                </a:solidFill>
              </a:rPr>
              <a:t>Flip</a:t>
            </a:r>
            <a:endParaRPr lang="en-US" sz="1300" dirty="0"/>
          </a:p>
          <a:p>
            <a:pPr algn="ctr" indent="0" marL="0">
              <a:buNone/>
            </a:pPr>
            <a:r>
              <a:rPr lang="en-US" sz="1100" dirty="0">
                <a:solidFill>
                  <a:srgbClr val="FFFFFF"/>
                </a:solidFill>
              </a:rPr>
              <a:t>change one choice</a:t>
            </a:r>
            <a:endParaRPr lang="en-US" sz="1300" dirty="0"/>
          </a:p>
        </p:txBody>
      </p:sp>
      <p:sp>
        <p:nvSpPr>
          <p:cNvPr id="10" name="flow arrow 2"/>
          <p:cNvSpPr/>
          <p:nvPr/>
        </p:nvSpPr>
        <p:spPr>
          <a:xfrm>
            <a:off x="3631997" y="1737360"/>
            <a:ext cx="182880" cy="0"/>
          </a:xfrm>
          <a:prstGeom prst="line">
            <a:avLst/>
          </a:prstGeom>
          <a:noFill/>
          <a:ln w="15875">
            <a:solidFill>
              <a:srgbClr val="667085"/>
            </a:solidFill>
            <a:prstDash val="solid"/>
            <a:tailEnd type="triangle"/>
          </a:ln>
        </p:spPr>
      </p:sp>
      <p:sp>
        <p:nvSpPr>
          <p:cNvPr id="11" name="flow step 3"/>
          <p:cNvSpPr/>
          <p:nvPr/>
        </p:nvSpPr>
        <p:spPr>
          <a:xfrm>
            <a:off x="3851453" y="1143000"/>
            <a:ext cx="1441094" cy="1188720"/>
          </a:xfrm>
          <a:prstGeom prst="roundRect">
            <a:avLst>
              <a:gd name="adj" fmla="val 6154"/>
            </a:avLst>
          </a:prstGeom>
          <a:solidFill>
            <a:srgbClr val="667085"/>
          </a:solidFill>
          <a:ln w="12700">
            <a:solidFill>
              <a:srgbClr val="667085"/>
            </a:solidFill>
            <a:prstDash val="solid"/>
          </a:ln>
        </p:spPr>
      </p:sp>
      <p:sp>
        <p:nvSpPr>
          <p:cNvPr id="12" name="Text 9"/>
          <p:cNvSpPr txBox="1"/>
          <p:nvPr/>
        </p:nvSpPr>
        <p:spPr>
          <a:xfrm>
            <a:off x="3942893" y="1234440"/>
            <a:ext cx="1258214" cy="1005840"/>
          </a:xfrm>
          <a:prstGeom prst="rect">
            <a:avLst/>
          </a:prstGeom>
          <a:noFill/>
          <a:ln/>
        </p:spPr>
        <p:txBody>
          <a:bodyPr wrap="square" lIns="0" tIns="0" rIns="0" bIns="0" rtlCol="0" anchor="ctr"/>
          <a:lstStyle/>
          <a:p>
            <a:pPr algn="ctr" indent="0" marL="0">
              <a:buNone/>
            </a:pPr>
            <a:r>
              <a:rPr lang="en-US" sz="1300" b="1" dirty="0">
                <a:solidFill>
                  <a:srgbClr val="FFFFFF"/>
                </a:solidFill>
              </a:rPr>
              <a:t>Keep?</a:t>
            </a:r>
            <a:endParaRPr lang="en-US" sz="1300" dirty="0"/>
          </a:p>
          <a:p>
            <a:pPr algn="ctr" indent="0" marL="0">
              <a:buNone/>
            </a:pPr>
            <a:r>
              <a:rPr lang="en-US" sz="1100" dirty="0">
                <a:solidFill>
                  <a:srgbClr val="FFFFFF"/>
                </a:solidFill>
              </a:rPr>
              <a:t>better → keep; worse → sometimes keep</a:t>
            </a:r>
            <a:endParaRPr lang="en-US" sz="1300" dirty="0"/>
          </a:p>
        </p:txBody>
      </p:sp>
      <p:sp>
        <p:nvSpPr>
          <p:cNvPr id="13" name="flow arrow 3"/>
          <p:cNvSpPr/>
          <p:nvPr/>
        </p:nvSpPr>
        <p:spPr>
          <a:xfrm>
            <a:off x="5329123" y="1737360"/>
            <a:ext cx="182880" cy="0"/>
          </a:xfrm>
          <a:prstGeom prst="line">
            <a:avLst/>
          </a:prstGeom>
          <a:noFill/>
          <a:ln w="15875">
            <a:solidFill>
              <a:srgbClr val="667085"/>
            </a:solidFill>
            <a:prstDash val="solid"/>
            <a:tailEnd type="triangle"/>
          </a:ln>
        </p:spPr>
      </p:sp>
      <p:sp>
        <p:nvSpPr>
          <p:cNvPr id="14" name="flow step 4"/>
          <p:cNvSpPr/>
          <p:nvPr/>
        </p:nvSpPr>
        <p:spPr>
          <a:xfrm>
            <a:off x="5548579" y="1143000"/>
            <a:ext cx="1441094" cy="1188720"/>
          </a:xfrm>
          <a:prstGeom prst="roundRect">
            <a:avLst>
              <a:gd name="adj" fmla="val 6154"/>
            </a:avLst>
          </a:prstGeom>
          <a:solidFill>
            <a:srgbClr val="667085"/>
          </a:solidFill>
          <a:ln w="12700">
            <a:solidFill>
              <a:srgbClr val="667085"/>
            </a:solidFill>
            <a:prstDash val="solid"/>
          </a:ln>
        </p:spPr>
      </p:sp>
      <p:sp>
        <p:nvSpPr>
          <p:cNvPr id="15" name="Text 12"/>
          <p:cNvSpPr txBox="1"/>
          <p:nvPr/>
        </p:nvSpPr>
        <p:spPr>
          <a:xfrm>
            <a:off x="5640019" y="1234440"/>
            <a:ext cx="1258214" cy="1005840"/>
          </a:xfrm>
          <a:prstGeom prst="rect">
            <a:avLst/>
          </a:prstGeom>
          <a:noFill/>
          <a:ln/>
        </p:spPr>
        <p:txBody>
          <a:bodyPr wrap="square" lIns="0" tIns="0" rIns="0" bIns="0" rtlCol="0" anchor="ctr"/>
          <a:lstStyle/>
          <a:p>
            <a:pPr algn="ctr" indent="0" marL="0">
              <a:buNone/>
            </a:pPr>
            <a:r>
              <a:rPr lang="en-US" sz="1300" b="1" dirty="0">
                <a:solidFill>
                  <a:srgbClr val="FFFFFF"/>
                </a:solidFill>
              </a:rPr>
              <a:t>Cool down</a:t>
            </a:r>
            <a:endParaRPr lang="en-US" sz="1300" dirty="0"/>
          </a:p>
          <a:p>
            <a:pPr algn="ctr" indent="0" marL="0">
              <a:buNone/>
            </a:pPr>
            <a:r>
              <a:rPr lang="en-US" sz="1100" dirty="0">
                <a:solidFill>
                  <a:srgbClr val="FFFFFF"/>
                </a:solidFill>
              </a:rPr>
              <a:t>accept worse flips less and less</a:t>
            </a:r>
            <a:endParaRPr lang="en-US" sz="1300" dirty="0"/>
          </a:p>
        </p:txBody>
      </p:sp>
      <p:sp>
        <p:nvSpPr>
          <p:cNvPr id="16" name="flow arrow 4"/>
          <p:cNvSpPr/>
          <p:nvPr/>
        </p:nvSpPr>
        <p:spPr>
          <a:xfrm>
            <a:off x="7026250" y="1737360"/>
            <a:ext cx="182880" cy="0"/>
          </a:xfrm>
          <a:prstGeom prst="line">
            <a:avLst/>
          </a:prstGeom>
          <a:noFill/>
          <a:ln w="15875">
            <a:solidFill>
              <a:srgbClr val="667085"/>
            </a:solidFill>
            <a:prstDash val="solid"/>
            <a:tailEnd type="triangle"/>
          </a:ln>
        </p:spPr>
      </p:sp>
      <p:sp>
        <p:nvSpPr>
          <p:cNvPr id="17" name="flow step 5"/>
          <p:cNvSpPr/>
          <p:nvPr/>
        </p:nvSpPr>
        <p:spPr>
          <a:xfrm>
            <a:off x="7245706" y="1143000"/>
            <a:ext cx="1441094" cy="1188720"/>
          </a:xfrm>
          <a:prstGeom prst="roundRect">
            <a:avLst>
              <a:gd name="adj" fmla="val 6154"/>
            </a:avLst>
          </a:prstGeom>
          <a:solidFill>
            <a:srgbClr val="667085"/>
          </a:solidFill>
          <a:ln w="12700">
            <a:solidFill>
              <a:srgbClr val="667085"/>
            </a:solidFill>
            <a:prstDash val="solid"/>
          </a:ln>
        </p:spPr>
      </p:sp>
      <p:sp>
        <p:nvSpPr>
          <p:cNvPr id="18" name="Text 15"/>
          <p:cNvSpPr txBox="1"/>
          <p:nvPr/>
        </p:nvSpPr>
        <p:spPr>
          <a:xfrm>
            <a:off x="7337146" y="1234440"/>
            <a:ext cx="1258214" cy="1005840"/>
          </a:xfrm>
          <a:prstGeom prst="rect">
            <a:avLst/>
          </a:prstGeom>
          <a:noFill/>
          <a:ln/>
        </p:spPr>
        <p:txBody>
          <a:bodyPr wrap="square" lIns="0" tIns="0" rIns="0" bIns="0" rtlCol="0" anchor="ctr"/>
          <a:lstStyle/>
          <a:p>
            <a:pPr algn="ctr" indent="0" marL="0">
              <a:buNone/>
            </a:pPr>
            <a:r>
              <a:rPr lang="en-US" sz="1300" b="1" dirty="0">
                <a:solidFill>
                  <a:srgbClr val="FFFFFF"/>
                </a:solidFill>
              </a:rPr>
              <a:t>Repeat</a:t>
            </a:r>
            <a:endParaRPr lang="en-US" sz="1300" dirty="0"/>
          </a:p>
          <a:p>
            <a:pPr algn="ctr" indent="0" marL="0">
              <a:buNone/>
            </a:pPr>
            <a:r>
              <a:rPr lang="en-US" sz="1100" dirty="0">
                <a:solidFill>
                  <a:srgbClr val="FFFFFF"/>
                </a:solidFill>
              </a:rPr>
              <a:t>100-200 separate runs</a:t>
            </a:r>
            <a:endParaRPr lang="en-US" sz="1300" dirty="0"/>
          </a:p>
        </p:txBody>
      </p:sp>
      <p:sp>
        <p:nvSpPr>
          <p:cNvPr id="19" name="Why 'sometimes keep a worse flip'? card"/>
          <p:cNvSpPr/>
          <p:nvPr/>
        </p:nvSpPr>
        <p:spPr>
          <a:xfrm>
            <a:off x="457200" y="2560320"/>
            <a:ext cx="4023360" cy="1965960"/>
          </a:xfrm>
          <a:prstGeom prst="roundRect">
            <a:avLst>
              <a:gd name="adj" fmla="val 3721"/>
            </a:avLst>
          </a:prstGeom>
          <a:solidFill>
            <a:srgbClr val="F2F2F8"/>
          </a:solidFill>
          <a:ln w="12700">
            <a:solidFill>
              <a:srgbClr val="F2F2F8"/>
            </a:solidFill>
            <a:prstDash val="solid"/>
          </a:ln>
        </p:spPr>
      </p:sp>
      <p:sp>
        <p:nvSpPr>
          <p:cNvPr id="20" name="Text 17"/>
          <p:cNvSpPr txBox="1"/>
          <p:nvPr/>
        </p:nvSpPr>
        <p:spPr>
          <a:xfrm>
            <a:off x="640080" y="2688336"/>
            <a:ext cx="3657600" cy="292608"/>
          </a:xfrm>
          <a:prstGeom prst="rect">
            <a:avLst/>
          </a:prstGeom>
          <a:noFill/>
          <a:ln/>
        </p:spPr>
        <p:txBody>
          <a:bodyPr wrap="square" lIns="0" tIns="0" rIns="0" bIns="0" rtlCol="0" anchor="t"/>
          <a:lstStyle/>
          <a:p>
            <a:pPr indent="0" marL="0">
              <a:buNone/>
            </a:pPr>
            <a:r>
              <a:rPr lang="en-US" sz="1400" b="1" dirty="0">
                <a:solidFill>
                  <a:schemeClr val="tx1"/>
                </a:solidFill>
              </a:rPr>
              <a:t>Why 'sometimes keep a worse flip'?</a:t>
            </a:r>
            <a:endParaRPr lang="en-US" sz="1400" dirty="0"/>
          </a:p>
        </p:txBody>
      </p:sp>
      <p:sp>
        <p:nvSpPr>
          <p:cNvPr id="21" name="Text 18"/>
          <p:cNvSpPr txBox="1"/>
          <p:nvPr/>
        </p:nvSpPr>
        <p:spPr>
          <a:xfrm>
            <a:off x="640080" y="3054096"/>
            <a:ext cx="3675888" cy="138074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So it can climb out of a small valley and find a deeper one</a:t>
            </a:r>
            <a:endParaRPr lang="en-US" sz="1300" dirty="0"/>
          </a:p>
          <a:p>
            <a:pPr marL="177800" indent="-177800">
              <a:spcAft>
                <a:spcPts val="400"/>
              </a:spcAft>
              <a:buSzPct val="100000"/>
              <a:buChar char="•"/>
            </a:pPr>
            <a:r>
              <a:rPr lang="en-US" sz="1300" dirty="0">
                <a:solidFill>
                  <a:schemeClr val="tx1"/>
                </a:solidFill>
              </a:rPr>
              <a:t>Early: very willing to accept worse; late: almost never</a:t>
            </a:r>
            <a:endParaRPr lang="en-US" sz="1300" dirty="0"/>
          </a:p>
        </p:txBody>
      </p:sp>
      <p:sp>
        <p:nvSpPr>
          <p:cNvPr id="22" name="How it does card"/>
          <p:cNvSpPr/>
          <p:nvPr/>
        </p:nvSpPr>
        <p:spPr>
          <a:xfrm>
            <a:off x="4663440" y="2560320"/>
            <a:ext cx="4023360" cy="1965960"/>
          </a:xfrm>
          <a:prstGeom prst="roundRect">
            <a:avLst>
              <a:gd name="adj" fmla="val 3721"/>
            </a:avLst>
          </a:prstGeom>
          <a:solidFill>
            <a:srgbClr val="FDECEC"/>
          </a:solidFill>
          <a:ln w="12700">
            <a:solidFill>
              <a:srgbClr val="FDECEC"/>
            </a:solidFill>
            <a:prstDash val="solid"/>
          </a:ln>
        </p:spPr>
      </p:sp>
      <p:sp>
        <p:nvSpPr>
          <p:cNvPr id="23" name="Text 20"/>
          <p:cNvSpPr txBox="1"/>
          <p:nvPr/>
        </p:nvSpPr>
        <p:spPr>
          <a:xfrm>
            <a:off x="4846320" y="2688336"/>
            <a:ext cx="3657600" cy="292608"/>
          </a:xfrm>
          <a:prstGeom prst="rect">
            <a:avLst/>
          </a:prstGeom>
          <a:noFill/>
          <a:ln/>
        </p:spPr>
        <p:txBody>
          <a:bodyPr wrap="square" lIns="0" tIns="0" rIns="0" bIns="0" rtlCol="0" anchor="t"/>
          <a:lstStyle/>
          <a:p>
            <a:pPr indent="0" marL="0">
              <a:buNone/>
            </a:pPr>
            <a:r>
              <a:rPr lang="en-US" sz="1400" b="1" dirty="0">
                <a:solidFill>
                  <a:schemeClr val="tx1"/>
                </a:solidFill>
              </a:rPr>
              <a:t>How it does</a:t>
            </a:r>
            <a:endParaRPr lang="en-US" sz="1400" dirty="0"/>
          </a:p>
        </p:txBody>
      </p:sp>
      <p:sp>
        <p:nvSpPr>
          <p:cNvPr id="24" name="Text 21"/>
          <p:cNvSpPr txBox="1"/>
          <p:nvPr/>
        </p:nvSpPr>
        <p:spPr>
          <a:xfrm>
            <a:off x="4846320" y="3054096"/>
            <a:ext cx="3675888" cy="138074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Scores about 0.95-0.98 on every problem we tried</a:t>
            </a:r>
            <a:endParaRPr lang="en-US" sz="1300" dirty="0"/>
          </a:p>
          <a:p>
            <a:pPr marL="177800" indent="-177800">
              <a:spcAft>
                <a:spcPts val="400"/>
              </a:spcAft>
              <a:buSzPct val="100000"/>
              <a:buChar char="•"/>
            </a:pPr>
            <a:r>
              <a:rPr lang="en-US" sz="1300" dirty="0">
                <a:solidFill>
                  <a:schemeClr val="tx1"/>
                </a:solidFill>
              </a:rPr>
              <a:t>Takes about 0.01 seconds</a:t>
            </a:r>
            <a:endParaRPr lang="en-US" sz="1300" dirty="0"/>
          </a:p>
          <a:p>
            <a:pPr marL="177800" indent="-177800">
              <a:spcAft>
                <a:spcPts val="400"/>
              </a:spcAft>
              <a:buSzPct val="100000"/>
              <a:buChar char="•"/>
            </a:pPr>
            <a:r>
              <a:rPr lang="en-US" sz="1300" dirty="0">
                <a:solidFill>
                  <a:schemeClr val="tx1"/>
                </a:solidFill>
              </a:rPr>
              <a:t>This is why we say: no quantum advantage at this size</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Solver 2: the gate-based recipe (QAOA), step by step</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4 · The solvers</a:t>
            </a:r>
            <a:endParaRPr lang="en-US" sz="1000" dirty="0"/>
          </a:p>
        </p:txBody>
      </p:sp>
      <p:sp>
        <p:nvSpPr>
          <p:cNvPr id="5" name="flow step 1"/>
          <p:cNvSpPr/>
          <p:nvPr/>
        </p:nvSpPr>
        <p:spPr>
          <a:xfrm>
            <a:off x="457200" y="1143000"/>
            <a:ext cx="1441094" cy="1325880"/>
          </a:xfrm>
          <a:prstGeom prst="roundRect">
            <a:avLst>
              <a:gd name="adj" fmla="val 5517"/>
            </a:avLst>
          </a:prstGeom>
          <a:solidFill>
            <a:srgbClr val="5B4FD1"/>
          </a:solidFill>
          <a:ln w="12700">
            <a:solidFill>
              <a:srgbClr val="5B4FD1"/>
            </a:solidFill>
            <a:prstDash val="solid"/>
          </a:ln>
        </p:spPr>
      </p:sp>
      <p:sp>
        <p:nvSpPr>
          <p:cNvPr id="6" name="Text 3"/>
          <p:cNvSpPr txBox="1"/>
          <p:nvPr/>
        </p:nvSpPr>
        <p:spPr>
          <a:xfrm>
            <a:off x="548640" y="1234440"/>
            <a:ext cx="1258214" cy="1143000"/>
          </a:xfrm>
          <a:prstGeom prst="rect">
            <a:avLst/>
          </a:prstGeom>
          <a:noFill/>
          <a:ln/>
        </p:spPr>
        <p:txBody>
          <a:bodyPr wrap="square" lIns="0" tIns="0" rIns="0" bIns="0" rtlCol="0" anchor="ctr"/>
          <a:lstStyle/>
          <a:p>
            <a:pPr algn="ctr" indent="0" marL="0">
              <a:buNone/>
            </a:pPr>
            <a:r>
              <a:rPr lang="en-US" sz="1300" b="1" dirty="0">
                <a:solidFill>
                  <a:srgbClr val="FFFFFF"/>
                </a:solidFill>
              </a:rPr>
              <a:t>1. Mix</a:t>
            </a:r>
            <a:endParaRPr lang="en-US" sz="1300" dirty="0"/>
          </a:p>
          <a:p>
            <a:pPr algn="ctr" indent="0" marL="0">
              <a:buNone/>
            </a:pPr>
            <a:r>
              <a:rPr lang="en-US" sz="1100" dirty="0">
                <a:solidFill>
                  <a:srgbClr val="FFFFFF"/>
                </a:solidFill>
              </a:rPr>
              <a:t>every qubit 50/50 yes/no (Hadamard)</a:t>
            </a:r>
            <a:endParaRPr lang="en-US" sz="1300" dirty="0"/>
          </a:p>
        </p:txBody>
      </p:sp>
      <p:sp>
        <p:nvSpPr>
          <p:cNvPr id="7" name="flow arrow 1"/>
          <p:cNvSpPr/>
          <p:nvPr/>
        </p:nvSpPr>
        <p:spPr>
          <a:xfrm>
            <a:off x="1934870" y="1805940"/>
            <a:ext cx="182880" cy="0"/>
          </a:xfrm>
          <a:prstGeom prst="line">
            <a:avLst/>
          </a:prstGeom>
          <a:noFill/>
          <a:ln w="15875">
            <a:solidFill>
              <a:srgbClr val="667085"/>
            </a:solidFill>
            <a:prstDash val="solid"/>
            <a:tailEnd type="triangle"/>
          </a:ln>
        </p:spPr>
      </p:sp>
      <p:sp>
        <p:nvSpPr>
          <p:cNvPr id="8" name="flow step 2"/>
          <p:cNvSpPr/>
          <p:nvPr/>
        </p:nvSpPr>
        <p:spPr>
          <a:xfrm>
            <a:off x="2154326" y="1143000"/>
            <a:ext cx="1441094" cy="1325880"/>
          </a:xfrm>
          <a:prstGeom prst="roundRect">
            <a:avLst>
              <a:gd name="adj" fmla="val 5517"/>
            </a:avLst>
          </a:prstGeom>
          <a:solidFill>
            <a:srgbClr val="5B4FD1"/>
          </a:solidFill>
          <a:ln w="12700">
            <a:solidFill>
              <a:srgbClr val="5B4FD1"/>
            </a:solidFill>
            <a:prstDash val="solid"/>
          </a:ln>
        </p:spPr>
      </p:sp>
      <p:sp>
        <p:nvSpPr>
          <p:cNvPr id="9" name="Text 6"/>
          <p:cNvSpPr txBox="1"/>
          <p:nvPr/>
        </p:nvSpPr>
        <p:spPr>
          <a:xfrm>
            <a:off x="2245766" y="1234440"/>
            <a:ext cx="1258214" cy="1143000"/>
          </a:xfrm>
          <a:prstGeom prst="rect">
            <a:avLst/>
          </a:prstGeom>
          <a:noFill/>
          <a:ln/>
        </p:spPr>
        <p:txBody>
          <a:bodyPr wrap="square" lIns="0" tIns="0" rIns="0" bIns="0" rtlCol="0" anchor="ctr"/>
          <a:lstStyle/>
          <a:p>
            <a:pPr algn="ctr" indent="0" marL="0">
              <a:buNone/>
            </a:pPr>
            <a:r>
              <a:rPr lang="en-US" sz="1300" b="1" dirty="0">
                <a:solidFill>
                  <a:srgbClr val="FFFFFF"/>
                </a:solidFill>
              </a:rPr>
              <a:t>2. Nudge</a:t>
            </a:r>
            <a:endParaRPr lang="en-US" sz="1300" dirty="0"/>
          </a:p>
          <a:p>
            <a:pPr algn="ctr" indent="0" marL="0">
              <a:buNone/>
            </a:pPr>
            <a:r>
              <a:rPr lang="en-US" sz="1100" dirty="0">
                <a:solidFill>
                  <a:srgbClr val="FFFFFF"/>
                </a:solidFill>
              </a:rPr>
              <a:t>each choice by its value (RZ, dial γ)</a:t>
            </a:r>
            <a:endParaRPr lang="en-US" sz="1300" dirty="0"/>
          </a:p>
        </p:txBody>
      </p:sp>
      <p:sp>
        <p:nvSpPr>
          <p:cNvPr id="10" name="flow arrow 2"/>
          <p:cNvSpPr/>
          <p:nvPr/>
        </p:nvSpPr>
        <p:spPr>
          <a:xfrm>
            <a:off x="3631997" y="1805940"/>
            <a:ext cx="182880" cy="0"/>
          </a:xfrm>
          <a:prstGeom prst="line">
            <a:avLst/>
          </a:prstGeom>
          <a:noFill/>
          <a:ln w="15875">
            <a:solidFill>
              <a:srgbClr val="667085"/>
            </a:solidFill>
            <a:prstDash val="solid"/>
            <a:tailEnd type="triangle"/>
          </a:ln>
        </p:spPr>
      </p:sp>
      <p:sp>
        <p:nvSpPr>
          <p:cNvPr id="11" name="flow step 3"/>
          <p:cNvSpPr/>
          <p:nvPr/>
        </p:nvSpPr>
        <p:spPr>
          <a:xfrm>
            <a:off x="3851453" y="1143000"/>
            <a:ext cx="1441094" cy="1325880"/>
          </a:xfrm>
          <a:prstGeom prst="roundRect">
            <a:avLst>
              <a:gd name="adj" fmla="val 5517"/>
            </a:avLst>
          </a:prstGeom>
          <a:solidFill>
            <a:srgbClr val="5B4FD1"/>
          </a:solidFill>
          <a:ln w="12700">
            <a:solidFill>
              <a:srgbClr val="5B4FD1"/>
            </a:solidFill>
            <a:prstDash val="solid"/>
          </a:ln>
        </p:spPr>
      </p:sp>
      <p:sp>
        <p:nvSpPr>
          <p:cNvPr id="12" name="Text 9"/>
          <p:cNvSpPr txBox="1"/>
          <p:nvPr/>
        </p:nvSpPr>
        <p:spPr>
          <a:xfrm>
            <a:off x="3942893" y="1234440"/>
            <a:ext cx="1258214" cy="1143000"/>
          </a:xfrm>
          <a:prstGeom prst="rect">
            <a:avLst/>
          </a:prstGeom>
          <a:noFill/>
          <a:ln/>
        </p:spPr>
        <p:txBody>
          <a:bodyPr wrap="square" lIns="0" tIns="0" rIns="0" bIns="0" rtlCol="0" anchor="ctr"/>
          <a:lstStyle/>
          <a:p>
            <a:pPr algn="ctr" indent="0" marL="0">
              <a:buNone/>
            </a:pPr>
            <a:r>
              <a:rPr lang="en-US" sz="1300" b="1" dirty="0">
                <a:solidFill>
                  <a:srgbClr val="FFFFFF"/>
                </a:solidFill>
              </a:rPr>
              <a:t>3. Link</a:t>
            </a:r>
            <a:endParaRPr lang="en-US" sz="1300" dirty="0"/>
          </a:p>
          <a:p>
            <a:pPr algn="ctr" indent="0" marL="0">
              <a:buNone/>
            </a:pPr>
            <a:r>
              <a:rPr lang="en-US" sz="1100" dirty="0">
                <a:solidFill>
                  <a:srgbClr val="FFFFFF"/>
                </a:solidFill>
              </a:rPr>
              <a:t>each connected pair (RZZ = entanglement)</a:t>
            </a:r>
            <a:endParaRPr lang="en-US" sz="1300" dirty="0"/>
          </a:p>
        </p:txBody>
      </p:sp>
      <p:sp>
        <p:nvSpPr>
          <p:cNvPr id="13" name="flow arrow 3"/>
          <p:cNvSpPr/>
          <p:nvPr/>
        </p:nvSpPr>
        <p:spPr>
          <a:xfrm>
            <a:off x="5329123" y="1805940"/>
            <a:ext cx="182880" cy="0"/>
          </a:xfrm>
          <a:prstGeom prst="line">
            <a:avLst/>
          </a:prstGeom>
          <a:noFill/>
          <a:ln w="15875">
            <a:solidFill>
              <a:srgbClr val="667085"/>
            </a:solidFill>
            <a:prstDash val="solid"/>
            <a:tailEnd type="triangle"/>
          </a:ln>
        </p:spPr>
      </p:sp>
      <p:sp>
        <p:nvSpPr>
          <p:cNvPr id="14" name="flow step 4"/>
          <p:cNvSpPr/>
          <p:nvPr/>
        </p:nvSpPr>
        <p:spPr>
          <a:xfrm>
            <a:off x="5548579" y="1143000"/>
            <a:ext cx="1441094" cy="1325880"/>
          </a:xfrm>
          <a:prstGeom prst="roundRect">
            <a:avLst>
              <a:gd name="adj" fmla="val 5517"/>
            </a:avLst>
          </a:prstGeom>
          <a:solidFill>
            <a:srgbClr val="5B4FD1"/>
          </a:solidFill>
          <a:ln w="12700">
            <a:solidFill>
              <a:srgbClr val="5B4FD1"/>
            </a:solidFill>
            <a:prstDash val="solid"/>
          </a:ln>
        </p:spPr>
      </p:sp>
      <p:sp>
        <p:nvSpPr>
          <p:cNvPr id="15" name="Text 12"/>
          <p:cNvSpPr txBox="1"/>
          <p:nvPr/>
        </p:nvSpPr>
        <p:spPr>
          <a:xfrm>
            <a:off x="5640019" y="1234440"/>
            <a:ext cx="1258214" cy="1143000"/>
          </a:xfrm>
          <a:prstGeom prst="rect">
            <a:avLst/>
          </a:prstGeom>
          <a:noFill/>
          <a:ln/>
        </p:spPr>
        <p:txBody>
          <a:bodyPr wrap="square" lIns="0" tIns="0" rIns="0" bIns="0" rtlCol="0" anchor="ctr"/>
          <a:lstStyle/>
          <a:p>
            <a:pPr algn="ctr" indent="0" marL="0">
              <a:buNone/>
            </a:pPr>
            <a:r>
              <a:rPr lang="en-US" sz="1300" b="1" dirty="0">
                <a:solidFill>
                  <a:srgbClr val="FFFFFF"/>
                </a:solidFill>
              </a:rPr>
              <a:t>4. Shuffle</a:t>
            </a:r>
            <a:endParaRPr lang="en-US" sz="1300" dirty="0"/>
          </a:p>
          <a:p>
            <a:pPr algn="ctr" indent="0" marL="0">
              <a:buNone/>
            </a:pPr>
            <a:r>
              <a:rPr lang="en-US" sz="1100" dirty="0">
                <a:solidFill>
                  <a:srgbClr val="FFFFFF"/>
                </a:solidFill>
              </a:rPr>
              <a:t>let answers explore (RX, dial β)</a:t>
            </a:r>
            <a:endParaRPr lang="en-US" sz="1300" dirty="0"/>
          </a:p>
        </p:txBody>
      </p:sp>
      <p:sp>
        <p:nvSpPr>
          <p:cNvPr id="16" name="flow arrow 4"/>
          <p:cNvSpPr/>
          <p:nvPr/>
        </p:nvSpPr>
        <p:spPr>
          <a:xfrm>
            <a:off x="7026250" y="1805940"/>
            <a:ext cx="182880" cy="0"/>
          </a:xfrm>
          <a:prstGeom prst="line">
            <a:avLst/>
          </a:prstGeom>
          <a:noFill/>
          <a:ln w="15875">
            <a:solidFill>
              <a:srgbClr val="667085"/>
            </a:solidFill>
            <a:prstDash val="solid"/>
            <a:tailEnd type="triangle"/>
          </a:ln>
        </p:spPr>
      </p:sp>
      <p:sp>
        <p:nvSpPr>
          <p:cNvPr id="17" name="flow step 5"/>
          <p:cNvSpPr/>
          <p:nvPr/>
        </p:nvSpPr>
        <p:spPr>
          <a:xfrm>
            <a:off x="7245706" y="1143000"/>
            <a:ext cx="1441094" cy="1325880"/>
          </a:xfrm>
          <a:prstGeom prst="roundRect">
            <a:avLst>
              <a:gd name="adj" fmla="val 5517"/>
            </a:avLst>
          </a:prstGeom>
          <a:solidFill>
            <a:srgbClr val="667085"/>
          </a:solidFill>
          <a:ln w="12700">
            <a:solidFill>
              <a:srgbClr val="667085"/>
            </a:solidFill>
            <a:prstDash val="solid"/>
          </a:ln>
        </p:spPr>
      </p:sp>
      <p:sp>
        <p:nvSpPr>
          <p:cNvPr id="18" name="Text 15"/>
          <p:cNvSpPr txBox="1"/>
          <p:nvPr/>
        </p:nvSpPr>
        <p:spPr>
          <a:xfrm>
            <a:off x="7337146" y="1234440"/>
            <a:ext cx="1258214" cy="1143000"/>
          </a:xfrm>
          <a:prstGeom prst="rect">
            <a:avLst/>
          </a:prstGeom>
          <a:noFill/>
          <a:ln/>
        </p:spPr>
        <p:txBody>
          <a:bodyPr wrap="square" lIns="0" tIns="0" rIns="0" bIns="0" rtlCol="0" anchor="ctr"/>
          <a:lstStyle/>
          <a:p>
            <a:pPr algn="ctr" indent="0" marL="0">
              <a:buNone/>
            </a:pPr>
            <a:r>
              <a:rPr lang="en-US" sz="1300" b="1" dirty="0">
                <a:solidFill>
                  <a:srgbClr val="FFFFFF"/>
                </a:solidFill>
              </a:rPr>
              <a:t>5. Measure</a:t>
            </a:r>
            <a:endParaRPr lang="en-US" sz="1300" dirty="0"/>
          </a:p>
          <a:p>
            <a:pPr algn="ctr" indent="0" marL="0">
              <a:buNone/>
            </a:pPr>
            <a:r>
              <a:rPr lang="en-US" sz="1100" dirty="0">
                <a:solidFill>
                  <a:srgbClr val="FFFFFF"/>
                </a:solidFill>
              </a:rPr>
              <a:t>1,024-4,096 shots</a:t>
            </a:r>
            <a:endParaRPr lang="en-US" sz="1300" dirty="0"/>
          </a:p>
        </p:txBody>
      </p:sp>
      <p:sp>
        <p:nvSpPr>
          <p:cNvPr id="19" name="Text 16"/>
          <p:cNvSpPr txBox="1"/>
          <p:nvPr/>
        </p:nvSpPr>
        <p:spPr>
          <a:xfrm>
            <a:off x="457200" y="2560320"/>
            <a:ext cx="8229600" cy="274320"/>
          </a:xfrm>
          <a:prstGeom prst="rect">
            <a:avLst/>
          </a:prstGeom>
          <a:noFill/>
          <a:ln/>
        </p:spPr>
        <p:txBody>
          <a:bodyPr wrap="square" lIns="0" tIns="0" rIns="0" bIns="0" rtlCol="0" anchor="t"/>
          <a:lstStyle/>
          <a:p>
            <a:pPr indent="0" marL="0">
              <a:buNone/>
            </a:pPr>
            <a:r>
              <a:rPr lang="en-US" sz="1200" i="1" dirty="0">
                <a:solidFill>
                  <a:schemeClr val="tx2"/>
                </a:solidFill>
              </a:rPr>
              <a:t>Steps 2-4 are one 'round'. Gate-based uses 1-2 rounds; the annealing copy uses 3-6.</a:t>
            </a:r>
            <a:endParaRPr lang="en-US" sz="1200" dirty="0"/>
          </a:p>
        </p:txBody>
      </p:sp>
      <p:sp>
        <p:nvSpPr>
          <p:cNvPr id="20" name="From score sheet to recipe card"/>
          <p:cNvSpPr/>
          <p:nvPr/>
        </p:nvSpPr>
        <p:spPr>
          <a:xfrm>
            <a:off x="457200" y="2926080"/>
            <a:ext cx="4023360" cy="1600200"/>
          </a:xfrm>
          <a:prstGeom prst="roundRect">
            <a:avLst>
              <a:gd name="adj" fmla="val 4571"/>
            </a:avLst>
          </a:prstGeom>
          <a:solidFill>
            <a:srgbClr val="F2F2F8"/>
          </a:solidFill>
          <a:ln w="12700">
            <a:solidFill>
              <a:srgbClr val="F2F2F8"/>
            </a:solidFill>
            <a:prstDash val="solid"/>
          </a:ln>
        </p:spPr>
      </p:sp>
      <p:sp>
        <p:nvSpPr>
          <p:cNvPr id="21" name="Text 18"/>
          <p:cNvSpPr txBox="1"/>
          <p:nvPr/>
        </p:nvSpPr>
        <p:spPr>
          <a:xfrm>
            <a:off x="640080" y="30540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From score sheet to recipe</a:t>
            </a:r>
            <a:endParaRPr lang="en-US" sz="1400" dirty="0"/>
          </a:p>
        </p:txBody>
      </p:sp>
      <p:sp>
        <p:nvSpPr>
          <p:cNvPr id="22" name="Text 19"/>
          <p:cNvSpPr txBox="1"/>
          <p:nvPr/>
        </p:nvSpPr>
        <p:spPr>
          <a:xfrm>
            <a:off x="640080" y="3419856"/>
            <a:ext cx="3675888" cy="10149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Each yes/no becomes a qubit; each single point becomes a nudge; each pair point becomes a link</a:t>
            </a:r>
            <a:endParaRPr lang="en-US" sz="1300" dirty="0"/>
          </a:p>
          <a:p>
            <a:pPr marL="177800" indent="-177800">
              <a:spcAft>
                <a:spcPts val="400"/>
              </a:spcAft>
              <a:buSzPct val="100000"/>
              <a:buChar char="•"/>
            </a:pPr>
            <a:r>
              <a:rPr lang="en-US" sz="1300" dirty="0">
                <a:solidFill>
                  <a:schemeClr val="tx1"/>
                </a:solidFill>
              </a:rPr>
              <a:t>All numbers are scaled to the same size, so settings work across problems</a:t>
            </a:r>
            <a:endParaRPr lang="en-US" sz="1300" dirty="0"/>
          </a:p>
        </p:txBody>
      </p:sp>
      <p:sp>
        <p:nvSpPr>
          <p:cNvPr id="23" name="Fitting the real chip (transpiler) card"/>
          <p:cNvSpPr/>
          <p:nvPr/>
        </p:nvSpPr>
        <p:spPr>
          <a:xfrm>
            <a:off x="4663440" y="2926080"/>
            <a:ext cx="4023360" cy="1600200"/>
          </a:xfrm>
          <a:prstGeom prst="roundRect">
            <a:avLst>
              <a:gd name="adj" fmla="val 4571"/>
            </a:avLst>
          </a:prstGeom>
          <a:solidFill>
            <a:srgbClr val="EEF8F6"/>
          </a:solidFill>
          <a:ln w="12700">
            <a:solidFill>
              <a:srgbClr val="EEF8F6"/>
            </a:solidFill>
            <a:prstDash val="solid"/>
          </a:ln>
        </p:spPr>
      </p:sp>
      <p:sp>
        <p:nvSpPr>
          <p:cNvPr id="24" name="Text 21"/>
          <p:cNvSpPr txBox="1"/>
          <p:nvPr/>
        </p:nvSpPr>
        <p:spPr>
          <a:xfrm>
            <a:off x="4846320" y="30540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Fitting the real chip (transpiler)</a:t>
            </a:r>
            <a:endParaRPr lang="en-US" sz="1400" dirty="0"/>
          </a:p>
        </p:txBody>
      </p:sp>
      <p:sp>
        <p:nvSpPr>
          <p:cNvPr id="25" name="Text 22"/>
          <p:cNvSpPr txBox="1"/>
          <p:nvPr/>
        </p:nvSpPr>
        <p:spPr>
          <a:xfrm>
            <a:off x="4846320" y="3419856"/>
            <a:ext cx="3675888" cy="10149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Qiskit rewrites the recipe into the exact steps IBM's chip can do</a:t>
            </a:r>
            <a:endParaRPr lang="en-US" sz="1300" dirty="0"/>
          </a:p>
          <a:p>
            <a:pPr marL="177800" indent="-177800">
              <a:spcAft>
                <a:spcPts val="400"/>
              </a:spcAft>
              <a:buSzPct val="100000"/>
              <a:buChar char="•"/>
            </a:pPr>
            <a:r>
              <a:rPr lang="en-US" sz="1300" dirty="0">
                <a:solidFill>
                  <a:schemeClr val="tx1"/>
                </a:solidFill>
              </a:rPr>
              <a:t>Qubits that aren't wired together need extra swap steps, which add errors</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Tuning the dials</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4 · The solvers</a:t>
            </a:r>
            <a:endParaRPr lang="en-US" sz="1000" dirty="0"/>
          </a:p>
        </p:txBody>
      </p:sp>
      <p:sp>
        <p:nvSpPr>
          <p:cNvPr id="5" name="flow step 1"/>
          <p:cNvSpPr/>
          <p:nvPr/>
        </p:nvSpPr>
        <p:spPr>
          <a:xfrm>
            <a:off x="457200" y="1143000"/>
            <a:ext cx="1441094" cy="1234440"/>
          </a:xfrm>
          <a:prstGeom prst="roundRect">
            <a:avLst>
              <a:gd name="adj" fmla="val 5926"/>
            </a:avLst>
          </a:prstGeom>
          <a:solidFill>
            <a:srgbClr val="5B4FD1"/>
          </a:solidFill>
          <a:ln w="12700">
            <a:solidFill>
              <a:srgbClr val="5B4FD1"/>
            </a:solidFill>
            <a:prstDash val="solid"/>
          </a:ln>
        </p:spPr>
      </p:sp>
      <p:sp>
        <p:nvSpPr>
          <p:cNvPr id="6" name="Text 3"/>
          <p:cNvSpPr txBox="1"/>
          <p:nvPr/>
        </p:nvSpPr>
        <p:spPr>
          <a:xfrm>
            <a:off x="548640"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Try</a:t>
            </a:r>
            <a:endParaRPr lang="en-US" sz="1300" dirty="0"/>
          </a:p>
          <a:p>
            <a:pPr algn="ctr" indent="0" marL="0">
              <a:buNone/>
            </a:pPr>
            <a:r>
              <a:rPr lang="en-US" sz="1100" dirty="0">
                <a:solidFill>
                  <a:srgbClr val="FFFFFF"/>
                </a:solidFill>
              </a:rPr>
              <a:t>a setting for the dials</a:t>
            </a:r>
            <a:endParaRPr lang="en-US" sz="1300" dirty="0"/>
          </a:p>
        </p:txBody>
      </p:sp>
      <p:sp>
        <p:nvSpPr>
          <p:cNvPr id="7" name="flow arrow 1"/>
          <p:cNvSpPr/>
          <p:nvPr/>
        </p:nvSpPr>
        <p:spPr>
          <a:xfrm>
            <a:off x="1934870" y="1760220"/>
            <a:ext cx="182880" cy="0"/>
          </a:xfrm>
          <a:prstGeom prst="line">
            <a:avLst/>
          </a:prstGeom>
          <a:noFill/>
          <a:ln w="15875">
            <a:solidFill>
              <a:srgbClr val="667085"/>
            </a:solidFill>
            <a:prstDash val="solid"/>
            <a:tailEnd type="triangle"/>
          </a:ln>
        </p:spPr>
      </p:sp>
      <p:sp>
        <p:nvSpPr>
          <p:cNvPr id="8" name="flow step 2"/>
          <p:cNvSpPr/>
          <p:nvPr/>
        </p:nvSpPr>
        <p:spPr>
          <a:xfrm>
            <a:off x="2154326" y="1143000"/>
            <a:ext cx="1441094" cy="1234440"/>
          </a:xfrm>
          <a:prstGeom prst="roundRect">
            <a:avLst>
              <a:gd name="adj" fmla="val 5926"/>
            </a:avLst>
          </a:prstGeom>
          <a:solidFill>
            <a:srgbClr val="5B4FD1"/>
          </a:solidFill>
          <a:ln w="12700">
            <a:solidFill>
              <a:srgbClr val="5B4FD1"/>
            </a:solidFill>
            <a:prstDash val="solid"/>
          </a:ln>
        </p:spPr>
      </p:sp>
      <p:sp>
        <p:nvSpPr>
          <p:cNvPr id="9" name="Text 6"/>
          <p:cNvSpPr txBox="1"/>
          <p:nvPr/>
        </p:nvSpPr>
        <p:spPr>
          <a:xfrm>
            <a:off x="2245766"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Run</a:t>
            </a:r>
            <a:endParaRPr lang="en-US" sz="1300" dirty="0"/>
          </a:p>
          <a:p>
            <a:pPr algn="ctr" indent="0" marL="0">
              <a:buNone/>
            </a:pPr>
            <a:r>
              <a:rPr lang="en-US" sz="1100" dirty="0">
                <a:solidFill>
                  <a:srgbClr val="FFFFFF"/>
                </a:solidFill>
              </a:rPr>
              <a:t>the recipe on the simulator, 1,024-2,048 shots</a:t>
            </a:r>
            <a:endParaRPr lang="en-US" sz="1300" dirty="0"/>
          </a:p>
        </p:txBody>
      </p:sp>
      <p:sp>
        <p:nvSpPr>
          <p:cNvPr id="10" name="flow arrow 2"/>
          <p:cNvSpPr/>
          <p:nvPr/>
        </p:nvSpPr>
        <p:spPr>
          <a:xfrm>
            <a:off x="3631997" y="1760220"/>
            <a:ext cx="182880" cy="0"/>
          </a:xfrm>
          <a:prstGeom prst="line">
            <a:avLst/>
          </a:prstGeom>
          <a:noFill/>
          <a:ln w="15875">
            <a:solidFill>
              <a:srgbClr val="667085"/>
            </a:solidFill>
            <a:prstDash val="solid"/>
            <a:tailEnd type="triangle"/>
          </a:ln>
        </p:spPr>
      </p:sp>
      <p:sp>
        <p:nvSpPr>
          <p:cNvPr id="11" name="flow step 3"/>
          <p:cNvSpPr/>
          <p:nvPr/>
        </p:nvSpPr>
        <p:spPr>
          <a:xfrm>
            <a:off x="3851453" y="1143000"/>
            <a:ext cx="1441094" cy="1234440"/>
          </a:xfrm>
          <a:prstGeom prst="roundRect">
            <a:avLst>
              <a:gd name="adj" fmla="val 5926"/>
            </a:avLst>
          </a:prstGeom>
          <a:solidFill>
            <a:srgbClr val="5B4FD1"/>
          </a:solidFill>
          <a:ln w="12700">
            <a:solidFill>
              <a:srgbClr val="5B4FD1"/>
            </a:solidFill>
            <a:prstDash val="solid"/>
          </a:ln>
        </p:spPr>
      </p:sp>
      <p:sp>
        <p:nvSpPr>
          <p:cNvPr id="12" name="Text 9"/>
          <p:cNvSpPr txBox="1"/>
          <p:nvPr/>
        </p:nvSpPr>
        <p:spPr>
          <a:xfrm>
            <a:off x="3942893"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Score</a:t>
            </a:r>
            <a:endParaRPr lang="en-US" sz="1300" dirty="0"/>
          </a:p>
          <a:p>
            <a:pPr algn="ctr" indent="0" marL="0">
              <a:buNone/>
            </a:pPr>
            <a:r>
              <a:rPr lang="en-US" sz="1100" dirty="0">
                <a:solidFill>
                  <a:srgbClr val="FFFFFF"/>
                </a:solidFill>
              </a:rPr>
              <a:t>average quality of all shots</a:t>
            </a:r>
            <a:endParaRPr lang="en-US" sz="1300" dirty="0"/>
          </a:p>
        </p:txBody>
      </p:sp>
      <p:sp>
        <p:nvSpPr>
          <p:cNvPr id="13" name="flow arrow 3"/>
          <p:cNvSpPr/>
          <p:nvPr/>
        </p:nvSpPr>
        <p:spPr>
          <a:xfrm>
            <a:off x="5329123" y="1760220"/>
            <a:ext cx="182880" cy="0"/>
          </a:xfrm>
          <a:prstGeom prst="line">
            <a:avLst/>
          </a:prstGeom>
          <a:noFill/>
          <a:ln w="15875">
            <a:solidFill>
              <a:srgbClr val="667085"/>
            </a:solidFill>
            <a:prstDash val="solid"/>
            <a:tailEnd type="triangle"/>
          </a:ln>
        </p:spPr>
      </p:sp>
      <p:sp>
        <p:nvSpPr>
          <p:cNvPr id="14" name="flow step 4"/>
          <p:cNvSpPr/>
          <p:nvPr/>
        </p:nvSpPr>
        <p:spPr>
          <a:xfrm>
            <a:off x="5548579" y="1143000"/>
            <a:ext cx="1441094" cy="1234440"/>
          </a:xfrm>
          <a:prstGeom prst="roundRect">
            <a:avLst>
              <a:gd name="adj" fmla="val 5926"/>
            </a:avLst>
          </a:prstGeom>
          <a:solidFill>
            <a:srgbClr val="5B4FD1"/>
          </a:solidFill>
          <a:ln w="12700">
            <a:solidFill>
              <a:srgbClr val="5B4FD1"/>
            </a:solidFill>
            <a:prstDash val="solid"/>
          </a:ln>
        </p:spPr>
      </p:sp>
      <p:sp>
        <p:nvSpPr>
          <p:cNvPr id="15" name="Text 12"/>
          <p:cNvSpPr txBox="1"/>
          <p:nvPr/>
        </p:nvSpPr>
        <p:spPr>
          <a:xfrm>
            <a:off x="5640019"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Adjust</a:t>
            </a:r>
            <a:endParaRPr lang="en-US" sz="1300" dirty="0"/>
          </a:p>
          <a:p>
            <a:pPr algn="ctr" indent="0" marL="0">
              <a:buNone/>
            </a:pPr>
            <a:r>
              <a:rPr lang="en-US" sz="1100" dirty="0">
                <a:solidFill>
                  <a:srgbClr val="FFFFFF"/>
                </a:solidFill>
              </a:rPr>
              <a:t>the optimizer (COBYLA) picks better dials</a:t>
            </a:r>
            <a:endParaRPr lang="en-US" sz="1300" dirty="0"/>
          </a:p>
        </p:txBody>
      </p:sp>
      <p:sp>
        <p:nvSpPr>
          <p:cNvPr id="16" name="flow arrow 4"/>
          <p:cNvSpPr/>
          <p:nvPr/>
        </p:nvSpPr>
        <p:spPr>
          <a:xfrm>
            <a:off x="7026250" y="1760220"/>
            <a:ext cx="182880" cy="0"/>
          </a:xfrm>
          <a:prstGeom prst="line">
            <a:avLst/>
          </a:prstGeom>
          <a:noFill/>
          <a:ln w="15875">
            <a:solidFill>
              <a:srgbClr val="667085"/>
            </a:solidFill>
            <a:prstDash val="solid"/>
            <a:tailEnd type="triangle"/>
          </a:ln>
        </p:spPr>
      </p:sp>
      <p:sp>
        <p:nvSpPr>
          <p:cNvPr id="17" name="flow step 5"/>
          <p:cNvSpPr/>
          <p:nvPr/>
        </p:nvSpPr>
        <p:spPr>
          <a:xfrm>
            <a:off x="7245706" y="1143000"/>
            <a:ext cx="1441094" cy="1234440"/>
          </a:xfrm>
          <a:prstGeom prst="roundRect">
            <a:avLst>
              <a:gd name="adj" fmla="val 5926"/>
            </a:avLst>
          </a:prstGeom>
          <a:solidFill>
            <a:srgbClr val="E8833A"/>
          </a:solidFill>
          <a:ln w="12700">
            <a:solidFill>
              <a:srgbClr val="E8833A"/>
            </a:solidFill>
            <a:prstDash val="solid"/>
          </a:ln>
        </p:spPr>
      </p:sp>
      <p:sp>
        <p:nvSpPr>
          <p:cNvPr id="18" name="Text 15"/>
          <p:cNvSpPr txBox="1"/>
          <p:nvPr/>
        </p:nvSpPr>
        <p:spPr>
          <a:xfrm>
            <a:off x="7337146"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Stop</a:t>
            </a:r>
            <a:endParaRPr lang="en-US" sz="1300" dirty="0"/>
          </a:p>
          <a:p>
            <a:pPr algn="ctr" indent="0" marL="0">
              <a:buNone/>
            </a:pPr>
            <a:r>
              <a:rPr lang="en-US" sz="1100" dirty="0">
                <a:solidFill>
                  <a:srgbClr val="FFFFFF"/>
                </a:solidFill>
              </a:rPr>
              <a:t>after 60-120 tries; send to chip once</a:t>
            </a:r>
            <a:endParaRPr lang="en-US" sz="1300" dirty="0"/>
          </a:p>
        </p:txBody>
      </p:sp>
      <p:sp>
        <p:nvSpPr>
          <p:cNvPr id="19" name="Where tuning starts card"/>
          <p:cNvSpPr/>
          <p:nvPr/>
        </p:nvSpPr>
        <p:spPr>
          <a:xfrm>
            <a:off x="457200" y="2606040"/>
            <a:ext cx="4023360" cy="1920240"/>
          </a:xfrm>
          <a:prstGeom prst="roundRect">
            <a:avLst>
              <a:gd name="adj" fmla="val 3810"/>
            </a:avLst>
          </a:prstGeom>
          <a:solidFill>
            <a:srgbClr val="F2F2F8"/>
          </a:solidFill>
          <a:ln w="12700">
            <a:solidFill>
              <a:srgbClr val="F2F2F8"/>
            </a:solidFill>
            <a:prstDash val="solid"/>
          </a:ln>
        </p:spPr>
      </p:sp>
      <p:sp>
        <p:nvSpPr>
          <p:cNvPr id="20" name="Text 17"/>
          <p:cNvSpPr txBox="1"/>
          <p:nvPr/>
        </p:nvSpPr>
        <p:spPr>
          <a:xfrm>
            <a:off x="640080" y="2734056"/>
            <a:ext cx="3657600" cy="292608"/>
          </a:xfrm>
          <a:prstGeom prst="rect">
            <a:avLst/>
          </a:prstGeom>
          <a:noFill/>
          <a:ln/>
        </p:spPr>
        <p:txBody>
          <a:bodyPr wrap="square" lIns="0" tIns="0" rIns="0" bIns="0" rtlCol="0" anchor="t"/>
          <a:lstStyle/>
          <a:p>
            <a:pPr indent="0" marL="0">
              <a:buNone/>
            </a:pPr>
            <a:r>
              <a:rPr lang="en-US" sz="1400" b="1" dirty="0">
                <a:solidFill>
                  <a:schemeClr val="tx1"/>
                </a:solidFill>
              </a:rPr>
              <a:t>Where tuning starts</a:t>
            </a:r>
            <a:endParaRPr lang="en-US" sz="1400" dirty="0"/>
          </a:p>
        </p:txBody>
      </p:sp>
      <p:sp>
        <p:nvSpPr>
          <p:cNvPr id="21" name="Text 18"/>
          <p:cNvSpPr txBox="1"/>
          <p:nvPr/>
        </p:nvSpPr>
        <p:spPr>
          <a:xfrm>
            <a:off x="640080" y="3099816"/>
            <a:ext cx="3675888" cy="133502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From an annealing-like starting point: shuffle starts strong, problem nudge starts weak</a:t>
            </a:r>
            <a:endParaRPr lang="en-US" sz="1300" dirty="0"/>
          </a:p>
          <a:p>
            <a:pPr marL="177800" indent="-177800">
              <a:spcAft>
                <a:spcPts val="400"/>
              </a:spcAft>
              <a:buSzPct val="100000"/>
              <a:buChar char="•"/>
            </a:pPr>
            <a:r>
              <a:rPr lang="en-US" sz="1300" dirty="0">
                <a:solidFill>
                  <a:schemeClr val="tx1"/>
                </a:solidFill>
              </a:rPr>
              <a:t>That gives the optimizer a sensible first guess</a:t>
            </a:r>
            <a:endParaRPr lang="en-US" sz="1300" dirty="0"/>
          </a:p>
        </p:txBody>
      </p:sp>
      <p:sp>
        <p:nvSpPr>
          <p:cNvPr id="22" name="What we optimize card"/>
          <p:cNvSpPr/>
          <p:nvPr/>
        </p:nvSpPr>
        <p:spPr>
          <a:xfrm>
            <a:off x="4663440" y="2606040"/>
            <a:ext cx="4023360" cy="1920240"/>
          </a:xfrm>
          <a:prstGeom prst="roundRect">
            <a:avLst>
              <a:gd name="adj" fmla="val 3810"/>
            </a:avLst>
          </a:prstGeom>
          <a:solidFill>
            <a:srgbClr val="FFF4EA"/>
          </a:solidFill>
          <a:ln w="12700">
            <a:solidFill>
              <a:srgbClr val="FFF4EA"/>
            </a:solidFill>
            <a:prstDash val="solid"/>
          </a:ln>
        </p:spPr>
      </p:sp>
      <p:sp>
        <p:nvSpPr>
          <p:cNvPr id="23" name="Text 20"/>
          <p:cNvSpPr txBox="1"/>
          <p:nvPr/>
        </p:nvSpPr>
        <p:spPr>
          <a:xfrm>
            <a:off x="4846320" y="2734056"/>
            <a:ext cx="3657600" cy="292608"/>
          </a:xfrm>
          <a:prstGeom prst="rect">
            <a:avLst/>
          </a:prstGeom>
          <a:noFill/>
          <a:ln/>
        </p:spPr>
        <p:txBody>
          <a:bodyPr wrap="square" lIns="0" tIns="0" rIns="0" bIns="0" rtlCol="0" anchor="t"/>
          <a:lstStyle/>
          <a:p>
            <a:pPr indent="0" marL="0">
              <a:buNone/>
            </a:pPr>
            <a:r>
              <a:rPr lang="en-US" sz="1400" b="1" dirty="0">
                <a:solidFill>
                  <a:schemeClr val="tx1"/>
                </a:solidFill>
              </a:rPr>
              <a:t>What we optimize</a:t>
            </a:r>
            <a:endParaRPr lang="en-US" sz="1400" dirty="0"/>
          </a:p>
        </p:txBody>
      </p:sp>
      <p:sp>
        <p:nvSpPr>
          <p:cNvPr id="24" name="Text 21"/>
          <p:cNvSpPr txBox="1"/>
          <p:nvPr/>
        </p:nvSpPr>
        <p:spPr>
          <a:xfrm>
            <a:off x="4846320" y="3099816"/>
            <a:ext cx="3675888" cy="133502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The AVERAGE quality, the same thing we report</a:t>
            </a:r>
            <a:endParaRPr lang="en-US" sz="1300" dirty="0"/>
          </a:p>
          <a:p>
            <a:pPr marL="177800" indent="-177800">
              <a:spcAft>
                <a:spcPts val="400"/>
              </a:spcAft>
              <a:buSzPct val="100000"/>
              <a:buChar char="•"/>
            </a:pPr>
            <a:r>
              <a:rPr lang="en-US" sz="1300" dirty="0">
                <a:solidFill>
                  <a:schemeClr val="tx1"/>
                </a:solidFill>
              </a:rPr>
              <a:t>An option (CVaR: average of only the best 25%) exists, but it hid a bug and left typical answers poor, so we don't use it</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The bug that flipped everything</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4 · The solvers</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4572000" cy="914400"/>
        </p:xfrm>
        <a:graphic>
          <a:graphicData uri="http://schemas.openxmlformats.org/drawingml/2006/table">
            <a:tbl>
              <a:tblPr/>
              <a:tblGrid>
                <a:gridCol w="2011680"/>
                <a:gridCol w="1280160"/>
                <a:gridCol w="1280160"/>
              </a:tblGrid>
              <a:tr h="457200">
                <a:tc>
                  <a:txBody>
                    <a:bodyPr/>
                    <a:lstStyle/>
                    <a:p>
                      <a:pPr indent="0" marL="0">
                        <a:buNone/>
                      </a:pPr>
                      <a:r>
                        <a:rPr lang="en-US" sz="1300" b="1" dirty="0">
                          <a:solidFill>
                            <a:srgbClr val="FFFFFF"/>
                          </a:solidFill>
                        </a:rPr>
                        <a:t>Method</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300" b="1" dirty="0">
                          <a:solidFill>
                            <a:srgbClr val="FFFFFF"/>
                          </a:solidFill>
                        </a:rPr>
                        <a:t>Before the fix</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300" b="1" dirty="0">
                          <a:solidFill>
                            <a:srgbClr val="FFFFFF"/>
                          </a:solidFill>
                        </a:rPr>
                        <a:t>After the fix</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457200">
                <a:tc>
                  <a:txBody>
                    <a:bodyPr/>
                    <a:lstStyle/>
                    <a:p>
                      <a:pPr indent="0" marL="0">
                        <a:buNone/>
                      </a:pPr>
                      <a:r>
                        <a:rPr lang="en-US" sz="1300" dirty="0">
                          <a:solidFill>
                            <a:srgbClr val="1B1D36"/>
                          </a:solidFill>
                        </a:rPr>
                        <a:t>Normal laptop</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300" dirty="0">
                          <a:solidFill>
                            <a:srgbClr val="1B1D36"/>
                          </a:solidFill>
                        </a:rPr>
                        <a:t>0.951</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300" dirty="0">
                          <a:solidFill>
                            <a:srgbClr val="1B1D36"/>
                          </a:solidFill>
                        </a:rPr>
                        <a:t>0.953</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57200">
                <a:tc>
                  <a:txBody>
                    <a:bodyPr/>
                    <a:lstStyle/>
                    <a:p>
                      <a:pPr indent="0" marL="0">
                        <a:buNone/>
                      </a:pPr>
                      <a:r>
                        <a:rPr lang="en-US" sz="1300" dirty="0">
                          <a:solidFill>
                            <a:srgbClr val="1B1D36"/>
                          </a:solidFill>
                        </a:rPr>
                        <a:t>Gate-based (2 rounds)</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300" dirty="0">
                          <a:solidFill>
                            <a:srgbClr val="1B1D36"/>
                          </a:solidFill>
                        </a:rPr>
                        <a:t>−1.366</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300" dirty="0">
                          <a:solidFill>
                            <a:srgbClr val="1B1D36"/>
                          </a:solidFill>
                        </a:rPr>
                        <a:t>0.786</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1D36"/>
                          </a:solidFill>
                        </a:rPr>
                        <a:t>Annealing copy (6 rounds)</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300" dirty="0">
                          <a:solidFill>
                            <a:srgbClr val="1B1D36"/>
                          </a:solidFill>
                        </a:rPr>
                        <a:t>−1.044</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300" dirty="0">
                          <a:solidFill>
                            <a:srgbClr val="1B1D36"/>
                          </a:solidFill>
                        </a:rPr>
                        <a:t>0.748</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bl>
          </a:graphicData>
        </a:graphic>
      </p:graphicFrame>
      <p:sp>
        <p:nvSpPr>
          <p:cNvPr id="6" name="What happened card"/>
          <p:cNvSpPr/>
          <p:nvPr/>
        </p:nvSpPr>
        <p:spPr>
          <a:xfrm>
            <a:off x="5212080" y="1097280"/>
            <a:ext cx="3474720" cy="3429000"/>
          </a:xfrm>
          <a:prstGeom prst="roundRect">
            <a:avLst>
              <a:gd name="adj" fmla="val 2133"/>
            </a:avLst>
          </a:prstGeom>
          <a:solidFill>
            <a:srgbClr val="2B2A6B"/>
          </a:solidFill>
          <a:ln w="12700">
            <a:solidFill>
              <a:srgbClr val="2B2A6B"/>
            </a:solidFill>
            <a:prstDash val="solid"/>
          </a:ln>
        </p:spPr>
      </p:sp>
      <p:sp>
        <p:nvSpPr>
          <p:cNvPr id="7" name="Text 3"/>
          <p:cNvSpPr txBox="1"/>
          <p:nvPr/>
        </p:nvSpPr>
        <p:spPr>
          <a:xfrm>
            <a:off x="5394960" y="1225296"/>
            <a:ext cx="3108960" cy="292608"/>
          </a:xfrm>
          <a:prstGeom prst="rect">
            <a:avLst/>
          </a:prstGeom>
          <a:noFill/>
          <a:ln/>
        </p:spPr>
        <p:txBody>
          <a:bodyPr wrap="square" lIns="0" tIns="0" rIns="0" bIns="0" rtlCol="0" anchor="t"/>
          <a:lstStyle/>
          <a:p>
            <a:pPr indent="0" marL="0">
              <a:buNone/>
            </a:pPr>
            <a:r>
              <a:rPr lang="en-US" sz="1400" b="1" dirty="0">
                <a:solidFill>
                  <a:schemeClr val="bg1"/>
                </a:solidFill>
              </a:rPr>
              <a:t>What happened</a:t>
            </a:r>
            <a:endParaRPr lang="en-US" sz="1400" dirty="0"/>
          </a:p>
        </p:txBody>
      </p:sp>
      <p:sp>
        <p:nvSpPr>
          <p:cNvPr id="8" name="Text 4"/>
          <p:cNvSpPr txBox="1"/>
          <p:nvPr/>
        </p:nvSpPr>
        <p:spPr>
          <a:xfrm>
            <a:off x="5394960" y="1591056"/>
            <a:ext cx="3127248" cy="28437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bg1"/>
                </a:solidFill>
              </a:rPr>
              <a:t>Scores below 0 = worse than a random guess</a:t>
            </a:r>
            <a:endParaRPr lang="en-US" sz="1300" dirty="0"/>
          </a:p>
          <a:p>
            <a:pPr marL="177800" indent="-177800">
              <a:spcAft>
                <a:spcPts val="400"/>
              </a:spcAft>
              <a:buSzPct val="100000"/>
              <a:buChar char="•"/>
            </a:pPr>
            <a:r>
              <a:rPr lang="en-US" sz="1300" dirty="0">
                <a:solidFill>
                  <a:schemeClr val="bg1"/>
                </a:solidFill>
              </a:rPr>
              <a:t>The recipe was faithfully steering toward the WORST answers</a:t>
            </a:r>
            <a:endParaRPr lang="en-US" sz="1300" dirty="0"/>
          </a:p>
          <a:p>
            <a:pPr marL="177800" indent="-177800">
              <a:spcAft>
                <a:spcPts val="400"/>
              </a:spcAft>
              <a:buSzPct val="100000"/>
              <a:buChar char="•"/>
            </a:pPr>
            <a:r>
              <a:rPr lang="en-US" sz="1300" dirty="0">
                <a:solidFill>
                  <a:schemeClr val="bg1"/>
                </a:solidFill>
              </a:rPr>
              <a:t>We were also optimizing a different score (best 25%) than we reported, which hid the problem</a:t>
            </a:r>
            <a:endParaRPr lang="en-US" sz="1300" dirty="0"/>
          </a:p>
          <a:p>
            <a:pPr marL="177800" indent="-177800">
              <a:spcAft>
                <a:spcPts val="400"/>
              </a:spcAft>
              <a:buSzPct val="100000"/>
              <a:buChar char="•"/>
            </a:pPr>
            <a:r>
              <a:rPr lang="en-US" sz="1300" dirty="0">
                <a:solidFill>
                  <a:schemeClr val="bg1"/>
                </a:solidFill>
              </a:rPr>
              <a:t>Fix: flip one sign, and optimize the same average we report</a:t>
            </a:r>
            <a:endParaRPr lang="en-US" sz="1300" dirty="0"/>
          </a:p>
        </p:txBody>
      </p:sp>
      <p:sp>
        <p:nvSpPr>
          <p:cNvPr id="9" name="Lesson card"/>
          <p:cNvSpPr/>
          <p:nvPr/>
        </p:nvSpPr>
        <p:spPr>
          <a:xfrm>
            <a:off x="457200" y="3108960"/>
            <a:ext cx="4572000" cy="1417320"/>
          </a:xfrm>
          <a:prstGeom prst="roundRect">
            <a:avLst>
              <a:gd name="adj" fmla="val 5161"/>
            </a:avLst>
          </a:prstGeom>
          <a:solidFill>
            <a:srgbClr val="FFF4EA"/>
          </a:solidFill>
          <a:ln w="12700">
            <a:solidFill>
              <a:srgbClr val="FFF4EA"/>
            </a:solidFill>
            <a:prstDash val="solid"/>
          </a:ln>
        </p:spPr>
      </p:sp>
      <p:sp>
        <p:nvSpPr>
          <p:cNvPr id="10" name="Text 6"/>
          <p:cNvSpPr txBox="1"/>
          <p:nvPr/>
        </p:nvSpPr>
        <p:spPr>
          <a:xfrm>
            <a:off x="640080" y="3236976"/>
            <a:ext cx="4206240" cy="292608"/>
          </a:xfrm>
          <a:prstGeom prst="rect">
            <a:avLst/>
          </a:prstGeom>
          <a:noFill/>
          <a:ln/>
        </p:spPr>
        <p:txBody>
          <a:bodyPr wrap="square" lIns="0" tIns="0" rIns="0" bIns="0" rtlCol="0" anchor="t"/>
          <a:lstStyle/>
          <a:p>
            <a:pPr indent="0" marL="0">
              <a:buNone/>
            </a:pPr>
            <a:r>
              <a:rPr lang="en-US" sz="1400" b="1" dirty="0">
                <a:solidFill>
                  <a:schemeClr val="tx1"/>
                </a:solidFill>
              </a:rPr>
              <a:t>Lesson</a:t>
            </a:r>
            <a:endParaRPr lang="en-US" sz="1400" dirty="0"/>
          </a:p>
        </p:txBody>
      </p:sp>
      <p:sp>
        <p:nvSpPr>
          <p:cNvPr id="11" name="Text 7"/>
          <p:cNvSpPr txBox="1"/>
          <p:nvPr/>
        </p:nvSpPr>
        <p:spPr>
          <a:xfrm>
            <a:off x="640080" y="3602736"/>
            <a:ext cx="4224528" cy="832104"/>
          </a:xfrm>
          <a:prstGeom prst="rect">
            <a:avLst/>
          </a:prstGeom>
          <a:noFill/>
          <a:ln/>
        </p:spPr>
        <p:txBody>
          <a:bodyPr wrap="square" lIns="0" tIns="0" rIns="0" bIns="0" rtlCol="0" anchor="t"/>
          <a:lstStyle/>
          <a:p>
            <a:pPr indent="0" marL="0">
              <a:buNone/>
            </a:pPr>
            <a:r>
              <a:rPr lang="en-US" sz="1300" dirty="0">
                <a:solidFill>
                  <a:schemeClr val="tx1"/>
                </a:solidFill>
              </a:rPr>
              <a:t>Always compare against a known best answer and a random guess. A score that looks 'fine' on its own can hide a recipe running backwards.</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First result: the 10-drug problem</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4 · The solvers</a:t>
            </a:r>
            <a:endParaRPr lang="en-US" sz="1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4937760" cy="914400"/>
        </p:xfrm>
        <a:graphic>
          <a:graphicData uri="http://schemas.openxmlformats.org/drawingml/2006/table">
            <a:tbl>
              <a:tblPr/>
              <a:tblGrid>
                <a:gridCol w="2651760"/>
                <a:gridCol w="914400"/>
                <a:gridCol w="1371600"/>
              </a:tblGrid>
              <a:tr h="457200">
                <a:tc>
                  <a:txBody>
                    <a:bodyPr/>
                    <a:lstStyle/>
                    <a:p>
                      <a:pPr indent="0" marL="0">
                        <a:buNone/>
                      </a:pPr>
                      <a:r>
                        <a:rPr lang="en-US" sz="1300" b="1" dirty="0">
                          <a:solidFill>
                            <a:srgbClr val="FFFFFF"/>
                          </a:solidFill>
                        </a:rPr>
                        <a:t>Method (perfect simulator)</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300" b="1" dirty="0">
                          <a:solidFill>
                            <a:srgbClr val="FFFFFF"/>
                          </a:solidFill>
                        </a:rPr>
                        <a:t>Score</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300" b="1" dirty="0">
                          <a:solidFill>
                            <a:srgbClr val="FFFFFF"/>
                          </a:solidFill>
                        </a:rPr>
                        <a:t>Found the best set?</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457200">
                <a:tc>
                  <a:txBody>
                    <a:bodyPr/>
                    <a:lstStyle/>
                    <a:p>
                      <a:pPr indent="0" marL="0">
                        <a:buNone/>
                      </a:pPr>
                      <a:r>
                        <a:rPr lang="en-US" sz="1300" dirty="0">
                          <a:solidFill>
                            <a:srgbClr val="1B1D36"/>
                          </a:solidFill>
                        </a:rPr>
                        <a:t>Normal laptop</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300" dirty="0">
                          <a:solidFill>
                            <a:srgbClr val="1B1D36"/>
                          </a:solidFill>
                        </a:rPr>
                        <a:t>0.948</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300" dirty="0">
                          <a:solidFill>
                            <a:srgbClr val="1B1D36"/>
                          </a:solidFill>
                        </a:rPr>
                        <a:t>Yes</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57200">
                <a:tc>
                  <a:txBody>
                    <a:bodyPr/>
                    <a:lstStyle/>
                    <a:p>
                      <a:pPr indent="0" marL="0">
                        <a:buNone/>
                      </a:pPr>
                      <a:r>
                        <a:rPr lang="en-US" sz="1300" dirty="0">
                          <a:solidFill>
                            <a:srgbClr val="1B1D36"/>
                          </a:solidFill>
                        </a:rPr>
                        <a:t>Gate-based (2 rounds)</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300" dirty="0">
                          <a:solidFill>
                            <a:srgbClr val="1B1D36"/>
                          </a:solidFill>
                        </a:rPr>
                        <a:t>0.782</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300" dirty="0">
                          <a:solidFill>
                            <a:srgbClr val="1B1D36"/>
                          </a:solidFill>
                        </a:rPr>
                        <a:t>Yes</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1D36"/>
                          </a:solidFill>
                        </a:rPr>
                        <a:t>Annealing copy (6 rounds, step 0.3)</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300" dirty="0">
                          <a:solidFill>
                            <a:srgbClr val="1B1D36"/>
                          </a:solidFill>
                        </a:rPr>
                        <a:t>0.759</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300" dirty="0">
                          <a:solidFill>
                            <a:srgbClr val="1B1D36"/>
                          </a:solidFill>
                        </a:rPr>
                        <a:t>Yes</a:t>
                      </a:r>
                      <a:endParaRPr lang="en-US" sz="13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bl>
          </a:graphicData>
        </a:graphic>
      </p:graphicFrame>
      <p:sp>
        <p:nvSpPr>
          <p:cNvPr id="6" name="The best set card"/>
          <p:cNvSpPr/>
          <p:nvPr/>
        </p:nvSpPr>
        <p:spPr>
          <a:xfrm>
            <a:off x="5577840" y="1097280"/>
            <a:ext cx="3108960" cy="3429000"/>
          </a:xfrm>
          <a:prstGeom prst="roundRect">
            <a:avLst>
              <a:gd name="adj" fmla="val 2353"/>
            </a:avLst>
          </a:prstGeom>
          <a:solidFill>
            <a:srgbClr val="EEF8F6"/>
          </a:solidFill>
          <a:ln w="12700">
            <a:solidFill>
              <a:srgbClr val="EEF8F6"/>
            </a:solidFill>
            <a:prstDash val="solid"/>
          </a:ln>
        </p:spPr>
      </p:sp>
      <p:sp>
        <p:nvSpPr>
          <p:cNvPr id="7" name="Text 3"/>
          <p:cNvSpPr txBox="1"/>
          <p:nvPr/>
        </p:nvSpPr>
        <p:spPr>
          <a:xfrm>
            <a:off x="5760720" y="1225296"/>
            <a:ext cx="2743200" cy="292608"/>
          </a:xfrm>
          <a:prstGeom prst="rect">
            <a:avLst/>
          </a:prstGeom>
          <a:noFill/>
          <a:ln/>
        </p:spPr>
        <p:txBody>
          <a:bodyPr wrap="square" lIns="0" tIns="0" rIns="0" bIns="0" rtlCol="0" anchor="t"/>
          <a:lstStyle/>
          <a:p>
            <a:pPr indent="0" marL="0">
              <a:buNone/>
            </a:pPr>
            <a:r>
              <a:rPr lang="en-US" sz="1400" b="1" dirty="0">
                <a:solidFill>
                  <a:schemeClr val="tx1"/>
                </a:solidFill>
              </a:rPr>
              <a:t>The best set</a:t>
            </a:r>
            <a:endParaRPr lang="en-US" sz="1400" dirty="0"/>
          </a:p>
        </p:txBody>
      </p:sp>
      <p:sp>
        <p:nvSpPr>
          <p:cNvPr id="8" name="Text 4"/>
          <p:cNvSpPr txBox="1"/>
          <p:nvPr/>
        </p:nvSpPr>
        <p:spPr>
          <a:xfrm>
            <a:off x="5760720" y="1591056"/>
            <a:ext cx="2761488" cy="28437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A heart drug in Phase II</a:t>
            </a:r>
            <a:endParaRPr lang="en-US" sz="1300" dirty="0"/>
          </a:p>
          <a:p>
            <a:pPr marL="177800" indent="-177800">
              <a:spcAft>
                <a:spcPts val="400"/>
              </a:spcAft>
              <a:buSzPct val="100000"/>
              <a:buChar char="•"/>
            </a:pPr>
            <a:r>
              <a:rPr lang="en-US" sz="1300" dirty="0">
                <a:solidFill>
                  <a:schemeClr val="tx1"/>
                </a:solidFill>
              </a:rPr>
              <a:t>A brain drug in Phase III</a:t>
            </a:r>
            <a:endParaRPr lang="en-US" sz="1300" dirty="0"/>
          </a:p>
          <a:p>
            <a:pPr marL="177800" indent="-177800">
              <a:spcAft>
                <a:spcPts val="400"/>
              </a:spcAft>
              <a:buSzPct val="100000"/>
              <a:buChar char="•"/>
            </a:pPr>
            <a:r>
              <a:rPr lang="en-US" sz="1300" dirty="0">
                <a:solidFill>
                  <a:schemeClr val="tx1"/>
                </a:solidFill>
              </a:rPr>
              <a:t>Two early cancer drugs in Phase I</a:t>
            </a:r>
            <a:endParaRPr lang="en-US" sz="1300" dirty="0"/>
          </a:p>
          <a:p>
            <a:pPr marL="177800" indent="-177800">
              <a:spcAft>
                <a:spcPts val="400"/>
              </a:spcAft>
              <a:buSzPct val="100000"/>
              <a:buChar char="•"/>
            </a:pPr>
            <a:r>
              <a:rPr lang="en-US" sz="1300" dirty="0">
                <a:solidFill>
                  <a:schemeClr val="tx1"/>
                </a:solidFill>
              </a:rPr>
              <a:t>The laptop, gate-based and annealing all found exactly this set</a:t>
            </a:r>
            <a:endParaRPr lang="en-US" sz="1300" dirty="0"/>
          </a:p>
        </p:txBody>
      </p:sp>
      <p:sp>
        <p:nvSpPr>
          <p:cNvPr id="9" name="How to read it card"/>
          <p:cNvSpPr/>
          <p:nvPr/>
        </p:nvSpPr>
        <p:spPr>
          <a:xfrm>
            <a:off x="457200" y="3108960"/>
            <a:ext cx="4937760" cy="1417320"/>
          </a:xfrm>
          <a:prstGeom prst="roundRect">
            <a:avLst>
              <a:gd name="adj" fmla="val 5161"/>
            </a:avLst>
          </a:prstGeom>
          <a:solidFill>
            <a:srgbClr val="FFF4EA"/>
          </a:solidFill>
          <a:ln w="12700">
            <a:solidFill>
              <a:srgbClr val="FFF4EA"/>
            </a:solidFill>
            <a:prstDash val="solid"/>
          </a:ln>
        </p:spPr>
      </p:sp>
      <p:sp>
        <p:nvSpPr>
          <p:cNvPr id="10" name="Text 6"/>
          <p:cNvSpPr txBox="1"/>
          <p:nvPr/>
        </p:nvSpPr>
        <p:spPr>
          <a:xfrm>
            <a:off x="640080" y="3236976"/>
            <a:ext cx="4572000" cy="292608"/>
          </a:xfrm>
          <a:prstGeom prst="rect">
            <a:avLst/>
          </a:prstGeom>
          <a:noFill/>
          <a:ln/>
        </p:spPr>
        <p:txBody>
          <a:bodyPr wrap="square" lIns="0" tIns="0" rIns="0" bIns="0" rtlCol="0" anchor="t"/>
          <a:lstStyle/>
          <a:p>
            <a:pPr indent="0" marL="0">
              <a:buNone/>
            </a:pPr>
            <a:r>
              <a:rPr lang="en-US" sz="1400" b="1" dirty="0">
                <a:solidFill>
                  <a:schemeClr val="tx1"/>
                </a:solidFill>
              </a:rPr>
              <a:t>How to read it</a:t>
            </a:r>
            <a:endParaRPr lang="en-US" sz="1400" dirty="0"/>
          </a:p>
        </p:txBody>
      </p:sp>
      <p:sp>
        <p:nvSpPr>
          <p:cNvPr id="11" name="Text 7"/>
          <p:cNvSpPr txBox="1"/>
          <p:nvPr/>
        </p:nvSpPr>
        <p:spPr>
          <a:xfrm>
            <a:off x="640080" y="3602736"/>
            <a:ext cx="4590288" cy="832104"/>
          </a:xfrm>
          <a:prstGeom prst="rect">
            <a:avLst/>
          </a:prstGeom>
          <a:noFill/>
          <a:ln/>
        </p:spPr>
        <p:txBody>
          <a:bodyPr wrap="square" lIns="0" tIns="0" rIns="0" bIns="0" rtlCol="0" anchor="t"/>
          <a:lstStyle/>
          <a:p>
            <a:pPr indent="0" marL="0">
              <a:buNone/>
            </a:pPr>
            <a:r>
              <a:rPr lang="en-US" sz="1300" dirty="0">
                <a:solidFill>
                  <a:schemeClr val="tx1"/>
                </a:solidFill>
              </a:rPr>
              <a:t>'Found the best set' means the best answer appeared among the shots. The score says how good the TYPICAL answer is, which is the honest measure.</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The 9-number fingerprint</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5 · The fingerprint and the AI</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320040"/>
                <a:gridCol w="1691640"/>
                <a:gridCol w="3200400"/>
                <a:gridCol w="3017520"/>
              </a:tblGrid>
              <a:tr h="329184">
                <a:tc>
                  <a:txBody>
                    <a:bodyPr/>
                    <a:lstStyle/>
                    <a:p>
                      <a:pPr indent="0" marL="0">
                        <a:buNone/>
                      </a:pPr>
                      <a:r>
                        <a:rPr lang="en-US" sz="1100" b="1" dirty="0">
                          <a:solidFill>
                            <a:srgbClr val="FFFFFF"/>
                          </a:solidFill>
                        </a:rPr>
                        <a:t>#</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Number</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Plain meaning</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Why it matters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329184">
                <a:tc>
                  <a:txBody>
                    <a:bodyPr/>
                    <a:lstStyle/>
                    <a:p>
                      <a:pPr indent="0" marL="0">
                        <a:buNone/>
                      </a:pPr>
                      <a:r>
                        <a:rPr lang="en-US" sz="1100" dirty="0">
                          <a:solidFill>
                            <a:srgbClr val="1B1D36"/>
                          </a:solidFill>
                        </a:rPr>
                        <a:t>1</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Size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how many decisions (qubits)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bigger → longer recipe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329184">
                <a:tc>
                  <a:txBody>
                    <a:bodyPr/>
                    <a:lstStyle/>
                    <a:p>
                      <a:pPr indent="0" marL="0">
                        <a:buNone/>
                      </a:pPr>
                      <a:r>
                        <a:rPr lang="en-US" sz="1100" dirty="0">
                          <a:solidFill>
                            <a:srgbClr val="1B1D36"/>
                          </a:solidFill>
                        </a:rPr>
                        <a:t>2</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Density</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lines drawn ÷ possible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more lines → more link steps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D36"/>
                          </a:solidFill>
                        </a:rPr>
                        <a:t>3</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Average links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lines per decision</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crowding on the chip</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329184">
                <a:tc>
                  <a:txBody>
                    <a:bodyPr/>
                    <a:lstStyle/>
                    <a:p>
                      <a:pPr indent="0" marL="0">
                        <a:buNone/>
                      </a:pPr>
                      <a:r>
                        <a:rPr lang="en-US" sz="1100" dirty="0">
                          <a:solidFill>
                            <a:srgbClr val="1B1D36"/>
                          </a:solidFill>
                        </a:rPr>
                        <a:t>4</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Most links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busiest decision's lines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needs extra swap steps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D36"/>
                          </a:solidFill>
                        </a:rPr>
                        <a:t>5</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Number spread</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biggest ÷ smallest score number (log)</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hard-to-tune problems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329184">
                <a:tc>
                  <a:txBody>
                    <a:bodyPr/>
                    <a:lstStyle/>
                    <a:p>
                      <a:pPr indent="0" marL="0">
                        <a:buNone/>
                      </a:pPr>
                      <a:r>
                        <a:rPr lang="en-US" sz="1100" dirty="0">
                          <a:solidFill>
                            <a:srgbClr val="1B1D36"/>
                          </a:solidFill>
                        </a:rPr>
                        <a:t>6</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Success chance, gate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chance the 1-round recipe runs error-free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predicts gate-based errors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D36"/>
                          </a:solidFill>
                        </a:rPr>
                        <a:t>7</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Success chance, anneal</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same for the 3-round annealing recipe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predicts annealing errors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329184">
                <a:tc>
                  <a:txBody>
                    <a:bodyPr/>
                    <a:lstStyle/>
                    <a:p>
                      <a:pPr indent="0" marL="0">
                        <a:buNone/>
                      </a:pPr>
                      <a:r>
                        <a:rPr lang="en-US" sz="1100" dirty="0">
                          <a:solidFill>
                            <a:srgbClr val="1B1D36"/>
                          </a:solidFill>
                        </a:rPr>
                        <a:t>8</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Link steps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two-qubit gates after fitting the chip</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the noisiest steps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B1D36"/>
                          </a:solidFill>
                        </a:rPr>
                        <a:t>9</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Recipe length</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steps from start to finish (depth)</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time for drift errors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How we predict the chip's errors</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5 · The fingerprint and the AI</a:t>
            </a:r>
            <a:endParaRPr lang="en-US" sz="1000" dirty="0"/>
          </a:p>
        </p:txBody>
      </p:sp>
      <p:sp>
        <p:nvSpPr>
          <p:cNvPr id="5" name="flow step 1"/>
          <p:cNvSpPr/>
          <p:nvPr/>
        </p:nvSpPr>
        <p:spPr>
          <a:xfrm>
            <a:off x="457200" y="1143000"/>
            <a:ext cx="1441094" cy="1188720"/>
          </a:xfrm>
          <a:prstGeom prst="roundRect">
            <a:avLst>
              <a:gd name="adj" fmla="val 6154"/>
            </a:avLst>
          </a:prstGeom>
          <a:solidFill>
            <a:srgbClr val="5B4FD1"/>
          </a:solidFill>
          <a:ln w="12700">
            <a:solidFill>
              <a:srgbClr val="5B4FD1"/>
            </a:solidFill>
            <a:prstDash val="solid"/>
          </a:ln>
        </p:spPr>
      </p:sp>
      <p:sp>
        <p:nvSpPr>
          <p:cNvPr id="6" name="Text 3"/>
          <p:cNvSpPr txBox="1"/>
          <p:nvPr/>
        </p:nvSpPr>
        <p:spPr>
          <a:xfrm>
            <a:off x="548640" y="1234440"/>
            <a:ext cx="1258214" cy="1005840"/>
          </a:xfrm>
          <a:prstGeom prst="rect">
            <a:avLst/>
          </a:prstGeom>
          <a:noFill/>
          <a:ln/>
        </p:spPr>
        <p:txBody>
          <a:bodyPr wrap="square" lIns="0" tIns="0" rIns="0" bIns="0" rtlCol="0" anchor="ctr"/>
          <a:lstStyle/>
          <a:p>
            <a:pPr algn="ctr" indent="0" marL="0">
              <a:buNone/>
            </a:pPr>
            <a:r>
              <a:rPr lang="en-US" sz="1300" b="1" dirty="0">
                <a:solidFill>
                  <a:srgbClr val="FFFFFF"/>
                </a:solidFill>
              </a:rPr>
              <a:t>Build</a:t>
            </a:r>
            <a:endParaRPr lang="en-US" sz="1300" dirty="0"/>
          </a:p>
          <a:p>
            <a:pPr algn="ctr" indent="0" marL="0">
              <a:buNone/>
            </a:pPr>
            <a:r>
              <a:rPr lang="en-US" sz="1100" dirty="0">
                <a:solidFill>
                  <a:srgbClr val="FFFFFF"/>
                </a:solidFill>
              </a:rPr>
              <a:t>the recipe for this piece</a:t>
            </a:r>
            <a:endParaRPr lang="en-US" sz="1300" dirty="0"/>
          </a:p>
        </p:txBody>
      </p:sp>
      <p:sp>
        <p:nvSpPr>
          <p:cNvPr id="7" name="flow arrow 1"/>
          <p:cNvSpPr/>
          <p:nvPr/>
        </p:nvSpPr>
        <p:spPr>
          <a:xfrm>
            <a:off x="1934870" y="1737360"/>
            <a:ext cx="182880" cy="0"/>
          </a:xfrm>
          <a:prstGeom prst="line">
            <a:avLst/>
          </a:prstGeom>
          <a:noFill/>
          <a:ln w="15875">
            <a:solidFill>
              <a:srgbClr val="667085"/>
            </a:solidFill>
            <a:prstDash val="solid"/>
            <a:tailEnd type="triangle"/>
          </a:ln>
        </p:spPr>
      </p:sp>
      <p:sp>
        <p:nvSpPr>
          <p:cNvPr id="8" name="flow step 2"/>
          <p:cNvSpPr/>
          <p:nvPr/>
        </p:nvSpPr>
        <p:spPr>
          <a:xfrm>
            <a:off x="2154326" y="1143000"/>
            <a:ext cx="1441094" cy="1188720"/>
          </a:xfrm>
          <a:prstGeom prst="roundRect">
            <a:avLst>
              <a:gd name="adj" fmla="val 6154"/>
            </a:avLst>
          </a:prstGeom>
          <a:solidFill>
            <a:srgbClr val="5B4FD1"/>
          </a:solidFill>
          <a:ln w="12700">
            <a:solidFill>
              <a:srgbClr val="5B4FD1"/>
            </a:solidFill>
            <a:prstDash val="solid"/>
          </a:ln>
        </p:spPr>
      </p:sp>
      <p:sp>
        <p:nvSpPr>
          <p:cNvPr id="9" name="Text 6"/>
          <p:cNvSpPr txBox="1"/>
          <p:nvPr/>
        </p:nvSpPr>
        <p:spPr>
          <a:xfrm>
            <a:off x="2245766" y="1234440"/>
            <a:ext cx="1258214" cy="1005840"/>
          </a:xfrm>
          <a:prstGeom prst="rect">
            <a:avLst/>
          </a:prstGeom>
          <a:noFill/>
          <a:ln/>
        </p:spPr>
        <p:txBody>
          <a:bodyPr wrap="square" lIns="0" tIns="0" rIns="0" bIns="0" rtlCol="0" anchor="ctr"/>
          <a:lstStyle/>
          <a:p>
            <a:pPr algn="ctr" indent="0" marL="0">
              <a:buNone/>
            </a:pPr>
            <a:r>
              <a:rPr lang="en-US" sz="1300" b="1" dirty="0">
                <a:solidFill>
                  <a:srgbClr val="FFFFFF"/>
                </a:solidFill>
              </a:rPr>
              <a:t>Fit</a:t>
            </a:r>
            <a:endParaRPr lang="en-US" sz="1300" dirty="0"/>
          </a:p>
          <a:p>
            <a:pPr algn="ctr" indent="0" marL="0">
              <a:buNone/>
            </a:pPr>
            <a:r>
              <a:rPr lang="en-US" sz="1100" dirty="0">
                <a:solidFill>
                  <a:srgbClr val="FFFFFF"/>
                </a:solidFill>
              </a:rPr>
              <a:t>onto IBM Torino's real layout</a:t>
            </a:r>
            <a:endParaRPr lang="en-US" sz="1300" dirty="0"/>
          </a:p>
        </p:txBody>
      </p:sp>
      <p:sp>
        <p:nvSpPr>
          <p:cNvPr id="10" name="flow arrow 2"/>
          <p:cNvSpPr/>
          <p:nvPr/>
        </p:nvSpPr>
        <p:spPr>
          <a:xfrm>
            <a:off x="3631997" y="1737360"/>
            <a:ext cx="182880" cy="0"/>
          </a:xfrm>
          <a:prstGeom prst="line">
            <a:avLst/>
          </a:prstGeom>
          <a:noFill/>
          <a:ln w="15875">
            <a:solidFill>
              <a:srgbClr val="667085"/>
            </a:solidFill>
            <a:prstDash val="solid"/>
            <a:tailEnd type="triangle"/>
          </a:ln>
        </p:spPr>
      </p:sp>
      <p:sp>
        <p:nvSpPr>
          <p:cNvPr id="11" name="flow step 3"/>
          <p:cNvSpPr/>
          <p:nvPr/>
        </p:nvSpPr>
        <p:spPr>
          <a:xfrm>
            <a:off x="3851453" y="1143000"/>
            <a:ext cx="1441094" cy="1188720"/>
          </a:xfrm>
          <a:prstGeom prst="roundRect">
            <a:avLst>
              <a:gd name="adj" fmla="val 6154"/>
            </a:avLst>
          </a:prstGeom>
          <a:solidFill>
            <a:srgbClr val="5B4FD1"/>
          </a:solidFill>
          <a:ln w="12700">
            <a:solidFill>
              <a:srgbClr val="5B4FD1"/>
            </a:solidFill>
            <a:prstDash val="solid"/>
          </a:ln>
        </p:spPr>
      </p:sp>
      <p:sp>
        <p:nvSpPr>
          <p:cNvPr id="12" name="Text 9"/>
          <p:cNvSpPr txBox="1"/>
          <p:nvPr/>
        </p:nvSpPr>
        <p:spPr>
          <a:xfrm>
            <a:off x="3942893" y="1234440"/>
            <a:ext cx="1258214" cy="1005840"/>
          </a:xfrm>
          <a:prstGeom prst="rect">
            <a:avLst/>
          </a:prstGeom>
          <a:noFill/>
          <a:ln/>
        </p:spPr>
        <p:txBody>
          <a:bodyPr wrap="square" lIns="0" tIns="0" rIns="0" bIns="0" rtlCol="0" anchor="ctr"/>
          <a:lstStyle/>
          <a:p>
            <a:pPr algn="ctr" indent="0" marL="0">
              <a:buNone/>
            </a:pPr>
            <a:r>
              <a:rPr lang="en-US" sz="1300" b="1" dirty="0">
                <a:solidFill>
                  <a:srgbClr val="FFFFFF"/>
                </a:solidFill>
              </a:rPr>
              <a:t>Look up</a:t>
            </a:r>
            <a:endParaRPr lang="en-US" sz="1300" dirty="0"/>
          </a:p>
          <a:p>
            <a:pPr algn="ctr" indent="0" marL="0">
              <a:buNone/>
            </a:pPr>
            <a:r>
              <a:rPr lang="en-US" sz="1100" dirty="0">
                <a:solidFill>
                  <a:srgbClr val="FFFFFF"/>
                </a:solidFill>
              </a:rPr>
              <a:t>each step's error rate (IBM calibration)</a:t>
            </a:r>
            <a:endParaRPr lang="en-US" sz="1300" dirty="0"/>
          </a:p>
        </p:txBody>
      </p:sp>
      <p:sp>
        <p:nvSpPr>
          <p:cNvPr id="13" name="flow arrow 3"/>
          <p:cNvSpPr/>
          <p:nvPr/>
        </p:nvSpPr>
        <p:spPr>
          <a:xfrm>
            <a:off x="5329123" y="1737360"/>
            <a:ext cx="182880" cy="0"/>
          </a:xfrm>
          <a:prstGeom prst="line">
            <a:avLst/>
          </a:prstGeom>
          <a:noFill/>
          <a:ln w="15875">
            <a:solidFill>
              <a:srgbClr val="667085"/>
            </a:solidFill>
            <a:prstDash val="solid"/>
            <a:tailEnd type="triangle"/>
          </a:ln>
        </p:spPr>
      </p:sp>
      <p:sp>
        <p:nvSpPr>
          <p:cNvPr id="14" name="flow step 4"/>
          <p:cNvSpPr/>
          <p:nvPr/>
        </p:nvSpPr>
        <p:spPr>
          <a:xfrm>
            <a:off x="5548579" y="1143000"/>
            <a:ext cx="1441094" cy="1188720"/>
          </a:xfrm>
          <a:prstGeom prst="roundRect">
            <a:avLst>
              <a:gd name="adj" fmla="val 6154"/>
            </a:avLst>
          </a:prstGeom>
          <a:solidFill>
            <a:srgbClr val="5B4FD1"/>
          </a:solidFill>
          <a:ln w="12700">
            <a:solidFill>
              <a:srgbClr val="5B4FD1"/>
            </a:solidFill>
            <a:prstDash val="solid"/>
          </a:ln>
        </p:spPr>
      </p:sp>
      <p:sp>
        <p:nvSpPr>
          <p:cNvPr id="15" name="Text 12"/>
          <p:cNvSpPr txBox="1"/>
          <p:nvPr/>
        </p:nvSpPr>
        <p:spPr>
          <a:xfrm>
            <a:off x="5640019" y="1234440"/>
            <a:ext cx="1258214" cy="1005840"/>
          </a:xfrm>
          <a:prstGeom prst="rect">
            <a:avLst/>
          </a:prstGeom>
          <a:noFill/>
          <a:ln/>
        </p:spPr>
        <p:txBody>
          <a:bodyPr wrap="square" lIns="0" tIns="0" rIns="0" bIns="0" rtlCol="0" anchor="ctr"/>
          <a:lstStyle/>
          <a:p>
            <a:pPr algn="ctr" indent="0" marL="0">
              <a:buNone/>
            </a:pPr>
            <a:r>
              <a:rPr lang="en-US" sz="1300" b="1" dirty="0">
                <a:solidFill>
                  <a:srgbClr val="FFFFFF"/>
                </a:solidFill>
              </a:rPr>
              <a:t>Multiply</a:t>
            </a:r>
            <a:endParaRPr lang="en-US" sz="1300" dirty="0"/>
          </a:p>
          <a:p>
            <a:pPr algn="ctr" indent="0" marL="0">
              <a:buNone/>
            </a:pPr>
            <a:r>
              <a:rPr lang="en-US" sz="1100" dirty="0">
                <a:solidFill>
                  <a:srgbClr val="FFFFFF"/>
                </a:solidFill>
              </a:rPr>
              <a:t>(1 − error) over every step</a:t>
            </a:r>
            <a:endParaRPr lang="en-US" sz="1300" dirty="0"/>
          </a:p>
        </p:txBody>
      </p:sp>
      <p:sp>
        <p:nvSpPr>
          <p:cNvPr id="16" name="flow arrow 4"/>
          <p:cNvSpPr/>
          <p:nvPr/>
        </p:nvSpPr>
        <p:spPr>
          <a:xfrm>
            <a:off x="7026250" y="1737360"/>
            <a:ext cx="182880" cy="0"/>
          </a:xfrm>
          <a:prstGeom prst="line">
            <a:avLst/>
          </a:prstGeom>
          <a:noFill/>
          <a:ln w="15875">
            <a:solidFill>
              <a:srgbClr val="667085"/>
            </a:solidFill>
            <a:prstDash val="solid"/>
            <a:tailEnd type="triangle"/>
          </a:ln>
        </p:spPr>
      </p:sp>
      <p:sp>
        <p:nvSpPr>
          <p:cNvPr id="17" name="flow step 5"/>
          <p:cNvSpPr/>
          <p:nvPr/>
        </p:nvSpPr>
        <p:spPr>
          <a:xfrm>
            <a:off x="7245706" y="1143000"/>
            <a:ext cx="1441094" cy="1188720"/>
          </a:xfrm>
          <a:prstGeom prst="roundRect">
            <a:avLst>
              <a:gd name="adj" fmla="val 6154"/>
            </a:avLst>
          </a:prstGeom>
          <a:solidFill>
            <a:srgbClr val="E8833A"/>
          </a:solidFill>
          <a:ln w="12700">
            <a:solidFill>
              <a:srgbClr val="E8833A"/>
            </a:solidFill>
            <a:prstDash val="solid"/>
          </a:ln>
        </p:spPr>
      </p:sp>
      <p:sp>
        <p:nvSpPr>
          <p:cNvPr id="18" name="Text 15"/>
          <p:cNvSpPr txBox="1"/>
          <p:nvPr/>
        </p:nvSpPr>
        <p:spPr>
          <a:xfrm>
            <a:off x="7337146" y="1234440"/>
            <a:ext cx="1258214" cy="1005840"/>
          </a:xfrm>
          <a:prstGeom prst="rect">
            <a:avLst/>
          </a:prstGeom>
          <a:noFill/>
          <a:ln/>
        </p:spPr>
        <p:txBody>
          <a:bodyPr wrap="square" lIns="0" tIns="0" rIns="0" bIns="0" rtlCol="0" anchor="ctr"/>
          <a:lstStyle/>
          <a:p>
            <a:pPr algn="ctr" indent="0" marL="0">
              <a:buNone/>
            </a:pPr>
            <a:r>
              <a:rPr lang="en-US" sz="1300" b="1" dirty="0">
                <a:solidFill>
                  <a:srgbClr val="FFFFFF"/>
                </a:solidFill>
              </a:rPr>
              <a:t>Result</a:t>
            </a:r>
            <a:endParaRPr lang="en-US" sz="1300" dirty="0"/>
          </a:p>
          <a:p>
            <a:pPr algn="ctr" indent="0" marL="0">
              <a:buNone/>
            </a:pPr>
            <a:r>
              <a:rPr lang="en-US" sz="1100" dirty="0">
                <a:solidFill>
                  <a:srgbClr val="FFFFFF"/>
                </a:solidFill>
              </a:rPr>
              <a:t>chance of an error-free run</a:t>
            </a:r>
            <a:endParaRPr lang="en-US" sz="1300" dirty="0"/>
          </a:p>
        </p:txBody>
      </p:sp>
      <p:sp>
        <p:nvSpPr>
          <p:cNvPr id="19" name="How it's used card"/>
          <p:cNvSpPr/>
          <p:nvPr/>
        </p:nvSpPr>
        <p:spPr>
          <a:xfrm>
            <a:off x="457200" y="2560320"/>
            <a:ext cx="4023360" cy="1965960"/>
          </a:xfrm>
          <a:prstGeom prst="roundRect">
            <a:avLst>
              <a:gd name="adj" fmla="val 3721"/>
            </a:avLst>
          </a:prstGeom>
          <a:solidFill>
            <a:srgbClr val="F2F2F8"/>
          </a:solidFill>
          <a:ln w="12700">
            <a:solidFill>
              <a:srgbClr val="F2F2F8"/>
            </a:solidFill>
            <a:prstDash val="solid"/>
          </a:ln>
        </p:spPr>
      </p:sp>
      <p:sp>
        <p:nvSpPr>
          <p:cNvPr id="20" name="Text 17"/>
          <p:cNvSpPr txBox="1"/>
          <p:nvPr/>
        </p:nvSpPr>
        <p:spPr>
          <a:xfrm>
            <a:off x="640080" y="2688336"/>
            <a:ext cx="3657600" cy="292608"/>
          </a:xfrm>
          <a:prstGeom prst="rect">
            <a:avLst/>
          </a:prstGeom>
          <a:noFill/>
          <a:ln/>
        </p:spPr>
        <p:txBody>
          <a:bodyPr wrap="square" lIns="0" tIns="0" rIns="0" bIns="0" rtlCol="0" anchor="t"/>
          <a:lstStyle/>
          <a:p>
            <a:pPr indent="0" marL="0">
              <a:buNone/>
            </a:pPr>
            <a:r>
              <a:rPr lang="en-US" sz="1400" b="1" dirty="0">
                <a:solidFill>
                  <a:schemeClr val="tx1"/>
                </a:solidFill>
              </a:rPr>
              <a:t>How it's used</a:t>
            </a:r>
            <a:endParaRPr lang="en-US" sz="1400" dirty="0"/>
          </a:p>
        </p:txBody>
      </p:sp>
      <p:sp>
        <p:nvSpPr>
          <p:cNvPr id="21" name="Text 18"/>
          <p:cNvSpPr txBox="1"/>
          <p:nvPr/>
        </p:nvSpPr>
        <p:spPr>
          <a:xfrm>
            <a:off x="640080" y="3054096"/>
            <a:ext cx="3675888" cy="138074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Predicted chip score = perfect-simulator score × chance of an error-free run</a:t>
            </a:r>
            <a:endParaRPr lang="en-US" sz="1300" dirty="0"/>
          </a:p>
          <a:p>
            <a:pPr marL="177800" indent="-177800">
              <a:spcAft>
                <a:spcPts val="400"/>
              </a:spcAft>
              <a:buSzPct val="100000"/>
              <a:buChar char="•"/>
            </a:pPr>
            <a:r>
              <a:rPr lang="en-US" sz="1300" dirty="0">
                <a:solidFill>
                  <a:schemeClr val="tx1"/>
                </a:solidFill>
              </a:rPr>
              <a:t>A chip with errors drifts toward random answers, so the score shrinks toward 0</a:t>
            </a:r>
            <a:endParaRPr lang="en-US" sz="1300" dirty="0"/>
          </a:p>
        </p:txBody>
      </p:sp>
      <p:sp>
        <p:nvSpPr>
          <p:cNvPr id="22" name="Known weakness card"/>
          <p:cNvSpPr/>
          <p:nvPr/>
        </p:nvSpPr>
        <p:spPr>
          <a:xfrm>
            <a:off x="4663440" y="2560320"/>
            <a:ext cx="4023360" cy="1965960"/>
          </a:xfrm>
          <a:prstGeom prst="roundRect">
            <a:avLst>
              <a:gd name="adj" fmla="val 3721"/>
            </a:avLst>
          </a:prstGeom>
          <a:solidFill>
            <a:srgbClr val="FDECEC"/>
          </a:solidFill>
          <a:ln w="12700">
            <a:solidFill>
              <a:srgbClr val="FDECEC"/>
            </a:solidFill>
            <a:prstDash val="solid"/>
          </a:ln>
        </p:spPr>
      </p:sp>
      <p:sp>
        <p:nvSpPr>
          <p:cNvPr id="23" name="Text 20"/>
          <p:cNvSpPr txBox="1"/>
          <p:nvPr/>
        </p:nvSpPr>
        <p:spPr>
          <a:xfrm>
            <a:off x="4846320" y="2688336"/>
            <a:ext cx="3657600" cy="292608"/>
          </a:xfrm>
          <a:prstGeom prst="rect">
            <a:avLst/>
          </a:prstGeom>
          <a:noFill/>
          <a:ln/>
        </p:spPr>
        <p:txBody>
          <a:bodyPr wrap="square" lIns="0" tIns="0" rIns="0" bIns="0" rtlCol="0" anchor="t"/>
          <a:lstStyle/>
          <a:p>
            <a:pPr indent="0" marL="0">
              <a:buNone/>
            </a:pPr>
            <a:r>
              <a:rPr lang="en-US" sz="1400" b="1" dirty="0">
                <a:solidFill>
                  <a:schemeClr val="tx1"/>
                </a:solidFill>
              </a:rPr>
              <a:t>Known weakness</a:t>
            </a:r>
            <a:endParaRPr lang="en-US" sz="1400" dirty="0"/>
          </a:p>
        </p:txBody>
      </p:sp>
      <p:sp>
        <p:nvSpPr>
          <p:cNvPr id="24" name="Text 21"/>
          <p:cNvSpPr txBox="1"/>
          <p:nvPr/>
        </p:nvSpPr>
        <p:spPr>
          <a:xfrm>
            <a:off x="4846320" y="3054096"/>
            <a:ext cx="3675888" cy="138074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Too pessimistic for long recipes: predicted 0.04 for the annealing copy where the full chip simulation gave 0.45</a:t>
            </a:r>
            <a:endParaRPr lang="en-US" sz="1300" dirty="0"/>
          </a:p>
          <a:p>
            <a:pPr marL="177800" indent="-177800">
              <a:spcAft>
                <a:spcPts val="400"/>
              </a:spcAft>
              <a:buSzPct val="100000"/>
              <a:buChar char="•"/>
            </a:pPr>
            <a:r>
              <a:rPr lang="en-US" sz="1300" dirty="0">
                <a:solidFill>
                  <a:schemeClr val="tx1"/>
                </a:solidFill>
              </a:rPr>
              <a:t>Ignores crosstalk and some error types; that's why we also run full simulations and the real chip</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Making the 60 practice problems</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5 · The fingerprint and the AI</a:t>
            </a:r>
            <a:endParaRPr lang="en-US" sz="1000" dirty="0"/>
          </a:p>
        </p:txBody>
      </p:sp>
      <p:sp>
        <p:nvSpPr>
          <p:cNvPr id="5" name="flow step 1"/>
          <p:cNvSpPr/>
          <p:nvPr/>
        </p:nvSpPr>
        <p:spPr>
          <a:xfrm>
            <a:off x="457200" y="1143000"/>
            <a:ext cx="1441094" cy="1234440"/>
          </a:xfrm>
          <a:prstGeom prst="roundRect">
            <a:avLst>
              <a:gd name="adj" fmla="val 5926"/>
            </a:avLst>
          </a:prstGeom>
          <a:solidFill>
            <a:srgbClr val="0E9384"/>
          </a:solidFill>
          <a:ln w="12700">
            <a:solidFill>
              <a:srgbClr val="0E9384"/>
            </a:solidFill>
            <a:prstDash val="solid"/>
          </a:ln>
        </p:spPr>
      </p:sp>
      <p:sp>
        <p:nvSpPr>
          <p:cNvPr id="6" name="Text 3"/>
          <p:cNvSpPr txBox="1"/>
          <p:nvPr/>
        </p:nvSpPr>
        <p:spPr>
          <a:xfrm>
            <a:off x="548640"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Pick</a:t>
            </a:r>
            <a:endParaRPr lang="en-US" sz="1300" dirty="0"/>
          </a:p>
          <a:p>
            <a:pPr algn="ctr" indent="0" marL="0">
              <a:buNone/>
            </a:pPr>
            <a:r>
              <a:rPr lang="en-US" sz="1100" dirty="0">
                <a:solidFill>
                  <a:srgbClr val="FFFFFF"/>
                </a:solidFill>
              </a:rPr>
              <a:t>a random field (stocks, tests, drugs, network)</a:t>
            </a:r>
            <a:endParaRPr lang="en-US" sz="1300" dirty="0"/>
          </a:p>
        </p:txBody>
      </p:sp>
      <p:sp>
        <p:nvSpPr>
          <p:cNvPr id="7" name="flow arrow 1"/>
          <p:cNvSpPr/>
          <p:nvPr/>
        </p:nvSpPr>
        <p:spPr>
          <a:xfrm>
            <a:off x="1934870" y="1760220"/>
            <a:ext cx="182880" cy="0"/>
          </a:xfrm>
          <a:prstGeom prst="line">
            <a:avLst/>
          </a:prstGeom>
          <a:noFill/>
          <a:ln w="15875">
            <a:solidFill>
              <a:srgbClr val="667085"/>
            </a:solidFill>
            <a:prstDash val="solid"/>
            <a:tailEnd type="triangle"/>
          </a:ln>
        </p:spPr>
      </p:sp>
      <p:sp>
        <p:nvSpPr>
          <p:cNvPr id="8" name="flow step 2"/>
          <p:cNvSpPr/>
          <p:nvPr/>
        </p:nvSpPr>
        <p:spPr>
          <a:xfrm>
            <a:off x="2154326" y="1143000"/>
            <a:ext cx="1441094" cy="1234440"/>
          </a:xfrm>
          <a:prstGeom prst="roundRect">
            <a:avLst>
              <a:gd name="adj" fmla="val 5926"/>
            </a:avLst>
          </a:prstGeom>
          <a:solidFill>
            <a:srgbClr val="0E9384"/>
          </a:solidFill>
          <a:ln w="12700">
            <a:solidFill>
              <a:srgbClr val="0E9384"/>
            </a:solidFill>
            <a:prstDash val="solid"/>
          </a:ln>
        </p:spPr>
      </p:sp>
      <p:sp>
        <p:nvSpPr>
          <p:cNvPr id="9" name="Text 6"/>
          <p:cNvSpPr txBox="1"/>
          <p:nvPr/>
        </p:nvSpPr>
        <p:spPr>
          <a:xfrm>
            <a:off x="2245766"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Make</a:t>
            </a:r>
            <a:endParaRPr lang="en-US" sz="1300" dirty="0"/>
          </a:p>
          <a:p>
            <a:pPr algn="ctr" indent="0" marL="0">
              <a:buNone/>
            </a:pPr>
            <a:r>
              <a:rPr lang="en-US" sz="1100" dirty="0">
                <a:solidFill>
                  <a:srgbClr val="FFFFFF"/>
                </a:solidFill>
              </a:rPr>
              <a:t>a problem with 5-9 choices</a:t>
            </a:r>
            <a:endParaRPr lang="en-US" sz="1300" dirty="0"/>
          </a:p>
        </p:txBody>
      </p:sp>
      <p:sp>
        <p:nvSpPr>
          <p:cNvPr id="10" name="flow arrow 2"/>
          <p:cNvSpPr/>
          <p:nvPr/>
        </p:nvSpPr>
        <p:spPr>
          <a:xfrm>
            <a:off x="3631997" y="1760220"/>
            <a:ext cx="182880" cy="0"/>
          </a:xfrm>
          <a:prstGeom prst="line">
            <a:avLst/>
          </a:prstGeom>
          <a:noFill/>
          <a:ln w="15875">
            <a:solidFill>
              <a:srgbClr val="667085"/>
            </a:solidFill>
            <a:prstDash val="solid"/>
            <a:tailEnd type="triangle"/>
          </a:ln>
        </p:spPr>
      </p:sp>
      <p:sp>
        <p:nvSpPr>
          <p:cNvPr id="11" name="flow step 3"/>
          <p:cNvSpPr/>
          <p:nvPr/>
        </p:nvSpPr>
        <p:spPr>
          <a:xfrm>
            <a:off x="3851453" y="1143000"/>
            <a:ext cx="1441094" cy="1234440"/>
          </a:xfrm>
          <a:prstGeom prst="roundRect">
            <a:avLst>
              <a:gd name="adj" fmla="val 5926"/>
            </a:avLst>
          </a:prstGeom>
          <a:solidFill>
            <a:srgbClr val="0E9384"/>
          </a:solidFill>
          <a:ln w="12700">
            <a:solidFill>
              <a:srgbClr val="0E9384"/>
            </a:solidFill>
            <a:prstDash val="solid"/>
          </a:ln>
        </p:spPr>
      </p:sp>
      <p:sp>
        <p:nvSpPr>
          <p:cNvPr id="12" name="Text 9"/>
          <p:cNvSpPr txBox="1"/>
          <p:nvPr/>
        </p:nvSpPr>
        <p:spPr>
          <a:xfrm>
            <a:off x="3942893"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Solve 3 ways</a:t>
            </a:r>
            <a:endParaRPr lang="en-US" sz="1300" dirty="0"/>
          </a:p>
          <a:p>
            <a:pPr algn="ctr" indent="0" marL="0">
              <a:buNone/>
            </a:pPr>
            <a:r>
              <a:rPr lang="en-US" sz="1100" dirty="0">
                <a:solidFill>
                  <a:srgbClr val="FFFFFF"/>
                </a:solidFill>
              </a:rPr>
              <a:t>gate, annealing, laptop (simulator)</a:t>
            </a:r>
            <a:endParaRPr lang="en-US" sz="1300" dirty="0"/>
          </a:p>
        </p:txBody>
      </p:sp>
      <p:sp>
        <p:nvSpPr>
          <p:cNvPr id="13" name="flow arrow 3"/>
          <p:cNvSpPr/>
          <p:nvPr/>
        </p:nvSpPr>
        <p:spPr>
          <a:xfrm>
            <a:off x="5329123" y="1760220"/>
            <a:ext cx="182880" cy="0"/>
          </a:xfrm>
          <a:prstGeom prst="line">
            <a:avLst/>
          </a:prstGeom>
          <a:noFill/>
          <a:ln w="15875">
            <a:solidFill>
              <a:srgbClr val="667085"/>
            </a:solidFill>
            <a:prstDash val="solid"/>
            <a:tailEnd type="triangle"/>
          </a:ln>
        </p:spPr>
      </p:sp>
      <p:sp>
        <p:nvSpPr>
          <p:cNvPr id="14" name="flow step 4"/>
          <p:cNvSpPr/>
          <p:nvPr/>
        </p:nvSpPr>
        <p:spPr>
          <a:xfrm>
            <a:off x="5548579" y="1143000"/>
            <a:ext cx="1441094" cy="1234440"/>
          </a:xfrm>
          <a:prstGeom prst="roundRect">
            <a:avLst>
              <a:gd name="adj" fmla="val 5926"/>
            </a:avLst>
          </a:prstGeom>
          <a:solidFill>
            <a:srgbClr val="0E9384"/>
          </a:solidFill>
          <a:ln w="12700">
            <a:solidFill>
              <a:srgbClr val="0E9384"/>
            </a:solidFill>
            <a:prstDash val="solid"/>
          </a:ln>
        </p:spPr>
      </p:sp>
      <p:sp>
        <p:nvSpPr>
          <p:cNvPr id="15" name="Text 12"/>
          <p:cNvSpPr txBox="1"/>
          <p:nvPr/>
        </p:nvSpPr>
        <p:spPr>
          <a:xfrm>
            <a:off x="5640019"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Score</a:t>
            </a:r>
            <a:endParaRPr lang="en-US" sz="1300" dirty="0"/>
          </a:p>
          <a:p>
            <a:pPr algn="ctr" indent="0" marL="0">
              <a:buNone/>
            </a:pPr>
            <a:r>
              <a:rPr lang="en-US" sz="1100" dirty="0">
                <a:solidFill>
                  <a:srgbClr val="FFFFFF"/>
                </a:solidFill>
              </a:rPr>
              <a:t>vs. the true best; estimate chip errors</a:t>
            </a:r>
            <a:endParaRPr lang="en-US" sz="1300" dirty="0"/>
          </a:p>
        </p:txBody>
      </p:sp>
      <p:sp>
        <p:nvSpPr>
          <p:cNvPr id="16" name="flow arrow 4"/>
          <p:cNvSpPr/>
          <p:nvPr/>
        </p:nvSpPr>
        <p:spPr>
          <a:xfrm>
            <a:off x="7026250" y="1760220"/>
            <a:ext cx="182880" cy="0"/>
          </a:xfrm>
          <a:prstGeom prst="line">
            <a:avLst/>
          </a:prstGeom>
          <a:noFill/>
          <a:ln w="15875">
            <a:solidFill>
              <a:srgbClr val="667085"/>
            </a:solidFill>
            <a:prstDash val="solid"/>
            <a:tailEnd type="triangle"/>
          </a:ln>
        </p:spPr>
      </p:sp>
      <p:sp>
        <p:nvSpPr>
          <p:cNvPr id="17" name="flow step 5"/>
          <p:cNvSpPr/>
          <p:nvPr/>
        </p:nvSpPr>
        <p:spPr>
          <a:xfrm>
            <a:off x="7245706" y="1143000"/>
            <a:ext cx="1441094" cy="1234440"/>
          </a:xfrm>
          <a:prstGeom prst="roundRect">
            <a:avLst>
              <a:gd name="adj" fmla="val 5926"/>
            </a:avLst>
          </a:prstGeom>
          <a:solidFill>
            <a:srgbClr val="0E9384"/>
          </a:solidFill>
          <a:ln w="12700">
            <a:solidFill>
              <a:srgbClr val="0E9384"/>
            </a:solidFill>
            <a:prstDash val="solid"/>
          </a:ln>
        </p:spPr>
      </p:sp>
      <p:sp>
        <p:nvSpPr>
          <p:cNvPr id="18" name="Text 15"/>
          <p:cNvSpPr txBox="1"/>
          <p:nvPr/>
        </p:nvSpPr>
        <p:spPr>
          <a:xfrm>
            <a:off x="7337146"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Store</a:t>
            </a:r>
            <a:endParaRPr lang="en-US" sz="1300" dirty="0"/>
          </a:p>
          <a:p>
            <a:pPr algn="ctr" indent="0" marL="0">
              <a:buNone/>
            </a:pPr>
            <a:r>
              <a:rPr lang="en-US" sz="1100" dirty="0">
                <a:solidFill>
                  <a:srgbClr val="FFFFFF"/>
                </a:solidFill>
              </a:rPr>
              <a:t>fingerprint, scores, tuned dials</a:t>
            </a:r>
            <a:endParaRPr lang="en-US" sz="1300" dirty="0"/>
          </a:p>
        </p:txBody>
      </p:sp>
      <p:sp>
        <p:nvSpPr>
          <p:cNvPr id="19" name="What we ended up with card"/>
          <p:cNvSpPr/>
          <p:nvPr/>
        </p:nvSpPr>
        <p:spPr>
          <a:xfrm>
            <a:off x="457200" y="2606040"/>
            <a:ext cx="4023360" cy="1920240"/>
          </a:xfrm>
          <a:prstGeom prst="roundRect">
            <a:avLst>
              <a:gd name="adj" fmla="val 3810"/>
            </a:avLst>
          </a:prstGeom>
          <a:solidFill>
            <a:srgbClr val="F2F2F8"/>
          </a:solidFill>
          <a:ln w="12700">
            <a:solidFill>
              <a:srgbClr val="F2F2F8"/>
            </a:solidFill>
            <a:prstDash val="solid"/>
          </a:ln>
        </p:spPr>
      </p:sp>
      <p:sp>
        <p:nvSpPr>
          <p:cNvPr id="20" name="Text 17"/>
          <p:cNvSpPr txBox="1"/>
          <p:nvPr/>
        </p:nvSpPr>
        <p:spPr>
          <a:xfrm>
            <a:off x="640080" y="2734056"/>
            <a:ext cx="3657600" cy="292608"/>
          </a:xfrm>
          <a:prstGeom prst="rect">
            <a:avLst/>
          </a:prstGeom>
          <a:noFill/>
          <a:ln/>
        </p:spPr>
        <p:txBody>
          <a:bodyPr wrap="square" lIns="0" tIns="0" rIns="0" bIns="0" rtlCol="0" anchor="t"/>
          <a:lstStyle/>
          <a:p>
            <a:pPr indent="0" marL="0">
              <a:buNone/>
            </a:pPr>
            <a:r>
              <a:rPr lang="en-US" sz="1400" b="1" dirty="0">
                <a:solidFill>
                  <a:schemeClr val="tx1"/>
                </a:solidFill>
              </a:rPr>
              <a:t>What we ended up with</a:t>
            </a:r>
            <a:endParaRPr lang="en-US" sz="1400" dirty="0"/>
          </a:p>
        </p:txBody>
      </p:sp>
      <p:sp>
        <p:nvSpPr>
          <p:cNvPr id="21" name="Text 18"/>
          <p:cNvSpPr txBox="1"/>
          <p:nvPr/>
        </p:nvSpPr>
        <p:spPr>
          <a:xfrm>
            <a:off x="640080" y="3099816"/>
            <a:ext cx="3675888" cy="133502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11 stock, 16 drug, 15 medical-test and 18 network problems</a:t>
            </a:r>
            <a:endParaRPr lang="en-US" sz="1300" dirty="0"/>
          </a:p>
          <a:p>
            <a:pPr marL="177800" indent="-177800">
              <a:spcAft>
                <a:spcPts val="400"/>
              </a:spcAft>
              <a:buSzPct val="100000"/>
              <a:buChar char="•"/>
            </a:pPr>
            <a:r>
              <a:rPr lang="en-US" sz="1300" dirty="0">
                <a:solidFill>
                  <a:schemeClr val="tx1"/>
                </a:solidFill>
              </a:rPr>
              <a:t>For each: 9 fingerprint numbers + 3 scores + the gate-based dials</a:t>
            </a:r>
            <a:endParaRPr lang="en-US" sz="1300" dirty="0"/>
          </a:p>
        </p:txBody>
      </p:sp>
      <p:sp>
        <p:nvSpPr>
          <p:cNvPr id="22" name="Settings used card"/>
          <p:cNvSpPr/>
          <p:nvPr/>
        </p:nvSpPr>
        <p:spPr>
          <a:xfrm>
            <a:off x="4663440" y="2560320"/>
            <a:ext cx="4023360" cy="1965960"/>
          </a:xfrm>
          <a:prstGeom prst="roundRect">
            <a:avLst>
              <a:gd name="adj" fmla="val 3721"/>
            </a:avLst>
          </a:prstGeom>
          <a:solidFill>
            <a:srgbClr val="FFF4EA"/>
          </a:solidFill>
          <a:ln w="12700">
            <a:solidFill>
              <a:srgbClr val="FFF4EA"/>
            </a:solidFill>
            <a:prstDash val="solid"/>
          </a:ln>
        </p:spPr>
      </p:sp>
      <p:sp>
        <p:nvSpPr>
          <p:cNvPr id="23" name="Text 20"/>
          <p:cNvSpPr txBox="1"/>
          <p:nvPr/>
        </p:nvSpPr>
        <p:spPr>
          <a:xfrm>
            <a:off x="4846320" y="2688336"/>
            <a:ext cx="3657600" cy="292608"/>
          </a:xfrm>
          <a:prstGeom prst="rect">
            <a:avLst/>
          </a:prstGeom>
          <a:noFill/>
          <a:ln/>
        </p:spPr>
        <p:txBody>
          <a:bodyPr wrap="square" lIns="0" tIns="0" rIns="0" bIns="0" rtlCol="0" anchor="t"/>
          <a:lstStyle/>
          <a:p>
            <a:pPr indent="0" marL="0">
              <a:buNone/>
            </a:pPr>
            <a:r>
              <a:rPr lang="en-US" sz="1400" b="1" dirty="0">
                <a:solidFill>
                  <a:schemeClr val="tx1"/>
                </a:solidFill>
              </a:rPr>
              <a:t>Settings used</a:t>
            </a:r>
            <a:endParaRPr lang="en-US" sz="1400" dirty="0"/>
          </a:p>
        </p:txBody>
      </p:sp>
      <p:sp>
        <p:nvSpPr>
          <p:cNvPr id="24" name="Text 21"/>
          <p:cNvSpPr txBox="1"/>
          <p:nvPr/>
        </p:nvSpPr>
        <p:spPr>
          <a:xfrm>
            <a:off x="4846320" y="3054096"/>
            <a:ext cx="3675888" cy="138074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Gate-based: 1 round, 60 tuning tries, 1,024 shots</a:t>
            </a:r>
            <a:endParaRPr lang="en-US" sz="1300" dirty="0"/>
          </a:p>
          <a:p>
            <a:pPr marL="177800" indent="-177800">
              <a:spcAft>
                <a:spcPts val="400"/>
              </a:spcAft>
              <a:buSzPct val="100000"/>
              <a:buChar char="•"/>
            </a:pPr>
            <a:r>
              <a:rPr lang="en-US" sz="1300" dirty="0">
                <a:solidFill>
                  <a:schemeClr val="tx1"/>
                </a:solidFill>
              </a:rPr>
              <a:t>Annealing copy: fixed 3 rounds, step 0.6, 1,024 shots</a:t>
            </a:r>
            <a:endParaRPr lang="en-US" sz="1300" dirty="0"/>
          </a:p>
          <a:p>
            <a:pPr marL="177800" indent="-177800">
              <a:spcAft>
                <a:spcPts val="400"/>
              </a:spcAft>
              <a:buSzPct val="100000"/>
              <a:buChar char="•"/>
            </a:pPr>
            <a:r>
              <a:rPr lang="en-US" sz="1300" dirty="0">
                <a:solidFill>
                  <a:schemeClr val="tx1"/>
                </a:solidFill>
              </a:rPr>
              <a:t>Laptop: 100 runs. Takes about 40 seconds in total</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The AI: a random forest</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5 · The fingerprint and the AI</a:t>
            </a:r>
            <a:endParaRPr lang="en-US" sz="1000" dirty="0"/>
          </a:p>
        </p:txBody>
      </p:sp>
      <p:sp>
        <p:nvSpPr>
          <p:cNvPr id="5" name="How it works card"/>
          <p:cNvSpPr/>
          <p:nvPr/>
        </p:nvSpPr>
        <p:spPr>
          <a:xfrm>
            <a:off x="457200" y="1097280"/>
            <a:ext cx="4023360" cy="3429000"/>
          </a:xfrm>
          <a:prstGeom prst="roundRect">
            <a:avLst>
              <a:gd name="adj" fmla="val 2133"/>
            </a:avLst>
          </a:prstGeom>
          <a:solidFill>
            <a:srgbClr val="F2F2F8"/>
          </a:solidFill>
          <a:ln w="12700">
            <a:solidFill>
              <a:srgbClr val="F2F2F8"/>
            </a:solidFill>
            <a:prstDash val="solid"/>
          </a:ln>
        </p:spPr>
      </p:sp>
      <p:sp>
        <p:nvSpPr>
          <p:cNvPr id="6" name="Text 3"/>
          <p:cNvSpPr txBox="1"/>
          <p:nvPr/>
        </p:nvSpPr>
        <p:spPr>
          <a:xfrm>
            <a:off x="64008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How it works</a:t>
            </a:r>
            <a:endParaRPr lang="en-US" sz="1400" dirty="0"/>
          </a:p>
        </p:txBody>
      </p:sp>
      <p:sp>
        <p:nvSpPr>
          <p:cNvPr id="7" name="Text 4"/>
          <p:cNvSpPr txBox="1"/>
          <p:nvPr/>
        </p:nvSpPr>
        <p:spPr>
          <a:xfrm>
            <a:off x="640080" y="1591056"/>
            <a:ext cx="3675888" cy="2843784"/>
          </a:xfrm>
          <a:prstGeom prst="rect">
            <a:avLst/>
          </a:prstGeom>
          <a:noFill/>
          <a:ln/>
        </p:spPr>
        <p:txBody>
          <a:bodyPr wrap="square" lIns="0" tIns="0" rIns="0" bIns="0" rtlCol="0" anchor="t"/>
          <a:lstStyle/>
          <a:p>
            <a:pPr marL="177800" indent="-177800">
              <a:spcAft>
                <a:spcPts val="400"/>
              </a:spcAft>
              <a:buSzPct val="100000"/>
              <a:buChar char="•"/>
            </a:pPr>
            <a:r>
              <a:rPr lang="en-US" sz="1300" b="1" dirty="0">
                <a:solidFill>
                  <a:schemeClr val="tx1"/>
                </a:solidFill>
              </a:rPr>
              <a:t>One tree: </a:t>
            </a:r>
            <a:pPr indent="0" marL="0">
              <a:spcAft>
                <a:spcPts val="400"/>
              </a:spcAft>
              <a:buNone/>
            </a:pPr>
            <a:r>
              <a:rPr lang="en-US" sz="1300" dirty="0">
                <a:solidFill>
                  <a:schemeClr val="tx1"/>
                </a:solidFill>
              </a:rPr>
              <a:t>a game of 20 questions, e.g. 'is density above 0.8? is the annealing success chance below 0.1?' → predicted scores</a:t>
            </a:r>
            <a:endParaRPr lang="en-US" sz="1300" dirty="0"/>
          </a:p>
          <a:p>
            <a:pPr marL="177800" indent="-177800">
              <a:spcAft>
                <a:spcPts val="400"/>
              </a:spcAft>
              <a:buSzPct val="100000"/>
              <a:buChar char="•"/>
            </a:pPr>
            <a:r>
              <a:rPr lang="en-US" sz="1300" b="1" dirty="0">
                <a:solidFill>
                  <a:schemeClr val="tx1"/>
                </a:solidFill>
              </a:rPr>
              <a:t>300 trees: </a:t>
            </a:r>
            <a:pPr indent="0" marL="0">
              <a:spcAft>
                <a:spcPts val="400"/>
              </a:spcAft>
              <a:buNone/>
            </a:pPr>
            <a:r>
              <a:rPr lang="en-US" sz="1300" dirty="0">
                <a:solidFill>
                  <a:schemeClr val="tx1"/>
                </a:solidFill>
              </a:rPr>
              <a:t>each trained on a random slice of the 60 problems, so each is a bit different</a:t>
            </a:r>
            <a:endParaRPr lang="en-US" sz="1300" dirty="0"/>
          </a:p>
          <a:p>
            <a:pPr marL="177800" indent="-177800">
              <a:spcAft>
                <a:spcPts val="400"/>
              </a:spcAft>
              <a:buSzPct val="100000"/>
              <a:buChar char="•"/>
            </a:pPr>
            <a:r>
              <a:rPr lang="en-US" sz="1300" b="1" dirty="0">
                <a:solidFill>
                  <a:schemeClr val="tx1"/>
                </a:solidFill>
              </a:rPr>
              <a:t>Prediction: </a:t>
            </a:r>
            <a:pPr indent="0" marL="0">
              <a:spcAft>
                <a:spcPts val="400"/>
              </a:spcAft>
              <a:buNone/>
            </a:pPr>
            <a:r>
              <a:rPr lang="en-US" sz="1300" dirty="0">
                <a:solidFill>
                  <a:schemeClr val="tx1"/>
                </a:solidFill>
              </a:rPr>
              <a:t>the average of all 300 trees, so one bad tree can't dominate</a:t>
            </a:r>
            <a:endParaRPr lang="en-US" sz="1300" dirty="0"/>
          </a:p>
          <a:p>
            <a:pPr marL="177800" indent="-177800">
              <a:spcAft>
                <a:spcPts val="400"/>
              </a:spcAft>
              <a:buSzPct val="100000"/>
              <a:buChar char="•"/>
            </a:pPr>
            <a:r>
              <a:rPr lang="en-US" sz="1300" b="1" dirty="0">
                <a:solidFill>
                  <a:schemeClr val="tx1"/>
                </a:solidFill>
              </a:rPr>
              <a:t>Output: </a:t>
            </a:r>
            <a:pPr indent="0" marL="0">
              <a:spcAft>
                <a:spcPts val="400"/>
              </a:spcAft>
              <a:buNone/>
            </a:pPr>
            <a:r>
              <a:rPr lang="en-US" sz="1300" dirty="0">
                <a:solidFill>
                  <a:schemeClr val="tx1"/>
                </a:solidFill>
              </a:rPr>
              <a:t>predicted score for gate-based, annealing and laptop</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663440" y="1097280"/>
          <a:ext cx="4023360" cy="914400"/>
        </p:xfrm>
        <a:graphic>
          <a:graphicData uri="http://schemas.openxmlformats.org/drawingml/2006/table">
            <a:tbl>
              <a:tblPr/>
              <a:tblGrid>
                <a:gridCol w="2926080"/>
                <a:gridCol w="1097280"/>
              </a:tblGrid>
              <a:tr h="384048">
                <a:tc>
                  <a:txBody>
                    <a:bodyPr/>
                    <a:lstStyle/>
                    <a:p>
                      <a:pPr indent="0" marL="0">
                        <a:buNone/>
                      </a:pPr>
                      <a:r>
                        <a:rPr lang="en-US" sz="1200" b="1" dirty="0">
                          <a:solidFill>
                            <a:srgbClr val="FFFFFF"/>
                          </a:solidFill>
                        </a:rPr>
                        <a:t>What the AI relies on</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Share</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384048">
                <a:tc>
                  <a:txBody>
                    <a:bodyPr/>
                    <a:lstStyle/>
                    <a:p>
                      <a:pPr indent="0" marL="0">
                        <a:buNone/>
                      </a:pPr>
                      <a:r>
                        <a:rPr lang="en-US" sz="1200" dirty="0">
                          <a:solidFill>
                            <a:srgbClr val="1B1D36"/>
                          </a:solidFill>
                        </a:rPr>
                        <a:t>Success chance, annealing</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53%</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384048">
                <a:tc>
                  <a:txBody>
                    <a:bodyPr/>
                    <a:lstStyle/>
                    <a:p>
                      <a:pPr indent="0" marL="0">
                        <a:buNone/>
                      </a:pPr>
                      <a:r>
                        <a:rPr lang="en-US" sz="1200" dirty="0">
                          <a:solidFill>
                            <a:srgbClr val="1B1D36"/>
                          </a:solidFill>
                        </a:rPr>
                        <a:t>Success chance, gate-based</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17%</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1D36"/>
                          </a:solidFill>
                        </a:rPr>
                        <a:t>Average links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7%</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384048">
                <a:tc>
                  <a:txBody>
                    <a:bodyPr/>
                    <a:lstStyle/>
                    <a:p>
                      <a:pPr indent="0" marL="0">
                        <a:buNone/>
                      </a:pPr>
                      <a:r>
                        <a:rPr lang="en-US" sz="1200" dirty="0">
                          <a:solidFill>
                            <a:srgbClr val="1B1D36"/>
                          </a:solidFill>
                        </a:rPr>
                        <a:t>Link steps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5%</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1D36"/>
                          </a:solidFill>
                        </a:rPr>
                        <a:t>Number spread</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5%</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384048">
                <a:tc>
                  <a:txBody>
                    <a:bodyPr/>
                    <a:lstStyle/>
                    <a:p>
                      <a:pPr indent="0" marL="0">
                        <a:buNone/>
                      </a:pPr>
                      <a:r>
                        <a:rPr lang="en-US" sz="1200" dirty="0">
                          <a:solidFill>
                            <a:srgbClr val="1B1D36"/>
                          </a:solidFill>
                        </a:rPr>
                        <a:t>Recipe length</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5%</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B1D36"/>
                          </a:solidFill>
                        </a:rPr>
                        <a:t>Density, most links, size</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8%</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bl>
          </a:graphicData>
        </a:graphic>
      </p:graphicFrame>
      <p:sp>
        <p:nvSpPr>
          <p:cNvPr id="9" name="Text 5"/>
          <p:cNvSpPr txBox="1"/>
          <p:nvPr/>
        </p:nvSpPr>
        <p:spPr>
          <a:xfrm>
            <a:off x="4663440" y="4114800"/>
            <a:ext cx="4023360" cy="411480"/>
          </a:xfrm>
          <a:prstGeom prst="rect">
            <a:avLst/>
          </a:prstGeom>
          <a:noFill/>
          <a:ln/>
        </p:spPr>
        <p:txBody>
          <a:bodyPr wrap="square" lIns="0" tIns="0" rIns="0" bIns="0" rtlCol="0" anchor="t"/>
          <a:lstStyle/>
          <a:p>
            <a:pPr indent="0" marL="0">
              <a:buNone/>
            </a:pPr>
            <a:r>
              <a:rPr lang="en-US" sz="1200" i="1" dirty="0">
                <a:solidFill>
                  <a:schemeClr val="tx2"/>
                </a:solidFill>
              </a:rPr>
              <a:t>It learned by itself that 'can the chip afford the annealing recipe?' is the key question.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The routing rule: how the final choice is made</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5 · The fingerprint and the AI</a:t>
            </a:r>
            <a:endParaRPr lang="en-US" sz="1000" dirty="0"/>
          </a:p>
        </p:txBody>
      </p:sp>
      <p:sp>
        <p:nvSpPr>
          <p:cNvPr id="5" name="flow step 1"/>
          <p:cNvSpPr/>
          <p:nvPr/>
        </p:nvSpPr>
        <p:spPr>
          <a:xfrm>
            <a:off x="457200" y="1143000"/>
            <a:ext cx="1441094" cy="1234440"/>
          </a:xfrm>
          <a:prstGeom prst="roundRect">
            <a:avLst>
              <a:gd name="adj" fmla="val 5926"/>
            </a:avLst>
          </a:prstGeom>
          <a:solidFill>
            <a:srgbClr val="5B4FD1"/>
          </a:solidFill>
          <a:ln w="12700">
            <a:solidFill>
              <a:srgbClr val="5B4FD1"/>
            </a:solidFill>
            <a:prstDash val="solid"/>
          </a:ln>
        </p:spPr>
      </p:sp>
      <p:sp>
        <p:nvSpPr>
          <p:cNvPr id="6" name="Text 3"/>
          <p:cNvSpPr txBox="1"/>
          <p:nvPr/>
        </p:nvSpPr>
        <p:spPr>
          <a:xfrm>
            <a:off x="548640"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Predict</a:t>
            </a:r>
            <a:endParaRPr lang="en-US" sz="1300" dirty="0"/>
          </a:p>
          <a:p>
            <a:pPr algn="ctr" indent="0" marL="0">
              <a:buNone/>
            </a:pPr>
            <a:r>
              <a:rPr lang="en-US" sz="1100" dirty="0">
                <a:solidFill>
                  <a:srgbClr val="FFFFFF"/>
                </a:solidFill>
              </a:rPr>
              <a:t>gate, annealing and laptop scores</a:t>
            </a:r>
            <a:endParaRPr lang="en-US" sz="1300" dirty="0"/>
          </a:p>
        </p:txBody>
      </p:sp>
      <p:sp>
        <p:nvSpPr>
          <p:cNvPr id="7" name="flow arrow 1"/>
          <p:cNvSpPr/>
          <p:nvPr/>
        </p:nvSpPr>
        <p:spPr>
          <a:xfrm>
            <a:off x="1934870" y="1760220"/>
            <a:ext cx="182880" cy="0"/>
          </a:xfrm>
          <a:prstGeom prst="line">
            <a:avLst/>
          </a:prstGeom>
          <a:noFill/>
          <a:ln w="15875">
            <a:solidFill>
              <a:srgbClr val="667085"/>
            </a:solidFill>
            <a:prstDash val="solid"/>
            <a:tailEnd type="triangle"/>
          </a:ln>
        </p:spPr>
      </p:sp>
      <p:sp>
        <p:nvSpPr>
          <p:cNvPr id="8" name="flow step 2"/>
          <p:cNvSpPr/>
          <p:nvPr/>
        </p:nvSpPr>
        <p:spPr>
          <a:xfrm>
            <a:off x="2154326" y="1143000"/>
            <a:ext cx="1441094" cy="1234440"/>
          </a:xfrm>
          <a:prstGeom prst="roundRect">
            <a:avLst>
              <a:gd name="adj" fmla="val 5926"/>
            </a:avLst>
          </a:prstGeom>
          <a:solidFill>
            <a:srgbClr val="5B4FD1"/>
          </a:solidFill>
          <a:ln w="12700">
            <a:solidFill>
              <a:srgbClr val="5B4FD1"/>
            </a:solidFill>
            <a:prstDash val="solid"/>
          </a:ln>
        </p:spPr>
      </p:sp>
      <p:sp>
        <p:nvSpPr>
          <p:cNvPr id="9" name="Text 6"/>
          <p:cNvSpPr txBox="1"/>
          <p:nvPr/>
        </p:nvSpPr>
        <p:spPr>
          <a:xfrm>
            <a:off x="2245766"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Compare</a:t>
            </a:r>
            <a:endParaRPr lang="en-US" sz="1300" dirty="0"/>
          </a:p>
          <a:p>
            <a:pPr algn="ctr" indent="0" marL="0">
              <a:buNone/>
            </a:pPr>
            <a:r>
              <a:rPr lang="en-US" sz="1100" dirty="0">
                <a:solidFill>
                  <a:srgbClr val="FFFFFF"/>
                </a:solidFill>
              </a:rPr>
              <a:t>gate vs. annealing: take the higher</a:t>
            </a:r>
            <a:endParaRPr lang="en-US" sz="1300" dirty="0"/>
          </a:p>
        </p:txBody>
      </p:sp>
      <p:sp>
        <p:nvSpPr>
          <p:cNvPr id="10" name="flow arrow 2"/>
          <p:cNvSpPr/>
          <p:nvPr/>
        </p:nvSpPr>
        <p:spPr>
          <a:xfrm>
            <a:off x="3631997" y="1760220"/>
            <a:ext cx="182880" cy="0"/>
          </a:xfrm>
          <a:prstGeom prst="line">
            <a:avLst/>
          </a:prstGeom>
          <a:noFill/>
          <a:ln w="15875">
            <a:solidFill>
              <a:srgbClr val="667085"/>
            </a:solidFill>
            <a:prstDash val="solid"/>
            <a:tailEnd type="triangle"/>
          </a:ln>
        </p:spPr>
      </p:sp>
      <p:sp>
        <p:nvSpPr>
          <p:cNvPr id="11" name="flow step 3"/>
          <p:cNvSpPr/>
          <p:nvPr/>
        </p:nvSpPr>
        <p:spPr>
          <a:xfrm>
            <a:off x="3851453" y="1143000"/>
            <a:ext cx="1441094" cy="1234440"/>
          </a:xfrm>
          <a:prstGeom prst="roundRect">
            <a:avLst>
              <a:gd name="adj" fmla="val 5926"/>
            </a:avLst>
          </a:prstGeom>
          <a:solidFill>
            <a:srgbClr val="E8833A"/>
          </a:solidFill>
          <a:ln w="12700">
            <a:solidFill>
              <a:srgbClr val="E8833A"/>
            </a:solidFill>
            <a:prstDash val="solid"/>
          </a:ln>
        </p:spPr>
      </p:sp>
      <p:sp>
        <p:nvSpPr>
          <p:cNvPr id="12" name="Text 9"/>
          <p:cNvSpPr txBox="1"/>
          <p:nvPr/>
        </p:nvSpPr>
        <p:spPr>
          <a:xfrm>
            <a:off x="3942893"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Check</a:t>
            </a:r>
            <a:endParaRPr lang="en-US" sz="1300" dirty="0"/>
          </a:p>
          <a:p>
            <a:pPr algn="ctr" indent="0" marL="0">
              <a:buNone/>
            </a:pPr>
            <a:r>
              <a:rPr lang="en-US" sz="1100" dirty="0">
                <a:solidFill>
                  <a:srgbClr val="FFFFFF"/>
                </a:solidFill>
              </a:rPr>
              <a:t>is it at least 0.5?</a:t>
            </a:r>
            <a:endParaRPr lang="en-US" sz="1300" dirty="0"/>
          </a:p>
        </p:txBody>
      </p:sp>
      <p:sp>
        <p:nvSpPr>
          <p:cNvPr id="13" name="flow arrow 3"/>
          <p:cNvSpPr/>
          <p:nvPr/>
        </p:nvSpPr>
        <p:spPr>
          <a:xfrm>
            <a:off x="5329123" y="1760220"/>
            <a:ext cx="182880" cy="0"/>
          </a:xfrm>
          <a:prstGeom prst="line">
            <a:avLst/>
          </a:prstGeom>
          <a:noFill/>
          <a:ln w="15875">
            <a:solidFill>
              <a:srgbClr val="667085"/>
            </a:solidFill>
            <a:prstDash val="solid"/>
            <a:tailEnd type="triangle"/>
          </a:ln>
        </p:spPr>
      </p:sp>
      <p:sp>
        <p:nvSpPr>
          <p:cNvPr id="14" name="flow step 4"/>
          <p:cNvSpPr/>
          <p:nvPr/>
        </p:nvSpPr>
        <p:spPr>
          <a:xfrm>
            <a:off x="5548579" y="1143000"/>
            <a:ext cx="1441094" cy="1234440"/>
          </a:xfrm>
          <a:prstGeom prst="roundRect">
            <a:avLst>
              <a:gd name="adj" fmla="val 5926"/>
            </a:avLst>
          </a:prstGeom>
          <a:solidFill>
            <a:srgbClr val="0E9384"/>
          </a:solidFill>
          <a:ln w="12700">
            <a:solidFill>
              <a:srgbClr val="0E9384"/>
            </a:solidFill>
            <a:prstDash val="solid"/>
          </a:ln>
        </p:spPr>
      </p:sp>
      <p:sp>
        <p:nvSpPr>
          <p:cNvPr id="15" name="Text 12"/>
          <p:cNvSpPr txBox="1"/>
          <p:nvPr/>
        </p:nvSpPr>
        <p:spPr>
          <a:xfrm>
            <a:off x="5640019"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Yes →</a:t>
            </a:r>
            <a:endParaRPr lang="en-US" sz="1300" dirty="0"/>
          </a:p>
          <a:p>
            <a:pPr algn="ctr" indent="0" marL="0">
              <a:buNone/>
            </a:pPr>
            <a:r>
              <a:rPr lang="en-US" sz="1100" dirty="0">
                <a:solidFill>
                  <a:srgbClr val="FFFFFF"/>
                </a:solidFill>
              </a:rPr>
              <a:t>send to that quantum kind</a:t>
            </a:r>
            <a:endParaRPr lang="en-US" sz="1300" dirty="0"/>
          </a:p>
        </p:txBody>
      </p:sp>
      <p:sp>
        <p:nvSpPr>
          <p:cNvPr id="16" name="flow arrow 4"/>
          <p:cNvSpPr/>
          <p:nvPr/>
        </p:nvSpPr>
        <p:spPr>
          <a:xfrm>
            <a:off x="7026250" y="1760220"/>
            <a:ext cx="182880" cy="0"/>
          </a:xfrm>
          <a:prstGeom prst="line">
            <a:avLst/>
          </a:prstGeom>
          <a:noFill/>
          <a:ln w="15875">
            <a:solidFill>
              <a:srgbClr val="667085"/>
            </a:solidFill>
            <a:prstDash val="solid"/>
            <a:tailEnd type="triangle"/>
          </a:ln>
        </p:spPr>
      </p:sp>
      <p:sp>
        <p:nvSpPr>
          <p:cNvPr id="17" name="flow step 5"/>
          <p:cNvSpPr/>
          <p:nvPr/>
        </p:nvSpPr>
        <p:spPr>
          <a:xfrm>
            <a:off x="7245706" y="1143000"/>
            <a:ext cx="1441094" cy="1234440"/>
          </a:xfrm>
          <a:prstGeom prst="roundRect">
            <a:avLst>
              <a:gd name="adj" fmla="val 5926"/>
            </a:avLst>
          </a:prstGeom>
          <a:solidFill>
            <a:srgbClr val="667085"/>
          </a:solidFill>
          <a:ln w="12700">
            <a:solidFill>
              <a:srgbClr val="667085"/>
            </a:solidFill>
            <a:prstDash val="solid"/>
          </a:ln>
        </p:spPr>
      </p:sp>
      <p:sp>
        <p:nvSpPr>
          <p:cNvPr id="18" name="Text 15"/>
          <p:cNvSpPr txBox="1"/>
          <p:nvPr/>
        </p:nvSpPr>
        <p:spPr>
          <a:xfrm>
            <a:off x="7337146"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No →</a:t>
            </a:r>
            <a:endParaRPr lang="en-US" sz="1300" dirty="0"/>
          </a:p>
          <a:p>
            <a:pPr algn="ctr" indent="0" marL="0">
              <a:buNone/>
            </a:pPr>
            <a:r>
              <a:rPr lang="en-US" sz="1100" dirty="0">
                <a:solidFill>
                  <a:srgbClr val="FFFFFF"/>
                </a:solidFill>
              </a:rPr>
              <a:t>send to the laptop</a:t>
            </a:r>
            <a:endParaRPr lang="en-US" sz="1300" dirty="0"/>
          </a:p>
        </p:txBody>
      </p:sp>
      <p:sp>
        <p:nvSpPr>
          <p:cNvPr id="19" name="Why 0.5? card"/>
          <p:cNvSpPr/>
          <p:nvPr/>
        </p:nvSpPr>
        <p:spPr>
          <a:xfrm>
            <a:off x="457200" y="2606040"/>
            <a:ext cx="4023360" cy="1920240"/>
          </a:xfrm>
          <a:prstGeom prst="roundRect">
            <a:avLst>
              <a:gd name="adj" fmla="val 3810"/>
            </a:avLst>
          </a:prstGeom>
          <a:solidFill>
            <a:srgbClr val="F2F2F8"/>
          </a:solidFill>
          <a:ln w="12700">
            <a:solidFill>
              <a:srgbClr val="F2F2F8"/>
            </a:solidFill>
            <a:prstDash val="solid"/>
          </a:ln>
        </p:spPr>
      </p:sp>
      <p:sp>
        <p:nvSpPr>
          <p:cNvPr id="20" name="Text 17"/>
          <p:cNvSpPr txBox="1"/>
          <p:nvPr/>
        </p:nvSpPr>
        <p:spPr>
          <a:xfrm>
            <a:off x="640080" y="2734056"/>
            <a:ext cx="3657600" cy="292608"/>
          </a:xfrm>
          <a:prstGeom prst="rect">
            <a:avLst/>
          </a:prstGeom>
          <a:noFill/>
          <a:ln/>
        </p:spPr>
        <p:txBody>
          <a:bodyPr wrap="square" lIns="0" tIns="0" rIns="0" bIns="0" rtlCol="0" anchor="t"/>
          <a:lstStyle/>
          <a:p>
            <a:pPr indent="0" marL="0">
              <a:buNone/>
            </a:pPr>
            <a:r>
              <a:rPr lang="en-US" sz="1400" b="1" dirty="0">
                <a:solidFill>
                  <a:schemeClr val="tx1"/>
                </a:solidFill>
              </a:rPr>
              <a:t>Why 0.5?</a:t>
            </a:r>
            <a:endParaRPr lang="en-US" sz="1400" dirty="0"/>
          </a:p>
        </p:txBody>
      </p:sp>
      <p:sp>
        <p:nvSpPr>
          <p:cNvPr id="21" name="Text 18"/>
          <p:cNvSpPr txBox="1"/>
          <p:nvPr/>
        </p:nvSpPr>
        <p:spPr>
          <a:xfrm>
            <a:off x="640080" y="3099816"/>
            <a:ext cx="3675888" cy="133502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0.5 = the quantum answer captures at least half the gap between a random guess and the perfect answer</a:t>
            </a:r>
            <a:endParaRPr lang="en-US" sz="1300" dirty="0"/>
          </a:p>
          <a:p>
            <a:pPr marL="177800" indent="-177800">
              <a:spcAft>
                <a:spcPts val="400"/>
              </a:spcAft>
              <a:buSzPct val="100000"/>
              <a:buChar char="•"/>
            </a:pPr>
            <a:r>
              <a:rPr lang="en-US" sz="1300" dirty="0">
                <a:solidFill>
                  <a:schemeClr val="tx1"/>
                </a:solidFill>
              </a:rPr>
              <a:t>Below that, quantum time isn't worth spending</a:t>
            </a:r>
            <a:endParaRPr lang="en-US" sz="1300" dirty="0"/>
          </a:p>
        </p:txBody>
      </p:sp>
      <p:sp>
        <p:nvSpPr>
          <p:cNvPr id="22" name="Honest caveat card"/>
          <p:cNvSpPr/>
          <p:nvPr/>
        </p:nvSpPr>
        <p:spPr>
          <a:xfrm>
            <a:off x="4663440" y="2606040"/>
            <a:ext cx="4023360" cy="1920240"/>
          </a:xfrm>
          <a:prstGeom prst="roundRect">
            <a:avLst>
              <a:gd name="adj" fmla="val 3810"/>
            </a:avLst>
          </a:prstGeom>
          <a:solidFill>
            <a:srgbClr val="FDECEC"/>
          </a:solidFill>
          <a:ln w="12700">
            <a:solidFill>
              <a:srgbClr val="FDECEC"/>
            </a:solidFill>
            <a:prstDash val="solid"/>
          </a:ln>
        </p:spPr>
      </p:sp>
      <p:sp>
        <p:nvSpPr>
          <p:cNvPr id="23" name="Text 20"/>
          <p:cNvSpPr txBox="1"/>
          <p:nvPr/>
        </p:nvSpPr>
        <p:spPr>
          <a:xfrm>
            <a:off x="4846320" y="2734056"/>
            <a:ext cx="3657600" cy="292608"/>
          </a:xfrm>
          <a:prstGeom prst="rect">
            <a:avLst/>
          </a:prstGeom>
          <a:noFill/>
          <a:ln/>
        </p:spPr>
        <p:txBody>
          <a:bodyPr wrap="square" lIns="0" tIns="0" rIns="0" bIns="0" rtlCol="0" anchor="t"/>
          <a:lstStyle/>
          <a:p>
            <a:pPr indent="0" marL="0">
              <a:buNone/>
            </a:pPr>
            <a:r>
              <a:rPr lang="en-US" sz="1400" b="1" dirty="0">
                <a:solidFill>
                  <a:schemeClr val="tx1"/>
                </a:solidFill>
              </a:rPr>
              <a:t>Honest caveat</a:t>
            </a:r>
            <a:endParaRPr lang="en-US" sz="1400" dirty="0"/>
          </a:p>
        </p:txBody>
      </p:sp>
      <p:sp>
        <p:nvSpPr>
          <p:cNvPr id="24" name="Text 21"/>
          <p:cNvSpPr txBox="1"/>
          <p:nvPr/>
        </p:nvSpPr>
        <p:spPr>
          <a:xfrm>
            <a:off x="4846320" y="3099816"/>
            <a:ext cx="3675888" cy="133502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The laptop scores about 0.97, so on pure quality it always wins today</a:t>
            </a:r>
            <a:endParaRPr lang="en-US" sz="1300" dirty="0"/>
          </a:p>
          <a:p>
            <a:pPr marL="177800" indent="-177800">
              <a:spcAft>
                <a:spcPts val="400"/>
              </a:spcAft>
              <a:buSzPct val="100000"/>
              <a:buChar char="•"/>
            </a:pPr>
            <a:r>
              <a:rPr lang="en-US" sz="1300" dirty="0">
                <a:solidFill>
                  <a:schemeClr val="tx1"/>
                </a:solidFill>
              </a:rPr>
              <a:t>The rule asks 'is quantum good enough to be worth trying?', not 'does quantum beat the laptop?'</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Test 1: are the AI's predictions accurate?</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5 · The fingerprint and the AI</a:t>
            </a:r>
            <a:endParaRPr lang="en-US" sz="1000" dirty="0"/>
          </a:p>
        </p:txBody>
      </p:sp>
      <p:sp>
        <p:nvSpPr>
          <p:cNvPr id="5" name="How the test works (5-fold) card"/>
          <p:cNvSpPr/>
          <p:nvPr/>
        </p:nvSpPr>
        <p:spPr>
          <a:xfrm>
            <a:off x="457200" y="1097280"/>
            <a:ext cx="4023360" cy="3429000"/>
          </a:xfrm>
          <a:prstGeom prst="roundRect">
            <a:avLst>
              <a:gd name="adj" fmla="val 2133"/>
            </a:avLst>
          </a:prstGeom>
          <a:solidFill>
            <a:srgbClr val="F2F2F8"/>
          </a:solidFill>
          <a:ln w="12700">
            <a:solidFill>
              <a:srgbClr val="F2F2F8"/>
            </a:solidFill>
            <a:prstDash val="solid"/>
          </a:ln>
        </p:spPr>
      </p:sp>
      <p:sp>
        <p:nvSpPr>
          <p:cNvPr id="6" name="Text 3"/>
          <p:cNvSpPr txBox="1"/>
          <p:nvPr/>
        </p:nvSpPr>
        <p:spPr>
          <a:xfrm>
            <a:off x="64008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How the test works (5-fold)</a:t>
            </a:r>
            <a:endParaRPr lang="en-US" sz="1400" dirty="0"/>
          </a:p>
        </p:txBody>
      </p:sp>
      <p:sp>
        <p:nvSpPr>
          <p:cNvPr id="7" name="Text 4"/>
          <p:cNvSpPr txBox="1"/>
          <p:nvPr/>
        </p:nvSpPr>
        <p:spPr>
          <a:xfrm>
            <a:off x="640080" y="1591056"/>
            <a:ext cx="3675888" cy="28437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Split the 60 problems into 5 groups of 12</a:t>
            </a:r>
            <a:endParaRPr lang="en-US" sz="1300" dirty="0"/>
          </a:p>
          <a:p>
            <a:pPr marL="177800" indent="-177800">
              <a:spcAft>
                <a:spcPts val="400"/>
              </a:spcAft>
              <a:buSzPct val="100000"/>
              <a:buChar char="•"/>
            </a:pPr>
            <a:r>
              <a:rPr lang="en-US" sz="1300" dirty="0">
                <a:solidFill>
                  <a:schemeClr val="tx1"/>
                </a:solidFill>
              </a:rPr>
              <a:t>Train on 4 groups (48), predict the 5th (12)</a:t>
            </a:r>
            <a:endParaRPr lang="en-US" sz="1300" dirty="0"/>
          </a:p>
          <a:p>
            <a:pPr marL="177800" indent="-177800">
              <a:spcAft>
                <a:spcPts val="400"/>
              </a:spcAft>
              <a:buSzPct val="100000"/>
              <a:buChar char="•"/>
            </a:pPr>
            <a:r>
              <a:rPr lang="en-US" sz="1300" dirty="0">
                <a:solidFill>
                  <a:schemeClr val="tx1"/>
                </a:solidFill>
              </a:rPr>
              <a:t>Rotate 5 times so every problem gets predicted once by a model that never saw it</a:t>
            </a:r>
            <a:endParaRPr lang="en-US" sz="1300" dirty="0"/>
          </a:p>
          <a:p>
            <a:pPr marL="177800" indent="-177800">
              <a:spcAft>
                <a:spcPts val="400"/>
              </a:spcAft>
              <a:buSzPct val="100000"/>
              <a:buChar char="•"/>
            </a:pPr>
            <a:r>
              <a:rPr lang="en-US" sz="1300" dirty="0">
                <a:solidFill>
                  <a:schemeClr val="tx1"/>
                </a:solidFill>
              </a:rPr>
              <a:t>Compare predictions with the real scores</a:t>
            </a:r>
            <a:endParaRPr lang="en-US" sz="1300" dirty="0"/>
          </a:p>
          <a:p>
            <a:pPr marL="177800" indent="-177800">
              <a:spcAft>
                <a:spcPts val="400"/>
              </a:spcAft>
              <a:buSzPct val="100000"/>
              <a:buChar char="•"/>
            </a:pPr>
            <a:r>
              <a:rPr lang="en-US" sz="1300" b="1" dirty="0">
                <a:solidFill>
                  <a:schemeClr val="tx1"/>
                </a:solidFill>
              </a:rPr>
              <a:t>Good means: </a:t>
            </a:r>
            <a:pPr indent="0" marL="0">
              <a:spcAft>
                <a:spcPts val="400"/>
              </a:spcAft>
              <a:buNone/>
            </a:pPr>
            <a:r>
              <a:rPr lang="en-US" sz="1300" dirty="0">
                <a:solidFill>
                  <a:schemeClr val="tx1"/>
                </a:solidFill>
              </a:rPr>
              <a:t>the error is much smaller than the natural spread of scores</a:t>
            </a:r>
            <a:endParaRPr lang="en-US" sz="13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663440" y="1097280"/>
          <a:ext cx="4023360" cy="914400"/>
        </p:xfrm>
        <a:graphic>
          <a:graphicData uri="http://schemas.openxmlformats.org/drawingml/2006/table">
            <a:tbl>
              <a:tblPr/>
              <a:tblGrid>
                <a:gridCol w="1097280"/>
                <a:gridCol w="960120"/>
                <a:gridCol w="1051560"/>
                <a:gridCol w="914400"/>
              </a:tblGrid>
              <a:tr h="457200">
                <a:tc>
                  <a:txBody>
                    <a:bodyPr/>
                    <a:lstStyle/>
                    <a:p>
                      <a:pPr indent="0" marL="0">
                        <a:buNone/>
                      </a:pPr>
                      <a:r>
                        <a:rPr lang="en-US" sz="1200" b="1" dirty="0">
                          <a:solidFill>
                            <a:srgbClr val="FFFFFF"/>
                          </a:solidFill>
                        </a:rPr>
                        <a:t>Solver</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Average error</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Natural spread</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Verdict</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457200">
                <a:tc>
                  <a:txBody>
                    <a:bodyPr/>
                    <a:lstStyle/>
                    <a:p>
                      <a:pPr indent="0" marL="0">
                        <a:buNone/>
                      </a:pPr>
                      <a:r>
                        <a:rPr lang="en-US" sz="1200" dirty="0">
                          <a:solidFill>
                            <a:srgbClr val="1B1D36"/>
                          </a:solidFill>
                        </a:rPr>
                        <a:t>Gate-based</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0.026</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0.068</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useful</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57200">
                <a:tc>
                  <a:txBody>
                    <a:bodyPr/>
                    <a:lstStyle/>
                    <a:p>
                      <a:pPr indent="0" marL="0">
                        <a:buNone/>
                      </a:pPr>
                      <a:r>
                        <a:rPr lang="en-US" sz="1200" dirty="0">
                          <a:solidFill>
                            <a:srgbClr val="1B1D36"/>
                          </a:solidFill>
                        </a:rPr>
                        <a:t>Annealing</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0.019</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0.123</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very useful</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B1D36"/>
                          </a:solidFill>
                        </a:rPr>
                        <a:t>Laptop</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0.010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0.021</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barely varies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bl>
          </a:graphicData>
        </a:graphic>
      </p:graphicFrame>
      <p:sp>
        <p:nvSpPr>
          <p:cNvPr id="9" name="Text 5"/>
          <p:cNvSpPr txBox="1"/>
          <p:nvPr/>
        </p:nvSpPr>
        <p:spPr>
          <a:xfrm>
            <a:off x="4663440" y="3108960"/>
            <a:ext cx="4023360" cy="1371600"/>
          </a:xfrm>
          <a:prstGeom prst="rect">
            <a:avLst/>
          </a:prstGeom>
          <a:noFill/>
          <a:ln/>
        </p:spPr>
        <p:txBody>
          <a:bodyPr wrap="square" lIns="0" tIns="0" rIns="0" bIns="0" rtlCol="0" anchor="t"/>
          <a:lstStyle/>
          <a:p>
            <a:pPr indent="0" marL="0">
              <a:buNone/>
            </a:pPr>
            <a:r>
              <a:rPr lang="en-US" sz="1200" i="1" dirty="0">
                <a:solidFill>
                  <a:schemeClr val="tx2"/>
                </a:solidFill>
              </a:rPr>
              <a:t>We first reported a single 'R²' score of −6.2. That was a math artifact: the laptop's scores barely vary, which breaks R². Per-solver error is the honest measure.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Test 2: does it work on an industry it never saw?</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5 · The fingerprint and the AI</a:t>
            </a:r>
            <a:endParaRPr lang="en-US" sz="1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554480"/>
                <a:gridCol w="2194560"/>
                <a:gridCol w="1188720"/>
                <a:gridCol w="1371600"/>
                <a:gridCol w="1920240"/>
              </a:tblGrid>
              <a:tr h="438912">
                <a:tc>
                  <a:txBody>
                    <a:bodyPr/>
                    <a:lstStyle/>
                    <a:p>
                      <a:pPr indent="0" marL="0">
                        <a:buNone/>
                      </a:pPr>
                      <a:r>
                        <a:rPr lang="en-US" sz="1200" b="1" dirty="0">
                          <a:solidFill>
                            <a:srgbClr val="FFFFFF"/>
                          </a:solidFill>
                        </a:rPr>
                        <a:t>Left-out industry</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Trained on</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Test problems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Average error</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Picked better quantum kind</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438912">
                <a:tc>
                  <a:txBody>
                    <a:bodyPr/>
                    <a:lstStyle/>
                    <a:p>
                      <a:pPr indent="0" marL="0">
                        <a:buNone/>
                      </a:pPr>
                      <a:r>
                        <a:rPr lang="en-US" sz="1200" dirty="0">
                          <a:solidFill>
                            <a:srgbClr val="1B1D36"/>
                          </a:solidFill>
                        </a:rPr>
                        <a:t>Stocks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drugs, tests, networks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11</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0.014</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100%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38912">
                <a:tc>
                  <a:txBody>
                    <a:bodyPr/>
                    <a:lstStyle/>
                    <a:p>
                      <a:pPr indent="0" marL="0">
                        <a:buNone/>
                      </a:pPr>
                      <a:r>
                        <a:rPr lang="en-US" sz="1200" dirty="0">
                          <a:solidFill>
                            <a:srgbClr val="1B1D36"/>
                          </a:solidFill>
                        </a:rPr>
                        <a:t>Drugs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stocks, tests, networks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16</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0.012</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88%</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1B1D36"/>
                          </a:solidFill>
                        </a:rPr>
                        <a:t>Networks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stocks, drugs, tests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18</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0.048</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72%</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38912">
                <a:tc>
                  <a:txBody>
                    <a:bodyPr/>
                    <a:lstStyle/>
                    <a:p>
                      <a:pPr indent="0" marL="0">
                        <a:buNone/>
                      </a:pPr>
                      <a:r>
                        <a:rPr lang="en-US" sz="1200" dirty="0">
                          <a:solidFill>
                            <a:srgbClr val="1B1D36"/>
                          </a:solidFill>
                        </a:rPr>
                        <a:t>Medical tests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stocks, drugs, networks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15</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0.041</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100%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bl>
          </a:graphicData>
        </a:graphic>
      </p:graphicFrame>
      <p:sp>
        <p:nvSpPr>
          <p:cNvPr id="6" name="How to read it card"/>
          <p:cNvSpPr/>
          <p:nvPr/>
        </p:nvSpPr>
        <p:spPr>
          <a:xfrm>
            <a:off x="457200" y="3429000"/>
            <a:ext cx="8229600" cy="1097280"/>
          </a:xfrm>
          <a:prstGeom prst="roundRect">
            <a:avLst>
              <a:gd name="adj" fmla="val 6667"/>
            </a:avLst>
          </a:prstGeom>
          <a:solidFill>
            <a:srgbClr val="FFF4EA"/>
          </a:solidFill>
          <a:ln w="12700">
            <a:solidFill>
              <a:srgbClr val="FFF4EA"/>
            </a:solidFill>
            <a:prstDash val="solid"/>
          </a:ln>
        </p:spPr>
      </p:sp>
      <p:sp>
        <p:nvSpPr>
          <p:cNvPr id="7" name="Text 3"/>
          <p:cNvSpPr txBox="1"/>
          <p:nvPr/>
        </p:nvSpPr>
        <p:spPr>
          <a:xfrm>
            <a:off x="640080" y="3557016"/>
            <a:ext cx="7863840" cy="292608"/>
          </a:xfrm>
          <a:prstGeom prst="rect">
            <a:avLst/>
          </a:prstGeom>
          <a:noFill/>
          <a:ln/>
        </p:spPr>
        <p:txBody>
          <a:bodyPr wrap="square" lIns="0" tIns="0" rIns="0" bIns="0" rtlCol="0" anchor="t"/>
          <a:lstStyle/>
          <a:p>
            <a:pPr indent="0" marL="0">
              <a:buNone/>
            </a:pPr>
            <a:r>
              <a:rPr lang="en-US" sz="1400" b="1" dirty="0">
                <a:solidFill>
                  <a:schemeClr val="tx1"/>
                </a:solidFill>
              </a:rPr>
              <a:t>How to read it</a:t>
            </a:r>
            <a:endParaRPr lang="en-US" sz="1400" dirty="0"/>
          </a:p>
        </p:txBody>
      </p:sp>
      <p:sp>
        <p:nvSpPr>
          <p:cNvPr id="8" name="Text 4"/>
          <p:cNvSpPr txBox="1"/>
          <p:nvPr/>
        </p:nvSpPr>
        <p:spPr>
          <a:xfrm>
            <a:off x="640080" y="3922776"/>
            <a:ext cx="7882128" cy="512064"/>
          </a:xfrm>
          <a:prstGeom prst="rect">
            <a:avLst/>
          </a:prstGeom>
          <a:noFill/>
          <a:ln/>
        </p:spPr>
        <p:txBody>
          <a:bodyPr wrap="square" lIns="0" tIns="0" rIns="0" bIns="0" rtlCol="0" anchor="t"/>
          <a:lstStyle/>
          <a:p>
            <a:pPr indent="0" marL="0">
              <a:buNone/>
            </a:pPr>
            <a:r>
              <a:rPr lang="en-US" sz="1300" dirty="0">
                <a:solidFill>
                  <a:schemeClr val="tx1"/>
                </a:solidFill>
              </a:rPr>
              <a:t>Networks are hardest to predict because they differ most from the other three. An earlier version said '100% correct' everywhere, but that only checked 'laptop wins', which is always true. We now check the harder question: which quantum kind.</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Test 3: does the AI beat simple rules?</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5 · The fingerprint and the AI</a:t>
            </a:r>
            <a:endParaRPr lang="en-US" sz="1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4023360" cy="914400"/>
        </p:xfrm>
        <a:graphic>
          <a:graphicData uri="http://schemas.openxmlformats.org/drawingml/2006/table">
            <a:tbl>
              <a:tblPr/>
              <a:tblGrid>
                <a:gridCol w="2743200"/>
                <a:gridCol w="1280160"/>
              </a:tblGrid>
              <a:tr h="411480">
                <a:tc>
                  <a:txBody>
                    <a:bodyPr/>
                    <a:lstStyle/>
                    <a:p>
                      <a:pPr indent="0" marL="0">
                        <a:buNone/>
                      </a:pPr>
                      <a:r>
                        <a:rPr lang="en-US" sz="1200" b="1" dirty="0">
                          <a:solidFill>
                            <a:srgbClr val="FFFFFF"/>
                          </a:solidFill>
                        </a:rPr>
                        <a:t>Strategy (quantum only, fair test)</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Average score</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411480">
                <a:tc>
                  <a:txBody>
                    <a:bodyPr/>
                    <a:lstStyle/>
                    <a:p>
                      <a:pPr indent="0" marL="0">
                        <a:buNone/>
                      </a:pPr>
                      <a:r>
                        <a:rPr lang="en-US" sz="1200" dirty="0">
                          <a:solidFill>
                            <a:srgbClr val="1B1D36"/>
                          </a:solidFill>
                        </a:rPr>
                        <a:t>Always gate-based</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0.423</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11480">
                <a:tc>
                  <a:txBody>
                    <a:bodyPr/>
                    <a:lstStyle/>
                    <a:p>
                      <a:pPr indent="0" marL="0">
                        <a:buNone/>
                      </a:pPr>
                      <a:r>
                        <a:rPr lang="en-US" sz="1200" dirty="0">
                          <a:solidFill>
                            <a:srgbClr val="1B1D36"/>
                          </a:solidFill>
                        </a:rPr>
                        <a:t>Always annealing</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0.305</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B1D36"/>
                          </a:solidFill>
                        </a:rPr>
                        <a:t>The AI's choice</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4EA"/>
                    </a:solidFill>
                  </a:tcPr>
                </a:tc>
                <a:tc>
                  <a:txBody>
                    <a:bodyPr/>
                    <a:lstStyle/>
                    <a:p>
                      <a:pPr indent="0" marL="0">
                        <a:buNone/>
                      </a:pPr>
                      <a:r>
                        <a:rPr lang="en-US" sz="1200" b="1" dirty="0">
                          <a:solidFill>
                            <a:srgbClr val="1B1D36"/>
                          </a:solidFill>
                        </a:rPr>
                        <a:t>0.436</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4EA"/>
                    </a:solidFill>
                  </a:tcPr>
                </a:tc>
              </a:tr>
              <a:tr h="411480">
                <a:tc>
                  <a:txBody>
                    <a:bodyPr/>
                    <a:lstStyle/>
                    <a:p>
                      <a:pPr indent="0" marL="0">
                        <a:buNone/>
                      </a:pPr>
                      <a:r>
                        <a:rPr lang="en-US" sz="1200" dirty="0">
                          <a:solidFill>
                            <a:srgbClr val="1B1D36"/>
                          </a:solidFill>
                        </a:rPr>
                        <a:t>Perfect cheat (knows the answers)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0.438</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B1D36"/>
                          </a:solidFill>
                        </a:rPr>
                        <a:t>AI picked the better kind</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90% of problems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bl>
          </a:graphicData>
        </a:graphic>
      </p:graphicFrame>
      <p:graphicFrame>
        <p:nvGraphicFramePr>
          <p:cNvPr id="63" name="Table 1"/>
          <p:cNvGraphicFramePr>
            <a:graphicFrameLocks noGrp="1"/>
          </p:cNvGraphicFramePr>
          <p:nvPr>
            <p:extLst>
              <p:ext uri="{D42A27DB-BD31-4B8C-83A1-F6EECF244321}">
                <p14:modId xmlns:p14="http://schemas.microsoft.com/office/powerpoint/2010/main" val="1579011935"/>
              </p:ext>
            </p:extLst>
          </p:nvPr>
        </p:nvGraphicFramePr>
        <p:xfrm>
          <a:off x="4663440" y="1097280"/>
          <a:ext cx="4023360" cy="914400"/>
        </p:xfrm>
        <a:graphic>
          <a:graphicData uri="http://schemas.openxmlformats.org/drawingml/2006/table">
            <a:tbl>
              <a:tblPr/>
              <a:tblGrid>
                <a:gridCol w="1463040"/>
                <a:gridCol w="914400"/>
                <a:gridCol w="822960"/>
                <a:gridCol w="822960"/>
              </a:tblGrid>
              <a:tr h="411480">
                <a:tc>
                  <a:txBody>
                    <a:bodyPr/>
                    <a:lstStyle/>
                    <a:p>
                      <a:pPr indent="0" marL="0">
                        <a:buNone/>
                      </a:pPr>
                      <a:r>
                        <a:rPr lang="en-US" sz="1200" b="1" dirty="0">
                          <a:solidFill>
                            <a:srgbClr val="FFFFFF"/>
                          </a:solidFill>
                        </a:rPr>
                        <a:t>Industry</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Always gate</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AI</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Cheat</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411480">
                <a:tc>
                  <a:txBody>
                    <a:bodyPr/>
                    <a:lstStyle/>
                    <a:p>
                      <a:pPr indent="0" marL="0">
                        <a:buNone/>
                      </a:pPr>
                      <a:r>
                        <a:rPr lang="en-US" sz="1200" dirty="0">
                          <a:solidFill>
                            <a:srgbClr val="1B1D36"/>
                          </a:solidFill>
                        </a:rPr>
                        <a:t>Stocks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0.483</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0.483</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0.483</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11480">
                <a:tc>
                  <a:txBody>
                    <a:bodyPr/>
                    <a:lstStyle/>
                    <a:p>
                      <a:pPr indent="0" marL="0">
                        <a:buNone/>
                      </a:pPr>
                      <a:r>
                        <a:rPr lang="en-US" sz="1200" dirty="0">
                          <a:solidFill>
                            <a:srgbClr val="1B1D36"/>
                          </a:solidFill>
                        </a:rPr>
                        <a:t>Drugs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0.458</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0.458</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0.459</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B1D36"/>
                          </a:solidFill>
                        </a:rPr>
                        <a:t>Networks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0.359</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0.376</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0.382</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11480">
                <a:tc>
                  <a:txBody>
                    <a:bodyPr/>
                    <a:lstStyle/>
                    <a:p>
                      <a:pPr indent="0" marL="0">
                        <a:buNone/>
                      </a:pPr>
                      <a:r>
                        <a:rPr lang="en-US" sz="1200" dirty="0">
                          <a:solidFill>
                            <a:srgbClr val="1B1D36"/>
                          </a:solidFill>
                        </a:rPr>
                        <a:t>Medical tests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0.418</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0.451</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0.451</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bl>
          </a:graphicData>
        </a:graphic>
      </p:graphicFrame>
      <p:sp>
        <p:nvSpPr>
          <p:cNvPr id="7" name="card card"/>
          <p:cNvSpPr/>
          <p:nvPr/>
        </p:nvSpPr>
        <p:spPr>
          <a:xfrm>
            <a:off x="457200" y="3657600"/>
            <a:ext cx="8229600" cy="868680"/>
          </a:xfrm>
          <a:prstGeom prst="roundRect">
            <a:avLst>
              <a:gd name="adj" fmla="val 8421"/>
            </a:avLst>
          </a:prstGeom>
          <a:solidFill>
            <a:srgbClr val="FFF4EA"/>
          </a:solidFill>
          <a:ln w="12700">
            <a:solidFill>
              <a:srgbClr val="FFF4EA"/>
            </a:solidFill>
            <a:prstDash val="solid"/>
          </a:ln>
        </p:spPr>
      </p:sp>
      <p:sp>
        <p:nvSpPr>
          <p:cNvPr id="8" name="Text 3"/>
          <p:cNvSpPr txBox="1"/>
          <p:nvPr/>
        </p:nvSpPr>
        <p:spPr>
          <a:xfrm>
            <a:off x="640080" y="3785616"/>
            <a:ext cx="7882128" cy="649224"/>
          </a:xfrm>
          <a:prstGeom prst="rect">
            <a:avLst/>
          </a:prstGeom>
          <a:noFill/>
          <a:ln/>
        </p:spPr>
        <p:txBody>
          <a:bodyPr wrap="square" lIns="0" tIns="0" rIns="0" bIns="0" rtlCol="0" anchor="t"/>
          <a:lstStyle/>
          <a:p>
            <a:pPr indent="0" marL="0">
              <a:buNone/>
            </a:pPr>
            <a:r>
              <a:rPr lang="en-US" sz="1300" dirty="0">
                <a:solidFill>
                  <a:schemeClr val="tx1"/>
                </a:solidFill>
              </a:rPr>
              <a:t>The AI helps most on networks and medical tests, where annealing sometimes wins. Including the laptop, every strategy that can pick it scores 0.975: the laptop wins every problem.</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Reading the fingerprint map</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6 · Patterns across industries</a:t>
            </a:r>
            <a:endParaRPr lang="en-US" sz="1000" dirty="0"/>
          </a:p>
        </p:txBody>
      </p:sp>
      <p:pic>
        <p:nvPicPr>
          <p:cNvPr id="5" name="Fingerprint map" descr="C:\Users\gurra\Projects\q-router\run_v6\fig_01.png">    </p:cNvPr>
          <p:cNvPicPr>
            <a:picLocks noChangeAspect="1"/>
          </p:cNvPicPr>
          <p:nvPr/>
        </p:nvPicPr>
        <p:blipFill>
          <a:blip r:embed="rId1"/>
          <a:stretch>
            <a:fillRect/>
          </a:stretch>
        </p:blipFill>
        <p:spPr>
          <a:xfrm>
            <a:off x="457200" y="1051560"/>
            <a:ext cx="4572000" cy="3429000"/>
          </a:xfrm>
          <a:prstGeom prst="rect">
            <a:avLst/>
          </a:prstGeom>
        </p:spPr>
      </p:pic>
      <p:sp>
        <p:nvSpPr>
          <p:cNvPr id="6" name="How to read it card"/>
          <p:cNvSpPr/>
          <p:nvPr/>
        </p:nvSpPr>
        <p:spPr>
          <a:xfrm>
            <a:off x="5212080" y="1051560"/>
            <a:ext cx="3474720" cy="3474720"/>
          </a:xfrm>
          <a:prstGeom prst="roundRect">
            <a:avLst>
              <a:gd name="adj" fmla="val 2105"/>
            </a:avLst>
          </a:prstGeom>
          <a:solidFill>
            <a:srgbClr val="F2F2F8"/>
          </a:solidFill>
          <a:ln w="12700">
            <a:solidFill>
              <a:srgbClr val="F2F2F8"/>
            </a:solidFill>
            <a:prstDash val="solid"/>
          </a:ln>
        </p:spPr>
      </p:sp>
      <p:sp>
        <p:nvSpPr>
          <p:cNvPr id="7" name="Text 3"/>
          <p:cNvSpPr txBox="1"/>
          <p:nvPr/>
        </p:nvSpPr>
        <p:spPr>
          <a:xfrm>
            <a:off x="5394960" y="1179576"/>
            <a:ext cx="3108960" cy="292608"/>
          </a:xfrm>
          <a:prstGeom prst="rect">
            <a:avLst/>
          </a:prstGeom>
          <a:noFill/>
          <a:ln/>
        </p:spPr>
        <p:txBody>
          <a:bodyPr wrap="square" lIns="0" tIns="0" rIns="0" bIns="0" rtlCol="0" anchor="t"/>
          <a:lstStyle/>
          <a:p>
            <a:pPr indent="0" marL="0">
              <a:buNone/>
            </a:pPr>
            <a:r>
              <a:rPr lang="en-US" sz="1400" b="1" dirty="0">
                <a:solidFill>
                  <a:schemeClr val="tx1"/>
                </a:solidFill>
              </a:rPr>
              <a:t>How to read it</a:t>
            </a:r>
            <a:endParaRPr lang="en-US" sz="1400" dirty="0"/>
          </a:p>
        </p:txBody>
      </p:sp>
      <p:sp>
        <p:nvSpPr>
          <p:cNvPr id="8" name="Text 4"/>
          <p:cNvSpPr txBox="1"/>
          <p:nvPr/>
        </p:nvSpPr>
        <p:spPr>
          <a:xfrm>
            <a:off x="5394960" y="1545336"/>
            <a:ext cx="3127248" cy="2889504"/>
          </a:xfrm>
          <a:prstGeom prst="rect">
            <a:avLst/>
          </a:prstGeom>
          <a:noFill/>
          <a:ln/>
        </p:spPr>
        <p:txBody>
          <a:bodyPr wrap="square" lIns="0" tIns="0" rIns="0" bIns="0" rtlCol="0" anchor="t"/>
          <a:lstStyle/>
          <a:p>
            <a:pPr marL="177800" indent="-177800">
              <a:spcAft>
                <a:spcPts val="400"/>
              </a:spcAft>
              <a:buSzPct val="100000"/>
              <a:buChar char="•"/>
            </a:pPr>
            <a:r>
              <a:rPr lang="en-US" sz="1200" b="1" dirty="0">
                <a:solidFill>
                  <a:schemeClr val="tx1"/>
                </a:solidFill>
              </a:rPr>
              <a:t>Each dot: </a:t>
            </a:r>
            <a:pPr indent="0" marL="0">
              <a:spcAft>
                <a:spcPts val="400"/>
              </a:spcAft>
              <a:buNone/>
            </a:pPr>
            <a:r>
              <a:rPr lang="en-US" sz="1200" dirty="0">
                <a:solidFill>
                  <a:schemeClr val="tx1"/>
                </a:solidFill>
              </a:rPr>
              <a:t>one of the 60 practice problems; color = its industry</a:t>
            </a:r>
            <a:endParaRPr lang="en-US" sz="1200" dirty="0"/>
          </a:p>
          <a:p>
            <a:pPr marL="177800" indent="-177800">
              <a:spcAft>
                <a:spcPts val="400"/>
              </a:spcAft>
              <a:buSzPct val="100000"/>
              <a:buChar char="•"/>
            </a:pPr>
            <a:r>
              <a:rPr lang="en-US" sz="1200" b="1" dirty="0">
                <a:solidFill>
                  <a:schemeClr val="tx1"/>
                </a:solidFill>
              </a:rPr>
              <a:t>Axes: </a:t>
            </a:r>
            <a:pPr indent="0" marL="0">
              <a:spcAft>
                <a:spcPts val="400"/>
              </a:spcAft>
              <a:buNone/>
            </a:pPr>
            <a:r>
              <a:rPr lang="en-US" sz="1200" dirty="0">
                <a:solidFill>
                  <a:schemeClr val="tx1"/>
                </a:solidFill>
              </a:rPr>
              <a:t>not real units; the 9 numbers squashed into 2 (PCA)</a:t>
            </a:r>
            <a:endParaRPr lang="en-US" sz="1200" dirty="0"/>
          </a:p>
          <a:p>
            <a:pPr marL="177800" indent="-177800">
              <a:spcAft>
                <a:spcPts val="400"/>
              </a:spcAft>
              <a:buSzPct val="100000"/>
              <a:buChar char="•"/>
            </a:pPr>
            <a:r>
              <a:rPr lang="en-US" sz="1200" b="1" dirty="0">
                <a:solidFill>
                  <a:schemeClr val="tx1"/>
                </a:solidFill>
              </a:rPr>
              <a:t>Close dots: </a:t>
            </a:r>
            <a:pPr indent="0" marL="0">
              <a:spcAft>
                <a:spcPts val="400"/>
              </a:spcAft>
              <a:buNone/>
            </a:pPr>
            <a:r>
              <a:rPr lang="en-US" sz="1200" dirty="0">
                <a:solidFill>
                  <a:schemeClr val="tx1"/>
                </a:solidFill>
              </a:rPr>
              <a:t>similar shape</a:t>
            </a:r>
            <a:endParaRPr lang="en-US" sz="1200" dirty="0"/>
          </a:p>
          <a:p>
            <a:pPr marL="177800" indent="-177800">
              <a:spcAft>
                <a:spcPts val="400"/>
              </a:spcAft>
              <a:buSzPct val="100000"/>
              <a:buChar char="•"/>
            </a:pPr>
            <a:r>
              <a:rPr lang="en-US" sz="1200" b="1" dirty="0">
                <a:solidFill>
                  <a:schemeClr val="tx1"/>
                </a:solidFill>
              </a:rPr>
              <a:t>What we see: </a:t>
            </a:r>
            <a:pPr indent="0" marL="0">
              <a:spcAft>
                <a:spcPts val="400"/>
              </a:spcAft>
              <a:buNone/>
            </a:pPr>
            <a:r>
              <a:rPr lang="en-US" sz="1200" dirty="0">
                <a:solidFill>
                  <a:schemeClr val="tx1"/>
                </a:solidFill>
              </a:rPr>
              <a:t>stocks and drugs overlap (both fully connected); networks and medical tests overlap (both looser)</a:t>
            </a:r>
            <a:endParaRPr lang="en-US" sz="1200" dirty="0"/>
          </a:p>
          <a:p>
            <a:pPr marL="177800" indent="-177800">
              <a:spcAft>
                <a:spcPts val="400"/>
              </a:spcAft>
              <a:buSzPct val="100000"/>
              <a:buChar char="•"/>
            </a:pPr>
            <a:r>
              <a:rPr lang="en-US" sz="1200" b="1" dirty="0">
                <a:solidFill>
                  <a:schemeClr val="tx1"/>
                </a:solidFill>
              </a:rPr>
              <a:t>So: </a:t>
            </a:r>
            <a:pPr indent="0" marL="0">
              <a:spcAft>
                <a:spcPts val="400"/>
              </a:spcAft>
              <a:buNone/>
            </a:pPr>
            <a:r>
              <a:rPr lang="en-US" sz="1200" dirty="0">
                <a:solidFill>
                  <a:schemeClr val="tx1"/>
                </a:solidFill>
              </a:rPr>
              <a:t>shape, not industry, decides which solver fits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Finding a structural twin</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6 · Patterns across industries</a:t>
            </a:r>
            <a:endParaRPr lang="en-US" sz="1000" dirty="0"/>
          </a:p>
        </p:txBody>
      </p:sp>
      <p:sp>
        <p:nvSpPr>
          <p:cNvPr id="5" name="flow step 1"/>
          <p:cNvSpPr/>
          <p:nvPr/>
        </p:nvSpPr>
        <p:spPr>
          <a:xfrm>
            <a:off x="457200" y="1143000"/>
            <a:ext cx="1441094" cy="1234440"/>
          </a:xfrm>
          <a:prstGeom prst="roundRect">
            <a:avLst>
              <a:gd name="adj" fmla="val 5926"/>
            </a:avLst>
          </a:prstGeom>
          <a:solidFill>
            <a:srgbClr val="0E9384"/>
          </a:solidFill>
          <a:ln w="12700">
            <a:solidFill>
              <a:srgbClr val="0E9384"/>
            </a:solidFill>
            <a:prstDash val="solid"/>
          </a:ln>
        </p:spPr>
      </p:sp>
      <p:sp>
        <p:nvSpPr>
          <p:cNvPr id="6" name="Text 3"/>
          <p:cNvSpPr txBox="1"/>
          <p:nvPr/>
        </p:nvSpPr>
        <p:spPr>
          <a:xfrm>
            <a:off x="548640"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Rescale</a:t>
            </a:r>
            <a:endParaRPr lang="en-US" sz="1300" dirty="0"/>
          </a:p>
          <a:p>
            <a:pPr algn="ctr" indent="0" marL="0">
              <a:buNone/>
            </a:pPr>
            <a:r>
              <a:rPr lang="en-US" sz="1100" dirty="0">
                <a:solidFill>
                  <a:srgbClr val="FFFFFF"/>
                </a:solidFill>
              </a:rPr>
              <a:t>each of the 9 numbers to the same scale</a:t>
            </a:r>
            <a:endParaRPr lang="en-US" sz="1300" dirty="0"/>
          </a:p>
        </p:txBody>
      </p:sp>
      <p:sp>
        <p:nvSpPr>
          <p:cNvPr id="7" name="flow arrow 1"/>
          <p:cNvSpPr/>
          <p:nvPr/>
        </p:nvSpPr>
        <p:spPr>
          <a:xfrm>
            <a:off x="1934870" y="1760220"/>
            <a:ext cx="182880" cy="0"/>
          </a:xfrm>
          <a:prstGeom prst="line">
            <a:avLst/>
          </a:prstGeom>
          <a:noFill/>
          <a:ln w="15875">
            <a:solidFill>
              <a:srgbClr val="667085"/>
            </a:solidFill>
            <a:prstDash val="solid"/>
            <a:tailEnd type="triangle"/>
          </a:ln>
        </p:spPr>
      </p:sp>
      <p:sp>
        <p:nvSpPr>
          <p:cNvPr id="8" name="flow step 2"/>
          <p:cNvSpPr/>
          <p:nvPr/>
        </p:nvSpPr>
        <p:spPr>
          <a:xfrm>
            <a:off x="2154326" y="1143000"/>
            <a:ext cx="1441094" cy="1234440"/>
          </a:xfrm>
          <a:prstGeom prst="roundRect">
            <a:avLst>
              <a:gd name="adj" fmla="val 5926"/>
            </a:avLst>
          </a:prstGeom>
          <a:solidFill>
            <a:srgbClr val="0E9384"/>
          </a:solidFill>
          <a:ln w="12700">
            <a:solidFill>
              <a:srgbClr val="0E9384"/>
            </a:solidFill>
            <a:prstDash val="solid"/>
          </a:ln>
        </p:spPr>
      </p:sp>
      <p:sp>
        <p:nvSpPr>
          <p:cNvPr id="9" name="Text 6"/>
          <p:cNvSpPr txBox="1"/>
          <p:nvPr/>
        </p:nvSpPr>
        <p:spPr>
          <a:xfrm>
            <a:off x="2245766"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Measure</a:t>
            </a:r>
            <a:endParaRPr lang="en-US" sz="1300" dirty="0"/>
          </a:p>
          <a:p>
            <a:pPr algn="ctr" indent="0" marL="0">
              <a:buNone/>
            </a:pPr>
            <a:r>
              <a:rPr lang="en-US" sz="1100" dirty="0">
                <a:solidFill>
                  <a:srgbClr val="FFFFFF"/>
                </a:solidFill>
              </a:rPr>
              <a:t>distance between fingerprints</a:t>
            </a:r>
            <a:endParaRPr lang="en-US" sz="1300" dirty="0"/>
          </a:p>
        </p:txBody>
      </p:sp>
      <p:sp>
        <p:nvSpPr>
          <p:cNvPr id="10" name="flow arrow 2"/>
          <p:cNvSpPr/>
          <p:nvPr/>
        </p:nvSpPr>
        <p:spPr>
          <a:xfrm>
            <a:off x="3631997" y="1760220"/>
            <a:ext cx="182880" cy="0"/>
          </a:xfrm>
          <a:prstGeom prst="line">
            <a:avLst/>
          </a:prstGeom>
          <a:noFill/>
          <a:ln w="15875">
            <a:solidFill>
              <a:srgbClr val="667085"/>
            </a:solidFill>
            <a:prstDash val="solid"/>
            <a:tailEnd type="triangle"/>
          </a:ln>
        </p:spPr>
      </p:sp>
      <p:sp>
        <p:nvSpPr>
          <p:cNvPr id="11" name="flow step 3"/>
          <p:cNvSpPr/>
          <p:nvPr/>
        </p:nvSpPr>
        <p:spPr>
          <a:xfrm>
            <a:off x="3851453" y="1143000"/>
            <a:ext cx="1441094" cy="1234440"/>
          </a:xfrm>
          <a:prstGeom prst="roundRect">
            <a:avLst>
              <a:gd name="adj" fmla="val 5926"/>
            </a:avLst>
          </a:prstGeom>
          <a:solidFill>
            <a:srgbClr val="0E9384"/>
          </a:solidFill>
          <a:ln w="12700">
            <a:solidFill>
              <a:srgbClr val="0E9384"/>
            </a:solidFill>
            <a:prstDash val="solid"/>
          </a:ln>
        </p:spPr>
      </p:sp>
      <p:sp>
        <p:nvSpPr>
          <p:cNvPr id="12" name="Text 9"/>
          <p:cNvSpPr txBox="1"/>
          <p:nvPr/>
        </p:nvSpPr>
        <p:spPr>
          <a:xfrm>
            <a:off x="3942893"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Filter</a:t>
            </a:r>
            <a:endParaRPr lang="en-US" sz="1300" dirty="0"/>
          </a:p>
          <a:p>
            <a:pPr algn="ctr" indent="0" marL="0">
              <a:buNone/>
            </a:pPr>
            <a:r>
              <a:rPr lang="en-US" sz="1100" dirty="0">
                <a:solidFill>
                  <a:srgbClr val="FFFFFF"/>
                </a:solidFill>
              </a:rPr>
              <a:t>keep only other industries</a:t>
            </a:r>
            <a:endParaRPr lang="en-US" sz="1300" dirty="0"/>
          </a:p>
        </p:txBody>
      </p:sp>
      <p:sp>
        <p:nvSpPr>
          <p:cNvPr id="13" name="flow arrow 3"/>
          <p:cNvSpPr/>
          <p:nvPr/>
        </p:nvSpPr>
        <p:spPr>
          <a:xfrm>
            <a:off x="5329123" y="1760220"/>
            <a:ext cx="182880" cy="0"/>
          </a:xfrm>
          <a:prstGeom prst="line">
            <a:avLst/>
          </a:prstGeom>
          <a:noFill/>
          <a:ln w="15875">
            <a:solidFill>
              <a:srgbClr val="667085"/>
            </a:solidFill>
            <a:prstDash val="solid"/>
            <a:tailEnd type="triangle"/>
          </a:ln>
        </p:spPr>
      </p:sp>
      <p:sp>
        <p:nvSpPr>
          <p:cNvPr id="14" name="flow step 4"/>
          <p:cNvSpPr/>
          <p:nvPr/>
        </p:nvSpPr>
        <p:spPr>
          <a:xfrm>
            <a:off x="5548579" y="1143000"/>
            <a:ext cx="1441094" cy="1234440"/>
          </a:xfrm>
          <a:prstGeom prst="roundRect">
            <a:avLst>
              <a:gd name="adj" fmla="val 5926"/>
            </a:avLst>
          </a:prstGeom>
          <a:solidFill>
            <a:srgbClr val="0E9384"/>
          </a:solidFill>
          <a:ln w="12700">
            <a:solidFill>
              <a:srgbClr val="0E9384"/>
            </a:solidFill>
            <a:prstDash val="solid"/>
          </a:ln>
        </p:spPr>
      </p:sp>
      <p:sp>
        <p:nvSpPr>
          <p:cNvPr id="15" name="Text 12"/>
          <p:cNvSpPr txBox="1"/>
          <p:nvPr/>
        </p:nvSpPr>
        <p:spPr>
          <a:xfrm>
            <a:off x="5640019"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Pick</a:t>
            </a:r>
            <a:endParaRPr lang="en-US" sz="1300" dirty="0"/>
          </a:p>
          <a:p>
            <a:pPr algn="ctr" indent="0" marL="0">
              <a:buNone/>
            </a:pPr>
            <a:r>
              <a:rPr lang="en-US" sz="1100" dirty="0">
                <a:solidFill>
                  <a:srgbClr val="FFFFFF"/>
                </a:solidFill>
              </a:rPr>
              <a:t>the closest one: the twin</a:t>
            </a:r>
            <a:endParaRPr lang="en-US" sz="1300" dirty="0"/>
          </a:p>
        </p:txBody>
      </p:sp>
      <p:sp>
        <p:nvSpPr>
          <p:cNvPr id="16" name="flow arrow 4"/>
          <p:cNvSpPr/>
          <p:nvPr/>
        </p:nvSpPr>
        <p:spPr>
          <a:xfrm>
            <a:off x="7026250" y="1760220"/>
            <a:ext cx="182880" cy="0"/>
          </a:xfrm>
          <a:prstGeom prst="line">
            <a:avLst/>
          </a:prstGeom>
          <a:noFill/>
          <a:ln w="15875">
            <a:solidFill>
              <a:srgbClr val="667085"/>
            </a:solidFill>
            <a:prstDash val="solid"/>
            <a:tailEnd type="triangle"/>
          </a:ln>
        </p:spPr>
      </p:sp>
      <p:sp>
        <p:nvSpPr>
          <p:cNvPr id="17" name="flow step 5"/>
          <p:cNvSpPr/>
          <p:nvPr/>
        </p:nvSpPr>
        <p:spPr>
          <a:xfrm>
            <a:off x="7245706" y="1143000"/>
            <a:ext cx="1441094" cy="1234440"/>
          </a:xfrm>
          <a:prstGeom prst="roundRect">
            <a:avLst>
              <a:gd name="adj" fmla="val 5926"/>
            </a:avLst>
          </a:prstGeom>
          <a:solidFill>
            <a:srgbClr val="E8833A"/>
          </a:solidFill>
          <a:ln w="12700">
            <a:solidFill>
              <a:srgbClr val="E8833A"/>
            </a:solidFill>
            <a:prstDash val="solid"/>
          </a:ln>
        </p:spPr>
      </p:sp>
      <p:sp>
        <p:nvSpPr>
          <p:cNvPr id="18" name="Text 15"/>
          <p:cNvSpPr txBox="1"/>
          <p:nvPr/>
        </p:nvSpPr>
        <p:spPr>
          <a:xfrm>
            <a:off x="7337146"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Copy</a:t>
            </a:r>
            <a:endParaRPr lang="en-US" sz="1300" dirty="0"/>
          </a:p>
          <a:p>
            <a:pPr algn="ctr" indent="0" marL="0">
              <a:buNone/>
            </a:pPr>
            <a:r>
              <a:rPr lang="en-US" sz="1100" dirty="0">
                <a:solidFill>
                  <a:srgbClr val="FFFFFF"/>
                </a:solidFill>
              </a:rPr>
              <a:t>its tuned gate-based dials</a:t>
            </a:r>
            <a:endParaRPr lang="en-US" sz="13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2606040"/>
          <a:ext cx="5486400" cy="914400"/>
        </p:xfrm>
        <a:graphic>
          <a:graphicData uri="http://schemas.openxmlformats.org/drawingml/2006/table">
            <a:tbl>
              <a:tblPr/>
              <a:tblGrid>
                <a:gridCol w="3017520"/>
                <a:gridCol w="822960"/>
                <a:gridCol w="822960"/>
                <a:gridCol w="822960"/>
              </a:tblGrid>
              <a:tr h="365760">
                <a:tc>
                  <a:txBody>
                    <a:bodyPr/>
                    <a:lstStyle/>
                    <a:p>
                      <a:pPr indent="0" marL="0">
                        <a:buNone/>
                      </a:pPr>
                      <a:r>
                        <a:rPr lang="en-US" sz="1100" b="1" dirty="0">
                          <a:solidFill>
                            <a:srgbClr val="FFFFFF"/>
                          </a:solidFill>
                        </a:rPr>
                        <a:t>Example: twins of a 7-choice medical-test problem</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Choices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Density</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Link steps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365760">
                <a:tc>
                  <a:txBody>
                    <a:bodyPr/>
                    <a:lstStyle/>
                    <a:p>
                      <a:pPr indent="0" marL="0">
                        <a:buNone/>
                      </a:pPr>
                      <a:r>
                        <a:rPr lang="en-US" sz="1100" dirty="0">
                          <a:solidFill>
                            <a:srgbClr val="1B1D36"/>
                          </a:solidFill>
                        </a:rPr>
                        <a:t>Medical tests (another one)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7</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0.29</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18</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365760">
                <a:tc>
                  <a:txBody>
                    <a:bodyPr/>
                    <a:lstStyle/>
                    <a:p>
                      <a:pPr indent="0" marL="0">
                        <a:buNone/>
                      </a:pPr>
                      <a:r>
                        <a:rPr lang="en-US" sz="1100" dirty="0">
                          <a:solidFill>
                            <a:srgbClr val="1B1D36"/>
                          </a:solidFill>
                        </a:rPr>
                        <a:t>Medical tests (another one)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6</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0.47</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26</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B1D36"/>
                          </a:solidFill>
                        </a:rPr>
                        <a:t>Networks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6</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0.53</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28</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bl>
          </a:graphicData>
        </a:graphic>
      </p:graphicFrame>
      <p:sp>
        <p:nvSpPr>
          <p:cNvPr id="20" name="Why rescale? card"/>
          <p:cNvSpPr/>
          <p:nvPr/>
        </p:nvSpPr>
        <p:spPr>
          <a:xfrm>
            <a:off x="6126480" y="2606040"/>
            <a:ext cx="2560320" cy="1920240"/>
          </a:xfrm>
          <a:prstGeom prst="roundRect">
            <a:avLst>
              <a:gd name="adj" fmla="val 3810"/>
            </a:avLst>
          </a:prstGeom>
          <a:solidFill>
            <a:srgbClr val="FFF4EA"/>
          </a:solidFill>
          <a:ln w="12700">
            <a:solidFill>
              <a:srgbClr val="FFF4EA"/>
            </a:solidFill>
            <a:prstDash val="solid"/>
          </a:ln>
        </p:spPr>
      </p:sp>
      <p:sp>
        <p:nvSpPr>
          <p:cNvPr id="21" name="Text 17"/>
          <p:cNvSpPr txBox="1"/>
          <p:nvPr/>
        </p:nvSpPr>
        <p:spPr>
          <a:xfrm>
            <a:off x="6309360" y="2734056"/>
            <a:ext cx="2194560" cy="292608"/>
          </a:xfrm>
          <a:prstGeom prst="rect">
            <a:avLst/>
          </a:prstGeom>
          <a:noFill/>
          <a:ln/>
        </p:spPr>
        <p:txBody>
          <a:bodyPr wrap="square" lIns="0" tIns="0" rIns="0" bIns="0" rtlCol="0" anchor="t"/>
          <a:lstStyle/>
          <a:p>
            <a:pPr indent="0" marL="0">
              <a:buNone/>
            </a:pPr>
            <a:r>
              <a:rPr lang="en-US" sz="1400" b="1" dirty="0">
                <a:solidFill>
                  <a:schemeClr val="tx1"/>
                </a:solidFill>
              </a:rPr>
              <a:t>Why rescale?</a:t>
            </a:r>
            <a:endParaRPr lang="en-US" sz="1400" dirty="0"/>
          </a:p>
        </p:txBody>
      </p:sp>
      <p:sp>
        <p:nvSpPr>
          <p:cNvPr id="22" name="Text 18"/>
          <p:cNvSpPr txBox="1"/>
          <p:nvPr/>
        </p:nvSpPr>
        <p:spPr>
          <a:xfrm>
            <a:off x="6309360" y="3099816"/>
            <a:ext cx="2212848" cy="1335024"/>
          </a:xfrm>
          <a:prstGeom prst="rect">
            <a:avLst/>
          </a:prstGeom>
          <a:noFill/>
          <a:ln/>
        </p:spPr>
        <p:txBody>
          <a:bodyPr wrap="square" lIns="0" tIns="0" rIns="0" bIns="0" rtlCol="0" anchor="t"/>
          <a:lstStyle/>
          <a:p>
            <a:pPr indent="0" marL="0">
              <a:buNone/>
            </a:pPr>
            <a:r>
              <a:rPr lang="en-US" sz="1200" dirty="0">
                <a:solidFill>
                  <a:schemeClr val="tx1"/>
                </a:solidFill>
              </a:rPr>
              <a:t>Link steps run into the hundreds while density is between 0 and 1. Without rescaling, link steps alone would decide who's 'similar'.</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Copying settings: how the experiment works</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6 · Patterns across industries</a:t>
            </a:r>
            <a:endParaRPr lang="en-US" sz="1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4572000"/>
                <a:gridCol w="1280160"/>
                <a:gridCol w="2377440"/>
              </a:tblGrid>
              <a:tr h="438912">
                <a:tc>
                  <a:txBody>
                    <a:bodyPr/>
                    <a:lstStyle/>
                    <a:p>
                      <a:pPr indent="0" marL="0">
                        <a:buNone/>
                      </a:pPr>
                      <a:r>
                        <a:rPr lang="en-US" sz="1200" b="1" dirty="0">
                          <a:solidFill>
                            <a:srgbClr val="FFFFFF"/>
                          </a:solidFill>
                        </a:rPr>
                        <a:t>Way of setting the dials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Tries needed</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What it tests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438912">
                <a:tc>
                  <a:txBody>
                    <a:bodyPr/>
                    <a:lstStyle/>
                    <a:p>
                      <a:pPr indent="0" marL="0">
                        <a:buNone/>
                      </a:pPr>
                      <a:r>
                        <a:rPr lang="en-US" sz="1200" dirty="0">
                          <a:solidFill>
                            <a:srgbClr val="1B1D36"/>
                          </a:solidFill>
                        </a:rPr>
                        <a:t>Tuned from scratch on this problem</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about 60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the best you can do</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38912">
                <a:tc>
                  <a:txBody>
                    <a:bodyPr/>
                    <a:lstStyle/>
                    <a:p>
                      <a:pPr indent="0" marL="0">
                        <a:buNone/>
                      </a:pPr>
                      <a:r>
                        <a:rPr lang="en-US" sz="1200" dirty="0">
                          <a:solidFill>
                            <a:srgbClr val="1B1D36"/>
                          </a:solidFill>
                        </a:rPr>
                        <a:t>Copied from its twin in another industry</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1</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does shape-matching transfer?</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1B1D36"/>
                          </a:solidFill>
                        </a:rPr>
                        <a:t>Copied from a random problem in another industry (3 tries, averaged)</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1</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the fair comparison (control)</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38912">
                <a:tc>
                  <a:txBody>
                    <a:bodyPr/>
                    <a:lstStyle/>
                    <a:p>
                      <a:pPr indent="0" marL="0">
                        <a:buNone/>
                      </a:pPr>
                      <a:r>
                        <a:rPr lang="en-US" sz="1200" dirty="0">
                          <a:solidFill>
                            <a:srgbClr val="1B1D36"/>
                          </a:solidFill>
                        </a:rPr>
                        <a:t>Generic default dials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1</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no learning at all</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bl>
          </a:graphicData>
        </a:graphic>
      </p:graphicFrame>
      <p:sp>
        <p:nvSpPr>
          <p:cNvPr id="6" name="Why the random copy matters card"/>
          <p:cNvSpPr/>
          <p:nvPr/>
        </p:nvSpPr>
        <p:spPr>
          <a:xfrm>
            <a:off x="457200" y="3429000"/>
            <a:ext cx="8229600" cy="1097280"/>
          </a:xfrm>
          <a:prstGeom prst="roundRect">
            <a:avLst>
              <a:gd name="adj" fmla="val 6667"/>
            </a:avLst>
          </a:prstGeom>
          <a:solidFill>
            <a:srgbClr val="FFF4EA"/>
          </a:solidFill>
          <a:ln w="12700">
            <a:solidFill>
              <a:srgbClr val="FFF4EA"/>
            </a:solidFill>
            <a:prstDash val="solid"/>
          </a:ln>
        </p:spPr>
      </p:sp>
      <p:sp>
        <p:nvSpPr>
          <p:cNvPr id="7" name="Text 3"/>
          <p:cNvSpPr txBox="1"/>
          <p:nvPr/>
        </p:nvSpPr>
        <p:spPr>
          <a:xfrm>
            <a:off x="640080" y="3557016"/>
            <a:ext cx="7863840" cy="292608"/>
          </a:xfrm>
          <a:prstGeom prst="rect">
            <a:avLst/>
          </a:prstGeom>
          <a:noFill/>
          <a:ln/>
        </p:spPr>
        <p:txBody>
          <a:bodyPr wrap="square" lIns="0" tIns="0" rIns="0" bIns="0" rtlCol="0" anchor="t"/>
          <a:lstStyle/>
          <a:p>
            <a:pPr indent="0" marL="0">
              <a:buNone/>
            </a:pPr>
            <a:r>
              <a:rPr lang="en-US" sz="1400" b="1" dirty="0">
                <a:solidFill>
                  <a:schemeClr val="tx1"/>
                </a:solidFill>
              </a:rPr>
              <a:t>Why the random copy matters</a:t>
            </a:r>
            <a:endParaRPr lang="en-US" sz="1400" dirty="0"/>
          </a:p>
        </p:txBody>
      </p:sp>
      <p:sp>
        <p:nvSpPr>
          <p:cNvPr id="8" name="Text 4"/>
          <p:cNvSpPr txBox="1"/>
          <p:nvPr/>
        </p:nvSpPr>
        <p:spPr>
          <a:xfrm>
            <a:off x="640080" y="3922776"/>
            <a:ext cx="7882128" cy="512064"/>
          </a:xfrm>
          <a:prstGeom prst="rect">
            <a:avLst/>
          </a:prstGeom>
          <a:noFill/>
          <a:ln/>
        </p:spPr>
        <p:txBody>
          <a:bodyPr wrap="square" lIns="0" tIns="0" rIns="0" bIns="0" rtlCol="0" anchor="t"/>
          <a:lstStyle/>
          <a:p>
            <a:pPr indent="0" marL="0">
              <a:buNone/>
            </a:pPr>
            <a:r>
              <a:rPr lang="en-US" sz="1300" dirty="0">
                <a:solidFill>
                  <a:schemeClr val="tx1"/>
                </a:solidFill>
              </a:rPr>
              <a:t>Our first version only compared the twin to full tuning and claimed '95% of the quality'. But default dials already got 91%. The random copy shows how much of the gain comes from the matching itself.</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Copying settings: results</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6 · Patterns across industries</a:t>
            </a:r>
            <a:endParaRPr lang="en-US" sz="1000" dirty="0"/>
          </a:p>
        </p:txBody>
      </p:sp>
      <p:graphicFrame>
        <p:nvGraphicFramePr>
          <p:cNvPr id="5" name="Chart 0" descr=""/>
          <p:cNvGraphicFramePr/>
          <p:nvPr/>
        </p:nvGraphicFramePr>
        <p:xfrm>
          <a:off x="457200" y="1051560"/>
          <a:ext cx="4023360" cy="2468880"/>
        </p:xfrm>
        <a:graphic xmlns:a="http://schemas.openxmlformats.org/drawingml/2006/main">
          <a:graphicData uri="http://schemas.openxmlformats.org/drawingml/2006/chart">
            <c:chart xmlns:c="http://schemas.openxmlformats.org/drawingml/2006/chart" r:id="rId1"/>
          </a:graphicData>
        </a:graphic>
      </p:graphicFrame>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663440" y="1097280"/>
          <a:ext cx="4023360" cy="914400"/>
        </p:xfrm>
        <a:graphic>
          <a:graphicData uri="http://schemas.openxmlformats.org/drawingml/2006/table">
            <a:tbl>
              <a:tblPr/>
              <a:tblGrid>
                <a:gridCol w="1280160"/>
                <a:gridCol w="685800"/>
                <a:gridCol w="685800"/>
                <a:gridCol w="685800"/>
                <a:gridCol w="685800"/>
              </a:tblGrid>
              <a:tr h="384048">
                <a:tc>
                  <a:txBody>
                    <a:bodyPr/>
                    <a:lstStyle/>
                    <a:p>
                      <a:pPr indent="0" marL="0">
                        <a:buNone/>
                      </a:pPr>
                      <a:r>
                        <a:rPr lang="en-US" sz="1100" b="1" dirty="0">
                          <a:solidFill>
                            <a:srgbClr val="FFFFFF"/>
                          </a:solidFill>
                        </a:rPr>
                        <a:t>Industry</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Tuned</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Twin</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Random</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Default</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384048">
                <a:tc>
                  <a:txBody>
                    <a:bodyPr/>
                    <a:lstStyle/>
                    <a:p>
                      <a:pPr indent="0" marL="0">
                        <a:buNone/>
                      </a:pPr>
                      <a:r>
                        <a:rPr lang="en-US" sz="1100" dirty="0">
                          <a:solidFill>
                            <a:srgbClr val="1B1D36"/>
                          </a:solidFill>
                        </a:rPr>
                        <a:t>Stocks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0.736</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0.737</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0.684</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0.690</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384048">
                <a:tc>
                  <a:txBody>
                    <a:bodyPr/>
                    <a:lstStyle/>
                    <a:p>
                      <a:pPr indent="0" marL="0">
                        <a:buNone/>
                      </a:pPr>
                      <a:r>
                        <a:rPr lang="en-US" sz="1100" dirty="0">
                          <a:solidFill>
                            <a:srgbClr val="1B1D36"/>
                          </a:solidFill>
                        </a:rPr>
                        <a:t>Drugs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0.749</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0.737</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0.663</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0.694</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B1D36"/>
                          </a:solidFill>
                        </a:rPr>
                        <a:t>Medical tests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0.615</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0.532</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0.571</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0.555</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384048">
                <a:tc>
                  <a:txBody>
                    <a:bodyPr/>
                    <a:lstStyle/>
                    <a:p>
                      <a:pPr indent="0" marL="0">
                        <a:buNone/>
                      </a:pPr>
                      <a:r>
                        <a:rPr lang="en-US" sz="1100" dirty="0">
                          <a:solidFill>
                            <a:srgbClr val="1B1D36"/>
                          </a:solidFill>
                        </a:rPr>
                        <a:t>Networks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0.481</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0.448</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0.438</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0.434</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bl>
          </a:graphicData>
        </a:graphic>
      </p:graphicFrame>
      <p:sp>
        <p:nvSpPr>
          <p:cNvPr id="7" name="card card"/>
          <p:cNvSpPr/>
          <p:nvPr/>
        </p:nvSpPr>
        <p:spPr>
          <a:xfrm>
            <a:off x="457200" y="3657600"/>
            <a:ext cx="8229600" cy="868680"/>
          </a:xfrm>
          <a:prstGeom prst="roundRect">
            <a:avLst>
              <a:gd name="adj" fmla="val 8421"/>
            </a:avLst>
          </a:prstGeom>
          <a:solidFill>
            <a:srgbClr val="FFF4EA"/>
          </a:solidFill>
          <a:ln w="12700">
            <a:solidFill>
              <a:srgbClr val="FFF4EA"/>
            </a:solidFill>
            <a:prstDash val="solid"/>
          </a:ln>
        </p:spPr>
      </p:sp>
      <p:sp>
        <p:nvSpPr>
          <p:cNvPr id="8" name="Text 3"/>
          <p:cNvSpPr txBox="1"/>
          <p:nvPr/>
        </p:nvSpPr>
        <p:spPr>
          <a:xfrm>
            <a:off x="640080" y="3785616"/>
            <a:ext cx="7882128" cy="649224"/>
          </a:xfrm>
          <a:prstGeom prst="rect">
            <a:avLst/>
          </a:prstGeom>
          <a:noFill/>
          <a:ln/>
        </p:spPr>
        <p:txBody>
          <a:bodyPr wrap="square" lIns="0" tIns="0" rIns="0" bIns="0" rtlCol="0" anchor="t"/>
          <a:lstStyle/>
          <a:p>
            <a:pPr indent="0" marL="0">
              <a:buNone/>
            </a:pPr>
            <a:r>
              <a:rPr lang="en-US" sz="1200" dirty="0">
                <a:solidFill>
                  <a:schemeClr val="tx1"/>
                </a:solidFill>
              </a:rPr>
              <a:t>Read it as: the gap between 'default' (0.581) and 'tuned' (0.633) is what tuning buys. The twin closes about half of that gap with one try instead of 60. '± 0.02' is the standard error: how much the average could wobble by chance.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Splitting a problem into pieces</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7 · Breaking problems into pieces</a:t>
            </a:r>
            <a:endParaRPr lang="en-US" sz="1000" dirty="0"/>
          </a:p>
        </p:txBody>
      </p:sp>
      <p:sp>
        <p:nvSpPr>
          <p:cNvPr id="5" name="flow step 1"/>
          <p:cNvSpPr/>
          <p:nvPr/>
        </p:nvSpPr>
        <p:spPr>
          <a:xfrm>
            <a:off x="457200" y="1143000"/>
            <a:ext cx="1865376" cy="1234440"/>
          </a:xfrm>
          <a:prstGeom prst="roundRect">
            <a:avLst>
              <a:gd name="adj" fmla="val 5926"/>
            </a:avLst>
          </a:prstGeom>
          <a:solidFill>
            <a:srgbClr val="0E9384"/>
          </a:solidFill>
          <a:ln w="12700">
            <a:solidFill>
              <a:srgbClr val="0E9384"/>
            </a:solidFill>
            <a:prstDash val="solid"/>
          </a:ln>
        </p:spPr>
      </p:sp>
      <p:sp>
        <p:nvSpPr>
          <p:cNvPr id="6" name="Text 3"/>
          <p:cNvSpPr txBox="1"/>
          <p:nvPr/>
        </p:nvSpPr>
        <p:spPr>
          <a:xfrm>
            <a:off x="548640" y="1234440"/>
            <a:ext cx="1682496" cy="1051560"/>
          </a:xfrm>
          <a:prstGeom prst="rect">
            <a:avLst/>
          </a:prstGeom>
          <a:noFill/>
          <a:ln/>
        </p:spPr>
        <p:txBody>
          <a:bodyPr wrap="square" lIns="0" tIns="0" rIns="0" bIns="0" rtlCol="0" anchor="ctr"/>
          <a:lstStyle/>
          <a:p>
            <a:pPr algn="ctr" indent="0" marL="0">
              <a:buNone/>
            </a:pPr>
            <a:r>
              <a:rPr lang="en-US" sz="1300" b="1" dirty="0">
                <a:solidFill>
                  <a:srgbClr val="FFFFFF"/>
                </a:solidFill>
              </a:rPr>
              <a:t>Map</a:t>
            </a:r>
            <a:endParaRPr lang="en-US" sz="1300" dirty="0"/>
          </a:p>
          <a:p>
            <a:pPr algn="ctr" indent="0" marL="0">
              <a:buNone/>
            </a:pPr>
            <a:r>
              <a:rPr lang="en-US" sz="1100" dirty="0">
                <a:solidFill>
                  <a:srgbClr val="FFFFFF"/>
                </a:solidFill>
              </a:rPr>
              <a:t>connection strength between every pair</a:t>
            </a:r>
            <a:endParaRPr lang="en-US" sz="1300" dirty="0"/>
          </a:p>
        </p:txBody>
      </p:sp>
      <p:sp>
        <p:nvSpPr>
          <p:cNvPr id="7" name="flow arrow 1"/>
          <p:cNvSpPr/>
          <p:nvPr/>
        </p:nvSpPr>
        <p:spPr>
          <a:xfrm>
            <a:off x="2359152" y="1760220"/>
            <a:ext cx="182880" cy="0"/>
          </a:xfrm>
          <a:prstGeom prst="line">
            <a:avLst/>
          </a:prstGeom>
          <a:noFill/>
          <a:ln w="15875">
            <a:solidFill>
              <a:srgbClr val="667085"/>
            </a:solidFill>
            <a:prstDash val="solid"/>
            <a:tailEnd type="triangle"/>
          </a:ln>
        </p:spPr>
      </p:sp>
      <p:sp>
        <p:nvSpPr>
          <p:cNvPr id="8" name="flow step 2"/>
          <p:cNvSpPr/>
          <p:nvPr/>
        </p:nvSpPr>
        <p:spPr>
          <a:xfrm>
            <a:off x="2578608" y="1143000"/>
            <a:ext cx="1865376" cy="1234440"/>
          </a:xfrm>
          <a:prstGeom prst="roundRect">
            <a:avLst>
              <a:gd name="adj" fmla="val 5926"/>
            </a:avLst>
          </a:prstGeom>
          <a:solidFill>
            <a:srgbClr val="0E9384"/>
          </a:solidFill>
          <a:ln w="12700">
            <a:solidFill>
              <a:srgbClr val="0E9384"/>
            </a:solidFill>
            <a:prstDash val="solid"/>
          </a:ln>
        </p:spPr>
      </p:sp>
      <p:sp>
        <p:nvSpPr>
          <p:cNvPr id="9" name="Text 6"/>
          <p:cNvSpPr txBox="1"/>
          <p:nvPr/>
        </p:nvSpPr>
        <p:spPr>
          <a:xfrm>
            <a:off x="2670048" y="1234440"/>
            <a:ext cx="1682496" cy="1051560"/>
          </a:xfrm>
          <a:prstGeom prst="rect">
            <a:avLst/>
          </a:prstGeom>
          <a:noFill/>
          <a:ln/>
        </p:spPr>
        <p:txBody>
          <a:bodyPr wrap="square" lIns="0" tIns="0" rIns="0" bIns="0" rtlCol="0" anchor="ctr"/>
          <a:lstStyle/>
          <a:p>
            <a:pPr algn="ctr" indent="0" marL="0">
              <a:buNone/>
            </a:pPr>
            <a:r>
              <a:rPr lang="en-US" sz="1300" b="1" dirty="0">
                <a:solidFill>
                  <a:srgbClr val="FFFFFF"/>
                </a:solidFill>
              </a:rPr>
              <a:t>Count</a:t>
            </a:r>
            <a:endParaRPr lang="en-US" sz="1300" dirty="0"/>
          </a:p>
          <a:p>
            <a:pPr algn="ctr" indent="0" marL="0">
              <a:buNone/>
            </a:pPr>
            <a:r>
              <a:rPr lang="en-US" sz="1100" dirty="0">
                <a:solidFill>
                  <a:srgbClr val="FFFFFF"/>
                </a:solidFill>
              </a:rPr>
              <a:t>pieces needed = size ÷ 8, rounded up</a:t>
            </a:r>
            <a:endParaRPr lang="en-US" sz="1300" dirty="0"/>
          </a:p>
        </p:txBody>
      </p:sp>
      <p:sp>
        <p:nvSpPr>
          <p:cNvPr id="10" name="flow arrow 2"/>
          <p:cNvSpPr/>
          <p:nvPr/>
        </p:nvSpPr>
        <p:spPr>
          <a:xfrm>
            <a:off x="4480560" y="1760220"/>
            <a:ext cx="182880" cy="0"/>
          </a:xfrm>
          <a:prstGeom prst="line">
            <a:avLst/>
          </a:prstGeom>
          <a:noFill/>
          <a:ln w="15875">
            <a:solidFill>
              <a:srgbClr val="667085"/>
            </a:solidFill>
            <a:prstDash val="solid"/>
            <a:tailEnd type="triangle"/>
          </a:ln>
        </p:spPr>
      </p:sp>
      <p:sp>
        <p:nvSpPr>
          <p:cNvPr id="11" name="flow step 3"/>
          <p:cNvSpPr/>
          <p:nvPr/>
        </p:nvSpPr>
        <p:spPr>
          <a:xfrm>
            <a:off x="4700016" y="1143000"/>
            <a:ext cx="1865376" cy="1234440"/>
          </a:xfrm>
          <a:prstGeom prst="roundRect">
            <a:avLst>
              <a:gd name="adj" fmla="val 5926"/>
            </a:avLst>
          </a:prstGeom>
          <a:solidFill>
            <a:srgbClr val="0E9384"/>
          </a:solidFill>
          <a:ln w="12700">
            <a:solidFill>
              <a:srgbClr val="0E9384"/>
            </a:solidFill>
            <a:prstDash val="solid"/>
          </a:ln>
        </p:spPr>
      </p:sp>
      <p:sp>
        <p:nvSpPr>
          <p:cNvPr id="12" name="Text 9"/>
          <p:cNvSpPr txBox="1"/>
          <p:nvPr/>
        </p:nvSpPr>
        <p:spPr>
          <a:xfrm>
            <a:off x="4791456" y="1234440"/>
            <a:ext cx="1682496" cy="1051560"/>
          </a:xfrm>
          <a:prstGeom prst="rect">
            <a:avLst/>
          </a:prstGeom>
          <a:noFill/>
          <a:ln/>
        </p:spPr>
        <p:txBody>
          <a:bodyPr wrap="square" lIns="0" tIns="0" rIns="0" bIns="0" rtlCol="0" anchor="ctr"/>
          <a:lstStyle/>
          <a:p>
            <a:pPr algn="ctr" indent="0" marL="0">
              <a:buNone/>
            </a:pPr>
            <a:r>
              <a:rPr lang="en-US" sz="1300" b="1" dirty="0">
                <a:solidFill>
                  <a:srgbClr val="FFFFFF"/>
                </a:solidFill>
              </a:rPr>
              <a:t>Cut</a:t>
            </a:r>
            <a:endParaRPr lang="en-US" sz="1300" dirty="0"/>
          </a:p>
          <a:p>
            <a:pPr algn="ctr" indent="0" marL="0">
              <a:buNone/>
            </a:pPr>
            <a:r>
              <a:rPr lang="en-US" sz="1100" dirty="0">
                <a:solidFill>
                  <a:srgbClr val="FFFFFF"/>
                </a:solidFill>
              </a:rPr>
              <a:t>where links are weakest (spectral clustering)</a:t>
            </a:r>
            <a:endParaRPr lang="en-US" sz="1300" dirty="0"/>
          </a:p>
        </p:txBody>
      </p:sp>
      <p:sp>
        <p:nvSpPr>
          <p:cNvPr id="13" name="flow arrow 3"/>
          <p:cNvSpPr/>
          <p:nvPr/>
        </p:nvSpPr>
        <p:spPr>
          <a:xfrm>
            <a:off x="6601968" y="1760220"/>
            <a:ext cx="182880" cy="0"/>
          </a:xfrm>
          <a:prstGeom prst="line">
            <a:avLst/>
          </a:prstGeom>
          <a:noFill/>
          <a:ln w="15875">
            <a:solidFill>
              <a:srgbClr val="667085"/>
            </a:solidFill>
            <a:prstDash val="solid"/>
            <a:tailEnd type="triangle"/>
          </a:ln>
        </p:spPr>
      </p:sp>
      <p:sp>
        <p:nvSpPr>
          <p:cNvPr id="14" name="flow step 4"/>
          <p:cNvSpPr/>
          <p:nvPr/>
        </p:nvSpPr>
        <p:spPr>
          <a:xfrm>
            <a:off x="6821424" y="1143000"/>
            <a:ext cx="1865376" cy="1234440"/>
          </a:xfrm>
          <a:prstGeom prst="roundRect">
            <a:avLst>
              <a:gd name="adj" fmla="val 5926"/>
            </a:avLst>
          </a:prstGeom>
          <a:solidFill>
            <a:srgbClr val="0E9384"/>
          </a:solidFill>
          <a:ln w="12700">
            <a:solidFill>
              <a:srgbClr val="0E9384"/>
            </a:solidFill>
            <a:prstDash val="solid"/>
          </a:ln>
        </p:spPr>
      </p:sp>
      <p:sp>
        <p:nvSpPr>
          <p:cNvPr id="15" name="Text 12"/>
          <p:cNvSpPr txBox="1"/>
          <p:nvPr/>
        </p:nvSpPr>
        <p:spPr>
          <a:xfrm>
            <a:off x="6912864" y="1234440"/>
            <a:ext cx="1682496" cy="1051560"/>
          </a:xfrm>
          <a:prstGeom prst="rect">
            <a:avLst/>
          </a:prstGeom>
          <a:noFill/>
          <a:ln/>
        </p:spPr>
        <p:txBody>
          <a:bodyPr wrap="square" lIns="0" tIns="0" rIns="0" bIns="0" rtlCol="0" anchor="ctr"/>
          <a:lstStyle/>
          <a:p>
            <a:pPr algn="ctr" indent="0" marL="0">
              <a:buNone/>
            </a:pPr>
            <a:r>
              <a:rPr lang="en-US" sz="1300" b="1" dirty="0">
                <a:solidFill>
                  <a:srgbClr val="FFFFFF"/>
                </a:solidFill>
              </a:rPr>
              <a:t>Trim</a:t>
            </a:r>
            <a:endParaRPr lang="en-US" sz="1300" dirty="0"/>
          </a:p>
          <a:p>
            <a:pPr algn="ctr" indent="0" marL="0">
              <a:buNone/>
            </a:pPr>
            <a:r>
              <a:rPr lang="en-US" sz="1100" dirty="0">
                <a:solidFill>
                  <a:srgbClr val="FFFFFF"/>
                </a:solidFill>
              </a:rPr>
              <a:t>any piece over 8 is split again</a:t>
            </a:r>
            <a:endParaRPr lang="en-US" sz="1300" dirty="0"/>
          </a:p>
        </p:txBody>
      </p:sp>
      <p:sp>
        <p:nvSpPr>
          <p:cNvPr id="16" name="Analogy card"/>
          <p:cNvSpPr/>
          <p:nvPr/>
        </p:nvSpPr>
        <p:spPr>
          <a:xfrm>
            <a:off x="457200" y="2606040"/>
            <a:ext cx="4023360" cy="1920240"/>
          </a:xfrm>
          <a:prstGeom prst="roundRect">
            <a:avLst>
              <a:gd name="adj" fmla="val 3810"/>
            </a:avLst>
          </a:prstGeom>
          <a:solidFill>
            <a:srgbClr val="F2F2F8"/>
          </a:solidFill>
          <a:ln w="12700">
            <a:solidFill>
              <a:srgbClr val="F2F2F8"/>
            </a:solidFill>
            <a:prstDash val="solid"/>
          </a:ln>
        </p:spPr>
      </p:sp>
      <p:sp>
        <p:nvSpPr>
          <p:cNvPr id="17" name="Text 14"/>
          <p:cNvSpPr txBox="1"/>
          <p:nvPr/>
        </p:nvSpPr>
        <p:spPr>
          <a:xfrm>
            <a:off x="640080" y="2734056"/>
            <a:ext cx="3657600" cy="292608"/>
          </a:xfrm>
          <a:prstGeom prst="rect">
            <a:avLst/>
          </a:prstGeom>
          <a:noFill/>
          <a:ln/>
        </p:spPr>
        <p:txBody>
          <a:bodyPr wrap="square" lIns="0" tIns="0" rIns="0" bIns="0" rtlCol="0" anchor="t"/>
          <a:lstStyle/>
          <a:p>
            <a:pPr indent="0" marL="0">
              <a:buNone/>
            </a:pPr>
            <a:r>
              <a:rPr lang="en-US" sz="1400" b="1" dirty="0">
                <a:solidFill>
                  <a:schemeClr val="tx1"/>
                </a:solidFill>
              </a:rPr>
              <a:t>Analogy</a:t>
            </a:r>
            <a:endParaRPr lang="en-US" sz="1400" dirty="0"/>
          </a:p>
        </p:txBody>
      </p:sp>
      <p:sp>
        <p:nvSpPr>
          <p:cNvPr id="18" name="Text 15"/>
          <p:cNvSpPr txBox="1"/>
          <p:nvPr/>
        </p:nvSpPr>
        <p:spPr>
          <a:xfrm>
            <a:off x="640080" y="3099816"/>
            <a:ext cx="3675888" cy="1335024"/>
          </a:xfrm>
          <a:prstGeom prst="rect">
            <a:avLst/>
          </a:prstGeom>
          <a:noFill/>
          <a:ln/>
        </p:spPr>
        <p:txBody>
          <a:bodyPr wrap="square" lIns="0" tIns="0" rIns="0" bIns="0" rtlCol="0" anchor="t"/>
          <a:lstStyle/>
          <a:p>
            <a:pPr indent="0" marL="0">
              <a:buNone/>
            </a:pPr>
            <a:r>
              <a:rPr lang="en-US" sz="1300" dirty="0">
                <a:solidFill>
                  <a:schemeClr val="tx1"/>
                </a:solidFill>
              </a:rPr>
              <a:t>Seating a wedding: people who talk the most share a table, so the fewest conversations cross between tables.</a:t>
            </a:r>
            <a:endParaRPr lang="en-US" sz="1300" dirty="0"/>
          </a:p>
        </p:txBody>
      </p:sp>
      <p:sp>
        <p:nvSpPr>
          <p:cNvPr id="19" name="Why at most 8? card"/>
          <p:cNvSpPr/>
          <p:nvPr/>
        </p:nvSpPr>
        <p:spPr>
          <a:xfrm>
            <a:off x="4663440" y="2606040"/>
            <a:ext cx="4023360" cy="1920240"/>
          </a:xfrm>
          <a:prstGeom prst="roundRect">
            <a:avLst>
              <a:gd name="adj" fmla="val 3810"/>
            </a:avLst>
          </a:prstGeom>
          <a:solidFill>
            <a:srgbClr val="EEF8F6"/>
          </a:solidFill>
          <a:ln w="12700">
            <a:solidFill>
              <a:srgbClr val="EEF8F6"/>
            </a:solidFill>
            <a:prstDash val="solid"/>
          </a:ln>
        </p:spPr>
      </p:sp>
      <p:sp>
        <p:nvSpPr>
          <p:cNvPr id="20" name="Text 17"/>
          <p:cNvSpPr txBox="1"/>
          <p:nvPr/>
        </p:nvSpPr>
        <p:spPr>
          <a:xfrm>
            <a:off x="4846320" y="2734056"/>
            <a:ext cx="3657600" cy="292608"/>
          </a:xfrm>
          <a:prstGeom prst="rect">
            <a:avLst/>
          </a:prstGeom>
          <a:noFill/>
          <a:ln/>
        </p:spPr>
        <p:txBody>
          <a:bodyPr wrap="square" lIns="0" tIns="0" rIns="0" bIns="0" rtlCol="0" anchor="t"/>
          <a:lstStyle/>
          <a:p>
            <a:pPr indent="0" marL="0">
              <a:buNone/>
            </a:pPr>
            <a:r>
              <a:rPr lang="en-US" sz="1400" b="1" dirty="0">
                <a:solidFill>
                  <a:schemeClr val="tx1"/>
                </a:solidFill>
              </a:rPr>
              <a:t>Why at most 8?</a:t>
            </a:r>
            <a:endParaRPr lang="en-US" sz="1400" dirty="0"/>
          </a:p>
        </p:txBody>
      </p:sp>
      <p:sp>
        <p:nvSpPr>
          <p:cNvPr id="21" name="Text 18"/>
          <p:cNvSpPr txBox="1"/>
          <p:nvPr/>
        </p:nvSpPr>
        <p:spPr>
          <a:xfrm>
            <a:off x="4846320" y="3099816"/>
            <a:ext cx="3675888" cy="133502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Small enough for the recipe to run with few errors</a:t>
            </a:r>
            <a:endParaRPr lang="en-US" sz="1300" dirty="0"/>
          </a:p>
          <a:p>
            <a:pPr marL="177800" indent="-177800">
              <a:spcAft>
                <a:spcPts val="400"/>
              </a:spcAft>
              <a:buSzPct val="100000"/>
              <a:buChar char="•"/>
            </a:pPr>
            <a:r>
              <a:rPr lang="en-US" sz="1300" dirty="0">
                <a:solidFill>
                  <a:schemeClr val="tx1"/>
                </a:solidFill>
              </a:rPr>
              <a:t>Small enough to check the exact best answer for each piece</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Solving pieces that still affect each other</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7 · Breaking problems into pieces</a:t>
            </a:r>
            <a:endParaRPr lang="en-US" sz="1000" dirty="0"/>
          </a:p>
        </p:txBody>
      </p:sp>
      <p:sp>
        <p:nvSpPr>
          <p:cNvPr id="5" name="flow step 1"/>
          <p:cNvSpPr/>
          <p:nvPr/>
        </p:nvSpPr>
        <p:spPr>
          <a:xfrm>
            <a:off x="457200" y="1143000"/>
            <a:ext cx="1441094" cy="1234440"/>
          </a:xfrm>
          <a:prstGeom prst="roundRect">
            <a:avLst>
              <a:gd name="adj" fmla="val 5926"/>
            </a:avLst>
          </a:prstGeom>
          <a:solidFill>
            <a:srgbClr val="0E9384"/>
          </a:solidFill>
          <a:ln w="12700">
            <a:solidFill>
              <a:srgbClr val="0E9384"/>
            </a:solidFill>
            <a:prstDash val="solid"/>
          </a:ln>
        </p:spPr>
      </p:sp>
      <p:sp>
        <p:nvSpPr>
          <p:cNvPr id="6" name="Text 3"/>
          <p:cNvSpPr txBox="1"/>
          <p:nvPr/>
        </p:nvSpPr>
        <p:spPr>
          <a:xfrm>
            <a:off x="548640"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Start</a:t>
            </a:r>
            <a:endParaRPr lang="en-US" sz="1300" dirty="0"/>
          </a:p>
          <a:p>
            <a:pPr algn="ctr" indent="0" marL="0">
              <a:buNone/>
            </a:pPr>
            <a:r>
              <a:rPr lang="en-US" sz="1100" dirty="0">
                <a:solidFill>
                  <a:srgbClr val="FFFFFF"/>
                </a:solidFill>
              </a:rPr>
              <a:t>all choices 'no' (or a quick laptop guess)</a:t>
            </a:r>
            <a:endParaRPr lang="en-US" sz="1300" dirty="0"/>
          </a:p>
        </p:txBody>
      </p:sp>
      <p:sp>
        <p:nvSpPr>
          <p:cNvPr id="7" name="flow arrow 1"/>
          <p:cNvSpPr/>
          <p:nvPr/>
        </p:nvSpPr>
        <p:spPr>
          <a:xfrm>
            <a:off x="1934870" y="1760220"/>
            <a:ext cx="182880" cy="0"/>
          </a:xfrm>
          <a:prstGeom prst="line">
            <a:avLst/>
          </a:prstGeom>
          <a:noFill/>
          <a:ln w="15875">
            <a:solidFill>
              <a:srgbClr val="667085"/>
            </a:solidFill>
            <a:prstDash val="solid"/>
            <a:tailEnd type="triangle"/>
          </a:ln>
        </p:spPr>
      </p:sp>
      <p:sp>
        <p:nvSpPr>
          <p:cNvPr id="8" name="flow step 2"/>
          <p:cNvSpPr/>
          <p:nvPr/>
        </p:nvSpPr>
        <p:spPr>
          <a:xfrm>
            <a:off x="2154326" y="1143000"/>
            <a:ext cx="1441094" cy="1234440"/>
          </a:xfrm>
          <a:prstGeom prst="roundRect">
            <a:avLst>
              <a:gd name="adj" fmla="val 5926"/>
            </a:avLst>
          </a:prstGeom>
          <a:solidFill>
            <a:srgbClr val="0E9384"/>
          </a:solidFill>
          <a:ln w="12700">
            <a:solidFill>
              <a:srgbClr val="0E9384"/>
            </a:solidFill>
            <a:prstDash val="solid"/>
          </a:ln>
        </p:spPr>
      </p:sp>
      <p:sp>
        <p:nvSpPr>
          <p:cNvPr id="9" name="Text 6"/>
          <p:cNvSpPr txBox="1"/>
          <p:nvPr/>
        </p:nvSpPr>
        <p:spPr>
          <a:xfrm>
            <a:off x="2245766"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Freeze</a:t>
            </a:r>
            <a:endParaRPr lang="en-US" sz="1300" dirty="0"/>
          </a:p>
          <a:p>
            <a:pPr algn="ctr" indent="0" marL="0">
              <a:buNone/>
            </a:pPr>
            <a:r>
              <a:rPr lang="en-US" sz="1100" dirty="0">
                <a:solidFill>
                  <a:srgbClr val="FFFFFF"/>
                </a:solidFill>
              </a:rPr>
              <a:t>every other piece's current choices</a:t>
            </a:r>
            <a:endParaRPr lang="en-US" sz="1300" dirty="0"/>
          </a:p>
        </p:txBody>
      </p:sp>
      <p:sp>
        <p:nvSpPr>
          <p:cNvPr id="10" name="flow arrow 2"/>
          <p:cNvSpPr/>
          <p:nvPr/>
        </p:nvSpPr>
        <p:spPr>
          <a:xfrm>
            <a:off x="3631997" y="1760220"/>
            <a:ext cx="182880" cy="0"/>
          </a:xfrm>
          <a:prstGeom prst="line">
            <a:avLst/>
          </a:prstGeom>
          <a:noFill/>
          <a:ln w="15875">
            <a:solidFill>
              <a:srgbClr val="667085"/>
            </a:solidFill>
            <a:prstDash val="solid"/>
            <a:tailEnd type="triangle"/>
          </a:ln>
        </p:spPr>
      </p:sp>
      <p:sp>
        <p:nvSpPr>
          <p:cNvPr id="11" name="flow step 3"/>
          <p:cNvSpPr/>
          <p:nvPr/>
        </p:nvSpPr>
        <p:spPr>
          <a:xfrm>
            <a:off x="3851453" y="1143000"/>
            <a:ext cx="1441094" cy="1234440"/>
          </a:xfrm>
          <a:prstGeom prst="roundRect">
            <a:avLst>
              <a:gd name="adj" fmla="val 5926"/>
            </a:avLst>
          </a:prstGeom>
          <a:solidFill>
            <a:srgbClr val="0E9384"/>
          </a:solidFill>
          <a:ln w="12700">
            <a:solidFill>
              <a:srgbClr val="0E9384"/>
            </a:solidFill>
            <a:prstDash val="solid"/>
          </a:ln>
        </p:spPr>
      </p:sp>
      <p:sp>
        <p:nvSpPr>
          <p:cNvPr id="12" name="Text 9"/>
          <p:cNvSpPr txBox="1"/>
          <p:nvPr/>
        </p:nvSpPr>
        <p:spPr>
          <a:xfrm>
            <a:off x="3942893"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Solve</a:t>
            </a:r>
            <a:endParaRPr lang="en-US" sz="1300" dirty="0"/>
          </a:p>
          <a:p>
            <a:pPr algn="ctr" indent="0" marL="0">
              <a:buNone/>
            </a:pPr>
            <a:r>
              <a:rPr lang="en-US" sz="1100" dirty="0">
                <a:solidFill>
                  <a:srgbClr val="FFFFFF"/>
                </a:solidFill>
              </a:rPr>
              <a:t>this piece with the chosen computer</a:t>
            </a:r>
            <a:endParaRPr lang="en-US" sz="1300" dirty="0"/>
          </a:p>
        </p:txBody>
      </p:sp>
      <p:sp>
        <p:nvSpPr>
          <p:cNvPr id="13" name="flow arrow 3"/>
          <p:cNvSpPr/>
          <p:nvPr/>
        </p:nvSpPr>
        <p:spPr>
          <a:xfrm>
            <a:off x="5329123" y="1760220"/>
            <a:ext cx="182880" cy="0"/>
          </a:xfrm>
          <a:prstGeom prst="line">
            <a:avLst/>
          </a:prstGeom>
          <a:noFill/>
          <a:ln w="15875">
            <a:solidFill>
              <a:srgbClr val="667085"/>
            </a:solidFill>
            <a:prstDash val="solid"/>
            <a:tailEnd type="triangle"/>
          </a:ln>
        </p:spPr>
      </p:sp>
      <p:sp>
        <p:nvSpPr>
          <p:cNvPr id="14" name="flow step 4"/>
          <p:cNvSpPr/>
          <p:nvPr/>
        </p:nvSpPr>
        <p:spPr>
          <a:xfrm>
            <a:off x="5548579" y="1143000"/>
            <a:ext cx="1441094" cy="1234440"/>
          </a:xfrm>
          <a:prstGeom prst="roundRect">
            <a:avLst>
              <a:gd name="adj" fmla="val 5926"/>
            </a:avLst>
          </a:prstGeom>
          <a:solidFill>
            <a:srgbClr val="E8833A"/>
          </a:solidFill>
          <a:ln w="12700">
            <a:solidFill>
              <a:srgbClr val="E8833A"/>
            </a:solidFill>
            <a:prstDash val="solid"/>
          </a:ln>
        </p:spPr>
      </p:sp>
      <p:sp>
        <p:nvSpPr>
          <p:cNvPr id="15" name="Text 12"/>
          <p:cNvSpPr txBox="1"/>
          <p:nvPr/>
        </p:nvSpPr>
        <p:spPr>
          <a:xfrm>
            <a:off x="5640019"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Keep?</a:t>
            </a:r>
            <a:endParaRPr lang="en-US" sz="1300" dirty="0"/>
          </a:p>
          <a:p>
            <a:pPr algn="ctr" indent="0" marL="0">
              <a:buNone/>
            </a:pPr>
            <a:r>
              <a:rPr lang="en-US" sz="1100" dirty="0">
                <a:solidFill>
                  <a:srgbClr val="FFFFFF"/>
                </a:solidFill>
              </a:rPr>
              <a:t>only if the total improves</a:t>
            </a:r>
            <a:endParaRPr lang="en-US" sz="1300" dirty="0"/>
          </a:p>
        </p:txBody>
      </p:sp>
      <p:sp>
        <p:nvSpPr>
          <p:cNvPr id="16" name="flow arrow 4"/>
          <p:cNvSpPr/>
          <p:nvPr/>
        </p:nvSpPr>
        <p:spPr>
          <a:xfrm>
            <a:off x="7026250" y="1760220"/>
            <a:ext cx="182880" cy="0"/>
          </a:xfrm>
          <a:prstGeom prst="line">
            <a:avLst/>
          </a:prstGeom>
          <a:noFill/>
          <a:ln w="15875">
            <a:solidFill>
              <a:srgbClr val="667085"/>
            </a:solidFill>
            <a:prstDash val="solid"/>
            <a:tailEnd type="triangle"/>
          </a:ln>
        </p:spPr>
      </p:sp>
      <p:sp>
        <p:nvSpPr>
          <p:cNvPr id="17" name="flow step 5"/>
          <p:cNvSpPr/>
          <p:nvPr/>
        </p:nvSpPr>
        <p:spPr>
          <a:xfrm>
            <a:off x="7245706" y="1143000"/>
            <a:ext cx="1441094" cy="1234440"/>
          </a:xfrm>
          <a:prstGeom prst="roundRect">
            <a:avLst>
              <a:gd name="adj" fmla="val 5926"/>
            </a:avLst>
          </a:prstGeom>
          <a:solidFill>
            <a:srgbClr val="0E9384"/>
          </a:solidFill>
          <a:ln w="12700">
            <a:solidFill>
              <a:srgbClr val="0E9384"/>
            </a:solidFill>
            <a:prstDash val="solid"/>
          </a:ln>
        </p:spPr>
      </p:sp>
      <p:sp>
        <p:nvSpPr>
          <p:cNvPr id="18" name="Text 15"/>
          <p:cNvSpPr txBox="1"/>
          <p:nvPr/>
        </p:nvSpPr>
        <p:spPr>
          <a:xfrm>
            <a:off x="7337146" y="1234440"/>
            <a:ext cx="1258214" cy="1051560"/>
          </a:xfrm>
          <a:prstGeom prst="rect">
            <a:avLst/>
          </a:prstGeom>
          <a:noFill/>
          <a:ln/>
        </p:spPr>
        <p:txBody>
          <a:bodyPr wrap="square" lIns="0" tIns="0" rIns="0" bIns="0" rtlCol="0" anchor="ctr"/>
          <a:lstStyle/>
          <a:p>
            <a:pPr algn="ctr" indent="0" marL="0">
              <a:buNone/>
            </a:pPr>
            <a:r>
              <a:rPr lang="en-US" sz="1300" b="1" dirty="0">
                <a:solidFill>
                  <a:srgbClr val="FFFFFF"/>
                </a:solidFill>
              </a:rPr>
              <a:t>Repeat</a:t>
            </a:r>
            <a:endParaRPr lang="en-US" sz="1300" dirty="0"/>
          </a:p>
          <a:p>
            <a:pPr algn="ctr" indent="0" marL="0">
              <a:buNone/>
            </a:pPr>
            <a:r>
              <a:rPr lang="en-US" sz="1100" dirty="0">
                <a:solidFill>
                  <a:srgbClr val="FFFFFF"/>
                </a:solidFill>
              </a:rPr>
              <a:t>next piece; 2 full rounds</a:t>
            </a:r>
            <a:endParaRPr lang="en-US" sz="1300" dirty="0"/>
          </a:p>
        </p:txBody>
      </p:sp>
      <p:sp>
        <p:nvSpPr>
          <p:cNvPr id="19" name="Example: a 16-drug problem, fund 5 card"/>
          <p:cNvSpPr/>
          <p:nvPr/>
        </p:nvSpPr>
        <p:spPr>
          <a:xfrm>
            <a:off x="457200" y="2606040"/>
            <a:ext cx="8229600" cy="1920240"/>
          </a:xfrm>
          <a:prstGeom prst="roundRect">
            <a:avLst>
              <a:gd name="adj" fmla="val 3810"/>
            </a:avLst>
          </a:prstGeom>
          <a:solidFill>
            <a:srgbClr val="F2F2F8"/>
          </a:solidFill>
          <a:ln w="12700">
            <a:solidFill>
              <a:srgbClr val="F2F2F8"/>
            </a:solidFill>
            <a:prstDash val="solid"/>
          </a:ln>
        </p:spPr>
      </p:sp>
      <p:sp>
        <p:nvSpPr>
          <p:cNvPr id="20" name="Text 17"/>
          <p:cNvSpPr txBox="1"/>
          <p:nvPr/>
        </p:nvSpPr>
        <p:spPr>
          <a:xfrm>
            <a:off x="640080" y="2734056"/>
            <a:ext cx="7863840" cy="292608"/>
          </a:xfrm>
          <a:prstGeom prst="rect">
            <a:avLst/>
          </a:prstGeom>
          <a:noFill/>
          <a:ln/>
        </p:spPr>
        <p:txBody>
          <a:bodyPr wrap="square" lIns="0" tIns="0" rIns="0" bIns="0" rtlCol="0" anchor="t"/>
          <a:lstStyle/>
          <a:p>
            <a:pPr indent="0" marL="0">
              <a:buNone/>
            </a:pPr>
            <a:r>
              <a:rPr lang="en-US" sz="1400" b="1" dirty="0">
                <a:solidFill>
                  <a:schemeClr val="tx1"/>
                </a:solidFill>
              </a:rPr>
              <a:t>Example: a 16-drug problem, fund 5</a:t>
            </a:r>
            <a:endParaRPr lang="en-US" sz="1400" dirty="0"/>
          </a:p>
        </p:txBody>
      </p:sp>
      <p:sp>
        <p:nvSpPr>
          <p:cNvPr id="21" name="Text 18"/>
          <p:cNvSpPr txBox="1"/>
          <p:nvPr/>
        </p:nvSpPr>
        <p:spPr>
          <a:xfrm>
            <a:off x="640080" y="3099816"/>
            <a:ext cx="7882128" cy="133502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Split into 3 pieces: 6, 8 and 2 drugs</a:t>
            </a:r>
            <a:endParaRPr lang="en-US" sz="1300" dirty="0"/>
          </a:p>
          <a:p>
            <a:pPr marL="177800" indent="-177800">
              <a:spcAft>
                <a:spcPts val="400"/>
              </a:spcAft>
              <a:buSzPct val="100000"/>
              <a:buChar char="•"/>
            </a:pPr>
            <a:r>
              <a:rPr lang="en-US" sz="1300" dirty="0">
                <a:solidFill>
                  <a:schemeClr val="tx1"/>
                </a:solidFill>
              </a:rPr>
              <a:t>The router sent the 6- and 8-drug pieces to the laptop and the 2-drug piece to annealing</a:t>
            </a:r>
            <a:endParaRPr lang="en-US" sz="1300" dirty="0"/>
          </a:p>
          <a:p>
            <a:pPr marL="177800" indent="-177800">
              <a:spcAft>
                <a:spcPts val="400"/>
              </a:spcAft>
              <a:buSzPct val="100000"/>
              <a:buChar char="•"/>
            </a:pPr>
            <a:r>
              <a:rPr lang="en-US" sz="1300" dirty="0">
                <a:solidFill>
                  <a:schemeClr val="tx1"/>
                </a:solidFill>
              </a:rPr>
              <a:t>Final score 0.998, and the rule 'fund exactly 5' was kept</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The gate-vs-annealing test: design</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7 · Breaking problems into pieces</a:t>
            </a:r>
            <a:endParaRPr lang="en-US" sz="1000" dirty="0"/>
          </a:p>
        </p:txBody>
      </p:sp>
      <p:sp>
        <p:nvSpPr>
          <p:cNvPr id="5" name="The test problem (18 choices) card"/>
          <p:cNvSpPr/>
          <p:nvPr/>
        </p:nvSpPr>
        <p:spPr>
          <a:xfrm>
            <a:off x="457200" y="1097280"/>
            <a:ext cx="4023360" cy="3429000"/>
          </a:xfrm>
          <a:prstGeom prst="roundRect">
            <a:avLst>
              <a:gd name="adj" fmla="val 2133"/>
            </a:avLst>
          </a:prstGeom>
          <a:solidFill>
            <a:srgbClr val="F2F2F8"/>
          </a:solidFill>
          <a:ln w="12700">
            <a:solidFill>
              <a:srgbClr val="F2F2F8"/>
            </a:solidFill>
            <a:prstDash val="solid"/>
          </a:ln>
        </p:spPr>
      </p:sp>
      <p:sp>
        <p:nvSpPr>
          <p:cNvPr id="6" name="Text 3"/>
          <p:cNvSpPr txBox="1"/>
          <p:nvPr/>
        </p:nvSpPr>
        <p:spPr>
          <a:xfrm>
            <a:off x="64008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The test problem (18 choices)</a:t>
            </a:r>
            <a:endParaRPr lang="en-US" sz="1400" dirty="0"/>
          </a:p>
        </p:txBody>
      </p:sp>
      <p:sp>
        <p:nvSpPr>
          <p:cNvPr id="7" name="Text 4"/>
          <p:cNvSpPr txBox="1"/>
          <p:nvPr/>
        </p:nvSpPr>
        <p:spPr>
          <a:xfrm>
            <a:off x="640080" y="1591056"/>
            <a:ext cx="3675888" cy="2843784"/>
          </a:xfrm>
          <a:prstGeom prst="rect">
            <a:avLst/>
          </a:prstGeom>
          <a:noFill/>
          <a:ln/>
        </p:spPr>
        <p:txBody>
          <a:bodyPr wrap="square" lIns="0" tIns="0" rIns="0" bIns="0" rtlCol="0" anchor="t"/>
          <a:lstStyle/>
          <a:p>
            <a:pPr marL="177800" indent="-177800">
              <a:spcAft>
                <a:spcPts val="400"/>
              </a:spcAft>
              <a:buSzPct val="100000"/>
              <a:buChar char="•"/>
            </a:pPr>
            <a:r>
              <a:rPr lang="en-US" sz="1300" b="1" dirty="0">
                <a:solidFill>
                  <a:schemeClr val="tx1"/>
                </a:solidFill>
              </a:rPr>
              <a:t>Part A, dense: </a:t>
            </a:r>
            <a:pPr indent="0" marL="0">
              <a:spcAft>
                <a:spcPts val="400"/>
              </a:spcAft>
              <a:buNone/>
            </a:pPr>
            <a:r>
              <a:rPr lang="en-US" sz="1300" dirty="0">
                <a:solidFill>
                  <a:schemeClr val="tx1"/>
                </a:solidFill>
              </a:rPr>
              <a:t>which 3 of 8 drugs to fund; every choice affects every other</a:t>
            </a:r>
            <a:endParaRPr lang="en-US" sz="1300" dirty="0"/>
          </a:p>
          <a:p>
            <a:pPr marL="177800" indent="-177800">
              <a:spcAft>
                <a:spcPts val="400"/>
              </a:spcAft>
              <a:buSzPct val="100000"/>
              <a:buChar char="•"/>
            </a:pPr>
            <a:r>
              <a:rPr lang="en-US" sz="1300" b="1" dirty="0">
                <a:solidFill>
                  <a:schemeClr val="tx1"/>
                </a:solidFill>
              </a:rPr>
              <a:t>Part B, sparse: </a:t>
            </a:r>
            <a:pPr indent="0" marL="0">
              <a:spcAft>
                <a:spcPts val="400"/>
              </a:spcAft>
              <a:buNone/>
            </a:pPr>
            <a:r>
              <a:rPr lang="en-US" sz="1300" dirty="0">
                <a:solidFill>
                  <a:schemeClr val="tx1"/>
                </a:solidFill>
              </a:rPr>
              <a:t>split 10 trial sites between two partners; each site affects only a few neighbors</a:t>
            </a:r>
            <a:endParaRPr lang="en-US" sz="1300" dirty="0"/>
          </a:p>
          <a:p>
            <a:pPr marL="177800" indent="-177800">
              <a:spcAft>
                <a:spcPts val="400"/>
              </a:spcAft>
              <a:buSzPct val="100000"/>
              <a:buChar char="•"/>
            </a:pPr>
            <a:r>
              <a:rPr lang="en-US" sz="1300" b="1" dirty="0">
                <a:solidFill>
                  <a:schemeClr val="tx1"/>
                </a:solidFill>
              </a:rPr>
              <a:t>Links between parts: </a:t>
            </a:r>
            <a:pPr indent="0" marL="0">
              <a:spcAft>
                <a:spcPts val="400"/>
              </a:spcAft>
              <a:buNone/>
            </a:pPr>
            <a:r>
              <a:rPr lang="en-US" sz="1300" dirty="0">
                <a:solidFill>
                  <a:schemeClr val="tx1"/>
                </a:solidFill>
              </a:rPr>
              <a:t>a small bonus when a funded drug's trial site is chosen</a:t>
            </a:r>
            <a:endParaRPr lang="en-US" sz="1300" dirty="0"/>
          </a:p>
          <a:p>
            <a:pPr marL="177800" indent="-177800">
              <a:spcAft>
                <a:spcPts val="400"/>
              </a:spcAft>
              <a:buSzPct val="100000"/>
              <a:buChar char="•"/>
            </a:pPr>
            <a:r>
              <a:rPr lang="en-US" sz="1300" dirty="0">
                <a:solidFill>
                  <a:schemeClr val="tx1"/>
                </a:solidFill>
              </a:rPr>
              <a:t>Both parts rescaled to the same size so neither dominates</a:t>
            </a:r>
            <a:endParaRPr lang="en-US" sz="1300" dirty="0"/>
          </a:p>
        </p:txBody>
      </p:sp>
      <p:sp>
        <p:nvSpPr>
          <p:cNvPr id="8" name="What we ran card"/>
          <p:cNvSpPr/>
          <p:nvPr/>
        </p:nvSpPr>
        <p:spPr>
          <a:xfrm>
            <a:off x="4663440" y="1097280"/>
            <a:ext cx="4023360" cy="3429000"/>
          </a:xfrm>
          <a:prstGeom prst="roundRect">
            <a:avLst>
              <a:gd name="adj" fmla="val 2133"/>
            </a:avLst>
          </a:prstGeom>
          <a:solidFill>
            <a:srgbClr val="EEF8F6"/>
          </a:solidFill>
          <a:ln w="12700">
            <a:solidFill>
              <a:srgbClr val="EEF8F6"/>
            </a:solidFill>
            <a:prstDash val="solid"/>
          </a:ln>
        </p:spPr>
      </p:sp>
      <p:sp>
        <p:nvSpPr>
          <p:cNvPr id="9" name="Text 6"/>
          <p:cNvSpPr txBox="1"/>
          <p:nvPr/>
        </p:nvSpPr>
        <p:spPr>
          <a:xfrm>
            <a:off x="484632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What we ran</a:t>
            </a:r>
            <a:endParaRPr lang="en-US" sz="1400" dirty="0"/>
          </a:p>
        </p:txBody>
      </p:sp>
      <p:sp>
        <p:nvSpPr>
          <p:cNvPr id="10" name="Text 7"/>
          <p:cNvSpPr txBox="1"/>
          <p:nvPr/>
        </p:nvSpPr>
        <p:spPr>
          <a:xfrm>
            <a:off x="4846320" y="1591056"/>
            <a:ext cx="3675888" cy="28437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Split into 3 pieces: drugs (8), sites A (7), sites B (3)</a:t>
            </a:r>
            <a:endParaRPr lang="en-US" sz="1300" dirty="0"/>
          </a:p>
          <a:p>
            <a:pPr marL="177800" indent="-177800">
              <a:spcAft>
                <a:spcPts val="400"/>
              </a:spcAft>
              <a:buSzPct val="100000"/>
              <a:buChar char="•"/>
            </a:pPr>
            <a:r>
              <a:rPr lang="en-US" sz="1300" dirty="0">
                <a:solidFill>
                  <a:schemeClr val="tx1"/>
                </a:solidFill>
              </a:rPr>
              <a:t>Gate-based: dials tuned on the simulator (80 tries)</a:t>
            </a:r>
            <a:endParaRPr lang="en-US" sz="1300" dirty="0"/>
          </a:p>
          <a:p>
            <a:pPr marL="177800" indent="-177800">
              <a:spcAft>
                <a:spcPts val="400"/>
              </a:spcAft>
              <a:buSzPct val="100000"/>
              <a:buChar char="•"/>
            </a:pPr>
            <a:r>
              <a:rPr lang="en-US" sz="1300" dirty="0">
                <a:solidFill>
                  <a:schemeClr val="tx1"/>
                </a:solidFill>
              </a:rPr>
              <a:t>Annealing: best of 16 schedules on the simulator</a:t>
            </a:r>
            <a:endParaRPr lang="en-US" sz="1300" dirty="0"/>
          </a:p>
          <a:p>
            <a:pPr marL="177800" indent="-177800">
              <a:spcAft>
                <a:spcPts val="400"/>
              </a:spcAft>
              <a:buSzPct val="100000"/>
              <a:buChar char="•"/>
            </a:pPr>
            <a:r>
              <a:rPr lang="en-US" sz="1300" b="1" dirty="0">
                <a:solidFill>
                  <a:schemeClr val="tx1"/>
                </a:solidFill>
              </a:rPr>
              <a:t>Scored 3 ways: </a:t>
            </a:r>
            <a:pPr indent="0" marL="0">
              <a:spcAft>
                <a:spcPts val="400"/>
              </a:spcAft>
              <a:buNone/>
            </a:pPr>
            <a:r>
              <a:rPr lang="en-US" sz="1300" dirty="0">
                <a:solidFill>
                  <a:schemeClr val="tx1"/>
                </a:solidFill>
              </a:rPr>
              <a:t>perfect simulator · predicted from IBM's error data · full simulation of IBM Torino with errors</a:t>
            </a:r>
            <a:endParaRPr lang="en-US" sz="1300" dirty="0"/>
          </a:p>
          <a:p>
            <a:pPr marL="177800" indent="-177800">
              <a:spcAft>
                <a:spcPts val="400"/>
              </a:spcAft>
              <a:buSzPct val="100000"/>
              <a:buChar char="•"/>
            </a:pPr>
            <a:r>
              <a:rPr lang="en-US" sz="1300" dirty="0">
                <a:solidFill>
                  <a:schemeClr val="tx1"/>
                </a:solidFill>
              </a:rPr>
              <a:t>Section 9b repeats it on the real chip in one job</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The gate-vs-annealing test: results</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7 · Breaking problems into pieces</a:t>
            </a:r>
            <a:endParaRPr lang="en-US" sz="1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731520"/>
                <a:gridCol w="731520"/>
                <a:gridCol w="731520"/>
                <a:gridCol w="1371600"/>
                <a:gridCol w="1280160"/>
                <a:gridCol w="1554480"/>
                <a:gridCol w="822960"/>
                <a:gridCol w="1005840"/>
              </a:tblGrid>
              <a:tr h="457200">
                <a:tc>
                  <a:txBody>
                    <a:bodyPr/>
                    <a:lstStyle/>
                    <a:p>
                      <a:pPr indent="0" marL="0">
                        <a:buNone/>
                      </a:pPr>
                      <a:r>
                        <a:rPr lang="en-US" sz="1100" b="1" dirty="0">
                          <a:solidFill>
                            <a:srgbClr val="FFFFFF"/>
                          </a:solidFill>
                        </a:rPr>
                        <a:t>Piece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Choices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Density</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Link steps gate / anneal</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Perfect gate / anneal</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With chip errors gate / anneal</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Router</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Right?</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457200">
                <a:tc>
                  <a:txBody>
                    <a:bodyPr/>
                    <a:lstStyle/>
                    <a:p>
                      <a:pPr indent="0" marL="0">
                        <a:buNone/>
                      </a:pPr>
                      <a:r>
                        <a:rPr lang="en-US" sz="1100" dirty="0">
                          <a:solidFill>
                            <a:srgbClr val="1B1D36"/>
                          </a:solidFill>
                        </a:rPr>
                        <a:t>Drugs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8</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1.00</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99 / 685</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0.69 / 0.80</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0.56 / 0.45</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gate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yes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57200">
                <a:tc>
                  <a:txBody>
                    <a:bodyPr/>
                    <a:lstStyle/>
                    <a:p>
                      <a:pPr indent="0" marL="0">
                        <a:buNone/>
                      </a:pPr>
                      <a:r>
                        <a:rPr lang="en-US" sz="1100" dirty="0">
                          <a:solidFill>
                            <a:srgbClr val="1B1D36"/>
                          </a:solidFill>
                        </a:rPr>
                        <a:t>Sites A</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7</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0.57</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45 / 319</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0.43 / 0.84</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0.37 / 0.44</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gate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no</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B1D36"/>
                          </a:solidFill>
                        </a:rPr>
                        <a:t>Sites B</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3</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1.00</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9 / 60</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0.44 / 0.93</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0.42 / 0.69</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anneal</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yes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bl>
          </a:graphicData>
        </a:graphic>
      </p:graphicFrame>
      <p:pic>
        <p:nvPicPr>
          <p:cNvPr id="6" name="Break-down bar chart" descr="C:\Users\gurra\Projects\q-router\run_v6\fig_04.png">    </p:cNvPr>
          <p:cNvPicPr>
            <a:picLocks noChangeAspect="1"/>
          </p:cNvPicPr>
          <p:nvPr/>
        </p:nvPicPr>
        <p:blipFill>
          <a:blip r:embed="rId1"/>
          <a:stretch>
            <a:fillRect/>
          </a:stretch>
        </p:blipFill>
        <p:spPr>
          <a:xfrm>
            <a:off x="457200" y="3108960"/>
            <a:ext cx="3657600" cy="1463040"/>
          </a:xfrm>
          <a:prstGeom prst="rect">
            <a:avLst/>
          </a:prstGeom>
        </p:spPr>
      </p:pic>
      <p:sp>
        <p:nvSpPr>
          <p:cNvPr id="7" name="How to read it card"/>
          <p:cNvSpPr/>
          <p:nvPr/>
        </p:nvSpPr>
        <p:spPr>
          <a:xfrm>
            <a:off x="4297680" y="3108960"/>
            <a:ext cx="4389120" cy="1444752"/>
          </a:xfrm>
          <a:prstGeom prst="roundRect">
            <a:avLst>
              <a:gd name="adj" fmla="val 5063"/>
            </a:avLst>
          </a:prstGeom>
          <a:solidFill>
            <a:srgbClr val="FFF4EA"/>
          </a:solidFill>
          <a:ln w="12700">
            <a:solidFill>
              <a:srgbClr val="FFF4EA"/>
            </a:solidFill>
            <a:prstDash val="solid"/>
          </a:ln>
        </p:spPr>
      </p:sp>
      <p:sp>
        <p:nvSpPr>
          <p:cNvPr id="8" name="Text 3"/>
          <p:cNvSpPr txBox="1"/>
          <p:nvPr/>
        </p:nvSpPr>
        <p:spPr>
          <a:xfrm>
            <a:off x="4480560" y="3236976"/>
            <a:ext cx="4023360" cy="292608"/>
          </a:xfrm>
          <a:prstGeom prst="rect">
            <a:avLst/>
          </a:prstGeom>
          <a:noFill/>
          <a:ln/>
        </p:spPr>
        <p:txBody>
          <a:bodyPr wrap="square" lIns="0" tIns="0" rIns="0" bIns="0" rtlCol="0" anchor="t"/>
          <a:lstStyle/>
          <a:p>
            <a:pPr indent="0" marL="0">
              <a:buNone/>
            </a:pPr>
            <a:r>
              <a:rPr lang="en-US" sz="1400" b="1" dirty="0">
                <a:solidFill>
                  <a:schemeClr val="tx1"/>
                </a:solidFill>
              </a:rPr>
              <a:t>How to read it</a:t>
            </a:r>
            <a:endParaRPr lang="en-US" sz="1400" dirty="0"/>
          </a:p>
        </p:txBody>
      </p:sp>
      <p:sp>
        <p:nvSpPr>
          <p:cNvPr id="9" name="Text 4"/>
          <p:cNvSpPr txBox="1"/>
          <p:nvPr/>
        </p:nvSpPr>
        <p:spPr>
          <a:xfrm>
            <a:off x="4480560" y="3602736"/>
            <a:ext cx="4041648" cy="85953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Each pair of bars = one piece, solved both ways</a:t>
            </a:r>
            <a:endParaRPr lang="en-US" sz="1200" dirty="0"/>
          </a:p>
          <a:p>
            <a:pPr marL="177800" indent="-177800">
              <a:spcAft>
                <a:spcPts val="400"/>
              </a:spcAft>
              <a:buSzPct val="100000"/>
              <a:buChar char="•"/>
            </a:pPr>
            <a:r>
              <a:rPr lang="en-US" sz="1200" dirty="0">
                <a:solidFill>
                  <a:schemeClr val="tx1"/>
                </a:solidFill>
              </a:rPr>
              <a:t>Black outline = the router's choice</a:t>
            </a:r>
            <a:endParaRPr lang="en-US" sz="1200" dirty="0"/>
          </a:p>
          <a:p>
            <a:pPr marL="177800" indent="-177800">
              <a:spcAft>
                <a:spcPts val="400"/>
              </a:spcAft>
              <a:buSzPct val="100000"/>
              <a:buChar char="•"/>
            </a:pPr>
            <a:r>
              <a:rPr lang="en-US" sz="1200" dirty="0">
                <a:solidFill>
                  <a:schemeClr val="tx1"/>
                </a:solidFill>
              </a:rPr>
              <a:t>The miss on sites A: our error estimate predicted 0.21 for annealing; the full simulation gave 0.44</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Reading the 'when does each win' chart</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7 · Breaking problems into pieces</a:t>
            </a:r>
            <a:endParaRPr lang="en-US" sz="1000" dirty="0"/>
          </a:p>
        </p:txBody>
      </p:sp>
      <p:pic>
        <p:nvPicPr>
          <p:cNvPr id="5" name="When each wins chart" descr="C:\Users\gurra\Projects\q-router\figfix\fig_03.png">    </p:cNvPr>
          <p:cNvPicPr>
            <a:picLocks noChangeAspect="1"/>
          </p:cNvPicPr>
          <p:nvPr/>
        </p:nvPicPr>
        <p:blipFill>
          <a:blip r:embed="rId1"/>
          <a:stretch>
            <a:fillRect/>
          </a:stretch>
        </p:blipFill>
        <p:spPr>
          <a:xfrm>
            <a:off x="457200" y="1051560"/>
            <a:ext cx="5120640" cy="2880360"/>
          </a:xfrm>
          <a:prstGeom prst="rect">
            <a:avLst/>
          </a:prstGeom>
        </p:spPr>
      </p:pic>
      <p:sp>
        <p:nvSpPr>
          <p:cNvPr id="6" name="How to read it card"/>
          <p:cNvSpPr/>
          <p:nvPr/>
        </p:nvSpPr>
        <p:spPr>
          <a:xfrm>
            <a:off x="5760720" y="1051560"/>
            <a:ext cx="2926080" cy="3474720"/>
          </a:xfrm>
          <a:prstGeom prst="roundRect">
            <a:avLst>
              <a:gd name="adj" fmla="val 2500"/>
            </a:avLst>
          </a:prstGeom>
          <a:solidFill>
            <a:srgbClr val="F2F2F8"/>
          </a:solidFill>
          <a:ln w="12700">
            <a:solidFill>
              <a:srgbClr val="F2F2F8"/>
            </a:solidFill>
            <a:prstDash val="solid"/>
          </a:ln>
        </p:spPr>
      </p:sp>
      <p:sp>
        <p:nvSpPr>
          <p:cNvPr id="7" name="Text 3"/>
          <p:cNvSpPr txBox="1"/>
          <p:nvPr/>
        </p:nvSpPr>
        <p:spPr>
          <a:xfrm>
            <a:off x="5943600" y="1179576"/>
            <a:ext cx="2560320" cy="292608"/>
          </a:xfrm>
          <a:prstGeom prst="rect">
            <a:avLst/>
          </a:prstGeom>
          <a:noFill/>
          <a:ln/>
        </p:spPr>
        <p:txBody>
          <a:bodyPr wrap="square" lIns="0" tIns="0" rIns="0" bIns="0" rtlCol="0" anchor="t"/>
          <a:lstStyle/>
          <a:p>
            <a:pPr indent="0" marL="0">
              <a:buNone/>
            </a:pPr>
            <a:r>
              <a:rPr lang="en-US" sz="1400" b="1" dirty="0">
                <a:solidFill>
                  <a:schemeClr val="tx1"/>
                </a:solidFill>
              </a:rPr>
              <a:t>How to read it</a:t>
            </a:r>
            <a:endParaRPr lang="en-US" sz="1400" dirty="0"/>
          </a:p>
        </p:txBody>
      </p:sp>
      <p:sp>
        <p:nvSpPr>
          <p:cNvPr id="8" name="Text 4"/>
          <p:cNvSpPr txBox="1"/>
          <p:nvPr/>
        </p:nvSpPr>
        <p:spPr>
          <a:xfrm>
            <a:off x="5943600" y="1545336"/>
            <a:ext cx="2578608" cy="2889504"/>
          </a:xfrm>
          <a:prstGeom prst="rect">
            <a:avLst/>
          </a:prstGeom>
          <a:noFill/>
          <a:ln/>
        </p:spPr>
        <p:txBody>
          <a:bodyPr wrap="square" lIns="0" tIns="0" rIns="0" bIns="0" rtlCol="0" anchor="t"/>
          <a:lstStyle/>
          <a:p>
            <a:pPr marL="177800" indent="-177800">
              <a:spcAft>
                <a:spcPts val="400"/>
              </a:spcAft>
              <a:buSzPct val="100000"/>
              <a:buChar char="•"/>
            </a:pPr>
            <a:r>
              <a:rPr lang="en-US" sz="1200" b="1" dirty="0">
                <a:solidFill>
                  <a:schemeClr val="tx1"/>
                </a:solidFill>
              </a:rPr>
              <a:t>Each dot: </a:t>
            </a:r>
            <a:pPr indent="0" marL="0">
              <a:spcAft>
                <a:spcPts val="400"/>
              </a:spcAft>
              <a:buNone/>
            </a:pPr>
            <a:r>
              <a:rPr lang="en-US" sz="1200" dirty="0">
                <a:solidFill>
                  <a:schemeClr val="tx1"/>
                </a:solidFill>
              </a:rPr>
              <a:t>one practice problem</a:t>
            </a:r>
            <a:endParaRPr lang="en-US" sz="1200" dirty="0"/>
          </a:p>
          <a:p>
            <a:pPr marL="177800" indent="-177800">
              <a:spcAft>
                <a:spcPts val="400"/>
              </a:spcAft>
              <a:buSzPct val="100000"/>
              <a:buChar char="•"/>
            </a:pPr>
            <a:r>
              <a:rPr lang="en-US" sz="1200" b="1" dirty="0">
                <a:solidFill>
                  <a:schemeClr val="tx1"/>
                </a:solidFill>
              </a:rPr>
              <a:t>Left → right: </a:t>
            </a:r>
            <a:pPr indent="0" marL="0">
              <a:spcAft>
                <a:spcPts val="400"/>
              </a:spcAft>
              <a:buNone/>
            </a:pPr>
            <a:r>
              <a:rPr lang="en-US" sz="1200" dirty="0">
                <a:solidFill>
                  <a:schemeClr val="tx1"/>
                </a:solidFill>
              </a:rPr>
              <a:t>more connected (density)</a:t>
            </a:r>
            <a:endParaRPr lang="en-US" sz="1200" dirty="0"/>
          </a:p>
          <a:p>
            <a:pPr marL="177800" indent="-177800">
              <a:spcAft>
                <a:spcPts val="400"/>
              </a:spcAft>
              <a:buSzPct val="100000"/>
              <a:buChar char="•"/>
            </a:pPr>
            <a:r>
              <a:rPr lang="en-US" sz="1200" b="1" dirty="0">
                <a:solidFill>
                  <a:schemeClr val="tx1"/>
                </a:solidFill>
              </a:rPr>
              <a:t>Above the line: </a:t>
            </a:r>
            <a:pPr indent="0" marL="0">
              <a:spcAft>
                <a:spcPts val="400"/>
              </a:spcAft>
              <a:buNone/>
            </a:pPr>
            <a:r>
              <a:rPr lang="en-US" sz="1200" dirty="0">
                <a:solidFill>
                  <a:schemeClr val="tx1"/>
                </a:solidFill>
              </a:rPr>
              <a:t>annealing scored higher</a:t>
            </a:r>
            <a:endParaRPr lang="en-US" sz="1200" dirty="0"/>
          </a:p>
          <a:p>
            <a:pPr marL="177800" indent="-177800">
              <a:spcAft>
                <a:spcPts val="400"/>
              </a:spcAft>
              <a:buSzPct val="100000"/>
              <a:buChar char="•"/>
            </a:pPr>
            <a:r>
              <a:rPr lang="en-US" sz="1200" b="1" dirty="0">
                <a:solidFill>
                  <a:schemeClr val="tx1"/>
                </a:solidFill>
              </a:rPr>
              <a:t>Below the line: </a:t>
            </a:r>
            <a:pPr indent="0" marL="0">
              <a:spcAft>
                <a:spcPts val="400"/>
              </a:spcAft>
              <a:buNone/>
            </a:pPr>
            <a:r>
              <a:rPr lang="en-US" sz="1200" dirty="0">
                <a:solidFill>
                  <a:schemeClr val="tx1"/>
                </a:solidFill>
              </a:rPr>
              <a:t>gate-based scored higher</a:t>
            </a:r>
            <a:endParaRPr lang="en-US" sz="1200" dirty="0"/>
          </a:p>
          <a:p>
            <a:pPr marL="177800" indent="-177800">
              <a:spcAft>
                <a:spcPts val="400"/>
              </a:spcAft>
              <a:buSzPct val="100000"/>
              <a:buChar char="•"/>
            </a:pPr>
            <a:r>
              <a:rPr lang="en-US" sz="1200" b="1" dirty="0">
                <a:solidFill>
                  <a:schemeClr val="tx1"/>
                </a:solidFill>
              </a:rPr>
              <a:t>Right edge (1.0): </a:t>
            </a:r>
            <a:pPr indent="0" marL="0">
              <a:spcAft>
                <a:spcPts val="400"/>
              </a:spcAft>
              <a:buNone/>
            </a:pPr>
            <a:r>
              <a:rPr lang="en-US" sz="1200" dirty="0">
                <a:solidFill>
                  <a:schemeClr val="tx1"/>
                </a:solidFill>
              </a:rPr>
              <a:t>stocks and drugs, almost all below</a:t>
            </a:r>
            <a:endParaRPr lang="en-US" sz="12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4023360"/>
          <a:ext cx="5120640" cy="914400"/>
        </p:xfrm>
        <a:graphic>
          <a:graphicData uri="http://schemas.openxmlformats.org/drawingml/2006/table">
            <a:tbl>
              <a:tblPr/>
              <a:tblGrid>
                <a:gridCol w="1097280"/>
                <a:gridCol w="960120"/>
                <a:gridCol w="960120"/>
                <a:gridCol w="960120"/>
                <a:gridCol w="1143000"/>
              </a:tblGrid>
              <a:tr h="411480">
                <a:tc>
                  <a:txBody>
                    <a:bodyPr/>
                    <a:lstStyle/>
                    <a:p>
                      <a:pPr indent="0" marL="0">
                        <a:buNone/>
                      </a:pPr>
                      <a:r>
                        <a:rPr lang="en-US" sz="1100" b="1" dirty="0">
                          <a:solidFill>
                            <a:srgbClr val="FFFFFF"/>
                          </a:solidFill>
                        </a:rPr>
                        <a:t>Annealing won</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Stocks 0/11</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Drugs 2/16</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Tests 4/15</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Networks 10/18</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Packing several problems onto one chip</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8 · Running problems together</a:t>
            </a:r>
            <a:endParaRPr lang="en-US" sz="1000" dirty="0"/>
          </a:p>
        </p:txBody>
      </p:sp>
      <p:sp>
        <p:nvSpPr>
          <p:cNvPr id="5" name="How it works card"/>
          <p:cNvSpPr/>
          <p:nvPr/>
        </p:nvSpPr>
        <p:spPr>
          <a:xfrm>
            <a:off x="457200" y="1097280"/>
            <a:ext cx="4023360" cy="3429000"/>
          </a:xfrm>
          <a:prstGeom prst="roundRect">
            <a:avLst>
              <a:gd name="adj" fmla="val 2133"/>
            </a:avLst>
          </a:prstGeom>
          <a:solidFill>
            <a:srgbClr val="F2F2F8"/>
          </a:solidFill>
          <a:ln w="12700">
            <a:solidFill>
              <a:srgbClr val="F2F2F8"/>
            </a:solidFill>
            <a:prstDash val="solid"/>
          </a:ln>
        </p:spPr>
      </p:sp>
      <p:sp>
        <p:nvSpPr>
          <p:cNvPr id="6" name="Text 3"/>
          <p:cNvSpPr txBox="1"/>
          <p:nvPr/>
        </p:nvSpPr>
        <p:spPr>
          <a:xfrm>
            <a:off x="64008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How it works</a:t>
            </a:r>
            <a:endParaRPr lang="en-US" sz="1400" dirty="0"/>
          </a:p>
        </p:txBody>
      </p:sp>
      <p:sp>
        <p:nvSpPr>
          <p:cNvPr id="7" name="Text 4"/>
          <p:cNvSpPr txBox="1"/>
          <p:nvPr/>
        </p:nvSpPr>
        <p:spPr>
          <a:xfrm>
            <a:off x="640080" y="1591056"/>
            <a:ext cx="3675888" cy="28437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Each problem gets its own group of qubits; no links between groups</a:t>
            </a:r>
            <a:endParaRPr lang="en-US" sz="1300" dirty="0"/>
          </a:p>
          <a:p>
            <a:pPr marL="177800" indent="-177800">
              <a:spcAft>
                <a:spcPts val="400"/>
              </a:spcAft>
              <a:buSzPct val="100000"/>
              <a:buChar char="•"/>
            </a:pPr>
            <a:r>
              <a:rPr lang="en-US" sz="1300" dirty="0">
                <a:solidFill>
                  <a:schemeClr val="tx1"/>
                </a:solidFill>
              </a:rPr>
              <a:t>All groups go into ONE recipe and ONE chip job</a:t>
            </a:r>
            <a:endParaRPr lang="en-US" sz="1300" dirty="0"/>
          </a:p>
          <a:p>
            <a:pPr marL="177800" indent="-177800">
              <a:spcAft>
                <a:spcPts val="400"/>
              </a:spcAft>
              <a:buSzPct val="100000"/>
              <a:buChar char="•"/>
            </a:pPr>
            <a:r>
              <a:rPr lang="en-US" sz="1300" dirty="0">
                <a:solidFill>
                  <a:schemeClr val="tx1"/>
                </a:solidFill>
              </a:rPr>
              <a:t>Each problem's answer is read from its own qubits</a:t>
            </a:r>
            <a:endParaRPr lang="en-US" sz="1300" dirty="0"/>
          </a:p>
          <a:p>
            <a:pPr marL="177800" indent="-177800">
              <a:spcAft>
                <a:spcPts val="400"/>
              </a:spcAft>
              <a:buSzPct val="100000"/>
              <a:buChar char="•"/>
            </a:pPr>
            <a:r>
              <a:rPr lang="en-US" sz="1300" b="1" dirty="0">
                <a:solidFill>
                  <a:schemeClr val="tx1"/>
                </a:solidFill>
              </a:rPr>
              <a:t>Crosstalk: </a:t>
            </a:r>
            <a:pPr indent="0" marL="0">
              <a:spcAft>
                <a:spcPts val="400"/>
              </a:spcAft>
              <a:buNone/>
            </a:pPr>
            <a:r>
              <a:rPr lang="en-US" sz="1300" dirty="0">
                <a:solidFill>
                  <a:schemeClr val="tx1"/>
                </a:solidFill>
              </a:rPr>
              <a:t>a neighbor's activity disturbing a problem; measured as score alone − score together</a:t>
            </a:r>
            <a:endParaRPr lang="en-US" sz="1300" dirty="0"/>
          </a:p>
          <a:p>
            <a:pPr marL="177800" indent="-177800">
              <a:spcAft>
                <a:spcPts val="400"/>
              </a:spcAft>
              <a:buSzPct val="100000"/>
              <a:buChar char="•"/>
            </a:pPr>
            <a:r>
              <a:rPr lang="en-US" sz="1300" dirty="0">
                <a:solidFill>
                  <a:schemeClr val="tx1"/>
                </a:solidFill>
              </a:rPr>
              <a:t>Theme fit: 'a decade of quantum on the cloud', many users sharing one machine</a:t>
            </a:r>
            <a:endParaRPr lang="en-US" sz="13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663440" y="1097280"/>
          <a:ext cx="4023360" cy="914400"/>
        </p:xfrm>
        <a:graphic>
          <a:graphicData uri="http://schemas.openxmlformats.org/drawingml/2006/table">
            <a:tbl>
              <a:tblPr/>
              <a:tblGrid>
                <a:gridCol w="1463040"/>
                <a:gridCol w="731520"/>
                <a:gridCol w="594360"/>
                <a:gridCol w="685800"/>
                <a:gridCol w="548640"/>
              </a:tblGrid>
              <a:tr h="457200">
                <a:tc>
                  <a:txBody>
                    <a:bodyPr/>
                    <a:lstStyle/>
                    <a:p>
                      <a:pPr indent="0" marL="0">
                        <a:buNone/>
                      </a:pPr>
                      <a:r>
                        <a:rPr lang="en-US" sz="1100" b="1" dirty="0">
                          <a:solidFill>
                            <a:srgbClr val="FFFFFF"/>
                          </a:solidFill>
                        </a:rPr>
                        <a:t>Problem (6 choices each)</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Kind used</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Alone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Together</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Lost</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457200">
                <a:tc>
                  <a:txBody>
                    <a:bodyPr/>
                    <a:lstStyle/>
                    <a:p>
                      <a:pPr indent="0" marL="0">
                        <a:buNone/>
                      </a:pPr>
                      <a:r>
                        <a:rPr lang="en-US" sz="1100" dirty="0">
                          <a:solidFill>
                            <a:srgbClr val="1B1D36"/>
                          </a:solidFill>
                        </a:rPr>
                        <a:t>Stocks: hold 2 of 6</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gate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0.585</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0.596</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−0.011</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57200">
                <a:tc>
                  <a:txBody>
                    <a:bodyPr/>
                    <a:lstStyle/>
                    <a:p>
                      <a:pPr indent="0" marL="0">
                        <a:buNone/>
                      </a:pPr>
                      <a:r>
                        <a:rPr lang="en-US" sz="1100" dirty="0">
                          <a:solidFill>
                            <a:srgbClr val="1B1D36"/>
                          </a:solidFill>
                        </a:rPr>
                        <a:t>Medical tests: 6 tests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annealing</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0.577</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0.581</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−0.004</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1B1D36"/>
                          </a:solidFill>
                        </a:rPr>
                        <a:t>Drugs: fund 2 of 6</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gate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0.616</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0.592</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0.024</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bl>
          </a:graphicData>
        </a:graphic>
      </p:graphicFrame>
      <p:sp>
        <p:nvSpPr>
          <p:cNvPr id="9" name="Text 5"/>
          <p:cNvSpPr txBox="1"/>
          <p:nvPr/>
        </p:nvSpPr>
        <p:spPr>
          <a:xfrm>
            <a:off x="4663440" y="3017520"/>
            <a:ext cx="4023360" cy="1463040"/>
          </a:xfrm>
          <a:prstGeom prst="rect">
            <a:avLst/>
          </a:prstGeom>
          <a:noFill/>
          <a:ln/>
        </p:spPr>
        <p:txBody>
          <a:bodyPr wrap="square" lIns="0" tIns="0" rIns="0" bIns="0" rtlCol="0" anchor="t"/>
          <a:lstStyle/>
          <a:p>
            <a:pPr indent="0" marL="0">
              <a:buNone/>
            </a:pPr>
            <a:r>
              <a:rPr lang="en-US" sz="1200" i="1" dirty="0">
                <a:solidFill>
                  <a:schemeClr val="tx2"/>
                </a:solidFill>
              </a:rPr>
              <a:t>Simulation of IBM Torino with errors. Losses of about 0.01-0.02 are within normal run-to-run wobble, so packing cost almost nothing. The real chip may show more.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One tune, one job: design</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8 · Running problems together</a:t>
            </a:r>
            <a:endParaRPr lang="en-US" sz="1000" dirty="0"/>
          </a:p>
        </p:txBody>
      </p:sp>
      <p:sp>
        <p:nvSpPr>
          <p:cNvPr id="5" name="flow step 1"/>
          <p:cNvSpPr/>
          <p:nvPr/>
        </p:nvSpPr>
        <p:spPr>
          <a:xfrm>
            <a:off x="457200" y="1143000"/>
            <a:ext cx="1441094" cy="1325880"/>
          </a:xfrm>
          <a:prstGeom prst="roundRect">
            <a:avLst>
              <a:gd name="adj" fmla="val 5517"/>
            </a:avLst>
          </a:prstGeom>
          <a:solidFill>
            <a:srgbClr val="E8833A"/>
          </a:solidFill>
          <a:ln w="12700">
            <a:solidFill>
              <a:srgbClr val="E8833A"/>
            </a:solidFill>
            <a:prstDash val="solid"/>
          </a:ln>
        </p:spPr>
      </p:sp>
      <p:sp>
        <p:nvSpPr>
          <p:cNvPr id="6" name="Text 3"/>
          <p:cNvSpPr txBox="1"/>
          <p:nvPr/>
        </p:nvSpPr>
        <p:spPr>
          <a:xfrm>
            <a:off x="548640" y="1234440"/>
            <a:ext cx="1258214" cy="1143000"/>
          </a:xfrm>
          <a:prstGeom prst="rect">
            <a:avLst/>
          </a:prstGeom>
          <a:noFill/>
          <a:ln/>
        </p:spPr>
        <p:txBody>
          <a:bodyPr wrap="square" lIns="0" tIns="0" rIns="0" bIns="0" rtlCol="0" anchor="ctr"/>
          <a:lstStyle/>
          <a:p>
            <a:pPr algn="ctr" indent="0" marL="0">
              <a:buNone/>
            </a:pPr>
            <a:r>
              <a:rPr lang="en-US" sz="1300" b="1" dirty="0">
                <a:solidFill>
                  <a:srgbClr val="FFFFFF"/>
                </a:solidFill>
              </a:rPr>
              <a:t>4 problems</a:t>
            </a:r>
            <a:endParaRPr lang="en-US" sz="1300" dirty="0"/>
          </a:p>
          <a:p>
            <a:pPr algn="ctr" indent="0" marL="0">
              <a:buNone/>
            </a:pPr>
            <a:r>
              <a:rPr lang="en-US" sz="1100" dirty="0">
                <a:solidFill>
                  <a:srgbClr val="FFFFFF"/>
                </a:solidFill>
              </a:rPr>
              <a:t>stocks, tests, drugs, network (4 choices each)</a:t>
            </a:r>
            <a:endParaRPr lang="en-US" sz="1300" dirty="0"/>
          </a:p>
        </p:txBody>
      </p:sp>
      <p:sp>
        <p:nvSpPr>
          <p:cNvPr id="7" name="flow arrow 1"/>
          <p:cNvSpPr/>
          <p:nvPr/>
        </p:nvSpPr>
        <p:spPr>
          <a:xfrm>
            <a:off x="1934870" y="1805940"/>
            <a:ext cx="182880" cy="0"/>
          </a:xfrm>
          <a:prstGeom prst="line">
            <a:avLst/>
          </a:prstGeom>
          <a:noFill/>
          <a:ln w="15875">
            <a:solidFill>
              <a:srgbClr val="667085"/>
            </a:solidFill>
            <a:prstDash val="solid"/>
            <a:tailEnd type="triangle"/>
          </a:ln>
        </p:spPr>
      </p:sp>
      <p:sp>
        <p:nvSpPr>
          <p:cNvPr id="8" name="flow step 2"/>
          <p:cNvSpPr/>
          <p:nvPr/>
        </p:nvSpPr>
        <p:spPr>
          <a:xfrm>
            <a:off x="2154326" y="1143000"/>
            <a:ext cx="1441094" cy="1325880"/>
          </a:xfrm>
          <a:prstGeom prst="roundRect">
            <a:avLst>
              <a:gd name="adj" fmla="val 5517"/>
            </a:avLst>
          </a:prstGeom>
          <a:solidFill>
            <a:srgbClr val="E8833A"/>
          </a:solidFill>
          <a:ln w="12700">
            <a:solidFill>
              <a:srgbClr val="E8833A"/>
            </a:solidFill>
            <a:prstDash val="solid"/>
          </a:ln>
        </p:spPr>
      </p:sp>
      <p:sp>
        <p:nvSpPr>
          <p:cNvPr id="9" name="Text 6"/>
          <p:cNvSpPr txBox="1"/>
          <p:nvPr/>
        </p:nvSpPr>
        <p:spPr>
          <a:xfrm>
            <a:off x="2245766" y="1234440"/>
            <a:ext cx="1258214" cy="1143000"/>
          </a:xfrm>
          <a:prstGeom prst="rect">
            <a:avLst/>
          </a:prstGeom>
          <a:noFill/>
          <a:ln/>
        </p:spPr>
        <p:txBody>
          <a:bodyPr wrap="square" lIns="0" tIns="0" rIns="0" bIns="0" rtlCol="0" anchor="ctr"/>
          <a:lstStyle/>
          <a:p>
            <a:pPr algn="ctr" indent="0" marL="0">
              <a:buNone/>
            </a:pPr>
            <a:r>
              <a:rPr lang="en-US" sz="1300" b="1" dirty="0">
                <a:solidFill>
                  <a:srgbClr val="FFFFFF"/>
                </a:solidFill>
              </a:rPr>
              <a:t>Group</a:t>
            </a:r>
            <a:endParaRPr lang="en-US" sz="1300" dirty="0"/>
          </a:p>
          <a:p>
            <a:pPr algn="ctr" indent="0" marL="0">
              <a:buNone/>
            </a:pPr>
            <a:r>
              <a:rPr lang="en-US" sz="1100" dirty="0">
                <a:solidFill>
                  <a:srgbClr val="FFFFFF"/>
                </a:solidFill>
              </a:rPr>
              <a:t>into 2 shape families (k-means on fingerprints)</a:t>
            </a:r>
            <a:endParaRPr lang="en-US" sz="1300" dirty="0"/>
          </a:p>
        </p:txBody>
      </p:sp>
      <p:sp>
        <p:nvSpPr>
          <p:cNvPr id="10" name="flow arrow 2"/>
          <p:cNvSpPr/>
          <p:nvPr/>
        </p:nvSpPr>
        <p:spPr>
          <a:xfrm>
            <a:off x="3631997" y="1805940"/>
            <a:ext cx="182880" cy="0"/>
          </a:xfrm>
          <a:prstGeom prst="line">
            <a:avLst/>
          </a:prstGeom>
          <a:noFill/>
          <a:ln w="15875">
            <a:solidFill>
              <a:srgbClr val="667085"/>
            </a:solidFill>
            <a:prstDash val="solid"/>
            <a:tailEnd type="triangle"/>
          </a:ln>
        </p:spPr>
      </p:sp>
      <p:sp>
        <p:nvSpPr>
          <p:cNvPr id="11" name="flow step 3"/>
          <p:cNvSpPr/>
          <p:nvPr/>
        </p:nvSpPr>
        <p:spPr>
          <a:xfrm>
            <a:off x="3851453" y="1143000"/>
            <a:ext cx="1441094" cy="1325880"/>
          </a:xfrm>
          <a:prstGeom prst="roundRect">
            <a:avLst>
              <a:gd name="adj" fmla="val 5517"/>
            </a:avLst>
          </a:prstGeom>
          <a:solidFill>
            <a:srgbClr val="E8833A"/>
          </a:solidFill>
          <a:ln w="12700">
            <a:solidFill>
              <a:srgbClr val="E8833A"/>
            </a:solidFill>
            <a:prstDash val="solid"/>
          </a:ln>
        </p:spPr>
      </p:sp>
      <p:sp>
        <p:nvSpPr>
          <p:cNvPr id="12" name="Text 9"/>
          <p:cNvSpPr txBox="1"/>
          <p:nvPr/>
        </p:nvSpPr>
        <p:spPr>
          <a:xfrm>
            <a:off x="3942893" y="1234440"/>
            <a:ext cx="1258214" cy="1143000"/>
          </a:xfrm>
          <a:prstGeom prst="rect">
            <a:avLst/>
          </a:prstGeom>
          <a:noFill/>
          <a:ln/>
        </p:spPr>
        <p:txBody>
          <a:bodyPr wrap="square" lIns="0" tIns="0" rIns="0" bIns="0" rtlCol="0" anchor="ctr"/>
          <a:lstStyle/>
          <a:p>
            <a:pPr algn="ctr" indent="0" marL="0">
              <a:buNone/>
            </a:pPr>
            <a:r>
              <a:rPr lang="en-US" sz="1300" b="1" dirty="0">
                <a:solidFill>
                  <a:srgbClr val="FFFFFF"/>
                </a:solidFill>
              </a:rPr>
              <a:t>Tune once</a:t>
            </a:r>
            <a:endParaRPr lang="en-US" sz="1300" dirty="0"/>
          </a:p>
          <a:p>
            <a:pPr algn="ctr" indent="0" marL="0">
              <a:buNone/>
            </a:pPr>
            <a:r>
              <a:rPr lang="en-US" sz="1100" dirty="0">
                <a:solidFill>
                  <a:srgbClr val="FFFFFF"/>
                </a:solidFill>
              </a:rPr>
              <a:t>only the most typical member of each family</a:t>
            </a:r>
            <a:endParaRPr lang="en-US" sz="1300" dirty="0"/>
          </a:p>
        </p:txBody>
      </p:sp>
      <p:sp>
        <p:nvSpPr>
          <p:cNvPr id="13" name="flow arrow 3"/>
          <p:cNvSpPr/>
          <p:nvPr/>
        </p:nvSpPr>
        <p:spPr>
          <a:xfrm>
            <a:off x="5329123" y="1805940"/>
            <a:ext cx="182880" cy="0"/>
          </a:xfrm>
          <a:prstGeom prst="line">
            <a:avLst/>
          </a:prstGeom>
          <a:noFill/>
          <a:ln w="15875">
            <a:solidFill>
              <a:srgbClr val="667085"/>
            </a:solidFill>
            <a:prstDash val="solid"/>
            <a:tailEnd type="triangle"/>
          </a:ln>
        </p:spPr>
      </p:sp>
      <p:sp>
        <p:nvSpPr>
          <p:cNvPr id="14" name="flow step 4"/>
          <p:cNvSpPr/>
          <p:nvPr/>
        </p:nvSpPr>
        <p:spPr>
          <a:xfrm>
            <a:off x="5548579" y="1143000"/>
            <a:ext cx="1441094" cy="1325880"/>
          </a:xfrm>
          <a:prstGeom prst="roundRect">
            <a:avLst>
              <a:gd name="adj" fmla="val 5517"/>
            </a:avLst>
          </a:prstGeom>
          <a:solidFill>
            <a:srgbClr val="E8833A"/>
          </a:solidFill>
          <a:ln w="12700">
            <a:solidFill>
              <a:srgbClr val="E8833A"/>
            </a:solidFill>
            <a:prstDash val="solid"/>
          </a:ln>
        </p:spPr>
      </p:sp>
      <p:sp>
        <p:nvSpPr>
          <p:cNvPr id="15" name="Text 12"/>
          <p:cNvSpPr txBox="1"/>
          <p:nvPr/>
        </p:nvSpPr>
        <p:spPr>
          <a:xfrm>
            <a:off x="5640019" y="1234440"/>
            <a:ext cx="1258214" cy="1143000"/>
          </a:xfrm>
          <a:prstGeom prst="rect">
            <a:avLst/>
          </a:prstGeom>
          <a:noFill/>
          <a:ln/>
        </p:spPr>
        <p:txBody>
          <a:bodyPr wrap="square" lIns="0" tIns="0" rIns="0" bIns="0" rtlCol="0" anchor="ctr"/>
          <a:lstStyle/>
          <a:p>
            <a:pPr algn="ctr" indent="0" marL="0">
              <a:buNone/>
            </a:pPr>
            <a:r>
              <a:rPr lang="en-US" sz="1300" b="1" dirty="0">
                <a:solidFill>
                  <a:srgbClr val="FFFFFF"/>
                </a:solidFill>
              </a:rPr>
              <a:t>Share</a:t>
            </a:r>
            <a:endParaRPr lang="en-US" sz="1300" dirty="0"/>
          </a:p>
          <a:p>
            <a:pPr algn="ctr" indent="0" marL="0">
              <a:buNone/>
            </a:pPr>
            <a:r>
              <a:rPr lang="en-US" sz="1100" dirty="0">
                <a:solidFill>
                  <a:srgbClr val="FFFFFF"/>
                </a:solidFill>
              </a:rPr>
              <a:t>every member uses its family's dials</a:t>
            </a:r>
            <a:endParaRPr lang="en-US" sz="1300" dirty="0"/>
          </a:p>
        </p:txBody>
      </p:sp>
      <p:sp>
        <p:nvSpPr>
          <p:cNvPr id="16" name="flow arrow 4"/>
          <p:cNvSpPr/>
          <p:nvPr/>
        </p:nvSpPr>
        <p:spPr>
          <a:xfrm>
            <a:off x="7026250" y="1805940"/>
            <a:ext cx="182880" cy="0"/>
          </a:xfrm>
          <a:prstGeom prst="line">
            <a:avLst/>
          </a:prstGeom>
          <a:noFill/>
          <a:ln w="15875">
            <a:solidFill>
              <a:srgbClr val="667085"/>
            </a:solidFill>
            <a:prstDash val="solid"/>
            <a:tailEnd type="triangle"/>
          </a:ln>
        </p:spPr>
      </p:sp>
      <p:sp>
        <p:nvSpPr>
          <p:cNvPr id="17" name="flow step 5"/>
          <p:cNvSpPr/>
          <p:nvPr/>
        </p:nvSpPr>
        <p:spPr>
          <a:xfrm>
            <a:off x="7245706" y="1143000"/>
            <a:ext cx="1441094" cy="1325880"/>
          </a:xfrm>
          <a:prstGeom prst="roundRect">
            <a:avLst>
              <a:gd name="adj" fmla="val 5517"/>
            </a:avLst>
          </a:prstGeom>
          <a:solidFill>
            <a:srgbClr val="E8833A"/>
          </a:solidFill>
          <a:ln w="12700">
            <a:solidFill>
              <a:srgbClr val="E8833A"/>
            </a:solidFill>
            <a:prstDash val="solid"/>
          </a:ln>
        </p:spPr>
      </p:sp>
      <p:sp>
        <p:nvSpPr>
          <p:cNvPr id="18" name="Text 15"/>
          <p:cNvSpPr txBox="1"/>
          <p:nvPr/>
        </p:nvSpPr>
        <p:spPr>
          <a:xfrm>
            <a:off x="7337146" y="1234440"/>
            <a:ext cx="1258214" cy="1143000"/>
          </a:xfrm>
          <a:prstGeom prst="rect">
            <a:avLst/>
          </a:prstGeom>
          <a:noFill/>
          <a:ln/>
        </p:spPr>
        <p:txBody>
          <a:bodyPr wrap="square" lIns="0" tIns="0" rIns="0" bIns="0" rtlCol="0" anchor="ctr"/>
          <a:lstStyle/>
          <a:p>
            <a:pPr algn="ctr" indent="0" marL="0">
              <a:buNone/>
            </a:pPr>
            <a:r>
              <a:rPr lang="en-US" sz="1300" b="1" dirty="0">
                <a:solidFill>
                  <a:srgbClr val="FFFFFF"/>
                </a:solidFill>
              </a:rPr>
              <a:t>One trip</a:t>
            </a:r>
            <a:endParaRPr lang="en-US" sz="1300" dirty="0"/>
          </a:p>
          <a:p>
            <a:pPr algn="ctr" indent="0" marL="0">
              <a:buNone/>
            </a:pPr>
            <a:r>
              <a:rPr lang="en-US" sz="1100" dirty="0">
                <a:solidFill>
                  <a:srgbClr val="FFFFFF"/>
                </a:solidFill>
              </a:rPr>
              <a:t>all 4 packed into one 16-qubit recipe</a:t>
            </a:r>
            <a:endParaRPr lang="en-US" sz="13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2697480"/>
          <a:ext cx="8229600" cy="914400"/>
        </p:xfrm>
        <a:graphic>
          <a:graphicData uri="http://schemas.openxmlformats.org/drawingml/2006/table">
            <a:tbl>
              <a:tblPr/>
              <a:tblGrid>
                <a:gridCol w="1645920"/>
                <a:gridCol w="2194560"/>
                <a:gridCol w="1645920"/>
                <a:gridCol w="2743200"/>
              </a:tblGrid>
              <a:tr h="438912">
                <a:tc>
                  <a:txBody>
                    <a:bodyPr/>
                    <a:lstStyle/>
                    <a:p>
                      <a:pPr indent="0" marL="0">
                        <a:buNone/>
                      </a:pPr>
                      <a:r>
                        <a:rPr lang="en-US" sz="1200" b="1" dirty="0">
                          <a:solidFill>
                            <a:srgbClr val="FFFFFF"/>
                          </a:solidFill>
                        </a:rPr>
                        <a:t>Version</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Settings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On the chip</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Answers the question</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438912">
                <a:tc>
                  <a:txBody>
                    <a:bodyPr/>
                    <a:lstStyle/>
                    <a:p>
                      <a:pPr indent="0" marL="0">
                        <a:buNone/>
                      </a:pPr>
                      <a:r>
                        <a:rPr lang="en-US" sz="1200" dirty="0">
                          <a:solidFill>
                            <a:srgbClr val="1B1D36"/>
                          </a:solidFill>
                        </a:rPr>
                        <a:t>Normal way</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each tuned on its own</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alone</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the baseline</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38912">
                <a:tc>
                  <a:txBody>
                    <a:bodyPr/>
                    <a:lstStyle/>
                    <a:p>
                      <a:pPr indent="0" marL="0">
                        <a:buNone/>
                      </a:pPr>
                      <a:r>
                        <a:rPr lang="en-US" sz="1200" dirty="0">
                          <a:solidFill>
                            <a:srgbClr val="1B1D36"/>
                          </a:solidFill>
                        </a:rPr>
                        <a:t>Shared, alone</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family's shared dials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alone</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does sharing cost quality?</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1B1D36"/>
                          </a:solidFill>
                        </a:rPr>
                        <a:t>Shared, packed</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family's shared dials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all together</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does packing cost quality?</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One tune, one job: results and the compute ledger</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8 · Running problems together</a:t>
            </a:r>
            <a:endParaRPr lang="en-US" sz="1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4572000" cy="914400"/>
        </p:xfrm>
        <a:graphic>
          <a:graphicData uri="http://schemas.openxmlformats.org/drawingml/2006/table">
            <a:tbl>
              <a:tblPr/>
              <a:tblGrid>
                <a:gridCol w="1280160"/>
                <a:gridCol w="640080"/>
                <a:gridCol w="868680"/>
                <a:gridCol w="914400"/>
                <a:gridCol w="868680"/>
              </a:tblGrid>
              <a:tr h="384048">
                <a:tc>
                  <a:txBody>
                    <a:bodyPr/>
                    <a:lstStyle/>
                    <a:p>
                      <a:pPr indent="0" marL="0">
                        <a:buNone/>
                      </a:pPr>
                      <a:r>
                        <a:rPr lang="en-US" sz="1100" b="1" dirty="0">
                          <a:solidFill>
                            <a:srgbClr val="FFFFFF"/>
                          </a:solidFill>
                        </a:rPr>
                        <a:t>Problem</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Family</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Own, alone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Shared, alone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Shared, packed</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384048">
                <a:tc>
                  <a:txBody>
                    <a:bodyPr/>
                    <a:lstStyle/>
                    <a:p>
                      <a:pPr indent="0" marL="0">
                        <a:buNone/>
                      </a:pPr>
                      <a:r>
                        <a:rPr lang="en-US" sz="1100" dirty="0">
                          <a:solidFill>
                            <a:srgbClr val="1B1D36"/>
                          </a:solidFill>
                        </a:rPr>
                        <a:t>Stocks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1</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0.440</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0.437</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0.447</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384048">
                <a:tc>
                  <a:txBody>
                    <a:bodyPr/>
                    <a:lstStyle/>
                    <a:p>
                      <a:pPr indent="0" marL="0">
                        <a:buNone/>
                      </a:pPr>
                      <a:r>
                        <a:rPr lang="en-US" sz="1100" dirty="0">
                          <a:solidFill>
                            <a:srgbClr val="1B1D36"/>
                          </a:solidFill>
                        </a:rPr>
                        <a:t>Medical tests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2</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0.566</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0.573</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0.573</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B1D36"/>
                          </a:solidFill>
                        </a:rPr>
                        <a:t>Drugs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1</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0.521</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0.517</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0.515</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384048">
                <a:tc>
                  <a:txBody>
                    <a:bodyPr/>
                    <a:lstStyle/>
                    <a:p>
                      <a:pPr indent="0" marL="0">
                        <a:buNone/>
                      </a:pPr>
                      <a:r>
                        <a:rPr lang="en-US" sz="1100" dirty="0">
                          <a:solidFill>
                            <a:srgbClr val="1B1D36"/>
                          </a:solidFill>
                        </a:rPr>
                        <a:t>Network</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1</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0.571</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0.470</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0.483</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1B1D36"/>
                          </a:solidFill>
                        </a:rPr>
                        <a:t>Average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tcPr>
                </a:tc>
                <a:tc>
                  <a:txBody>
                    <a:bodyPr/>
                    <a:lstStyle/>
                    <a:p>
                      <a:pPr indent="0" marL="0">
                        <a:buNone/>
                      </a:pP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b="1" dirty="0">
                          <a:solidFill>
                            <a:srgbClr val="1B1D36"/>
                          </a:solidFill>
                        </a:rPr>
                        <a:t>0.524</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tcPr>
                </a:tc>
                <a:tc>
                  <a:txBody>
                    <a:bodyPr/>
                    <a:lstStyle/>
                    <a:p>
                      <a:pPr indent="0" marL="0">
                        <a:buNone/>
                      </a:pPr>
                      <a:r>
                        <a:rPr lang="en-US" sz="1100" b="1" dirty="0">
                          <a:solidFill>
                            <a:srgbClr val="1B1D36"/>
                          </a:solidFill>
                        </a:rPr>
                        <a:t>0.499</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tcPr>
                </a:tc>
                <a:tc>
                  <a:txBody>
                    <a:bodyPr/>
                    <a:lstStyle/>
                    <a:p>
                      <a:pPr indent="0" marL="0">
                        <a:buNone/>
                      </a:pPr>
                      <a:r>
                        <a:rPr lang="en-US" sz="1100" b="1" dirty="0">
                          <a:solidFill>
                            <a:srgbClr val="1B1D36"/>
                          </a:solidFill>
                        </a:rPr>
                        <a:t>0.504</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tcPr>
                </a:tc>
              </a:tr>
            </a:tbl>
          </a:graphicData>
        </a:graphic>
      </p:graphicFrame>
      <p:graphicFrame>
        <p:nvGraphicFramePr>
          <p:cNvPr id="87" name="Table 1"/>
          <p:cNvGraphicFramePr>
            <a:graphicFrameLocks noGrp="1"/>
          </p:cNvGraphicFramePr>
          <p:nvPr>
            <p:extLst>
              <p:ext uri="{D42A27DB-BD31-4B8C-83A1-F6EECF244321}">
                <p14:modId xmlns:p14="http://schemas.microsoft.com/office/powerpoint/2010/main" val="1579011935"/>
              </p:ext>
            </p:extLst>
          </p:nvPr>
        </p:nvGraphicFramePr>
        <p:xfrm>
          <a:off x="5212080" y="1097280"/>
          <a:ext cx="3474720" cy="914400"/>
        </p:xfrm>
        <a:graphic>
          <a:graphicData uri="http://schemas.openxmlformats.org/drawingml/2006/table">
            <a:tbl>
              <a:tblPr/>
              <a:tblGrid>
                <a:gridCol w="1828800"/>
                <a:gridCol w="822960"/>
                <a:gridCol w="822960"/>
              </a:tblGrid>
              <a:tr h="384048">
                <a:tc>
                  <a:txBody>
                    <a:bodyPr/>
                    <a:lstStyle/>
                    <a:p>
                      <a:pPr indent="0" marL="0">
                        <a:buNone/>
                      </a:pPr>
                      <a:r>
                        <a:rPr lang="en-US" sz="1100" b="1" dirty="0">
                          <a:solidFill>
                            <a:srgbClr val="FFFFFF"/>
                          </a:solidFill>
                        </a:rPr>
                        <a:t>Compute ledger</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Normal</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Q-Router</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384048">
                <a:tc>
                  <a:txBody>
                    <a:bodyPr/>
                    <a:lstStyle/>
                    <a:p>
                      <a:pPr indent="0" marL="0">
                        <a:buNone/>
                      </a:pPr>
                      <a:r>
                        <a:rPr lang="en-US" sz="1100" dirty="0">
                          <a:solidFill>
                            <a:srgbClr val="1B1D36"/>
                          </a:solidFill>
                        </a:rPr>
                        <a:t>Problems tuned</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4</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2</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384048">
                <a:tc>
                  <a:txBody>
                    <a:bodyPr/>
                    <a:lstStyle/>
                    <a:p>
                      <a:pPr indent="0" marL="0">
                        <a:buNone/>
                      </a:pPr>
                      <a:r>
                        <a:rPr lang="en-US" sz="1100" dirty="0">
                          <a:solidFill>
                            <a:srgbClr val="1B1D36"/>
                          </a:solidFill>
                        </a:rPr>
                        <a:t>Tuning runs (simulator)</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114</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55</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B1D36"/>
                          </a:solidFill>
                        </a:rPr>
                        <a:t>Recipes sent to chip</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4</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1</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384048">
                <a:tc>
                  <a:txBody>
                    <a:bodyPr/>
                    <a:lstStyle/>
                    <a:p>
                      <a:pPr indent="0" marL="0">
                        <a:buNone/>
                      </a:pPr>
                      <a:r>
                        <a:rPr lang="en-US" sz="1100" dirty="0">
                          <a:solidFill>
                            <a:srgbClr val="1B1D36"/>
                          </a:solidFill>
                        </a:rPr>
                        <a:t>Chip jobs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4</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1</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B1D36"/>
                          </a:solidFill>
                        </a:rPr>
                        <a:t>Quantum shots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16,384</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4,096</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bl>
          </a:graphicData>
        </a:graphic>
      </p:graphicFrame>
      <p:sp>
        <p:nvSpPr>
          <p:cNvPr id="7" name="card card"/>
          <p:cNvSpPr/>
          <p:nvPr/>
        </p:nvSpPr>
        <p:spPr>
          <a:xfrm>
            <a:off x="457200" y="3611880"/>
            <a:ext cx="8229600" cy="914400"/>
          </a:xfrm>
          <a:prstGeom prst="roundRect">
            <a:avLst>
              <a:gd name="adj" fmla="val 8000"/>
            </a:avLst>
          </a:prstGeom>
          <a:solidFill>
            <a:srgbClr val="FFF4EA"/>
          </a:solidFill>
          <a:ln w="12700">
            <a:solidFill>
              <a:srgbClr val="FFF4EA"/>
            </a:solidFill>
            <a:prstDash val="solid"/>
          </a:ln>
        </p:spPr>
      </p:sp>
      <p:sp>
        <p:nvSpPr>
          <p:cNvPr id="8" name="Text 3"/>
          <p:cNvSpPr txBox="1"/>
          <p:nvPr/>
        </p:nvSpPr>
        <p:spPr>
          <a:xfrm>
            <a:off x="640080" y="3739896"/>
            <a:ext cx="7882128" cy="694944"/>
          </a:xfrm>
          <a:prstGeom prst="rect">
            <a:avLst/>
          </a:prstGeom>
          <a:noFill/>
          <a:ln/>
        </p:spPr>
        <p:txBody>
          <a:bodyPr wrap="square" lIns="0" tIns="0" rIns="0" bIns="0" rtlCol="0" anchor="t"/>
          <a:lstStyle/>
          <a:p>
            <a:pPr indent="0" marL="0">
              <a:buNone/>
            </a:pPr>
            <a:r>
              <a:rPr lang="en-US" sz="1300" dirty="0">
                <a:solidFill>
                  <a:schemeClr val="tx1"/>
                </a:solidFill>
              </a:rPr>
              <a:t>Simulation of IBM Torino with errors. Section 11b repeats this on the real chip in one job. 'Quantum shots' are what cost quantum time.</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Four ways we run every important test</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9 · Errors and how we fight them</a:t>
            </a:r>
            <a:endParaRPr lang="en-US" sz="1000" dirty="0"/>
          </a:p>
        </p:txBody>
      </p:sp>
      <p:sp>
        <p:nvSpPr>
          <p:cNvPr id="5" name="flow step 1"/>
          <p:cNvSpPr/>
          <p:nvPr/>
        </p:nvSpPr>
        <p:spPr>
          <a:xfrm>
            <a:off x="457200" y="1143000"/>
            <a:ext cx="1865376" cy="1371600"/>
          </a:xfrm>
          <a:prstGeom prst="roundRect">
            <a:avLst>
              <a:gd name="adj" fmla="val 5333"/>
            </a:avLst>
          </a:prstGeom>
          <a:solidFill>
            <a:srgbClr val="0E9384"/>
          </a:solidFill>
          <a:ln w="12700">
            <a:solidFill>
              <a:srgbClr val="0E9384"/>
            </a:solidFill>
            <a:prstDash val="solid"/>
          </a:ln>
        </p:spPr>
      </p:sp>
      <p:sp>
        <p:nvSpPr>
          <p:cNvPr id="6" name="Text 3"/>
          <p:cNvSpPr txBox="1"/>
          <p:nvPr/>
        </p:nvSpPr>
        <p:spPr>
          <a:xfrm>
            <a:off x="548640" y="1234440"/>
            <a:ext cx="1682496" cy="1188720"/>
          </a:xfrm>
          <a:prstGeom prst="rect">
            <a:avLst/>
          </a:prstGeom>
          <a:noFill/>
          <a:ln/>
        </p:spPr>
        <p:txBody>
          <a:bodyPr wrap="square" lIns="0" tIns="0" rIns="0" bIns="0" rtlCol="0" anchor="ctr"/>
          <a:lstStyle/>
          <a:p>
            <a:pPr algn="ctr" indent="0" marL="0">
              <a:buNone/>
            </a:pPr>
            <a:r>
              <a:rPr lang="en-US" sz="1300" b="1" dirty="0">
                <a:solidFill>
                  <a:srgbClr val="FFFFFF"/>
                </a:solidFill>
              </a:rPr>
              <a:t>Perfect simulator</a:t>
            </a:r>
            <a:endParaRPr lang="en-US" sz="1300" dirty="0"/>
          </a:p>
          <a:p>
            <a:pPr algn="ctr" indent="0" marL="0">
              <a:buNone/>
            </a:pPr>
            <a:r>
              <a:rPr lang="en-US" sz="1100" dirty="0">
                <a:solidFill>
                  <a:srgbClr val="FFFFFF"/>
                </a:solidFill>
              </a:rPr>
              <a:t>a normal computer with no errors (Aer)</a:t>
            </a:r>
            <a:endParaRPr lang="en-US" sz="1300" dirty="0"/>
          </a:p>
        </p:txBody>
      </p:sp>
      <p:sp>
        <p:nvSpPr>
          <p:cNvPr id="7" name="flow arrow 1"/>
          <p:cNvSpPr/>
          <p:nvPr/>
        </p:nvSpPr>
        <p:spPr>
          <a:xfrm>
            <a:off x="2359152" y="1828800"/>
            <a:ext cx="182880" cy="0"/>
          </a:xfrm>
          <a:prstGeom prst="line">
            <a:avLst/>
          </a:prstGeom>
          <a:noFill/>
          <a:ln w="15875">
            <a:solidFill>
              <a:srgbClr val="667085"/>
            </a:solidFill>
            <a:prstDash val="solid"/>
            <a:tailEnd type="triangle"/>
          </a:ln>
        </p:spPr>
      </p:sp>
      <p:sp>
        <p:nvSpPr>
          <p:cNvPr id="8" name="flow step 2"/>
          <p:cNvSpPr/>
          <p:nvPr/>
        </p:nvSpPr>
        <p:spPr>
          <a:xfrm>
            <a:off x="2578608" y="1143000"/>
            <a:ext cx="1865376" cy="1371600"/>
          </a:xfrm>
          <a:prstGeom prst="roundRect">
            <a:avLst>
              <a:gd name="adj" fmla="val 5333"/>
            </a:avLst>
          </a:prstGeom>
          <a:solidFill>
            <a:srgbClr val="E8833A"/>
          </a:solidFill>
          <a:ln w="12700">
            <a:solidFill>
              <a:srgbClr val="E8833A"/>
            </a:solidFill>
            <a:prstDash val="solid"/>
          </a:ln>
        </p:spPr>
      </p:sp>
      <p:sp>
        <p:nvSpPr>
          <p:cNvPr id="9" name="Text 6"/>
          <p:cNvSpPr txBox="1"/>
          <p:nvPr/>
        </p:nvSpPr>
        <p:spPr>
          <a:xfrm>
            <a:off x="2670048" y="1234440"/>
            <a:ext cx="1682496" cy="1188720"/>
          </a:xfrm>
          <a:prstGeom prst="rect">
            <a:avLst/>
          </a:prstGeom>
          <a:noFill/>
          <a:ln/>
        </p:spPr>
        <p:txBody>
          <a:bodyPr wrap="square" lIns="0" tIns="0" rIns="0" bIns="0" rtlCol="0" anchor="ctr"/>
          <a:lstStyle/>
          <a:p>
            <a:pPr algn="ctr" indent="0" marL="0">
              <a:buNone/>
            </a:pPr>
            <a:r>
              <a:rPr lang="en-US" sz="1300" b="1" dirty="0">
                <a:solidFill>
                  <a:srgbClr val="FFFFFF"/>
                </a:solidFill>
              </a:rPr>
              <a:t>Copy of the chip</a:t>
            </a:r>
            <a:endParaRPr lang="en-US" sz="1300" dirty="0"/>
          </a:p>
          <a:p>
            <a:pPr algn="ctr" indent="0" marL="0">
              <a:buNone/>
            </a:pPr>
            <a:r>
              <a:rPr lang="en-US" sz="1100" dirty="0">
                <a:solidFill>
                  <a:srgbClr val="FFFFFF"/>
                </a:solidFill>
              </a:rPr>
              <a:t>simulator + IBM Torino's error data</a:t>
            </a:r>
            <a:endParaRPr lang="en-US" sz="1300" dirty="0"/>
          </a:p>
        </p:txBody>
      </p:sp>
      <p:sp>
        <p:nvSpPr>
          <p:cNvPr id="10" name="flow arrow 2"/>
          <p:cNvSpPr/>
          <p:nvPr/>
        </p:nvSpPr>
        <p:spPr>
          <a:xfrm>
            <a:off x="4480560" y="1828800"/>
            <a:ext cx="182880" cy="0"/>
          </a:xfrm>
          <a:prstGeom prst="line">
            <a:avLst/>
          </a:prstGeom>
          <a:noFill/>
          <a:ln w="15875">
            <a:solidFill>
              <a:srgbClr val="667085"/>
            </a:solidFill>
            <a:prstDash val="solid"/>
            <a:tailEnd type="triangle"/>
          </a:ln>
        </p:spPr>
      </p:sp>
      <p:sp>
        <p:nvSpPr>
          <p:cNvPr id="11" name="flow step 3"/>
          <p:cNvSpPr/>
          <p:nvPr/>
        </p:nvSpPr>
        <p:spPr>
          <a:xfrm>
            <a:off x="4700016" y="1143000"/>
            <a:ext cx="1865376" cy="1371600"/>
          </a:xfrm>
          <a:prstGeom prst="roundRect">
            <a:avLst>
              <a:gd name="adj" fmla="val 5333"/>
            </a:avLst>
          </a:prstGeom>
          <a:solidFill>
            <a:srgbClr val="5B4FD1"/>
          </a:solidFill>
          <a:ln w="12700">
            <a:solidFill>
              <a:srgbClr val="5B4FD1"/>
            </a:solidFill>
            <a:prstDash val="solid"/>
          </a:ln>
        </p:spPr>
      </p:sp>
      <p:sp>
        <p:nvSpPr>
          <p:cNvPr id="12" name="Text 9"/>
          <p:cNvSpPr txBox="1"/>
          <p:nvPr/>
        </p:nvSpPr>
        <p:spPr>
          <a:xfrm>
            <a:off x="4791456" y="1234440"/>
            <a:ext cx="1682496" cy="1188720"/>
          </a:xfrm>
          <a:prstGeom prst="rect">
            <a:avLst/>
          </a:prstGeom>
          <a:noFill/>
          <a:ln/>
        </p:spPr>
        <p:txBody>
          <a:bodyPr wrap="square" lIns="0" tIns="0" rIns="0" bIns="0" rtlCol="0" anchor="ctr"/>
          <a:lstStyle/>
          <a:p>
            <a:pPr algn="ctr" indent="0" marL="0">
              <a:buNone/>
            </a:pPr>
            <a:r>
              <a:rPr lang="en-US" sz="1300" b="1" dirty="0">
                <a:solidFill>
                  <a:srgbClr val="FFFFFF"/>
                </a:solidFill>
              </a:rPr>
              <a:t>Real chip, raw</a:t>
            </a:r>
            <a:endParaRPr lang="en-US" sz="1300" dirty="0"/>
          </a:p>
          <a:p>
            <a:pPr algn="ctr" indent="0" marL="0">
              <a:buNone/>
            </a:pPr>
            <a:r>
              <a:rPr lang="en-US" sz="1100" dirty="0">
                <a:solidFill>
                  <a:srgbClr val="FFFFFF"/>
                </a:solidFill>
              </a:rPr>
              <a:t>IBM's quantum computer, no fixes</a:t>
            </a:r>
            <a:endParaRPr lang="en-US" sz="1300" dirty="0"/>
          </a:p>
        </p:txBody>
      </p:sp>
      <p:sp>
        <p:nvSpPr>
          <p:cNvPr id="13" name="flow arrow 3"/>
          <p:cNvSpPr/>
          <p:nvPr/>
        </p:nvSpPr>
        <p:spPr>
          <a:xfrm>
            <a:off x="6601968" y="1828800"/>
            <a:ext cx="182880" cy="0"/>
          </a:xfrm>
          <a:prstGeom prst="line">
            <a:avLst/>
          </a:prstGeom>
          <a:noFill/>
          <a:ln w="15875">
            <a:solidFill>
              <a:srgbClr val="667085"/>
            </a:solidFill>
            <a:prstDash val="solid"/>
            <a:tailEnd type="triangle"/>
          </a:ln>
        </p:spPr>
      </p:sp>
      <p:sp>
        <p:nvSpPr>
          <p:cNvPr id="14" name="flow step 4"/>
          <p:cNvSpPr/>
          <p:nvPr/>
        </p:nvSpPr>
        <p:spPr>
          <a:xfrm>
            <a:off x="6821424" y="1143000"/>
            <a:ext cx="1865376" cy="1371600"/>
          </a:xfrm>
          <a:prstGeom prst="roundRect">
            <a:avLst>
              <a:gd name="adj" fmla="val 5333"/>
            </a:avLst>
          </a:prstGeom>
          <a:solidFill>
            <a:srgbClr val="5B4FD1"/>
          </a:solidFill>
          <a:ln w="12700">
            <a:solidFill>
              <a:srgbClr val="5B4FD1"/>
            </a:solidFill>
            <a:prstDash val="solid"/>
          </a:ln>
        </p:spPr>
      </p:sp>
      <p:sp>
        <p:nvSpPr>
          <p:cNvPr id="15" name="Text 12"/>
          <p:cNvSpPr txBox="1"/>
          <p:nvPr/>
        </p:nvSpPr>
        <p:spPr>
          <a:xfrm>
            <a:off x="6912864" y="1234440"/>
            <a:ext cx="1682496" cy="1188720"/>
          </a:xfrm>
          <a:prstGeom prst="rect">
            <a:avLst/>
          </a:prstGeom>
          <a:noFill/>
          <a:ln/>
        </p:spPr>
        <p:txBody>
          <a:bodyPr wrap="square" lIns="0" tIns="0" rIns="0" bIns="0" rtlCol="0" anchor="ctr"/>
          <a:lstStyle/>
          <a:p>
            <a:pPr algn="ctr" indent="0" marL="0">
              <a:buNone/>
            </a:pPr>
            <a:r>
              <a:rPr lang="en-US" sz="1300" b="1" dirty="0">
                <a:solidFill>
                  <a:srgbClr val="FFFFFF"/>
                </a:solidFill>
              </a:rPr>
              <a:t>Real chip + fixes</a:t>
            </a:r>
            <a:endParaRPr lang="en-US" sz="1300" dirty="0"/>
          </a:p>
          <a:p>
            <a:pPr algn="ctr" indent="0" marL="0">
              <a:buNone/>
            </a:pPr>
            <a:r>
              <a:rPr lang="en-US" sz="1100" dirty="0">
                <a:solidFill>
                  <a:srgbClr val="FFFFFF"/>
                </a:solidFill>
              </a:rPr>
              <a:t>error-reducing tricks turned on</a:t>
            </a:r>
            <a:endParaRPr lang="en-US" sz="13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2788920"/>
          <a:ext cx="8229600" cy="914400"/>
        </p:xfrm>
        <a:graphic>
          <a:graphicData uri="http://schemas.openxmlformats.org/drawingml/2006/table">
            <a:tbl>
              <a:tblPr/>
              <a:tblGrid>
                <a:gridCol w="2926080"/>
                <a:gridCol w="5303520"/>
              </a:tblGrid>
              <a:tr h="411480">
                <a:tc>
                  <a:txBody>
                    <a:bodyPr/>
                    <a:lstStyle/>
                    <a:p>
                      <a:pPr indent="0" marL="0">
                        <a:buNone/>
                      </a:pPr>
                      <a:r>
                        <a:rPr lang="en-US" sz="1200" b="1" dirty="0">
                          <a:solidFill>
                            <a:srgbClr val="FFFFFF"/>
                          </a:solidFill>
                        </a:rPr>
                        <a:t>Gap between...</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...tells us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411480">
                <a:tc>
                  <a:txBody>
                    <a:bodyPr/>
                    <a:lstStyle/>
                    <a:p>
                      <a:pPr indent="0" marL="0">
                        <a:buNone/>
                      </a:pPr>
                      <a:r>
                        <a:rPr lang="en-US" sz="1200" dirty="0">
                          <a:solidFill>
                            <a:srgbClr val="1B1D36"/>
                          </a:solidFill>
                        </a:rPr>
                        <a:t>Perfect → copy of chip</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how much errors should hurt</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11480">
                <a:tc>
                  <a:txBody>
                    <a:bodyPr/>
                    <a:lstStyle/>
                    <a:p>
                      <a:pPr indent="0" marL="0">
                        <a:buNone/>
                      </a:pPr>
                      <a:r>
                        <a:rPr lang="en-US" sz="1200" dirty="0">
                          <a:solidFill>
                            <a:srgbClr val="1B1D36"/>
                          </a:solidFill>
                        </a:rPr>
                        <a:t>Copy of chip → real chip</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whether our error model is realistic</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B1D36"/>
                          </a:solidFill>
                        </a:rPr>
                        <a:t>Real raw → real + fixes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whether the fixes help</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Fixes 1 and 2: dynamical decoupling and twirling</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9 · Errors and how we fight them</a:t>
            </a:r>
            <a:endParaRPr lang="en-US" sz="1000" dirty="0"/>
          </a:p>
        </p:txBody>
      </p:sp>
      <p:sp>
        <p:nvSpPr>
          <p:cNvPr id="5" name="Dynamical decoupling card"/>
          <p:cNvSpPr/>
          <p:nvPr/>
        </p:nvSpPr>
        <p:spPr>
          <a:xfrm>
            <a:off x="457200" y="1097280"/>
            <a:ext cx="4023360" cy="3429000"/>
          </a:xfrm>
          <a:prstGeom prst="roundRect">
            <a:avLst>
              <a:gd name="adj" fmla="val 2133"/>
            </a:avLst>
          </a:prstGeom>
          <a:solidFill>
            <a:srgbClr val="F2F2F8"/>
          </a:solidFill>
          <a:ln w="12700">
            <a:solidFill>
              <a:srgbClr val="F2F2F8"/>
            </a:solidFill>
            <a:prstDash val="solid"/>
          </a:ln>
        </p:spPr>
      </p:sp>
      <p:sp>
        <p:nvSpPr>
          <p:cNvPr id="6" name="Text 3"/>
          <p:cNvSpPr txBox="1"/>
          <p:nvPr/>
        </p:nvSpPr>
        <p:spPr>
          <a:xfrm>
            <a:off x="64008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Dynamical decoupling</a:t>
            </a:r>
            <a:endParaRPr lang="en-US" sz="1400" dirty="0"/>
          </a:p>
        </p:txBody>
      </p:sp>
      <p:sp>
        <p:nvSpPr>
          <p:cNvPr id="7" name="Text 4"/>
          <p:cNvSpPr txBox="1"/>
          <p:nvPr/>
        </p:nvSpPr>
        <p:spPr>
          <a:xfrm>
            <a:off x="640080" y="1591056"/>
            <a:ext cx="3675888" cy="2843784"/>
          </a:xfrm>
          <a:prstGeom prst="rect">
            <a:avLst/>
          </a:prstGeom>
          <a:noFill/>
          <a:ln/>
        </p:spPr>
        <p:txBody>
          <a:bodyPr wrap="square" lIns="0" tIns="0" rIns="0" bIns="0" rtlCol="0" anchor="t"/>
          <a:lstStyle/>
          <a:p>
            <a:pPr marL="177800" indent="-177800">
              <a:spcAft>
                <a:spcPts val="400"/>
              </a:spcAft>
              <a:buSzPct val="100000"/>
              <a:buChar char="•"/>
            </a:pPr>
            <a:r>
              <a:rPr lang="en-US" sz="1300" b="1" dirty="0">
                <a:solidFill>
                  <a:schemeClr val="tx1"/>
                </a:solidFill>
              </a:rPr>
              <a:t>Problem: </a:t>
            </a:r>
            <a:pPr indent="0" marL="0">
              <a:spcAft>
                <a:spcPts val="400"/>
              </a:spcAft>
              <a:buNone/>
            </a:pPr>
            <a:r>
              <a:rPr lang="en-US" sz="1300" dirty="0">
                <a:solidFill>
                  <a:schemeClr val="tx1"/>
                </a:solidFill>
              </a:rPr>
              <a:t>qubits waiting their turn slowly drift</a:t>
            </a:r>
            <a:endParaRPr lang="en-US" sz="1300" dirty="0"/>
          </a:p>
          <a:p>
            <a:pPr marL="177800" indent="-177800">
              <a:spcAft>
                <a:spcPts val="400"/>
              </a:spcAft>
              <a:buSzPct val="100000"/>
              <a:buChar char="•"/>
            </a:pPr>
            <a:r>
              <a:rPr lang="en-US" sz="1300" b="1" dirty="0">
                <a:solidFill>
                  <a:schemeClr val="tx1"/>
                </a:solidFill>
              </a:rPr>
              <a:t>Fix: </a:t>
            </a:r>
            <a:pPr indent="0" marL="0">
              <a:spcAft>
                <a:spcPts val="400"/>
              </a:spcAft>
              <a:buNone/>
            </a:pPr>
            <a:r>
              <a:rPr lang="en-US" sz="1300" dirty="0">
                <a:solidFill>
                  <a:schemeClr val="tx1"/>
                </a:solidFill>
              </a:rPr>
              <a:t>flick them with a timed pattern of pulses (XY4) that cancels the drift, like tapping a spinning top to keep it upright</a:t>
            </a:r>
            <a:endParaRPr lang="en-US" sz="1300" dirty="0"/>
          </a:p>
          <a:p>
            <a:pPr marL="177800" indent="-177800">
              <a:spcAft>
                <a:spcPts val="400"/>
              </a:spcAft>
              <a:buSzPct val="100000"/>
              <a:buChar char="•"/>
            </a:pPr>
            <a:r>
              <a:rPr lang="en-US" sz="1300" b="1" dirty="0">
                <a:solidFill>
                  <a:schemeClr val="tx1"/>
                </a:solidFill>
              </a:rPr>
              <a:t>Cost: </a:t>
            </a:r>
            <a:pPr indent="0" marL="0">
              <a:spcAft>
                <a:spcPts val="400"/>
              </a:spcAft>
              <a:buNone/>
            </a:pPr>
            <a:r>
              <a:rPr lang="en-US" sz="1300" dirty="0">
                <a:solidFill>
                  <a:schemeClr val="tx1"/>
                </a:solidFill>
              </a:rPr>
              <a:t>none in quantum time</a:t>
            </a:r>
            <a:endParaRPr lang="en-US" sz="1300" dirty="0"/>
          </a:p>
        </p:txBody>
      </p:sp>
      <p:sp>
        <p:nvSpPr>
          <p:cNvPr id="8" name="Twirling (gates and measurements) card"/>
          <p:cNvSpPr/>
          <p:nvPr/>
        </p:nvSpPr>
        <p:spPr>
          <a:xfrm>
            <a:off x="4663440" y="1097280"/>
            <a:ext cx="4023360" cy="3429000"/>
          </a:xfrm>
          <a:prstGeom prst="roundRect">
            <a:avLst>
              <a:gd name="adj" fmla="val 2133"/>
            </a:avLst>
          </a:prstGeom>
          <a:solidFill>
            <a:srgbClr val="F2F2F8"/>
          </a:solidFill>
          <a:ln w="12700">
            <a:solidFill>
              <a:srgbClr val="F2F2F8"/>
            </a:solidFill>
            <a:prstDash val="solid"/>
          </a:ln>
        </p:spPr>
      </p:sp>
      <p:sp>
        <p:nvSpPr>
          <p:cNvPr id="9" name="Text 6"/>
          <p:cNvSpPr txBox="1"/>
          <p:nvPr/>
        </p:nvSpPr>
        <p:spPr>
          <a:xfrm>
            <a:off x="484632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Twirling (gates and measurements)</a:t>
            </a:r>
            <a:endParaRPr lang="en-US" sz="1400" dirty="0"/>
          </a:p>
        </p:txBody>
      </p:sp>
      <p:sp>
        <p:nvSpPr>
          <p:cNvPr id="10" name="Text 7"/>
          <p:cNvSpPr txBox="1"/>
          <p:nvPr/>
        </p:nvSpPr>
        <p:spPr>
          <a:xfrm>
            <a:off x="4846320" y="1591056"/>
            <a:ext cx="3675888" cy="2843784"/>
          </a:xfrm>
          <a:prstGeom prst="rect">
            <a:avLst/>
          </a:prstGeom>
          <a:noFill/>
          <a:ln/>
        </p:spPr>
        <p:txBody>
          <a:bodyPr wrap="square" lIns="0" tIns="0" rIns="0" bIns="0" rtlCol="0" anchor="t"/>
          <a:lstStyle/>
          <a:p>
            <a:pPr marL="177800" indent="-177800">
              <a:spcAft>
                <a:spcPts val="400"/>
              </a:spcAft>
              <a:buSzPct val="100000"/>
              <a:buChar char="•"/>
            </a:pPr>
            <a:r>
              <a:rPr lang="en-US" sz="1300" b="1" dirty="0">
                <a:solidFill>
                  <a:schemeClr val="tx1"/>
                </a:solidFill>
              </a:rPr>
              <a:t>Problem: </a:t>
            </a:r>
            <a:pPr indent="0" marL="0">
              <a:spcAft>
                <a:spcPts val="400"/>
              </a:spcAft>
              <a:buNone/>
            </a:pPr>
            <a:r>
              <a:rPr lang="en-US" sz="1300" dirty="0">
                <a:solidFill>
                  <a:schemeClr val="tx1"/>
                </a:solidFill>
              </a:rPr>
              <a:t>some errors push the same way every time, so they pile up</a:t>
            </a:r>
            <a:endParaRPr lang="en-US" sz="1300" dirty="0"/>
          </a:p>
          <a:p>
            <a:pPr marL="177800" indent="-177800">
              <a:spcAft>
                <a:spcPts val="400"/>
              </a:spcAft>
              <a:buSzPct val="100000"/>
              <a:buChar char="•"/>
            </a:pPr>
            <a:r>
              <a:rPr lang="en-US" sz="1300" b="1" dirty="0">
                <a:solidFill>
                  <a:schemeClr val="tx1"/>
                </a:solidFill>
              </a:rPr>
              <a:t>Fix: </a:t>
            </a:r>
            <a:pPr indent="0" marL="0">
              <a:spcAft>
                <a:spcPts val="400"/>
              </a:spcAft>
              <a:buNone/>
            </a:pPr>
            <a:r>
              <a:rPr lang="en-US" sz="1300" dirty="0">
                <a:solidFill>
                  <a:schemeClr val="tx1"/>
                </a:solidFill>
              </a:rPr>
              <a:t>randomly wrap each step in extra flips that cancel out logically, so errors point in random directions and partly cancel</a:t>
            </a:r>
            <a:endParaRPr lang="en-US" sz="1300" dirty="0"/>
          </a:p>
          <a:p>
            <a:pPr marL="177800" indent="-177800">
              <a:spcAft>
                <a:spcPts val="400"/>
              </a:spcAft>
              <a:buSzPct val="100000"/>
              <a:buChar char="•"/>
            </a:pPr>
            <a:r>
              <a:rPr lang="en-US" sz="1300" b="1" dirty="0">
                <a:solidFill>
                  <a:schemeClr val="tx1"/>
                </a:solidFill>
              </a:rPr>
              <a:t>Measurements: </a:t>
            </a:r>
            <a:pPr indent="0" marL="0">
              <a:spcAft>
                <a:spcPts val="400"/>
              </a:spcAft>
              <a:buNone/>
            </a:pPr>
            <a:r>
              <a:rPr lang="en-US" sz="1300" dirty="0">
                <a:solidFill>
                  <a:schemeClr val="tx1"/>
                </a:solidFill>
              </a:rPr>
              <a:t>random flips before reading out even out the 0-vs-1 bias</a:t>
            </a:r>
            <a:endParaRPr lang="en-US" sz="1300" dirty="0"/>
          </a:p>
          <a:p>
            <a:pPr marL="177800" indent="-177800">
              <a:spcAft>
                <a:spcPts val="400"/>
              </a:spcAft>
              <a:buSzPct val="100000"/>
              <a:buChar char="•"/>
            </a:pPr>
            <a:r>
              <a:rPr lang="en-US" sz="1300" b="1" dirty="0">
                <a:solidFill>
                  <a:schemeClr val="tx1"/>
                </a:solidFill>
              </a:rPr>
              <a:t>Honest note: </a:t>
            </a:r>
            <a:pPr indent="0" marL="0">
              <a:spcAft>
                <a:spcPts val="400"/>
              </a:spcAft>
              <a:buNone/>
            </a:pPr>
            <a:r>
              <a:rPr lang="en-US" sz="1300" dirty="0">
                <a:solidFill>
                  <a:schemeClr val="tx1"/>
                </a:solidFill>
              </a:rPr>
              <a:t>reshapes errors more than it removes them, so gains may be small</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Fix 3: zero-noise extrapolation (ZNE)</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9 · Errors and how we fight them</a:t>
            </a:r>
            <a:endParaRPr lang="en-US" sz="1000" dirty="0"/>
          </a:p>
        </p:txBody>
      </p:sp>
      <p:pic>
        <p:nvPicPr>
          <p:cNvPr id="5" name="ZNE chart" descr="C:\Users\gurra\Projects\q-router\run_v6\fig_05.png">    </p:cNvPr>
          <p:cNvPicPr>
            <a:picLocks noChangeAspect="1"/>
          </p:cNvPicPr>
          <p:nvPr/>
        </p:nvPicPr>
        <p:blipFill>
          <a:blip r:embed="rId1"/>
          <a:stretch>
            <a:fillRect/>
          </a:stretch>
        </p:blipFill>
        <p:spPr>
          <a:xfrm>
            <a:off x="457200" y="1051560"/>
            <a:ext cx="4389120" cy="3291840"/>
          </a:xfrm>
          <a:prstGeom prst="rect">
            <a:avLst/>
          </a:prstGeom>
        </p:spPr>
      </p:pic>
      <p:sp>
        <p:nvSpPr>
          <p:cNvPr id="6" name="How to read it card"/>
          <p:cNvSpPr/>
          <p:nvPr/>
        </p:nvSpPr>
        <p:spPr>
          <a:xfrm>
            <a:off x="5029200" y="1051560"/>
            <a:ext cx="3657600" cy="3474720"/>
          </a:xfrm>
          <a:prstGeom prst="roundRect">
            <a:avLst>
              <a:gd name="adj" fmla="val 2105"/>
            </a:avLst>
          </a:prstGeom>
          <a:solidFill>
            <a:srgbClr val="F2F2F8"/>
          </a:solidFill>
          <a:ln w="12700">
            <a:solidFill>
              <a:srgbClr val="F2F2F8"/>
            </a:solidFill>
            <a:prstDash val="solid"/>
          </a:ln>
        </p:spPr>
      </p:sp>
      <p:sp>
        <p:nvSpPr>
          <p:cNvPr id="7" name="Text 3"/>
          <p:cNvSpPr txBox="1"/>
          <p:nvPr/>
        </p:nvSpPr>
        <p:spPr>
          <a:xfrm>
            <a:off x="5212080" y="1179576"/>
            <a:ext cx="3291840" cy="292608"/>
          </a:xfrm>
          <a:prstGeom prst="rect">
            <a:avLst/>
          </a:prstGeom>
          <a:noFill/>
          <a:ln/>
        </p:spPr>
        <p:txBody>
          <a:bodyPr wrap="square" lIns="0" tIns="0" rIns="0" bIns="0" rtlCol="0" anchor="t"/>
          <a:lstStyle/>
          <a:p>
            <a:pPr indent="0" marL="0">
              <a:buNone/>
            </a:pPr>
            <a:r>
              <a:rPr lang="en-US" sz="1400" b="1" dirty="0">
                <a:solidFill>
                  <a:schemeClr val="tx1"/>
                </a:solidFill>
              </a:rPr>
              <a:t>How to read it</a:t>
            </a:r>
            <a:endParaRPr lang="en-US" sz="1400" dirty="0"/>
          </a:p>
        </p:txBody>
      </p:sp>
      <p:sp>
        <p:nvSpPr>
          <p:cNvPr id="8" name="Text 4"/>
          <p:cNvSpPr txBox="1"/>
          <p:nvPr/>
        </p:nvSpPr>
        <p:spPr>
          <a:xfrm>
            <a:off x="5212080" y="1545336"/>
            <a:ext cx="3310128" cy="2889504"/>
          </a:xfrm>
          <a:prstGeom prst="rect">
            <a:avLst/>
          </a:prstGeom>
          <a:noFill/>
          <a:ln/>
        </p:spPr>
        <p:txBody>
          <a:bodyPr wrap="square" lIns="0" tIns="0" rIns="0" bIns="0" rtlCol="0" anchor="t"/>
          <a:lstStyle/>
          <a:p>
            <a:pPr marL="177800" indent="-177800">
              <a:spcAft>
                <a:spcPts val="400"/>
              </a:spcAft>
              <a:buSzPct val="100000"/>
              <a:buChar char="•"/>
            </a:pPr>
            <a:r>
              <a:rPr lang="en-US" sz="1200" b="1" dirty="0">
                <a:solidFill>
                  <a:schemeClr val="tx1"/>
                </a:solidFill>
              </a:rPr>
              <a:t>Up-down: </a:t>
            </a:r>
            <a:pPr indent="0" marL="0">
              <a:spcAft>
                <a:spcPts val="400"/>
              </a:spcAft>
              <a:buNone/>
            </a:pPr>
            <a:r>
              <a:rPr lang="en-US" sz="1200" dirty="0">
                <a:solidFill>
                  <a:schemeClr val="tx1"/>
                </a:solidFill>
              </a:rPr>
              <a:t>average energy; LOWER is better</a:t>
            </a:r>
            <a:endParaRPr lang="en-US" sz="1200" dirty="0"/>
          </a:p>
          <a:p>
            <a:pPr marL="177800" indent="-177800">
              <a:spcAft>
                <a:spcPts val="400"/>
              </a:spcAft>
              <a:buSzPct val="100000"/>
              <a:buChar char="•"/>
            </a:pPr>
            <a:r>
              <a:rPr lang="en-US" sz="1200" b="1" dirty="0">
                <a:solidFill>
                  <a:schemeClr val="tx1"/>
                </a:solidFill>
              </a:rPr>
              <a:t>Green dashed line: </a:t>
            </a:r>
            <a:pPr indent="0" marL="0">
              <a:spcAft>
                <a:spcPts val="400"/>
              </a:spcAft>
              <a:buNone/>
            </a:pPr>
            <a:r>
              <a:rPr lang="en-US" sz="1200" dirty="0">
                <a:solidFill>
                  <a:schemeClr val="tx1"/>
                </a:solidFill>
              </a:rPr>
              <a:t>the perfect, error-free result (−7.89)</a:t>
            </a:r>
            <a:endParaRPr lang="en-US" sz="1200" dirty="0"/>
          </a:p>
          <a:p>
            <a:pPr marL="177800" indent="-177800">
              <a:spcAft>
                <a:spcPts val="400"/>
              </a:spcAft>
              <a:buSzPct val="100000"/>
              <a:buChar char="•"/>
            </a:pPr>
            <a:r>
              <a:rPr lang="en-US" sz="1200" b="1" dirty="0">
                <a:solidFill>
                  <a:schemeClr val="tx1"/>
                </a:solidFill>
              </a:rPr>
              <a:t>Blue dots: </a:t>
            </a:r>
            <a:pPr indent="0" marL="0">
              <a:spcAft>
                <a:spcPts val="400"/>
              </a:spcAft>
              <a:buNone/>
            </a:pPr>
            <a:r>
              <a:rPr lang="en-US" sz="1200" dirty="0">
                <a:solidFill>
                  <a:schemeClr val="tx1"/>
                </a:solidFill>
              </a:rPr>
              <a:t>with 1×, 3× and 5× the errors; it gets worse as errors grow</a:t>
            </a:r>
            <a:endParaRPr lang="en-US" sz="1200" dirty="0"/>
          </a:p>
          <a:p>
            <a:pPr marL="177800" indent="-177800">
              <a:spcAft>
                <a:spcPts val="400"/>
              </a:spcAft>
              <a:buSzPct val="100000"/>
              <a:buChar char="•"/>
            </a:pPr>
            <a:r>
              <a:rPr lang="en-US" sz="1200" b="1" dirty="0">
                <a:solidFill>
                  <a:schemeClr val="tx1"/>
                </a:solidFill>
              </a:rPr>
              <a:t>Red star: </a:t>
            </a:r>
            <a:pPr indent="0" marL="0">
              <a:spcAft>
                <a:spcPts val="400"/>
              </a:spcAft>
              <a:buNone/>
            </a:pPr>
            <a:r>
              <a:rPr lang="en-US" sz="1200" dirty="0">
                <a:solidFill>
                  <a:schemeClr val="tx1"/>
                </a:solidFill>
              </a:rPr>
              <a:t>the line extended back to 0× (−7.49)</a:t>
            </a:r>
            <a:endParaRPr lang="en-US" sz="1200" dirty="0"/>
          </a:p>
          <a:p>
            <a:pPr marL="177800" indent="-177800">
              <a:spcAft>
                <a:spcPts val="400"/>
              </a:spcAft>
              <a:buSzPct val="100000"/>
              <a:buChar char="•"/>
            </a:pPr>
            <a:r>
              <a:rPr lang="en-US" sz="1200" b="1" dirty="0">
                <a:solidFill>
                  <a:schemeClr val="tx1"/>
                </a:solidFill>
              </a:rPr>
              <a:t>Result: </a:t>
            </a:r>
            <a:pPr indent="0" marL="0">
              <a:spcAft>
                <a:spcPts val="400"/>
              </a:spcAft>
              <a:buNone/>
            </a:pPr>
            <a:r>
              <a:rPr lang="en-US" sz="1200" dirty="0">
                <a:solidFill>
                  <a:schemeClr val="tx1"/>
                </a:solidFill>
              </a:rPr>
              <a:t>raw −7.36 → corrected −7.49, about 25% of the gap to perfect recovered</a:t>
            </a:r>
            <a:endParaRPr lang="en-US" sz="1200" dirty="0"/>
          </a:p>
          <a:p>
            <a:pPr marL="177800" indent="-177800">
              <a:spcAft>
                <a:spcPts val="400"/>
              </a:spcAft>
              <a:buSzPct val="100000"/>
              <a:buChar char="•"/>
            </a:pPr>
            <a:r>
              <a:rPr lang="en-US" sz="1200" b="1" dirty="0">
                <a:solidFill>
                  <a:schemeClr val="tx1"/>
                </a:solidFill>
              </a:rPr>
              <a:t>Test problem: </a:t>
            </a:r>
            <a:pPr indent="0" marL="0">
              <a:spcAft>
                <a:spcPts val="400"/>
              </a:spcAft>
              <a:buNone/>
            </a:pPr>
            <a:r>
              <a:rPr lang="en-US" sz="1200" dirty="0">
                <a:solidFill>
                  <a:schemeClr val="tx1"/>
                </a:solidFill>
              </a:rPr>
              <a:t>a 6-node network, simulation only</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Is entanglement doing any work?</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9 · Errors and how we fight them</a:t>
            </a:r>
            <a:endParaRPr lang="en-US" sz="1000" dirty="0"/>
          </a:p>
        </p:txBody>
      </p:sp>
      <p:sp>
        <p:nvSpPr>
          <p:cNvPr id="5" name="How the test works card"/>
          <p:cNvSpPr/>
          <p:nvPr/>
        </p:nvSpPr>
        <p:spPr>
          <a:xfrm>
            <a:off x="457200" y="1097280"/>
            <a:ext cx="4023360" cy="3429000"/>
          </a:xfrm>
          <a:prstGeom prst="roundRect">
            <a:avLst>
              <a:gd name="adj" fmla="val 2133"/>
            </a:avLst>
          </a:prstGeom>
          <a:solidFill>
            <a:srgbClr val="F2F2F8"/>
          </a:solidFill>
          <a:ln w="12700">
            <a:solidFill>
              <a:srgbClr val="F2F2F8"/>
            </a:solidFill>
            <a:prstDash val="solid"/>
          </a:ln>
        </p:spPr>
      </p:sp>
      <p:sp>
        <p:nvSpPr>
          <p:cNvPr id="6" name="Text 3"/>
          <p:cNvSpPr txBox="1"/>
          <p:nvPr/>
        </p:nvSpPr>
        <p:spPr>
          <a:xfrm>
            <a:off x="64008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How the test works</a:t>
            </a:r>
            <a:endParaRPr lang="en-US" sz="1400" dirty="0"/>
          </a:p>
        </p:txBody>
      </p:sp>
      <p:sp>
        <p:nvSpPr>
          <p:cNvPr id="7" name="Text 4"/>
          <p:cNvSpPr txBox="1"/>
          <p:nvPr/>
        </p:nvSpPr>
        <p:spPr>
          <a:xfrm>
            <a:off x="640080" y="1591056"/>
            <a:ext cx="3675888" cy="2843784"/>
          </a:xfrm>
          <a:prstGeom prst="rect">
            <a:avLst/>
          </a:prstGeom>
          <a:noFill/>
          <a:ln/>
        </p:spPr>
        <p:txBody>
          <a:bodyPr wrap="square" lIns="0" tIns="0" rIns="0" bIns="0" rtlCol="0" anchor="t"/>
          <a:lstStyle/>
          <a:p>
            <a:pPr marL="177800" indent="-177800">
              <a:spcAft>
                <a:spcPts val="400"/>
              </a:spcAft>
              <a:buSzPct val="100000"/>
              <a:buChar char="•"/>
            </a:pPr>
            <a:r>
              <a:rPr lang="en-US" sz="1300" b="1" dirty="0">
                <a:solidFill>
                  <a:schemeClr val="tx1"/>
                </a:solidFill>
              </a:rPr>
              <a:t>Problem: </a:t>
            </a:r>
            <a:pPr indent="0" marL="0">
              <a:spcAft>
                <a:spcPts val="400"/>
              </a:spcAft>
              <a:buNone/>
            </a:pPr>
            <a:r>
              <a:rPr lang="en-US" sz="1300" dirty="0">
                <a:solidFill>
                  <a:schemeClr val="tx1"/>
                </a:solidFill>
              </a:rPr>
              <a:t>10 drugs, fund 4, gate-based with 2 rounds, perfect simulator</a:t>
            </a:r>
            <a:endParaRPr lang="en-US" sz="1300" dirty="0"/>
          </a:p>
          <a:p>
            <a:pPr marL="177800" indent="-177800">
              <a:spcAft>
                <a:spcPts val="400"/>
              </a:spcAft>
              <a:buSzPct val="100000"/>
              <a:buChar char="•"/>
            </a:pPr>
            <a:r>
              <a:rPr lang="en-US" sz="1300" b="1" dirty="0">
                <a:solidFill>
                  <a:schemeClr val="tx1"/>
                </a:solidFill>
              </a:rPr>
              <a:t>Measure 1: </a:t>
            </a:r>
            <a:pPr indent="0" marL="0">
              <a:spcAft>
                <a:spcPts val="400"/>
              </a:spcAft>
              <a:buNone/>
            </a:pPr>
            <a:r>
              <a:rPr lang="en-US" sz="1300" dirty="0">
                <a:solidFill>
                  <a:schemeClr val="tx1"/>
                </a:solidFill>
              </a:rPr>
              <a:t>entanglement between drugs 1-5 and drugs 6-10 (entanglement entropy, in bits; 0 = none, 5 = maximum)</a:t>
            </a:r>
            <a:endParaRPr lang="en-US" sz="1300" dirty="0"/>
          </a:p>
          <a:p>
            <a:pPr marL="177800" indent="-177800">
              <a:spcAft>
                <a:spcPts val="400"/>
              </a:spcAft>
              <a:buSzPct val="100000"/>
              <a:buChar char="•"/>
            </a:pPr>
            <a:r>
              <a:rPr lang="en-US" sz="1300" b="1" dirty="0">
                <a:solidFill>
                  <a:schemeClr val="tx1"/>
                </a:solidFill>
              </a:rPr>
              <a:t>Measure 2: </a:t>
            </a:r>
            <a:pPr indent="0" marL="0">
              <a:spcAft>
                <a:spcPts val="400"/>
              </a:spcAft>
              <a:buNone/>
            </a:pPr>
            <a:r>
              <a:rPr lang="en-US" sz="1300" dirty="0">
                <a:solidFill>
                  <a:schemeClr val="tx1"/>
                </a:solidFill>
              </a:rPr>
              <a:t>delete every link step (all RZZ gates), keep everything else, re-tune the dials, score again</a:t>
            </a:r>
            <a:endParaRPr lang="en-US" sz="13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663440" y="1097280"/>
          <a:ext cx="4023360" cy="914400"/>
        </p:xfrm>
        <a:graphic>
          <a:graphicData uri="http://schemas.openxmlformats.org/drawingml/2006/table">
            <a:tbl>
              <a:tblPr/>
              <a:tblGrid>
                <a:gridCol w="1645920"/>
                <a:gridCol w="1188720"/>
                <a:gridCol w="1188720"/>
              </a:tblGrid>
              <a:tr h="457200">
                <a:tc>
                  <a:txBody>
                    <a:bodyPr/>
                    <a:lstStyle/>
                    <a:p>
                      <a:pPr indent="0" marL="0">
                        <a:buNone/>
                      </a:pP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With links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Links removed</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457200">
                <a:tc>
                  <a:txBody>
                    <a:bodyPr/>
                    <a:lstStyle/>
                    <a:p>
                      <a:pPr indent="0" marL="0">
                        <a:buNone/>
                      </a:pPr>
                      <a:r>
                        <a:rPr lang="en-US" sz="1200" dirty="0">
                          <a:solidFill>
                            <a:srgbClr val="1B1D36"/>
                          </a:solidFill>
                        </a:rPr>
                        <a:t>Score</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0.773</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0.308</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57200">
                <a:tc>
                  <a:txBody>
                    <a:bodyPr/>
                    <a:lstStyle/>
                    <a:p>
                      <a:pPr indent="0" marL="0">
                        <a:buNone/>
                      </a:pPr>
                      <a:r>
                        <a:rPr lang="en-US" sz="1200" dirty="0">
                          <a:solidFill>
                            <a:srgbClr val="1B1D36"/>
                          </a:solidFill>
                        </a:rPr>
                        <a:t>Entanglement (bits)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1.04</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B1D36"/>
                          </a:solidFill>
                        </a:rPr>
                        <a:t>Link steps on Torino</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408</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bl>
          </a:graphicData>
        </a:graphic>
      </p:graphicFrame>
      <p:sp>
        <p:nvSpPr>
          <p:cNvPr id="9" name="Honest note card"/>
          <p:cNvSpPr/>
          <p:nvPr/>
        </p:nvSpPr>
        <p:spPr>
          <a:xfrm>
            <a:off x="4663440" y="3063240"/>
            <a:ext cx="4023360" cy="1463040"/>
          </a:xfrm>
          <a:prstGeom prst="roundRect">
            <a:avLst>
              <a:gd name="adj" fmla="val 5000"/>
            </a:avLst>
          </a:prstGeom>
          <a:solidFill>
            <a:srgbClr val="FDECEC"/>
          </a:solidFill>
          <a:ln w="12700">
            <a:solidFill>
              <a:srgbClr val="FDECEC"/>
            </a:solidFill>
            <a:prstDash val="solid"/>
          </a:ln>
        </p:spPr>
      </p:sp>
      <p:sp>
        <p:nvSpPr>
          <p:cNvPr id="10" name="Text 6"/>
          <p:cNvSpPr txBox="1"/>
          <p:nvPr/>
        </p:nvSpPr>
        <p:spPr>
          <a:xfrm>
            <a:off x="4846320" y="3191256"/>
            <a:ext cx="3657600" cy="292608"/>
          </a:xfrm>
          <a:prstGeom prst="rect">
            <a:avLst/>
          </a:prstGeom>
          <a:noFill/>
          <a:ln/>
        </p:spPr>
        <p:txBody>
          <a:bodyPr wrap="square" lIns="0" tIns="0" rIns="0" bIns="0" rtlCol="0" anchor="t"/>
          <a:lstStyle/>
          <a:p>
            <a:pPr indent="0" marL="0">
              <a:buNone/>
            </a:pPr>
            <a:r>
              <a:rPr lang="en-US" sz="1400" b="1" dirty="0">
                <a:solidFill>
                  <a:schemeClr val="tx1"/>
                </a:solidFill>
              </a:rPr>
              <a:t>Honest note</a:t>
            </a:r>
            <a:endParaRPr lang="en-US" sz="1400" dirty="0"/>
          </a:p>
        </p:txBody>
      </p:sp>
      <p:sp>
        <p:nvSpPr>
          <p:cNvPr id="11" name="Text 7"/>
          <p:cNvSpPr txBox="1"/>
          <p:nvPr/>
        </p:nvSpPr>
        <p:spPr>
          <a:xfrm>
            <a:off x="4846320" y="3557016"/>
            <a:ext cx="3675888" cy="877824"/>
          </a:xfrm>
          <a:prstGeom prst="rect">
            <a:avLst/>
          </a:prstGeom>
          <a:noFill/>
          <a:ln/>
        </p:spPr>
        <p:txBody>
          <a:bodyPr wrap="square" lIns="0" tIns="0" rIns="0" bIns="0" rtlCol="0" anchor="t"/>
          <a:lstStyle/>
          <a:p>
            <a:pPr indent="0" marL="0">
              <a:buNone/>
            </a:pPr>
            <a:r>
              <a:rPr lang="en-US" sz="1200" dirty="0">
                <a:solidFill>
                  <a:schemeClr val="tx1"/>
                </a:solidFill>
              </a:rPr>
              <a:t>This shows entanglement matters for the recipe's score, not that it beats a laptop. And those 408 link steps are also where most chip errors come from.</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Our 10-minute quantum budget</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10 · Real hardware plan</a:t>
            </a:r>
            <a:endParaRPr lang="en-US" sz="10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840480"/>
                <a:gridCol w="1463040"/>
                <a:gridCol w="914400"/>
                <a:gridCol w="2011680"/>
              </a:tblGrid>
              <a:tr h="411480">
                <a:tc>
                  <a:txBody>
                    <a:bodyPr/>
                    <a:lstStyle/>
                    <a:p>
                      <a:pPr indent="0" marL="0">
                        <a:buNone/>
                      </a:pPr>
                      <a:r>
                        <a:rPr lang="en-US" sz="1200" b="1" dirty="0">
                          <a:solidFill>
                            <a:srgbClr val="FFFFFF"/>
                          </a:solidFill>
                        </a:rPr>
                        <a:t>Real-chip test</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Notebook section</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Jobs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200" b="1" dirty="0">
                          <a:solidFill>
                            <a:srgbClr val="FFFFFF"/>
                          </a:solidFill>
                        </a:rPr>
                        <a:t>Approx. time</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411480">
                <a:tc>
                  <a:txBody>
                    <a:bodyPr/>
                    <a:lstStyle/>
                    <a:p>
                      <a:pPr indent="0" marL="0">
                        <a:buNone/>
                      </a:pPr>
                      <a:r>
                        <a:rPr lang="en-US" sz="1200" dirty="0">
                          <a:solidFill>
                            <a:srgbClr val="1B1D36"/>
                          </a:solidFill>
                        </a:rPr>
                        <a:t>Both kinds, raw vs. fixes (10-drug problem)</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9</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4</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30 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11480">
                <a:tc>
                  <a:txBody>
                    <a:bodyPr/>
                    <a:lstStyle/>
                    <a:p>
                      <a:pPr indent="0" marL="0">
                        <a:buNone/>
                      </a:pPr>
                      <a:r>
                        <a:rPr lang="en-US" sz="1200" dirty="0">
                          <a:solidFill>
                            <a:srgbClr val="1B1D36"/>
                          </a:solidFill>
                        </a:rPr>
                        <a:t>The 3 pieces, both kinds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9b</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1</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30-60 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B1D36"/>
                          </a:solidFill>
                        </a:rPr>
                        <a:t>3 industries packed on one chip</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11</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1</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20-40 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11480">
                <a:tc>
                  <a:txBody>
                    <a:bodyPr/>
                    <a:lstStyle/>
                    <a:p>
                      <a:pPr indent="0" marL="0">
                        <a:buNone/>
                      </a:pPr>
                      <a:r>
                        <a:rPr lang="en-US" sz="1200" dirty="0">
                          <a:solidFill>
                            <a:srgbClr val="1B1D36"/>
                          </a:solidFill>
                        </a:rPr>
                        <a:t>One tune, one job</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11b</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1</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20-40 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B1D36"/>
                          </a:solidFill>
                        </a:rPr>
                        <a:t>Optional: grow from 6 to 16 qubits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10</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2</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200" dirty="0">
                          <a:solidFill>
                            <a:srgbClr val="1B1D36"/>
                          </a:solidFill>
                        </a:rPr>
                        <a:t>60-90 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11480">
                <a:tc>
                  <a:txBody>
                    <a:bodyPr/>
                    <a:lstStyle/>
                    <a:p>
                      <a:pPr indent="0" marL="0">
                        <a:buNone/>
                      </a:pPr>
                      <a:r>
                        <a:rPr lang="en-US" sz="1200" b="1" dirty="0">
                          <a:solidFill>
                            <a:srgbClr val="1B1D36"/>
                          </a:solidFill>
                        </a:rPr>
                        <a:t>Total</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tcPr>
                </a:tc>
                <a:tc>
                  <a:txBody>
                    <a:bodyPr/>
                    <a:lstStyle/>
                    <a:p>
                      <a:pPr indent="0" marL="0">
                        <a:buNone/>
                      </a:pP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dirty="0">
                          <a:solidFill>
                            <a:srgbClr val="1B1D36"/>
                          </a:solidFill>
                        </a:rPr>
                        <a:t>7-9</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200" b="1" dirty="0">
                          <a:solidFill>
                            <a:srgbClr val="1B1D36"/>
                          </a:solidFill>
                        </a:rPr>
                        <a:t>about 3-4 minutes</a:t>
                      </a:r>
                      <a:endParaRPr lang="en-US" sz="12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tcPr>
                </a:tc>
              </a:tr>
            </a:tbl>
          </a:graphicData>
        </a:graphic>
      </p:graphicFrame>
      <p:sp>
        <p:nvSpPr>
          <p:cNvPr id="6" name="card card"/>
          <p:cNvSpPr/>
          <p:nvPr/>
        </p:nvSpPr>
        <p:spPr>
          <a:xfrm>
            <a:off x="457200" y="4069080"/>
            <a:ext cx="8229600" cy="457200"/>
          </a:xfrm>
          <a:prstGeom prst="roundRect">
            <a:avLst>
              <a:gd name="adj" fmla="val 16000"/>
            </a:avLst>
          </a:prstGeom>
          <a:solidFill>
            <a:srgbClr val="FFF4EA"/>
          </a:solidFill>
          <a:ln w="12700">
            <a:solidFill>
              <a:srgbClr val="FFF4EA"/>
            </a:solidFill>
            <a:prstDash val="solid"/>
          </a:ln>
        </p:spPr>
      </p:sp>
      <p:sp>
        <p:nvSpPr>
          <p:cNvPr id="7" name="Text 3"/>
          <p:cNvSpPr txBox="1"/>
          <p:nvPr/>
        </p:nvSpPr>
        <p:spPr>
          <a:xfrm>
            <a:off x="640080" y="4197096"/>
            <a:ext cx="7882128" cy="237744"/>
          </a:xfrm>
          <a:prstGeom prst="rect">
            <a:avLst/>
          </a:prstGeom>
          <a:noFill/>
          <a:ln/>
        </p:spPr>
        <p:txBody>
          <a:bodyPr wrap="square" lIns="0" tIns="0" rIns="0" bIns="0" rtlCol="0" anchor="t"/>
          <a:lstStyle/>
          <a:p>
            <a:pPr indent="0" marL="0">
              <a:buNone/>
            </a:pPr>
            <a:r>
              <a:rPr lang="en-US" sz="1200" dirty="0">
                <a:solidFill>
                  <a:schemeClr val="tx1"/>
                </a:solidFill>
              </a:rPr>
              <a:t>Every real-chip cell was first run against a fake copy of IBM Torino, so none should crash.</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What each real-chip test tells us</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10 · Real hardware plan</a:t>
            </a:r>
            <a:endParaRPr lang="en-US" sz="10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280160"/>
                <a:gridCol w="2194560"/>
                <a:gridCol w="2377440"/>
                <a:gridCol w="2377440"/>
              </a:tblGrid>
              <a:tr h="566928">
                <a:tc>
                  <a:txBody>
                    <a:bodyPr/>
                    <a:lstStyle/>
                    <a:p>
                      <a:pPr indent="0" marL="0">
                        <a:buNone/>
                      </a:pPr>
                      <a:r>
                        <a:rPr lang="en-US" sz="1100" b="1" dirty="0">
                          <a:solidFill>
                            <a:srgbClr val="FFFFFF"/>
                          </a:solidFill>
                        </a:rPr>
                        <a:t>Test</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The question</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If the result is good...</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If it's bad...</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566928">
                <a:tc>
                  <a:txBody>
                    <a:bodyPr/>
                    <a:lstStyle/>
                    <a:p>
                      <a:pPr indent="0" marL="0">
                        <a:buNone/>
                      </a:pPr>
                      <a:r>
                        <a:rPr lang="en-US" sz="1100" dirty="0">
                          <a:solidFill>
                            <a:srgbClr val="1B1D36"/>
                          </a:solidFill>
                        </a:rPr>
                        <a:t>9: raw vs. fixes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Do the fixes help?</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Fixed &gt; raw: mitigation worked</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Equal: errors here aren't the kind the fixes target</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566928">
                <a:tc>
                  <a:txBody>
                    <a:bodyPr/>
                    <a:lstStyle/>
                    <a:p>
                      <a:pPr indent="0" marL="0">
                        <a:buNone/>
                      </a:pPr>
                      <a:r>
                        <a:rPr lang="en-US" sz="1100" dirty="0">
                          <a:solidFill>
                            <a:srgbClr val="1B1D36"/>
                          </a:solidFill>
                        </a:rPr>
                        <a:t>9: simulator vs. chip</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Is our error model realistic?</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Chip ≈ copy of chip: we can trust predictions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Chip worse: errors the model ignores (crosstalk, drift)</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566928">
                <a:tc>
                  <a:txBody>
                    <a:bodyPr/>
                    <a:lstStyle/>
                    <a:p>
                      <a:pPr indent="0" marL="0">
                        <a:buNone/>
                      </a:pPr>
                      <a:r>
                        <a:rPr lang="en-US" sz="1100" dirty="0">
                          <a:solidFill>
                            <a:srgbClr val="1B1D36"/>
                          </a:solidFill>
                        </a:rPr>
                        <a:t>9b: pieces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Does dense → gate, sparse → annealing hold on real hardware?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Same winners as in simulation</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Report it; the pattern may need bigger tests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566928">
                <a:tc>
                  <a:txBody>
                    <a:bodyPr/>
                    <a:lstStyle/>
                    <a:p>
                      <a:pPr indent="0" marL="0">
                        <a:buNone/>
                      </a:pPr>
                      <a:r>
                        <a:rPr lang="en-US" sz="1100" dirty="0">
                          <a:solidFill>
                            <a:srgbClr val="1B1D36"/>
                          </a:solidFill>
                        </a:rPr>
                        <a:t>11: packing</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Do problems disturb each other?</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Together ≈ alone: packing is free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Measured crosstalk: a real finding</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566928">
                <a:tc>
                  <a:txBody>
                    <a:bodyPr/>
                    <a:lstStyle/>
                    <a:p>
                      <a:pPr indent="0" marL="0">
                        <a:buNone/>
                      </a:pPr>
                      <a:r>
                        <a:rPr lang="en-US" sz="1100" dirty="0">
                          <a:solidFill>
                            <a:srgbClr val="1B1D36"/>
                          </a:solidFill>
                        </a:rPr>
                        <a:t>11b: one tune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Is shared + packed still good?</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Close to the normal way</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Shows where sharing breaks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Reading the roadmap chart</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11 · The roadmap chart</a:t>
            </a:r>
            <a:endParaRPr lang="en-US" sz="1000" dirty="0"/>
          </a:p>
        </p:txBody>
      </p:sp>
      <p:pic>
        <p:nvPicPr>
          <p:cNvPr id="5" name="Roadmap chart" descr="C:\Users\gurra\Projects\q-router\run_v6\fig_06.png">    </p:cNvPr>
          <p:cNvPicPr>
            <a:picLocks noChangeAspect="1"/>
          </p:cNvPicPr>
          <p:nvPr/>
        </p:nvPicPr>
        <p:blipFill>
          <a:blip r:embed="rId1"/>
          <a:stretch>
            <a:fillRect/>
          </a:stretch>
        </p:blipFill>
        <p:spPr>
          <a:xfrm>
            <a:off x="457200" y="1051560"/>
            <a:ext cx="4389120" cy="3291840"/>
          </a:xfrm>
          <a:prstGeom prst="rect">
            <a:avLst/>
          </a:prstGeom>
        </p:spPr>
      </p:pic>
      <p:sp>
        <p:nvSpPr>
          <p:cNvPr id="6" name="How to read it card"/>
          <p:cNvSpPr/>
          <p:nvPr/>
        </p:nvSpPr>
        <p:spPr>
          <a:xfrm>
            <a:off x="5029200" y="1051560"/>
            <a:ext cx="3657600" cy="3474720"/>
          </a:xfrm>
          <a:prstGeom prst="roundRect">
            <a:avLst>
              <a:gd name="adj" fmla="val 2105"/>
            </a:avLst>
          </a:prstGeom>
          <a:solidFill>
            <a:srgbClr val="F2F2F8"/>
          </a:solidFill>
          <a:ln w="12700">
            <a:solidFill>
              <a:srgbClr val="F2F2F8"/>
            </a:solidFill>
            <a:prstDash val="solid"/>
          </a:ln>
        </p:spPr>
      </p:sp>
      <p:sp>
        <p:nvSpPr>
          <p:cNvPr id="7" name="Text 3"/>
          <p:cNvSpPr txBox="1"/>
          <p:nvPr/>
        </p:nvSpPr>
        <p:spPr>
          <a:xfrm>
            <a:off x="5212080" y="1179576"/>
            <a:ext cx="3291840" cy="292608"/>
          </a:xfrm>
          <a:prstGeom prst="rect">
            <a:avLst/>
          </a:prstGeom>
          <a:noFill/>
          <a:ln/>
        </p:spPr>
        <p:txBody>
          <a:bodyPr wrap="square" lIns="0" tIns="0" rIns="0" bIns="0" rtlCol="0" anchor="t"/>
          <a:lstStyle/>
          <a:p>
            <a:pPr indent="0" marL="0">
              <a:buNone/>
            </a:pPr>
            <a:r>
              <a:rPr lang="en-US" sz="1400" b="1" dirty="0">
                <a:solidFill>
                  <a:schemeClr val="tx1"/>
                </a:solidFill>
              </a:rPr>
              <a:t>How to read it</a:t>
            </a:r>
            <a:endParaRPr lang="en-US" sz="1400" dirty="0"/>
          </a:p>
        </p:txBody>
      </p:sp>
      <p:sp>
        <p:nvSpPr>
          <p:cNvPr id="8" name="Text 4"/>
          <p:cNvSpPr txBox="1"/>
          <p:nvPr/>
        </p:nvSpPr>
        <p:spPr>
          <a:xfrm>
            <a:off x="5212080" y="1545336"/>
            <a:ext cx="3310128" cy="2889504"/>
          </a:xfrm>
          <a:prstGeom prst="rect">
            <a:avLst/>
          </a:prstGeom>
          <a:noFill/>
          <a:ln/>
        </p:spPr>
        <p:txBody>
          <a:bodyPr wrap="square" lIns="0" tIns="0" rIns="0" bIns="0" rtlCol="0" anchor="t"/>
          <a:lstStyle/>
          <a:p>
            <a:pPr marL="177800" indent="-177800">
              <a:spcAft>
                <a:spcPts val="400"/>
              </a:spcAft>
              <a:buSzPct val="100000"/>
              <a:buChar char="•"/>
            </a:pPr>
            <a:r>
              <a:rPr lang="en-US" sz="1200" b="1" dirty="0">
                <a:solidFill>
                  <a:schemeClr val="tx1"/>
                </a:solidFill>
              </a:rPr>
              <a:t>Left → right: </a:t>
            </a:r>
            <a:pPr indent="0" marL="0">
              <a:spcAft>
                <a:spcPts val="400"/>
              </a:spcAft>
              <a:buNone/>
            </a:pPr>
            <a:r>
              <a:rPr lang="en-US" sz="1200" dirty="0">
                <a:solidFill>
                  <a:schemeClr val="tx1"/>
                </a:solidFill>
              </a:rPr>
              <a:t>how many times fewer errors than today (1× = today)</a:t>
            </a:r>
            <a:endParaRPr lang="en-US" sz="1200" dirty="0"/>
          </a:p>
          <a:p>
            <a:pPr marL="177800" indent="-177800">
              <a:spcAft>
                <a:spcPts val="400"/>
              </a:spcAft>
              <a:buSzPct val="100000"/>
              <a:buChar char="•"/>
            </a:pPr>
            <a:r>
              <a:rPr lang="en-US" sz="1200" b="1" dirty="0">
                <a:solidFill>
                  <a:schemeClr val="tx1"/>
                </a:solidFill>
              </a:rPr>
              <a:t>Up-down: </a:t>
            </a:r>
            <a:pPr indent="0" marL="0">
              <a:spcAft>
                <a:spcPts val="400"/>
              </a:spcAft>
              <a:buNone/>
            </a:pPr>
            <a:r>
              <a:rPr lang="en-US" sz="1200" dirty="0">
                <a:solidFill>
                  <a:schemeClr val="tx1"/>
                </a:solidFill>
              </a:rPr>
              <a:t>share of that industry's problems where quantum clears the 0.5 bar</a:t>
            </a:r>
            <a:endParaRPr lang="en-US" sz="1200" dirty="0"/>
          </a:p>
          <a:p>
            <a:pPr marL="177800" indent="-177800">
              <a:spcAft>
                <a:spcPts val="400"/>
              </a:spcAft>
              <a:buSzPct val="100000"/>
              <a:buChar char="•"/>
            </a:pPr>
            <a:r>
              <a:rPr lang="en-US" sz="1200" b="1" dirty="0">
                <a:solidFill>
                  <a:schemeClr val="tx1"/>
                </a:solidFill>
              </a:rPr>
              <a:t>Today: </a:t>
            </a:r>
            <a:pPr indent="0" marL="0">
              <a:spcAft>
                <a:spcPts val="400"/>
              </a:spcAft>
              <a:buNone/>
            </a:pPr>
            <a:r>
              <a:rPr lang="en-US" sz="1200" dirty="0">
                <a:solidFill>
                  <a:schemeClr val="tx1"/>
                </a:solidFill>
              </a:rPr>
              <a:t>about 20-27% for stocks, drugs and tests; about 5% for networks</a:t>
            </a:r>
            <a:endParaRPr lang="en-US" sz="1200" dirty="0"/>
          </a:p>
          <a:p>
            <a:pPr marL="177800" indent="-177800">
              <a:spcAft>
                <a:spcPts val="400"/>
              </a:spcAft>
              <a:buSzPct val="100000"/>
              <a:buChar char="•"/>
            </a:pPr>
            <a:r>
              <a:rPr lang="en-US" sz="1200" b="1" dirty="0">
                <a:solidFill>
                  <a:schemeClr val="tx1"/>
                </a:solidFill>
              </a:rPr>
              <a:t>3× fewer errors: </a:t>
            </a:r>
            <a:pPr indent="0" marL="0">
              <a:spcAft>
                <a:spcPts val="400"/>
              </a:spcAft>
              <a:buNone/>
            </a:pPr>
            <a:r>
              <a:rPr lang="en-US" sz="1200" dirty="0">
                <a:solidFill>
                  <a:schemeClr val="tx1"/>
                </a:solidFill>
              </a:rPr>
              <a:t>all of stocks, drugs and tests; 67% of networks</a:t>
            </a:r>
            <a:endParaRPr lang="en-US" sz="1200" dirty="0"/>
          </a:p>
          <a:p>
            <a:pPr marL="177800" indent="-177800">
              <a:spcAft>
                <a:spcPts val="400"/>
              </a:spcAft>
              <a:buSzPct val="100000"/>
              <a:buChar char="•"/>
            </a:pPr>
            <a:r>
              <a:rPr lang="en-US" sz="1200" b="1" dirty="0">
                <a:solidFill>
                  <a:schemeClr val="tx1"/>
                </a:solidFill>
              </a:rPr>
              <a:t>Honest caveat: </a:t>
            </a:r>
            <a:pPr indent="0" marL="0">
              <a:spcAft>
                <a:spcPts val="400"/>
              </a:spcAft>
              <a:buNone/>
            </a:pPr>
            <a:r>
              <a:rPr lang="en-US" sz="1200" dirty="0">
                <a:solidFill>
                  <a:schemeClr val="tx1"/>
                </a:solidFill>
              </a:rPr>
              <a:t>'clears 0.5' ≠ 'beats the laptop' (0.97), and it assumes our simple error model</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What we're honest about</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12 · Limits, prior work, novelty</a:t>
            </a:r>
            <a:endParaRPr lang="en-US" sz="1000" dirty="0"/>
          </a:p>
        </p:txBody>
      </p:sp>
      <p:sp>
        <p:nvSpPr>
          <p:cNvPr id="5" name="Limits of the results card"/>
          <p:cNvSpPr/>
          <p:nvPr/>
        </p:nvSpPr>
        <p:spPr>
          <a:xfrm>
            <a:off x="457200" y="1097280"/>
            <a:ext cx="4023360" cy="3429000"/>
          </a:xfrm>
          <a:prstGeom prst="roundRect">
            <a:avLst>
              <a:gd name="adj" fmla="val 2133"/>
            </a:avLst>
          </a:prstGeom>
          <a:solidFill>
            <a:srgbClr val="FDECEC"/>
          </a:solidFill>
          <a:ln w="12700">
            <a:solidFill>
              <a:srgbClr val="FDECEC"/>
            </a:solidFill>
            <a:prstDash val="solid"/>
          </a:ln>
        </p:spPr>
      </p:sp>
      <p:sp>
        <p:nvSpPr>
          <p:cNvPr id="6" name="Text 3"/>
          <p:cNvSpPr txBox="1"/>
          <p:nvPr/>
        </p:nvSpPr>
        <p:spPr>
          <a:xfrm>
            <a:off x="64008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Limits of the results</a:t>
            </a:r>
            <a:endParaRPr lang="en-US" sz="1400" dirty="0"/>
          </a:p>
        </p:txBody>
      </p:sp>
      <p:sp>
        <p:nvSpPr>
          <p:cNvPr id="7" name="Text 4"/>
          <p:cNvSpPr txBox="1"/>
          <p:nvPr/>
        </p:nvSpPr>
        <p:spPr>
          <a:xfrm>
            <a:off x="640080" y="1591056"/>
            <a:ext cx="3675888" cy="28437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No quantum advantage: the laptop scores 0.95-0.98 everywhere</a:t>
            </a:r>
            <a:endParaRPr lang="en-US" sz="1300" dirty="0"/>
          </a:p>
          <a:p>
            <a:pPr marL="177800" indent="-177800">
              <a:spcAft>
                <a:spcPts val="400"/>
              </a:spcAft>
              <a:buSzPct val="100000"/>
              <a:buChar char="•"/>
            </a:pPr>
            <a:r>
              <a:rPr lang="en-US" sz="1300" dirty="0">
                <a:solidFill>
                  <a:schemeClr val="tx1"/>
                </a:solidFill>
              </a:rPr>
              <a:t>Tiny problems: 3-18 choices vs. 50-200 in real portfolios</a:t>
            </a:r>
            <a:endParaRPr lang="en-US" sz="1300" dirty="0"/>
          </a:p>
          <a:p>
            <a:pPr marL="177800" indent="-177800">
              <a:spcAft>
                <a:spcPts val="400"/>
              </a:spcAft>
              <a:buSzPct val="100000"/>
              <a:buChar char="•"/>
            </a:pPr>
            <a:r>
              <a:rPr lang="en-US" sz="1300" dirty="0">
                <a:solidFill>
                  <a:schemeClr val="tx1"/>
                </a:solidFill>
              </a:rPr>
              <a:t>Our annealing is a copy on IBM's chip, not a D-Wave machine</a:t>
            </a:r>
            <a:endParaRPr lang="en-US" sz="1300" dirty="0"/>
          </a:p>
          <a:p>
            <a:pPr marL="177800" indent="-177800">
              <a:spcAft>
                <a:spcPts val="400"/>
              </a:spcAft>
              <a:buSzPct val="100000"/>
              <a:buChar char="•"/>
            </a:pPr>
            <a:r>
              <a:rPr lang="en-US" sz="1300" dirty="0">
                <a:solidFill>
                  <a:schemeClr val="tx1"/>
                </a:solidFill>
              </a:rPr>
              <a:t>The drug data is made up (with real success rates)</a:t>
            </a:r>
            <a:endParaRPr lang="en-US" sz="1300" dirty="0"/>
          </a:p>
          <a:p>
            <a:pPr marL="177800" indent="-177800">
              <a:spcAft>
                <a:spcPts val="400"/>
              </a:spcAft>
              <a:buSzPct val="100000"/>
              <a:buChar char="•"/>
            </a:pPr>
            <a:r>
              <a:rPr lang="en-US" sz="1300" dirty="0">
                <a:solidFill>
                  <a:schemeClr val="tx1"/>
                </a:solidFill>
              </a:rPr>
              <a:t>The break-down test is one example problem</a:t>
            </a:r>
            <a:endParaRPr lang="en-US" sz="1300" dirty="0"/>
          </a:p>
        </p:txBody>
      </p:sp>
      <p:sp>
        <p:nvSpPr>
          <p:cNvPr id="8" name="Limits of the method card"/>
          <p:cNvSpPr/>
          <p:nvPr/>
        </p:nvSpPr>
        <p:spPr>
          <a:xfrm>
            <a:off x="4663440" y="1097280"/>
            <a:ext cx="4023360" cy="3429000"/>
          </a:xfrm>
          <a:prstGeom prst="roundRect">
            <a:avLst>
              <a:gd name="adj" fmla="val 2133"/>
            </a:avLst>
          </a:prstGeom>
          <a:solidFill>
            <a:srgbClr val="FDECEC"/>
          </a:solidFill>
          <a:ln w="12700">
            <a:solidFill>
              <a:srgbClr val="FDECEC"/>
            </a:solidFill>
            <a:prstDash val="solid"/>
          </a:ln>
        </p:spPr>
      </p:sp>
      <p:sp>
        <p:nvSpPr>
          <p:cNvPr id="9" name="Text 6"/>
          <p:cNvSpPr txBox="1"/>
          <p:nvPr/>
        </p:nvSpPr>
        <p:spPr>
          <a:xfrm>
            <a:off x="484632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Limits of the method</a:t>
            </a:r>
            <a:endParaRPr lang="en-US" sz="1400" dirty="0"/>
          </a:p>
        </p:txBody>
      </p:sp>
      <p:sp>
        <p:nvSpPr>
          <p:cNvPr id="10" name="Text 7"/>
          <p:cNvSpPr txBox="1"/>
          <p:nvPr/>
        </p:nvSpPr>
        <p:spPr>
          <a:xfrm>
            <a:off x="4846320" y="1591056"/>
            <a:ext cx="3675888" cy="28437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Only 60 practice problems; retrained each run</a:t>
            </a:r>
            <a:endParaRPr lang="en-US" sz="1300" dirty="0"/>
          </a:p>
          <a:p>
            <a:pPr marL="177800" indent="-177800">
              <a:spcAft>
                <a:spcPts val="400"/>
              </a:spcAft>
              <a:buSzPct val="100000"/>
              <a:buChar char="•"/>
            </a:pPr>
            <a:r>
              <a:rPr lang="en-US" sz="1300" dirty="0">
                <a:solidFill>
                  <a:schemeClr val="tx1"/>
                </a:solidFill>
              </a:rPr>
              <a:t>The error estimate is too pessimistic about long recipes, which biases the router against annealing</a:t>
            </a:r>
            <a:endParaRPr lang="en-US" sz="1300" dirty="0"/>
          </a:p>
          <a:p>
            <a:pPr marL="177800" indent="-177800">
              <a:spcAft>
                <a:spcPts val="400"/>
              </a:spcAft>
              <a:buSzPct val="100000"/>
              <a:buChar char="•"/>
            </a:pPr>
            <a:r>
              <a:rPr lang="en-US" sz="1300" dirty="0">
                <a:solidFill>
                  <a:schemeClr val="tx1"/>
                </a:solidFill>
              </a:rPr>
              <a:t>The routing rule compares to a fixed bar (0.5), not to the laptop</a:t>
            </a:r>
            <a:endParaRPr lang="en-US" sz="1300" dirty="0"/>
          </a:p>
          <a:p>
            <a:pPr marL="177800" indent="-177800">
              <a:spcAft>
                <a:spcPts val="400"/>
              </a:spcAft>
              <a:buSzPct val="100000"/>
              <a:buChar char="•"/>
            </a:pPr>
            <a:r>
              <a:rPr lang="en-US" sz="1300" dirty="0">
                <a:solidFill>
                  <a:schemeClr val="tx1"/>
                </a:solidFill>
              </a:rPr>
              <a:t>Copying settings costs some quality and doesn't help medical tests</a:t>
            </a:r>
            <a:endParaRPr lang="en-US" sz="1300" dirty="0"/>
          </a:p>
          <a:p>
            <a:pPr marL="177800" indent="-177800">
              <a:spcAft>
                <a:spcPts val="400"/>
              </a:spcAft>
              <a:buSzPct val="100000"/>
              <a:buChar char="•"/>
            </a:pPr>
            <a:r>
              <a:rPr lang="en-US" sz="1300" dirty="0">
                <a:solidFill>
                  <a:schemeClr val="tx1"/>
                </a:solidFill>
              </a:rPr>
              <a:t>Limited hardware budget: single runs, no repeats</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What already existed (prior work)</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12 · Limits, prior work, novelty</a:t>
            </a:r>
            <a:endParaRPr lang="en-US" sz="10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743200"/>
                <a:gridCol w="2743200"/>
                <a:gridCol w="2743200"/>
              </a:tblGrid>
              <a:tr h="548640">
                <a:tc>
                  <a:txBody>
                    <a:bodyPr/>
                    <a:lstStyle/>
                    <a:p>
                      <a:pPr indent="0" marL="0">
                        <a:buNone/>
                      </a:pPr>
                      <a:r>
                        <a:rPr lang="en-US" sz="1100" b="1" dirty="0">
                          <a:solidFill>
                            <a:srgbClr val="FFFFFF"/>
                          </a:solidFill>
                        </a:rPr>
                        <a:t>Idea</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Already known from</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What we add</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548640">
                <a:tc>
                  <a:txBody>
                    <a:bodyPr/>
                    <a:lstStyle/>
                    <a:p>
                      <a:pPr indent="0" marL="0">
                        <a:buNone/>
                      </a:pPr>
                      <a:r>
                        <a:rPr lang="en-US" sz="1100" dirty="0">
                          <a:solidFill>
                            <a:srgbClr val="1B1D36"/>
                          </a:solidFill>
                        </a:rPr>
                        <a:t>Tuned QAOA settings carry over between similar problems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Brandão et al. 2018; Galda et al. 2023</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tested across real industries with a random-copy control</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548640">
                <a:tc>
                  <a:txBody>
                    <a:bodyPr/>
                    <a:lstStyle/>
                    <a:p>
                      <a:pPr indent="0" marL="0">
                        <a:buNone/>
                      </a:pPr>
                      <a:r>
                        <a:rPr lang="en-US" sz="1100" dirty="0">
                          <a:solidFill>
                            <a:srgbClr val="1B1D36"/>
                          </a:solidFill>
                        </a:rPr>
                        <a:t>AI picks donors across problem types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Cross-problem transfer study, 2025 (arXiv 2504.10733)</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real-data decisions + a noise-aware fingerprint</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1B1D36"/>
                          </a:solidFill>
                        </a:rPr>
                        <a:t>Several circuits on one chip</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Multi-programming research (e.g. arXiv 2102.05321)</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combined with routing and shared settings, with a compute ledger</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548640">
                <a:tc>
                  <a:txBody>
                    <a:bodyPr/>
                    <a:lstStyle/>
                    <a:p>
                      <a:pPr indent="0" marL="0">
                        <a:buNone/>
                      </a:pPr>
                      <a:r>
                        <a:rPr lang="en-US" sz="1100" dirty="0">
                          <a:solidFill>
                            <a:srgbClr val="1B1D36"/>
                          </a:solidFill>
                        </a:rPr>
                        <a:t>Choosing a solver with AI</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Decades of 'algorithm selection' research</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choosing gate-based vs. annealing piece by piece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1B1D36"/>
                          </a:solidFill>
                        </a:rPr>
                        <a:t>Digitized annealing on IBM</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Linear-ramp QAOA studies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used as the 'annealer' arm of a router</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What's new in Q-Router</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12 · Limits, prior work, novelty</a:t>
            </a:r>
            <a:endParaRPr lang="en-US" sz="1000" dirty="0"/>
          </a:p>
        </p:txBody>
      </p:sp>
      <p:sp>
        <p:nvSpPr>
          <p:cNvPr id="5" name="card card"/>
          <p:cNvSpPr/>
          <p:nvPr/>
        </p:nvSpPr>
        <p:spPr>
          <a:xfrm>
            <a:off x="457200" y="1097280"/>
            <a:ext cx="4023360" cy="1600200"/>
          </a:xfrm>
          <a:prstGeom prst="roundRect">
            <a:avLst>
              <a:gd name="adj" fmla="val 4571"/>
            </a:avLst>
          </a:prstGeom>
          <a:solidFill>
            <a:srgbClr val="F2F2F8"/>
          </a:solidFill>
          <a:ln w="12700">
            <a:solidFill>
              <a:srgbClr val="F2F2F8"/>
            </a:solidFill>
            <a:prstDash val="solid"/>
          </a:ln>
        </p:spPr>
      </p:sp>
      <p:sp>
        <p:nvSpPr>
          <p:cNvPr id="6" name="Piece by piece circle"/>
          <p:cNvSpPr/>
          <p:nvPr/>
        </p:nvSpPr>
        <p:spPr>
          <a:xfrm>
            <a:off x="640080" y="1280160"/>
            <a:ext cx="502920" cy="502920"/>
          </a:xfrm>
          <a:prstGeom prst="ellipse">
            <a:avLst/>
          </a:prstGeom>
          <a:solidFill>
            <a:srgbClr val="5B4FD1"/>
          </a:solidFill>
          <a:ln w="12700">
            <a:solidFill>
              <a:srgbClr val="5B4FD1"/>
            </a:solidFill>
            <a:prstDash val="solid"/>
          </a:ln>
        </p:spPr>
      </p:sp>
      <p:pic>
        <p:nvPicPr>
          <p:cNvPr id="7" name="Piece by piece icon" descr="preencoded.png">    </p:cNvPr>
          <p:cNvPicPr>
            <a:picLocks noChangeAspect="1"/>
          </p:cNvPicPr>
          <p:nvPr/>
        </p:nvPicPr>
        <p:blipFill>
          <a:blip r:embed="rId1"/>
          <a:stretch>
            <a:fillRect/>
          </a:stretch>
        </p:blipFill>
        <p:spPr>
          <a:xfrm>
            <a:off x="760781" y="1400861"/>
            <a:ext cx="261518" cy="261518"/>
          </a:xfrm>
          <a:prstGeom prst="rect">
            <a:avLst/>
          </a:prstGeom>
        </p:spPr>
      </p:pic>
      <p:sp>
        <p:nvSpPr>
          <p:cNvPr id="8" name="Text 4"/>
          <p:cNvSpPr txBox="1"/>
          <p:nvPr/>
        </p:nvSpPr>
        <p:spPr>
          <a:xfrm>
            <a:off x="1280160" y="1280160"/>
            <a:ext cx="3017520" cy="502920"/>
          </a:xfrm>
          <a:prstGeom prst="rect">
            <a:avLst/>
          </a:prstGeom>
          <a:noFill/>
          <a:ln/>
        </p:spPr>
        <p:txBody>
          <a:bodyPr wrap="square" lIns="0" tIns="0" rIns="0" bIns="0" rtlCol="0" anchor="ctr"/>
          <a:lstStyle/>
          <a:p>
            <a:pPr indent="0" marL="0">
              <a:buNone/>
            </a:pPr>
            <a:r>
              <a:rPr lang="en-US" sz="1500" b="1" dirty="0">
                <a:solidFill>
                  <a:schemeClr val="tx1"/>
                </a:solidFill>
              </a:rPr>
              <a:t>Piece by piece</a:t>
            </a:r>
            <a:endParaRPr lang="en-US" sz="1500" dirty="0"/>
          </a:p>
        </p:txBody>
      </p:sp>
      <p:sp>
        <p:nvSpPr>
          <p:cNvPr id="9" name="Text 5"/>
          <p:cNvSpPr txBox="1"/>
          <p:nvPr/>
        </p:nvSpPr>
        <p:spPr>
          <a:xfrm>
            <a:off x="640080" y="1874520"/>
            <a:ext cx="3657600" cy="777240"/>
          </a:xfrm>
          <a:prstGeom prst="rect">
            <a:avLst/>
          </a:prstGeom>
          <a:noFill/>
          <a:ln/>
        </p:spPr>
        <p:txBody>
          <a:bodyPr wrap="square" lIns="0" tIns="0" rIns="0" bIns="0" rtlCol="0" anchor="t"/>
          <a:lstStyle/>
          <a:p>
            <a:pPr indent="0" marL="0">
              <a:buNone/>
            </a:pPr>
            <a:r>
              <a:rPr lang="en-US" sz="1200" dirty="0">
                <a:solidFill>
                  <a:schemeClr val="tx1"/>
                </a:solidFill>
              </a:rPr>
              <a:t>Gate-based or annealing chosen separately for each piece of one problem, with both measured on every piece</a:t>
            </a:r>
            <a:endParaRPr lang="en-US" sz="1200" dirty="0"/>
          </a:p>
        </p:txBody>
      </p:sp>
      <p:sp>
        <p:nvSpPr>
          <p:cNvPr id="10" name="card card"/>
          <p:cNvSpPr/>
          <p:nvPr/>
        </p:nvSpPr>
        <p:spPr>
          <a:xfrm>
            <a:off x="4663440" y="1097280"/>
            <a:ext cx="4023360" cy="1600200"/>
          </a:xfrm>
          <a:prstGeom prst="roundRect">
            <a:avLst>
              <a:gd name="adj" fmla="val 4571"/>
            </a:avLst>
          </a:prstGeom>
          <a:solidFill>
            <a:srgbClr val="F2F2F8"/>
          </a:solidFill>
          <a:ln w="12700">
            <a:solidFill>
              <a:srgbClr val="F2F2F8"/>
            </a:solidFill>
            <a:prstDash val="solid"/>
          </a:ln>
        </p:spPr>
      </p:sp>
      <p:sp>
        <p:nvSpPr>
          <p:cNvPr id="11" name="Across industries circle"/>
          <p:cNvSpPr/>
          <p:nvPr/>
        </p:nvSpPr>
        <p:spPr>
          <a:xfrm>
            <a:off x="4846320" y="1280160"/>
            <a:ext cx="502920" cy="502920"/>
          </a:xfrm>
          <a:prstGeom prst="ellipse">
            <a:avLst/>
          </a:prstGeom>
          <a:solidFill>
            <a:srgbClr val="0E9384"/>
          </a:solidFill>
          <a:ln w="12700">
            <a:solidFill>
              <a:srgbClr val="0E9384"/>
            </a:solidFill>
            <a:prstDash val="solid"/>
          </a:ln>
        </p:spPr>
      </p:sp>
      <p:pic>
        <p:nvPicPr>
          <p:cNvPr id="12" name="Across industries icon" descr="preencoded.png">    </p:cNvPr>
          <p:cNvPicPr>
            <a:picLocks noChangeAspect="1"/>
          </p:cNvPicPr>
          <p:nvPr/>
        </p:nvPicPr>
        <p:blipFill>
          <a:blip r:embed="rId2"/>
          <a:stretch>
            <a:fillRect/>
          </a:stretch>
        </p:blipFill>
        <p:spPr>
          <a:xfrm>
            <a:off x="4967021" y="1400861"/>
            <a:ext cx="261518" cy="261518"/>
          </a:xfrm>
          <a:prstGeom prst="rect">
            <a:avLst/>
          </a:prstGeom>
        </p:spPr>
      </p:pic>
      <p:sp>
        <p:nvSpPr>
          <p:cNvPr id="13" name="Text 8"/>
          <p:cNvSpPr txBox="1"/>
          <p:nvPr/>
        </p:nvSpPr>
        <p:spPr>
          <a:xfrm>
            <a:off x="5486400" y="1280160"/>
            <a:ext cx="3017520" cy="502920"/>
          </a:xfrm>
          <a:prstGeom prst="rect">
            <a:avLst/>
          </a:prstGeom>
          <a:noFill/>
          <a:ln/>
        </p:spPr>
        <p:txBody>
          <a:bodyPr wrap="square" lIns="0" tIns="0" rIns="0" bIns="0" rtlCol="0" anchor="ctr"/>
          <a:lstStyle/>
          <a:p>
            <a:pPr indent="0" marL="0">
              <a:buNone/>
            </a:pPr>
            <a:r>
              <a:rPr lang="en-US" sz="1500" b="1" dirty="0">
                <a:solidFill>
                  <a:schemeClr val="tx1"/>
                </a:solidFill>
              </a:rPr>
              <a:t>Across industries</a:t>
            </a:r>
            <a:endParaRPr lang="en-US" sz="1500" dirty="0"/>
          </a:p>
        </p:txBody>
      </p:sp>
      <p:sp>
        <p:nvSpPr>
          <p:cNvPr id="14" name="Text 9"/>
          <p:cNvSpPr txBox="1"/>
          <p:nvPr/>
        </p:nvSpPr>
        <p:spPr>
          <a:xfrm>
            <a:off x="4846320" y="1874520"/>
            <a:ext cx="3657600" cy="777240"/>
          </a:xfrm>
          <a:prstGeom prst="rect">
            <a:avLst/>
          </a:prstGeom>
          <a:noFill/>
          <a:ln/>
        </p:spPr>
        <p:txBody>
          <a:bodyPr wrap="square" lIns="0" tIns="0" rIns="0" bIns="0" rtlCol="0" anchor="t"/>
          <a:lstStyle/>
          <a:p>
            <a:pPr indent="0" marL="0">
              <a:buNone/>
            </a:pPr>
            <a:r>
              <a:rPr lang="en-US" sz="1200" dirty="0">
                <a:solidFill>
                  <a:schemeClr val="tx1"/>
                </a:solidFill>
              </a:rPr>
              <a:t>Settings copied between stocks, medical tests, drugs and networks, with a random-copy control proving the matching matters</a:t>
            </a:r>
            <a:endParaRPr lang="en-US" sz="1200" dirty="0"/>
          </a:p>
        </p:txBody>
      </p:sp>
      <p:sp>
        <p:nvSpPr>
          <p:cNvPr id="15" name="card card"/>
          <p:cNvSpPr/>
          <p:nvPr/>
        </p:nvSpPr>
        <p:spPr>
          <a:xfrm>
            <a:off x="457200" y="2834640"/>
            <a:ext cx="4023360" cy="1600200"/>
          </a:xfrm>
          <a:prstGeom prst="roundRect">
            <a:avLst>
              <a:gd name="adj" fmla="val 4571"/>
            </a:avLst>
          </a:prstGeom>
          <a:solidFill>
            <a:srgbClr val="F2F2F8"/>
          </a:solidFill>
          <a:ln w="12700">
            <a:solidFill>
              <a:srgbClr val="F2F2F8"/>
            </a:solidFill>
            <a:prstDash val="solid"/>
          </a:ln>
        </p:spPr>
      </p:sp>
      <p:sp>
        <p:nvSpPr>
          <p:cNvPr id="16" name="Chip-aware circle"/>
          <p:cNvSpPr/>
          <p:nvPr/>
        </p:nvSpPr>
        <p:spPr>
          <a:xfrm>
            <a:off x="640080" y="3017520"/>
            <a:ext cx="502920" cy="502920"/>
          </a:xfrm>
          <a:prstGeom prst="ellipse">
            <a:avLst/>
          </a:prstGeom>
          <a:solidFill>
            <a:srgbClr val="E8833A"/>
          </a:solidFill>
          <a:ln w="12700">
            <a:solidFill>
              <a:srgbClr val="E8833A"/>
            </a:solidFill>
            <a:prstDash val="solid"/>
          </a:ln>
        </p:spPr>
      </p:sp>
      <p:pic>
        <p:nvPicPr>
          <p:cNvPr id="17" name="Chip-aware icon" descr="preencoded.png">    </p:cNvPr>
          <p:cNvPicPr>
            <a:picLocks noChangeAspect="1"/>
          </p:cNvPicPr>
          <p:nvPr/>
        </p:nvPicPr>
        <p:blipFill>
          <a:blip r:embed="rId3"/>
          <a:stretch>
            <a:fillRect/>
          </a:stretch>
        </p:blipFill>
        <p:spPr>
          <a:xfrm>
            <a:off x="760781" y="3138221"/>
            <a:ext cx="261518" cy="261518"/>
          </a:xfrm>
          <a:prstGeom prst="rect">
            <a:avLst/>
          </a:prstGeom>
        </p:spPr>
      </p:pic>
      <p:sp>
        <p:nvSpPr>
          <p:cNvPr id="18" name="Text 12"/>
          <p:cNvSpPr txBox="1"/>
          <p:nvPr/>
        </p:nvSpPr>
        <p:spPr>
          <a:xfrm>
            <a:off x="1280160" y="3017520"/>
            <a:ext cx="3017520" cy="502920"/>
          </a:xfrm>
          <a:prstGeom prst="rect">
            <a:avLst/>
          </a:prstGeom>
          <a:noFill/>
          <a:ln/>
        </p:spPr>
        <p:txBody>
          <a:bodyPr wrap="square" lIns="0" tIns="0" rIns="0" bIns="0" rtlCol="0" anchor="ctr"/>
          <a:lstStyle/>
          <a:p>
            <a:pPr indent="0" marL="0">
              <a:buNone/>
            </a:pPr>
            <a:r>
              <a:rPr lang="en-US" sz="1500" b="1" dirty="0">
                <a:solidFill>
                  <a:schemeClr val="tx1"/>
                </a:solidFill>
              </a:rPr>
              <a:t>Chip-aware</a:t>
            </a:r>
            <a:endParaRPr lang="en-US" sz="1500" dirty="0"/>
          </a:p>
        </p:txBody>
      </p:sp>
      <p:sp>
        <p:nvSpPr>
          <p:cNvPr id="19" name="Text 13"/>
          <p:cNvSpPr txBox="1"/>
          <p:nvPr/>
        </p:nvSpPr>
        <p:spPr>
          <a:xfrm>
            <a:off x="640080" y="3611880"/>
            <a:ext cx="3657600" cy="777240"/>
          </a:xfrm>
          <a:prstGeom prst="rect">
            <a:avLst/>
          </a:prstGeom>
          <a:noFill/>
          <a:ln/>
        </p:spPr>
        <p:txBody>
          <a:bodyPr wrap="square" lIns="0" tIns="0" rIns="0" bIns="0" rtlCol="0" anchor="t"/>
          <a:lstStyle/>
          <a:p>
            <a:pPr indent="0" marL="0">
              <a:buNone/>
            </a:pPr>
            <a:r>
              <a:rPr lang="en-US" sz="1200" dirty="0">
                <a:solidFill>
                  <a:schemeClr val="tx1"/>
                </a:solidFill>
              </a:rPr>
              <a:t>The fingerprint includes IBM's real error rates, so the choice depends on the actual hardware</a:t>
            </a:r>
            <a:endParaRPr lang="en-US" sz="1200" dirty="0"/>
          </a:p>
        </p:txBody>
      </p:sp>
      <p:sp>
        <p:nvSpPr>
          <p:cNvPr id="20" name="card card"/>
          <p:cNvSpPr/>
          <p:nvPr/>
        </p:nvSpPr>
        <p:spPr>
          <a:xfrm>
            <a:off x="4663440" y="2834640"/>
            <a:ext cx="4023360" cy="1600200"/>
          </a:xfrm>
          <a:prstGeom prst="roundRect">
            <a:avLst>
              <a:gd name="adj" fmla="val 4571"/>
            </a:avLst>
          </a:prstGeom>
          <a:solidFill>
            <a:srgbClr val="F2F2F8"/>
          </a:solidFill>
          <a:ln w="12700">
            <a:solidFill>
              <a:srgbClr val="F2F2F8"/>
            </a:solidFill>
            <a:prstDash val="solid"/>
          </a:ln>
        </p:spPr>
      </p:sp>
      <p:sp>
        <p:nvSpPr>
          <p:cNvPr id="21" name="Compute measured circle"/>
          <p:cNvSpPr/>
          <p:nvPr/>
        </p:nvSpPr>
        <p:spPr>
          <a:xfrm>
            <a:off x="4846320" y="3017520"/>
            <a:ext cx="502920" cy="502920"/>
          </a:xfrm>
          <a:prstGeom prst="ellipse">
            <a:avLst/>
          </a:prstGeom>
          <a:solidFill>
            <a:srgbClr val="667085"/>
          </a:solidFill>
          <a:ln w="12700">
            <a:solidFill>
              <a:srgbClr val="667085"/>
            </a:solidFill>
            <a:prstDash val="solid"/>
          </a:ln>
        </p:spPr>
      </p:sp>
      <p:pic>
        <p:nvPicPr>
          <p:cNvPr id="22" name="Compute measured icon" descr="preencoded.png">    </p:cNvPr>
          <p:cNvPicPr>
            <a:picLocks noChangeAspect="1"/>
          </p:cNvPicPr>
          <p:nvPr/>
        </p:nvPicPr>
        <p:blipFill>
          <a:blip r:embed="rId4"/>
          <a:stretch>
            <a:fillRect/>
          </a:stretch>
        </p:blipFill>
        <p:spPr>
          <a:xfrm>
            <a:off x="4967021" y="3138221"/>
            <a:ext cx="261518" cy="261518"/>
          </a:xfrm>
          <a:prstGeom prst="rect">
            <a:avLst/>
          </a:prstGeom>
        </p:spPr>
      </p:pic>
      <p:sp>
        <p:nvSpPr>
          <p:cNvPr id="23" name="Text 16"/>
          <p:cNvSpPr txBox="1"/>
          <p:nvPr/>
        </p:nvSpPr>
        <p:spPr>
          <a:xfrm>
            <a:off x="5486400" y="3017520"/>
            <a:ext cx="3017520" cy="502920"/>
          </a:xfrm>
          <a:prstGeom prst="rect">
            <a:avLst/>
          </a:prstGeom>
          <a:noFill/>
          <a:ln/>
        </p:spPr>
        <p:txBody>
          <a:bodyPr wrap="square" lIns="0" tIns="0" rIns="0" bIns="0" rtlCol="0" anchor="ctr"/>
          <a:lstStyle/>
          <a:p>
            <a:pPr indent="0" marL="0">
              <a:buNone/>
            </a:pPr>
            <a:r>
              <a:rPr lang="en-US" sz="1500" b="1" dirty="0">
                <a:solidFill>
                  <a:schemeClr val="tx1"/>
                </a:solidFill>
              </a:rPr>
              <a:t>Compute measured</a:t>
            </a:r>
            <a:endParaRPr lang="en-US" sz="1500" dirty="0"/>
          </a:p>
        </p:txBody>
      </p:sp>
      <p:sp>
        <p:nvSpPr>
          <p:cNvPr id="24" name="Text 17"/>
          <p:cNvSpPr txBox="1"/>
          <p:nvPr/>
        </p:nvSpPr>
        <p:spPr>
          <a:xfrm>
            <a:off x="4846320" y="3611880"/>
            <a:ext cx="3657600" cy="777240"/>
          </a:xfrm>
          <a:prstGeom prst="rect">
            <a:avLst/>
          </a:prstGeom>
          <a:noFill/>
          <a:ln/>
        </p:spPr>
        <p:txBody>
          <a:bodyPr wrap="square" lIns="0" tIns="0" rIns="0" bIns="0" rtlCol="0" anchor="t"/>
          <a:lstStyle/>
          <a:p>
            <a:pPr indent="0" marL="0">
              <a:buNone/>
            </a:pPr>
            <a:r>
              <a:rPr lang="en-US" sz="1200" dirty="0">
                <a:solidFill>
                  <a:schemeClr val="tx1"/>
                </a:solidFill>
              </a:rPr>
              <a:t>A ledger counts tunings, jobs and shots: 4× fewer quantum shots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What we learned and what's next</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12 · Limits, prior work, novelty</a:t>
            </a:r>
            <a:endParaRPr lang="en-US" sz="1000" dirty="0"/>
          </a:p>
        </p:txBody>
      </p:sp>
      <p:sp>
        <p:nvSpPr>
          <p:cNvPr id="5" name="What we learned card"/>
          <p:cNvSpPr/>
          <p:nvPr/>
        </p:nvSpPr>
        <p:spPr>
          <a:xfrm>
            <a:off x="457200" y="1097280"/>
            <a:ext cx="4023360" cy="3429000"/>
          </a:xfrm>
          <a:prstGeom prst="roundRect">
            <a:avLst>
              <a:gd name="adj" fmla="val 2133"/>
            </a:avLst>
          </a:prstGeom>
          <a:solidFill>
            <a:srgbClr val="EEF8F6"/>
          </a:solidFill>
          <a:ln w="12700">
            <a:solidFill>
              <a:srgbClr val="EEF8F6"/>
            </a:solidFill>
            <a:prstDash val="solid"/>
          </a:ln>
        </p:spPr>
      </p:sp>
      <p:sp>
        <p:nvSpPr>
          <p:cNvPr id="6" name="Text 3"/>
          <p:cNvSpPr txBox="1"/>
          <p:nvPr/>
        </p:nvSpPr>
        <p:spPr>
          <a:xfrm>
            <a:off x="64008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What we learned</a:t>
            </a:r>
            <a:endParaRPr lang="en-US" sz="1400" dirty="0"/>
          </a:p>
        </p:txBody>
      </p:sp>
      <p:sp>
        <p:nvSpPr>
          <p:cNvPr id="7" name="Text 4"/>
          <p:cNvSpPr txBox="1"/>
          <p:nvPr/>
        </p:nvSpPr>
        <p:spPr>
          <a:xfrm>
            <a:off x="640080" y="1591056"/>
            <a:ext cx="3675888" cy="28437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Honest scoring matters: our first score made everything look 0.99 and hid a backwards recipe</a:t>
            </a:r>
            <a:endParaRPr lang="en-US" sz="1300" dirty="0"/>
          </a:p>
          <a:p>
            <a:pPr marL="177800" indent="-177800">
              <a:spcAft>
                <a:spcPts val="400"/>
              </a:spcAft>
              <a:buSzPct val="100000"/>
              <a:buChar char="•"/>
            </a:pPr>
            <a:r>
              <a:rPr lang="en-US" sz="1300" dirty="0">
                <a:solidFill>
                  <a:schemeClr val="tx1"/>
                </a:solidFill>
              </a:rPr>
              <a:t>The best quantum method depends on the problem's shape and the chip's errors, not on theory</a:t>
            </a:r>
            <a:endParaRPr lang="en-US" sz="1300" dirty="0"/>
          </a:p>
          <a:p>
            <a:pPr marL="177800" indent="-177800">
              <a:spcAft>
                <a:spcPts val="400"/>
              </a:spcAft>
              <a:buSzPct val="100000"/>
              <a:buChar char="•"/>
            </a:pPr>
            <a:r>
              <a:rPr lang="en-US" sz="1300" dirty="0">
                <a:solidFill>
                  <a:schemeClr val="tx1"/>
                </a:solidFill>
              </a:rPr>
              <a:t>How to run real experiments on 10 minutes: tune on simulators, batch, dry-run on a fake chip</a:t>
            </a:r>
            <a:endParaRPr lang="en-US" sz="1300" dirty="0"/>
          </a:p>
          <a:p>
            <a:pPr marL="177800" indent="-177800">
              <a:spcAft>
                <a:spcPts val="400"/>
              </a:spcAft>
              <a:buSzPct val="100000"/>
              <a:buChar char="•"/>
            </a:pPr>
            <a:r>
              <a:rPr lang="en-US" sz="1300" dirty="0">
                <a:solidFill>
                  <a:schemeClr val="tx1"/>
                </a:solidFill>
              </a:rPr>
              <a:t>Controls matter: the random copy changed our headline claim</a:t>
            </a:r>
            <a:endParaRPr lang="en-US" sz="1300" dirty="0"/>
          </a:p>
        </p:txBody>
      </p:sp>
      <p:sp>
        <p:nvSpPr>
          <p:cNvPr id="8" name="With another month card"/>
          <p:cNvSpPr/>
          <p:nvPr/>
        </p:nvSpPr>
        <p:spPr>
          <a:xfrm>
            <a:off x="4663440" y="1097280"/>
            <a:ext cx="4023360" cy="3429000"/>
          </a:xfrm>
          <a:prstGeom prst="roundRect">
            <a:avLst>
              <a:gd name="adj" fmla="val 2133"/>
            </a:avLst>
          </a:prstGeom>
          <a:solidFill>
            <a:srgbClr val="F2F2F8"/>
          </a:solidFill>
          <a:ln w="12700">
            <a:solidFill>
              <a:srgbClr val="F2F2F8"/>
            </a:solidFill>
            <a:prstDash val="solid"/>
          </a:ln>
        </p:spPr>
      </p:sp>
      <p:sp>
        <p:nvSpPr>
          <p:cNvPr id="9" name="Text 6"/>
          <p:cNvSpPr txBox="1"/>
          <p:nvPr/>
        </p:nvSpPr>
        <p:spPr>
          <a:xfrm>
            <a:off x="4846320" y="1225296"/>
            <a:ext cx="3657600" cy="292608"/>
          </a:xfrm>
          <a:prstGeom prst="rect">
            <a:avLst/>
          </a:prstGeom>
          <a:noFill/>
          <a:ln/>
        </p:spPr>
        <p:txBody>
          <a:bodyPr wrap="square" lIns="0" tIns="0" rIns="0" bIns="0" rtlCol="0" anchor="t"/>
          <a:lstStyle/>
          <a:p>
            <a:pPr indent="0" marL="0">
              <a:buNone/>
            </a:pPr>
            <a:r>
              <a:rPr lang="en-US" sz="1400" b="1" dirty="0">
                <a:solidFill>
                  <a:schemeClr val="tx1"/>
                </a:solidFill>
              </a:rPr>
              <a:t>With another month</a:t>
            </a:r>
            <a:endParaRPr lang="en-US" sz="1400" dirty="0"/>
          </a:p>
        </p:txBody>
      </p:sp>
      <p:sp>
        <p:nvSpPr>
          <p:cNvPr id="10" name="Text 7"/>
          <p:cNvSpPr txBox="1"/>
          <p:nvPr/>
        </p:nvSpPr>
        <p:spPr>
          <a:xfrm>
            <a:off x="4846320" y="1591056"/>
            <a:ext cx="3675888" cy="2843784"/>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Bigger recipes (more rounds), where copying settings should save much more</a:t>
            </a:r>
            <a:endParaRPr lang="en-US" sz="1300" dirty="0"/>
          </a:p>
          <a:p>
            <a:pPr marL="177800" indent="-177800">
              <a:spcAft>
                <a:spcPts val="400"/>
              </a:spcAft>
              <a:buSzPct val="100000"/>
              <a:buChar char="•"/>
            </a:pPr>
            <a:r>
              <a:rPr lang="en-US" sz="1300" dirty="0">
                <a:solidFill>
                  <a:schemeClr val="tx1"/>
                </a:solidFill>
              </a:rPr>
              <a:t>A real D-Wave annealer as a third option</a:t>
            </a:r>
            <a:endParaRPr lang="en-US" sz="1300" dirty="0"/>
          </a:p>
          <a:p>
            <a:pPr marL="177800" indent="-177800">
              <a:spcAft>
                <a:spcPts val="400"/>
              </a:spcAft>
              <a:buSzPct val="100000"/>
              <a:buChar char="•"/>
            </a:pPr>
            <a:r>
              <a:rPr lang="en-US" sz="1300" dirty="0">
                <a:solidFill>
                  <a:schemeClr val="tx1"/>
                </a:solidFill>
              </a:rPr>
              <a:t>Real drug-pipeline data from ClinicalTrials.gov</a:t>
            </a:r>
            <a:endParaRPr lang="en-US" sz="1300" dirty="0"/>
          </a:p>
          <a:p>
            <a:pPr marL="177800" indent="-177800">
              <a:spcAft>
                <a:spcPts val="400"/>
              </a:spcAft>
              <a:buSzPct val="100000"/>
              <a:buChar char="•"/>
            </a:pPr>
            <a:r>
              <a:rPr lang="en-US" sz="1300" dirty="0">
                <a:solidFill>
                  <a:schemeClr val="tx1"/>
                </a:solidFill>
              </a:rPr>
              <a:t>A better error estimate so the router stops underrating annealing</a:t>
            </a:r>
            <a:endParaRPr lang="en-US" sz="1300" dirty="0"/>
          </a:p>
          <a:p>
            <a:pPr marL="177800" indent="-177800">
              <a:spcAft>
                <a:spcPts val="400"/>
              </a:spcAft>
              <a:buSzPct val="100000"/>
              <a:buChar char="•"/>
            </a:pPr>
            <a:r>
              <a:rPr lang="en-US" sz="1300" dirty="0">
                <a:solidFill>
                  <a:schemeClr val="tx1"/>
                </a:solidFill>
              </a:rPr>
              <a:t>Repeat real-chip runs to measure run-to-run variation</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Glossary (A-N)</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13 · Quick reference</a:t>
            </a:r>
            <a:endParaRPr lang="en-US" sz="10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2377440"/>
                <a:gridCol w="5852160"/>
              </a:tblGrid>
              <a:tr h="237744">
                <a:tc>
                  <a:txBody>
                    <a:bodyPr/>
                    <a:lstStyle/>
                    <a:p>
                      <a:pPr indent="0" marL="0">
                        <a:buNone/>
                      </a:pPr>
                      <a:r>
                        <a:rPr lang="en-US" sz="1000" b="1" dirty="0">
                          <a:solidFill>
                            <a:srgbClr val="FFFFFF"/>
                          </a:solidFill>
                        </a:rPr>
                        <a:t>Term</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000" b="1" dirty="0">
                          <a:solidFill>
                            <a:srgbClr val="FFFFFF"/>
                          </a:solidFill>
                        </a:rPr>
                        <a:t>Plain meaning</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237744">
                <a:tc>
                  <a:txBody>
                    <a:bodyPr/>
                    <a:lstStyle/>
                    <a:p>
                      <a:pPr indent="0" marL="0">
                        <a:buNone/>
                      </a:pPr>
                      <a:r>
                        <a:rPr lang="en-US" sz="1000" dirty="0">
                          <a:solidFill>
                            <a:srgbClr val="1B1D36"/>
                          </a:solidFill>
                        </a:rPr>
                        <a:t>Annealing</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000" dirty="0">
                          <a:solidFill>
                            <a:srgbClr val="1B1D36"/>
                          </a:solidFill>
                        </a:rPr>
                        <a:t>Settling slowly toward the best answer; D-Wave builds these machines</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237744">
                <a:tc>
                  <a:txBody>
                    <a:bodyPr/>
                    <a:lstStyle/>
                    <a:p>
                      <a:pPr indent="0" marL="0">
                        <a:buNone/>
                      </a:pPr>
                      <a:r>
                        <a:rPr lang="en-US" sz="1000" dirty="0">
                          <a:solidFill>
                            <a:srgbClr val="1B1D36"/>
                          </a:solidFill>
                        </a:rPr>
                        <a:t>Approximation ratio (score)</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000" dirty="0">
                          <a:solidFill>
                            <a:srgbClr val="1B1D36"/>
                          </a:solidFill>
                        </a:rPr>
                        <a:t>1 = true best, 0 = random guess</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B1D36"/>
                          </a:solidFill>
                        </a:rPr>
                        <a:t>Calibration data</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000" dirty="0">
                          <a:solidFill>
                            <a:srgbClr val="1B1D36"/>
                          </a:solidFill>
                        </a:rPr>
                        <a:t>IBM's daily measurements of every qubit's and gate's error rate</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237744">
                <a:tc>
                  <a:txBody>
                    <a:bodyPr/>
                    <a:lstStyle/>
                    <a:p>
                      <a:pPr indent="0" marL="0">
                        <a:buNone/>
                      </a:pPr>
                      <a:r>
                        <a:rPr lang="en-US" sz="1000" dirty="0">
                          <a:solidFill>
                            <a:srgbClr val="1B1D36"/>
                          </a:solidFill>
                        </a:rPr>
                        <a:t>COBYLA</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000" dirty="0">
                          <a:solidFill>
                            <a:srgbClr val="1B1D36"/>
                          </a:solidFill>
                        </a:rPr>
                        <a:t>The automatic dial-tuner (an optimizer)</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B1D36"/>
                          </a:solidFill>
                        </a:rPr>
                        <a:t>Crosstalk</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000" dirty="0">
                          <a:solidFill>
                            <a:srgbClr val="1B1D36"/>
                          </a:solidFill>
                        </a:rPr>
                        <a:t>Problems on the same chip disturbing each other</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237744">
                <a:tc>
                  <a:txBody>
                    <a:bodyPr/>
                    <a:lstStyle/>
                    <a:p>
                      <a:pPr indent="0" marL="0">
                        <a:buNone/>
                      </a:pPr>
                      <a:r>
                        <a:rPr lang="en-US" sz="1000" dirty="0">
                          <a:solidFill>
                            <a:srgbClr val="1B1D36"/>
                          </a:solidFill>
                        </a:rPr>
                        <a:t>Density</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000" dirty="0">
                          <a:solidFill>
                            <a:srgbClr val="1B1D36"/>
                          </a:solidFill>
                        </a:rPr>
                        <a:t>Lines drawn ÷ lines possible in the connection map</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B1D36"/>
                          </a:solidFill>
                        </a:rPr>
                        <a:t>Digitized anneal (LR-QAOA)</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000" dirty="0">
                          <a:solidFill>
                            <a:srgbClr val="1B1D36"/>
                          </a:solidFill>
                        </a:rPr>
                        <a:t>Our copy of annealing built from gate steps on IBM's chip</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237744">
                <a:tc>
                  <a:txBody>
                    <a:bodyPr/>
                    <a:lstStyle/>
                    <a:p>
                      <a:pPr indent="0" marL="0">
                        <a:buNone/>
                      </a:pPr>
                      <a:r>
                        <a:rPr lang="en-US" sz="1000" dirty="0">
                          <a:solidFill>
                            <a:srgbClr val="1B1D36"/>
                          </a:solidFill>
                        </a:rPr>
                        <a:t>Dynamical decoupling</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000" dirty="0">
                          <a:solidFill>
                            <a:srgbClr val="1B1D36"/>
                          </a:solidFill>
                        </a:rPr>
                        <a:t>Timed pulses that stop waiting qubits from drifting</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B1D36"/>
                          </a:solidFill>
                        </a:rPr>
                        <a:t>Entanglement</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000" dirty="0">
                          <a:solidFill>
                            <a:srgbClr val="1B1D36"/>
                          </a:solidFill>
                        </a:rPr>
                        <a:t>Linking qubits so choices affect each other</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237744">
                <a:tc>
                  <a:txBody>
                    <a:bodyPr/>
                    <a:lstStyle/>
                    <a:p>
                      <a:pPr indent="0" marL="0">
                        <a:buNone/>
                      </a:pPr>
                      <a:r>
                        <a:rPr lang="en-US" sz="1000" dirty="0">
                          <a:solidFill>
                            <a:srgbClr val="1B1D36"/>
                          </a:solidFill>
                        </a:rPr>
                        <a:t>Fingerprint</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000" dirty="0">
                          <a:solidFill>
                            <a:srgbClr val="1B1D36"/>
                          </a:solidFill>
                        </a:rPr>
                        <a:t>The 9 numbers describing a problem's shape and expected errors</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B1D36"/>
                          </a:solidFill>
                        </a:rPr>
                        <a:t>Gate / link step</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000" dirty="0">
                          <a:solidFill>
                            <a:srgbClr val="1B1D36"/>
                          </a:solidFill>
                        </a:rPr>
                        <a:t>One operation on qubits; link steps (two-qubit gates) are the noisiest</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237744">
                <a:tc>
                  <a:txBody>
                    <a:bodyPr/>
                    <a:lstStyle/>
                    <a:p>
                      <a:pPr indent="0" marL="0">
                        <a:buNone/>
                      </a:pPr>
                      <a:r>
                        <a:rPr lang="en-US" sz="1000" dirty="0">
                          <a:solidFill>
                            <a:srgbClr val="1B1D36"/>
                          </a:solidFill>
                        </a:rPr>
                        <a:t>Max-Cut</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000" dirty="0">
                          <a:solidFill>
                            <a:srgbClr val="1B1D36"/>
                          </a:solidFill>
                        </a:rPr>
                        <a:t>Splitting a network into two groups with the most links crossing</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B1D36"/>
                          </a:solidFill>
                        </a:rPr>
                        <a:t>Noise</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000" dirty="0">
                          <a:solidFill>
                            <a:srgbClr val="1B1D36"/>
                          </a:solidFill>
                        </a:rPr>
                        <a:t>The chip's random mistakes</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Glossary (Q-Z)</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13 · Quick reference</a:t>
            </a:r>
            <a:endParaRPr lang="en-US" sz="10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2377440"/>
                <a:gridCol w="5852160"/>
              </a:tblGrid>
              <a:tr h="237744">
                <a:tc>
                  <a:txBody>
                    <a:bodyPr/>
                    <a:lstStyle/>
                    <a:p>
                      <a:pPr indent="0" marL="0">
                        <a:buNone/>
                      </a:pPr>
                      <a:r>
                        <a:rPr lang="en-US" sz="1000" b="1" dirty="0">
                          <a:solidFill>
                            <a:srgbClr val="FFFFFF"/>
                          </a:solidFill>
                        </a:rPr>
                        <a:t>Term</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000" b="1" dirty="0">
                          <a:solidFill>
                            <a:srgbClr val="FFFFFF"/>
                          </a:solidFill>
                        </a:rPr>
                        <a:t>Plain meaning</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237744">
                <a:tc>
                  <a:txBody>
                    <a:bodyPr/>
                    <a:lstStyle/>
                    <a:p>
                      <a:pPr indent="0" marL="0">
                        <a:buNone/>
                      </a:pPr>
                      <a:r>
                        <a:rPr lang="en-US" sz="1000" dirty="0">
                          <a:solidFill>
                            <a:srgbClr val="1B1D36"/>
                          </a:solidFill>
                        </a:rPr>
                        <a:t>QAOA</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000" dirty="0">
                          <a:solidFill>
                            <a:srgbClr val="1B1D36"/>
                          </a:solidFill>
                        </a:rPr>
                        <a:t>The gate-based recipe: mix, nudge, link, shuffle, measure</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237744">
                <a:tc>
                  <a:txBody>
                    <a:bodyPr/>
                    <a:lstStyle/>
                    <a:p>
                      <a:pPr indent="0" marL="0">
                        <a:buNone/>
                      </a:pPr>
                      <a:r>
                        <a:rPr lang="en-US" sz="1000" dirty="0">
                          <a:solidFill>
                            <a:srgbClr val="1B1D36"/>
                          </a:solidFill>
                        </a:rPr>
                        <a:t>Qiskit</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000" dirty="0">
                          <a:solidFill>
                            <a:srgbClr val="1B1D36"/>
                          </a:solidFill>
                        </a:rPr>
                        <a:t>IBM's free software for building and running quantum programs</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B1D36"/>
                          </a:solidFill>
                        </a:rPr>
                        <a:t>QPU</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000" dirty="0">
                          <a:solidFill>
                            <a:srgbClr val="1B1D36"/>
                          </a:solidFill>
                        </a:rPr>
                        <a:t>The real quantum chip</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237744">
                <a:tc>
                  <a:txBody>
                    <a:bodyPr/>
                    <a:lstStyle/>
                    <a:p>
                      <a:pPr indent="0" marL="0">
                        <a:buNone/>
                      </a:pPr>
                      <a:r>
                        <a:rPr lang="en-US" sz="1000" dirty="0">
                          <a:solidFill>
                            <a:srgbClr val="1B1D36"/>
                          </a:solidFill>
                        </a:rPr>
                        <a:t>Qubit</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000" dirty="0">
                          <a:solidFill>
                            <a:srgbClr val="1B1D36"/>
                          </a:solidFill>
                        </a:rPr>
                        <a:t>A quantum bit; in Q-Router, one yes/no decision</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B1D36"/>
                          </a:solidFill>
                        </a:rPr>
                        <a:t>QUBO</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000" dirty="0">
                          <a:solidFill>
                            <a:srgbClr val="1B1D36"/>
                          </a:solidFill>
                        </a:rPr>
                        <a:t>The score sheet: points for each yes and each pair of yeses; lower is better</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237744">
                <a:tc>
                  <a:txBody>
                    <a:bodyPr/>
                    <a:lstStyle/>
                    <a:p>
                      <a:pPr indent="0" marL="0">
                        <a:buNone/>
                      </a:pPr>
                      <a:r>
                        <a:rPr lang="en-US" sz="1000" dirty="0">
                          <a:solidFill>
                            <a:srgbClr val="1B1D36"/>
                          </a:solidFill>
                        </a:rPr>
                        <a:t>Random forest</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000" dirty="0">
                          <a:solidFill>
                            <a:srgbClr val="1B1D36"/>
                          </a:solidFill>
                        </a:rPr>
                        <a:t>300 small decision trees whose predictions are averaged</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B1D36"/>
                          </a:solidFill>
                        </a:rPr>
                        <a:t>Shot</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000" dirty="0">
                          <a:solidFill>
                            <a:srgbClr val="1B1D36"/>
                          </a:solidFill>
                        </a:rPr>
                        <a:t>One measurement of the chip, giving one answer</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237744">
                <a:tc>
                  <a:txBody>
                    <a:bodyPr/>
                    <a:lstStyle/>
                    <a:p>
                      <a:pPr indent="0" marL="0">
                        <a:buNone/>
                      </a:pPr>
                      <a:r>
                        <a:rPr lang="en-US" sz="1000" dirty="0">
                          <a:solidFill>
                            <a:srgbClr val="1B1D36"/>
                          </a:solidFill>
                        </a:rPr>
                        <a:t>Simulator</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000" dirty="0">
                          <a:solidFill>
                            <a:srgbClr val="1B1D36"/>
                          </a:solidFill>
                        </a:rPr>
                        <a:t>A normal computer pretending to be a quantum computer</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B1D36"/>
                          </a:solidFill>
                        </a:rPr>
                        <a:t>Spectral clustering</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000" dirty="0">
                          <a:solidFill>
                            <a:srgbClr val="1B1D36"/>
                          </a:solidFill>
                        </a:rPr>
                        <a:t>Splitting a connection map where links are weakest</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237744">
                <a:tc>
                  <a:txBody>
                    <a:bodyPr/>
                    <a:lstStyle/>
                    <a:p>
                      <a:pPr indent="0" marL="0">
                        <a:buNone/>
                      </a:pPr>
                      <a:r>
                        <a:rPr lang="en-US" sz="1000" dirty="0">
                          <a:solidFill>
                            <a:srgbClr val="1B1D36"/>
                          </a:solidFill>
                        </a:rPr>
                        <a:t>Superposition</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000" dirty="0">
                          <a:solidFill>
                            <a:srgbClr val="1B1D36"/>
                          </a:solidFill>
                        </a:rPr>
                        <a:t>A qubit being yes and no at once until measured</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B1D36"/>
                          </a:solidFill>
                        </a:rPr>
                        <a:t>Transpiler</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000" dirty="0">
                          <a:solidFill>
                            <a:srgbClr val="1B1D36"/>
                          </a:solidFill>
                        </a:rPr>
                        <a:t>Qiskit's tool that fits a recipe onto the real chip's wiring</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237744">
                <a:tc>
                  <a:txBody>
                    <a:bodyPr/>
                    <a:lstStyle/>
                    <a:p>
                      <a:pPr indent="0" marL="0">
                        <a:buNone/>
                      </a:pPr>
                      <a:r>
                        <a:rPr lang="en-US" sz="1000" dirty="0">
                          <a:solidFill>
                            <a:srgbClr val="1B1D36"/>
                          </a:solidFill>
                        </a:rPr>
                        <a:t>Twirling</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000" dirty="0">
                          <a:solidFill>
                            <a:srgbClr val="1B1D36"/>
                          </a:solidFill>
                        </a:rPr>
                        <a:t>Randomizing errors so they cancel instead of piling up</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237744">
                <a:tc>
                  <a:txBody>
                    <a:bodyPr/>
                    <a:lstStyle/>
                    <a:p>
                      <a:pPr indent="0" marL="0">
                        <a:buNone/>
                      </a:pPr>
                      <a:r>
                        <a:rPr lang="en-US" sz="1000" dirty="0">
                          <a:solidFill>
                            <a:srgbClr val="1B1D36"/>
                          </a:solidFill>
                        </a:rPr>
                        <a:t>Zero-noise extrapolation</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000" dirty="0">
                          <a:solidFill>
                            <a:srgbClr val="1B1D36"/>
                          </a:solidFill>
                        </a:rPr>
                        <a:t>Adding extra errors on purpose, then working back to zero errors</a:t>
                      </a:r>
                      <a:endParaRPr lang="en-US" sz="1000" dirty="0"/>
                    </a:p>
                  </a:txBody>
                  <a:tcPr marL="27432" marR="27432" marT="27432" marB="27432"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Judge questions cheat sheet (1 of 2)</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13 · Quick reference</a:t>
            </a:r>
            <a:endParaRPr lang="en-US" sz="10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377440"/>
                <a:gridCol w="5852160"/>
              </a:tblGrid>
              <a:tr h="502920">
                <a:tc>
                  <a:txBody>
                    <a:bodyPr/>
                    <a:lstStyle/>
                    <a:p>
                      <a:pPr indent="0" marL="0">
                        <a:buNone/>
                      </a:pPr>
                      <a:r>
                        <a:rPr lang="en-US" sz="1100" b="1" dirty="0">
                          <a:solidFill>
                            <a:srgbClr val="FFFFFF"/>
                          </a:solidFill>
                        </a:rPr>
                        <a:t>If a judge asks...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Say... (and open)</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502920">
                <a:tc>
                  <a:txBody>
                    <a:bodyPr/>
                    <a:lstStyle/>
                    <a:p>
                      <a:pPr indent="0" marL="0">
                        <a:buNone/>
                      </a:pPr>
                      <a:r>
                        <a:rPr lang="en-US" sz="1100" dirty="0">
                          <a:solidFill>
                            <a:srgbClr val="1B1D36"/>
                          </a:solidFill>
                        </a:rPr>
                        <a:t>What problem, and for whom?</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Knowing when and how to use quantum so scarce quantum time isn't wasted; for companies, cloud providers, researchers (Part 1)</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502920">
                <a:tc>
                  <a:txBody>
                    <a:bodyPr/>
                    <a:lstStyle/>
                    <a:p>
                      <a:pPr indent="0" marL="0">
                        <a:buNone/>
                      </a:pPr>
                      <a:r>
                        <a:rPr lang="en-US" sz="1100" dirty="0">
                          <a:solidFill>
                            <a:srgbClr val="1B1D36"/>
                          </a:solidFill>
                        </a:rPr>
                        <a:t>Why quantum instead of classical?</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At this size classical wins, and we show it. Quantum fits the structure (paired choices ↔ linked qubits); the question is bigger problems on better chips (Part 2)</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1B1D36"/>
                          </a:solidFill>
                        </a:rPr>
                        <a:t>What would need to improve?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About 10-100× fewer chip errors and 50-200 usable qubits (Part 11)</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502920">
                <a:tc>
                  <a:txBody>
                    <a:bodyPr/>
                    <a:lstStyle/>
                    <a:p>
                      <a:pPr indent="0" marL="0">
                        <a:buNone/>
                      </a:pPr>
                      <a:r>
                        <a:rPr lang="en-US" sz="1100" dirty="0">
                          <a:solidFill>
                            <a:srgbClr val="1B1D36"/>
                          </a:solidFill>
                        </a:rPr>
                        <a:t>Walk me through your circuit</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Mix, nudge, link, shuffle, measure; 1-2 rounds tuned, or 3-6 on a ramp (Part 4)</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502920">
                <a:tc>
                  <a:txBody>
                    <a:bodyPr/>
                    <a:lstStyle/>
                    <a:p>
                      <a:pPr indent="0" marL="0">
                        <a:buNone/>
                      </a:pPr>
                      <a:r>
                        <a:rPr lang="en-US" sz="1100" dirty="0">
                          <a:solidFill>
                            <a:srgbClr val="1B1D36"/>
                          </a:solidFill>
                        </a:rPr>
                        <a:t>How does the AI decide?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A random forest on 9 fingerprint numbers; the best quantum kind, or laptop if below 0.5 (Part 5)</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502920">
                <a:tc>
                  <a:txBody>
                    <a:bodyPr/>
                    <a:lstStyle/>
                    <a:p>
                      <a:pPr indent="0" marL="0">
                        <a:buNone/>
                      </a:pPr>
                      <a:r>
                        <a:rPr lang="en-US" sz="1100" dirty="0">
                          <a:solidFill>
                            <a:srgbClr val="1B1D36"/>
                          </a:solidFill>
                        </a:rPr>
                        <a:t>How do you know it worked?</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Exact best answers, a laptop baseline, 5-fold and leave-one-industry-out tests, a random-copy control (Parts 4-6)</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latin typeface="Cambria" pitchFamily="34" charset="0"/>
                <a:ea typeface="Cambria" pitchFamily="34" charset="-122"/>
                <a:cs typeface="Cambria" pitchFamily="34" charset="-120"/>
              </a:rPr>
              <a:t>Judge questions cheat sheet (2 of 2)</a:t>
            </a:r>
            <a:endParaRPr lang="en-US" sz="2600" dirty="0"/>
          </a:p>
        </p:txBody>
      </p:sp>
      <p:sp>
        <p:nvSpPr>
          <p:cNvPr id="3" name="Text 1"/>
          <p:cNvSpPr txBox="1"/>
          <p:nvPr/>
        </p:nvSpPr>
        <p:spPr>
          <a:xfrm>
            <a:off x="457200" y="4773168"/>
            <a:ext cx="6858000" cy="228600"/>
          </a:xfrm>
          <a:prstGeom prst="rect">
            <a:avLst/>
          </a:prstGeom>
          <a:noFill/>
          <a:ln/>
        </p:spPr>
        <p:txBody>
          <a:bodyPr wrap="square" lIns="0" tIns="0" rIns="0" bIns="0" rtlCol="0" anchor="t"/>
          <a:lstStyle/>
          <a:p>
            <a:pPr indent="0" marL="0">
              <a:buNone/>
            </a:pPr>
            <a:r>
              <a:rPr lang="en-US" sz="1000" dirty="0">
                <a:solidFill>
                  <a:schemeClr val="accent3"/>
                </a:solidFill>
              </a:rPr>
              <a:t>Part 13 · Quick reference</a:t>
            </a:r>
            <a:endParaRPr lang="en-US" sz="10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377440"/>
                <a:gridCol w="5852160"/>
              </a:tblGrid>
              <a:tr h="438912">
                <a:tc>
                  <a:txBody>
                    <a:bodyPr/>
                    <a:lstStyle/>
                    <a:p>
                      <a:pPr indent="0" marL="0">
                        <a:buNone/>
                      </a:pPr>
                      <a:r>
                        <a:rPr lang="en-US" sz="1100" b="1" dirty="0">
                          <a:solidFill>
                            <a:srgbClr val="FFFFFF"/>
                          </a:solidFill>
                        </a:rPr>
                        <a:t>If a judge asks...</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indent="0" marL="0">
                        <a:buNone/>
                      </a:pPr>
                      <a:r>
                        <a:rPr lang="en-US" sz="1100" b="1" dirty="0">
                          <a:solidFill>
                            <a:srgbClr val="FFFFFF"/>
                          </a:solidFill>
                        </a:rPr>
                        <a:t>Say... (and open)</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438912">
                <a:tc>
                  <a:txBody>
                    <a:bodyPr/>
                    <a:lstStyle/>
                    <a:p>
                      <a:pPr indent="0" marL="0">
                        <a:buNone/>
                      </a:pPr>
                      <a:r>
                        <a:rPr lang="en-US" sz="1100" dirty="0">
                          <a:solidFill>
                            <a:srgbClr val="1B1D36"/>
                          </a:solidFill>
                        </a:rPr>
                        <a:t>When was each quantum type effective?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Dense pieces → gate-based, sparse → annealing; the mix beats either (Part 7)</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38912">
                <a:tc>
                  <a:txBody>
                    <a:bodyPr/>
                    <a:lstStyle/>
                    <a:p>
                      <a:pPr indent="0" marL="0">
                        <a:buNone/>
                      </a:pPr>
                      <a:r>
                        <a:rPr lang="en-US" sz="1100" dirty="0">
                          <a:solidFill>
                            <a:srgbClr val="1B1D36"/>
                          </a:solidFill>
                        </a:rPr>
                        <a:t>What's novel?</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Piece-by-piece gate vs. annealing, cross-industry copying with a control, chip-aware routing, measured savings (Part 12)</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1B1D36"/>
                          </a:solidFill>
                        </a:rPr>
                        <a:t>Simulator vs. hardware?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Four columns: perfect, copy of chip, real raw, real + fixes (Parts 9-10)</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38912">
                <a:tc>
                  <a:txBody>
                    <a:bodyPr/>
                    <a:lstStyle/>
                    <a:p>
                      <a:pPr indent="0" marL="0">
                        <a:buNone/>
                      </a:pPr>
                      <a:r>
                        <a:rPr lang="en-US" sz="1100" dirty="0">
                          <a:solidFill>
                            <a:srgbClr val="1B1D36"/>
                          </a:solidFill>
                        </a:rPr>
                        <a:t>What was hardest?</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The sign bug that sent recipes to the worst answer: −1.37 → 0.79 (Part 4)</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1B1D36"/>
                          </a:solidFill>
                        </a:rPr>
                        <a:t>What surprised you?</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Annealing wins sparse pieces, and random copying helps not at all</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r h="438912">
                <a:tc>
                  <a:txBody>
                    <a:bodyPr/>
                    <a:lstStyle/>
                    <a:p>
                      <a:pPr indent="0" marL="0">
                        <a:buNone/>
                      </a:pPr>
                      <a:r>
                        <a:rPr lang="en-US" sz="1100" dirty="0">
                          <a:solidFill>
                            <a:srgbClr val="1B1D36"/>
                          </a:solidFill>
                        </a:rPr>
                        <a:t>What did you build vs. reuse?</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indent="0" marL="0">
                        <a:buNone/>
                      </a:pPr>
                      <a:r>
                        <a:rPr lang="en-US" sz="1100" dirty="0">
                          <a:solidFill>
                            <a:srgbClr val="1B1D36"/>
                          </a:solidFill>
                        </a:rPr>
                        <a:t>Reused Qiskit, D-Wave's laptop solver, scikit-learn; built the translators, fingerprint, router, transfer, break-down, packing, ledger</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1B1D36"/>
                          </a:solidFill>
                        </a:rPr>
                        <a:t>Another month?</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c>
                  <a:txBody>
                    <a:bodyPr/>
                    <a:lstStyle/>
                    <a:p>
                      <a:pPr indent="0" marL="0">
                        <a:buNone/>
                      </a:pPr>
                      <a:r>
                        <a:rPr lang="en-US" sz="1100" dirty="0">
                          <a:solidFill>
                            <a:srgbClr val="1B1D36"/>
                          </a:solidFill>
                        </a:rPr>
                        <a:t>Bigger recipes, real D-Wave, real drug data, better error model, repeated chip runs (Part 12)</a:t>
                      </a:r>
                      <a:endParaRPr lang="en-US" sz="1100" dirty="0"/>
                    </a:p>
                  </a:txBody>
                  <a:tcPr marL="45720" marR="4572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2F2F8"/>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58</a:t>
            </a:fld>
            <a:endParaRPr lang="en-US"/>
          </a:p>
        </p:txBody>
      </p:sp>
    </p:spTree>
  </p:cSld>
  <p:clrMapOvr>
    <a:masterClrMapping/>
  </p:clrMapOvr>
</p:sld>
</file>

<file path=ppt/theme/theme1.xml><?xml version="1.0" encoding="utf-8"?>
<a:theme xmlns:a="http://schemas.openxmlformats.org/drawingml/2006/main" name="Q-Router">
  <a:themeElements>
    <a:clrScheme name="Q-Router">
      <a:dk1>
        <a:srgbClr val="1B1D36"/>
      </a:dk1>
      <a:lt1>
        <a:srgbClr val="FFFFFF"/>
      </a:lt1>
      <a:dk2>
        <a:srgbClr val="2B2A6B"/>
      </a:dk2>
      <a:lt2>
        <a:srgbClr val="F2F2F8"/>
      </a:lt2>
      <a:accent1>
        <a:srgbClr val="5B4FD1"/>
      </a:accent1>
      <a:accent2>
        <a:srgbClr val="0E9384"/>
      </a:accent2>
      <a:accent3>
        <a:srgbClr val="667085"/>
      </a:accent3>
      <a:accent4>
        <a:srgbClr val="E8833A"/>
      </a:accent4>
      <a:accent5>
        <a:srgbClr val="D64545"/>
      </a:accent5>
      <a:accent6>
        <a:srgbClr val="A8A3EC"/>
      </a:accent6>
      <a:hlink>
        <a:srgbClr val="5B4FD1"/>
      </a:hlink>
      <a:folHlink>
        <a:srgbClr val="2B2A6B"/>
      </a:folHlink>
    </a:clrScheme>
    <a:fontScheme name="Q-Rou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Q-Router: the complete guide</dc:title>
  <dc:subject>PptxGenJS Presentation</dc:subject>
  <dc:creator>Team Q-Router, Florida Atlantic University</dc:creator>
  <cp:lastModifiedBy>Team Q-Router, Florida Atlantic University</cp:lastModifiedBy>
  <cp:revision>1</cp:revision>
  <dcterms:created xsi:type="dcterms:W3CDTF">2026-10-18T03:18:01Z</dcterms:created>
  <dcterms:modified xsi:type="dcterms:W3CDTF">2026-10-18T03:18:01Z</dcterms:modified>
</cp:coreProperties>
</file>