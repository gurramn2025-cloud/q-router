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6.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6" r:id="rId17"/>
    <p:sldId id="267" r:id="rId18"/>
    <p:sldId id="268" r:id="rId19"/>
    <p:sldId id="269" r:id="rId20"/>
    <p:sldId id="270" r:id="rId21"/>
    <p:sldId id="272" r:id="rId23"/>
    <p:sldId id="265" r:id="rId15"/>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16" roundtripDataSignature="AMtx7mhChXasPdFPjgpBycLKpEo5AxRQ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5" Type="http://schemas.openxmlformats.org/officeDocument/2006/relationships/slide" Target="slides/slide10.xml"/><Relationship Id="rId16" Type="http://customschemas.google.com/relationships/presentationmetadata" Target="metadata"/><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Stocks (11)</c:v>
                </c:pt>
              </c:strCache>
            </c:strRef>
          </c:tx>
          <c:spPr>
            <a:ln w="47625">
              <a:noFill/>
            </a:ln>
          </c:spPr>
          <c:marker>
            <c:symbol val="circle"/>
            <c:size val="7"/>
            <c:spPr>
              <a:solidFill>
                <a:srgbClr val="27D6FF"/>
              </a:solidFill>
              <a:ln>
                <a:solidFill>
                  <a:srgbClr val="27D6FF"/>
                </a:solidFill>
              </a:ln>
            </c:spPr>
          </c:marker>
          <c:xVal>
            <c:numRef>
              <c:f>Sheet1!$A$2:$A$12</c:f>
              <c:numCache>
                <c:formatCode>General</c:formatCode>
                <c:ptCount val="11"/>
                <c:pt idx="0">
                  <c:v>2.915</c:v>
                </c:pt>
                <c:pt idx="1">
                  <c:v>1.333</c:v>
                </c:pt>
                <c:pt idx="2">
                  <c:v>2.915</c:v>
                </c:pt>
                <c:pt idx="3">
                  <c:v>1.333</c:v>
                </c:pt>
                <c:pt idx="4">
                  <c:v>5.083</c:v>
                </c:pt>
                <c:pt idx="5">
                  <c:v>-0.571</c:v>
                </c:pt>
                <c:pt idx="6">
                  <c:v>1.333</c:v>
                </c:pt>
                <c:pt idx="7">
                  <c:v>-0.571</c:v>
                </c:pt>
                <c:pt idx="8">
                  <c:v>1.333</c:v>
                </c:pt>
                <c:pt idx="9">
                  <c:v>-0.571</c:v>
                </c:pt>
                <c:pt idx="10">
                  <c:v>-0.571</c:v>
                </c:pt>
              </c:numCache>
            </c:numRef>
          </c:xVal>
          <c:yVal>
            <c:numRef>
              <c:f>Sheet1!$B$2:$B$12</c:f>
              <c:numCache>
                <c:formatCode>General</c:formatCode>
                <c:ptCount val="11"/>
                <c:pt idx="0">
                  <c:v>-0.602</c:v>
                </c:pt>
                <c:pt idx="1">
                  <c:v>-1.135</c:v>
                </c:pt>
                <c:pt idx="2">
                  <c:v>-0.602</c:v>
                </c:pt>
                <c:pt idx="3">
                  <c:v>-1.135</c:v>
                </c:pt>
                <c:pt idx="4">
                  <c:v>0.705</c:v>
                </c:pt>
                <c:pt idx="5">
                  <c:v>-1.808</c:v>
                </c:pt>
                <c:pt idx="6">
                  <c:v>-1.135</c:v>
                </c:pt>
                <c:pt idx="7">
                  <c:v>-1.808</c:v>
                </c:pt>
                <c:pt idx="8">
                  <c:v>-1.135</c:v>
                </c:pt>
                <c:pt idx="9">
                  <c:v>-1.808</c:v>
                </c:pt>
                <c:pt idx="10">
                  <c:v>-1.808</c:v>
                </c:pt>
              </c:numCache>
            </c:numRef>
          </c:yVal>
          <c:smooth val="0"/>
        </c:ser>
        <c:ser>
          <c:idx val="1"/>
          <c:order val="1"/>
          <c:tx>
            <c:strRef>
              <c:f>Sheet1!$B$14</c:f>
              <c:strCache>
                <c:ptCount val="1"/>
                <c:pt idx="0">
                  <c:v>Drugs (pharma) (16)</c:v>
                </c:pt>
              </c:strCache>
            </c:strRef>
          </c:tx>
          <c:spPr>
            <a:ln w="47625">
              <a:noFill/>
            </a:ln>
          </c:spPr>
          <c:marker>
            <c:symbol val="circle"/>
            <c:size val="7"/>
            <c:spPr>
              <a:solidFill>
                <a:srgbClr val="8C5DFF"/>
              </a:solidFill>
              <a:ln>
                <a:solidFill>
                  <a:srgbClr val="8C5DFF"/>
                </a:solidFill>
              </a:ln>
            </c:spPr>
          </c:marker>
          <c:xVal>
            <c:numRef>
              <c:f>Sheet1!$A$15:$A$30</c:f>
              <c:numCache>
                <c:formatCode>General</c:formatCode>
                <c:ptCount val="16"/>
                <c:pt idx="0">
                  <c:v>1.331</c:v>
                </c:pt>
                <c:pt idx="1">
                  <c:v>1.334</c:v>
                </c:pt>
                <c:pt idx="2">
                  <c:v>-0.581</c:v>
                </c:pt>
                <c:pt idx="3">
                  <c:v>5.076</c:v>
                </c:pt>
                <c:pt idx="4">
                  <c:v>1.334</c:v>
                </c:pt>
                <c:pt idx="5">
                  <c:v>5.077</c:v>
                </c:pt>
                <c:pt idx="6">
                  <c:v>2.926</c:v>
                </c:pt>
                <c:pt idx="7">
                  <c:v>5.092</c:v>
                </c:pt>
                <c:pt idx="8">
                  <c:v>1.334</c:v>
                </c:pt>
                <c:pt idx="9">
                  <c:v>2.924</c:v>
                </c:pt>
                <c:pt idx="10">
                  <c:v>2.937</c:v>
                </c:pt>
                <c:pt idx="11">
                  <c:v>-1.819</c:v>
                </c:pt>
                <c:pt idx="12">
                  <c:v>2.908</c:v>
                </c:pt>
                <c:pt idx="13">
                  <c:v>1.337</c:v>
                </c:pt>
                <c:pt idx="14">
                  <c:v>-1.815</c:v>
                </c:pt>
                <c:pt idx="15">
                  <c:v>2.92</c:v>
                </c:pt>
              </c:numCache>
            </c:numRef>
          </c:xVal>
          <c:yVal>
            <c:numRef>
              <c:f>Sheet1!$B$15:$B$30</c:f>
              <c:numCache>
                <c:formatCode>General</c:formatCode>
                <c:ptCount val="16"/>
                <c:pt idx="0">
                  <c:v>-1.127</c:v>
                </c:pt>
                <c:pt idx="1">
                  <c:v>-1.138</c:v>
                </c:pt>
                <c:pt idx="2">
                  <c:v>-1.769</c:v>
                </c:pt>
                <c:pt idx="3">
                  <c:v>0.736</c:v>
                </c:pt>
                <c:pt idx="4">
                  <c:v>-1.136</c:v>
                </c:pt>
                <c:pt idx="5">
                  <c:v>0.732</c:v>
                </c:pt>
                <c:pt idx="6">
                  <c:v>-0.645</c:v>
                </c:pt>
                <c:pt idx="7">
                  <c:v>0.671</c:v>
                </c:pt>
                <c:pt idx="8">
                  <c:v>-1.136</c:v>
                </c:pt>
                <c:pt idx="9">
                  <c:v>-0.64</c:v>
                </c:pt>
                <c:pt idx="10">
                  <c:v>-0.691</c:v>
                </c:pt>
                <c:pt idx="11">
                  <c:v>-2.174</c:v>
                </c:pt>
                <c:pt idx="12">
                  <c:v>-0.57</c:v>
                </c:pt>
                <c:pt idx="13">
                  <c:v>-1.152</c:v>
                </c:pt>
                <c:pt idx="14">
                  <c:v>-2.191</c:v>
                </c:pt>
                <c:pt idx="15">
                  <c:v>-0.622</c:v>
                </c:pt>
              </c:numCache>
            </c:numRef>
          </c:yVal>
          <c:smooth val="0"/>
        </c:ser>
        <c:ser>
          <c:idx val="2"/>
          <c:order val="2"/>
          <c:tx>
            <c:strRef>
              <c:f>Sheet1!$B$32</c:f>
              <c:strCache>
                <c:ptCount val="1"/>
                <c:pt idx="0">
                  <c:v>Medical tests (15)</c:v>
                </c:pt>
              </c:strCache>
            </c:strRef>
          </c:tx>
          <c:spPr>
            <a:ln w="47625">
              <a:noFill/>
            </a:ln>
          </c:spPr>
          <c:marker>
            <c:symbol val="circle"/>
            <c:size val="7"/>
            <c:spPr>
              <a:solidFill>
                <a:srgbClr val="D948FF"/>
              </a:solidFill>
              <a:ln>
                <a:solidFill>
                  <a:srgbClr val="D948FF"/>
                </a:solidFill>
              </a:ln>
            </c:spPr>
          </c:marker>
          <c:xVal>
            <c:numRef>
              <c:f>Sheet1!$A$33:$A$47</c:f>
              <c:numCache>
                <c:formatCode>General</c:formatCode>
                <c:ptCount val="15"/>
                <c:pt idx="0">
                  <c:v>-4.838</c:v>
                </c:pt>
                <c:pt idx="1">
                  <c:v>-1.278</c:v>
                </c:pt>
                <c:pt idx="2">
                  <c:v>-3.342</c:v>
                </c:pt>
                <c:pt idx="3">
                  <c:v>-1.278</c:v>
                </c:pt>
                <c:pt idx="4">
                  <c:v>0.688</c:v>
                </c:pt>
                <c:pt idx="5">
                  <c:v>3.389</c:v>
                </c:pt>
                <c:pt idx="6">
                  <c:v>-1.278</c:v>
                </c:pt>
                <c:pt idx="7">
                  <c:v>-0.502</c:v>
                </c:pt>
                <c:pt idx="8">
                  <c:v>0.271</c:v>
                </c:pt>
                <c:pt idx="9">
                  <c:v>0.496</c:v>
                </c:pt>
                <c:pt idx="10">
                  <c:v>-3.933</c:v>
                </c:pt>
                <c:pt idx="11">
                  <c:v>4.335</c:v>
                </c:pt>
                <c:pt idx="12">
                  <c:v>-2.623</c:v>
                </c:pt>
                <c:pt idx="13">
                  <c:v>-0.828</c:v>
                </c:pt>
                <c:pt idx="14">
                  <c:v>4.335</c:v>
                </c:pt>
              </c:numCache>
            </c:numRef>
          </c:xVal>
          <c:yVal>
            <c:numRef>
              <c:f>Sheet1!$B$33:$B$47</c:f>
              <c:numCache>
                <c:formatCode>General</c:formatCode>
                <c:ptCount val="15"/>
                <c:pt idx="0">
                  <c:v>1.063</c:v>
                </c:pt>
                <c:pt idx="1">
                  <c:v>1.177</c:v>
                </c:pt>
                <c:pt idx="2">
                  <c:v>0.087</c:v>
                </c:pt>
                <c:pt idx="3">
                  <c:v>1.177</c:v>
                </c:pt>
                <c:pt idx="4">
                  <c:v>0.462</c:v>
                </c:pt>
                <c:pt idx="5">
                  <c:v>1.63</c:v>
                </c:pt>
                <c:pt idx="6">
                  <c:v>1.177</c:v>
                </c:pt>
                <c:pt idx="7">
                  <c:v>0.059</c:v>
                </c:pt>
                <c:pt idx="8">
                  <c:v>0.862</c:v>
                </c:pt>
                <c:pt idx="9">
                  <c:v>0.548</c:v>
                </c:pt>
                <c:pt idx="10">
                  <c:v>0.881</c:v>
                </c:pt>
                <c:pt idx="11">
                  <c:v>1.988</c:v>
                </c:pt>
                <c:pt idx="12">
                  <c:v>-0.512</c:v>
                </c:pt>
                <c:pt idx="13">
                  <c:v>0.218</c:v>
                </c:pt>
                <c:pt idx="14">
                  <c:v>1.988</c:v>
                </c:pt>
              </c:numCache>
            </c:numRef>
          </c:yVal>
          <c:smooth val="0"/>
        </c:ser>
        <c:ser>
          <c:idx val="3"/>
          <c:order val="3"/>
          <c:tx>
            <c:strRef>
              <c:f>Sheet1!$B$49</c:f>
              <c:strCache>
                <c:ptCount val="1"/>
                <c:pt idx="0">
                  <c:v>Networks (18)</c:v>
                </c:pt>
              </c:strCache>
            </c:strRef>
          </c:tx>
          <c:spPr>
            <a:ln w="47625">
              <a:noFill/>
            </a:ln>
          </c:spPr>
          <c:marker>
            <c:symbol val="circle"/>
            <c:size val="7"/>
            <c:spPr>
              <a:solidFill>
                <a:srgbClr val="5BF0B9"/>
              </a:solidFill>
              <a:ln>
                <a:solidFill>
                  <a:srgbClr val="5BF0B9"/>
                </a:solidFill>
              </a:ln>
            </c:spPr>
          </c:marker>
          <c:xVal>
            <c:numRef>
              <c:f>Sheet1!$A$50:$A$67</c:f>
              <c:numCache>
                <c:formatCode>General</c:formatCode>
                <c:ptCount val="18"/>
                <c:pt idx="0">
                  <c:v>-3.536</c:v>
                </c:pt>
                <c:pt idx="1">
                  <c:v>-0.798</c:v>
                </c:pt>
                <c:pt idx="2">
                  <c:v>-2.569</c:v>
                </c:pt>
                <c:pt idx="3">
                  <c:v>-3.518</c:v>
                </c:pt>
                <c:pt idx="4">
                  <c:v>-1.437</c:v>
                </c:pt>
                <c:pt idx="5">
                  <c:v>-0.098</c:v>
                </c:pt>
                <c:pt idx="6">
                  <c:v>-3.137</c:v>
                </c:pt>
                <c:pt idx="7">
                  <c:v>-3.581</c:v>
                </c:pt>
                <c:pt idx="8">
                  <c:v>-1.462</c:v>
                </c:pt>
                <c:pt idx="9">
                  <c:v>-3.004</c:v>
                </c:pt>
                <c:pt idx="10">
                  <c:v>-0.477</c:v>
                </c:pt>
                <c:pt idx="11">
                  <c:v>-1.865</c:v>
                </c:pt>
                <c:pt idx="12">
                  <c:v>-2.807</c:v>
                </c:pt>
                <c:pt idx="13">
                  <c:v>-3.062</c:v>
                </c:pt>
                <c:pt idx="14">
                  <c:v>-1.962</c:v>
                </c:pt>
                <c:pt idx="15">
                  <c:v>-1.537</c:v>
                </c:pt>
                <c:pt idx="16">
                  <c:v>-3.323</c:v>
                </c:pt>
                <c:pt idx="17">
                  <c:v>-1.714</c:v>
                </c:pt>
              </c:numCache>
            </c:numRef>
          </c:xVal>
          <c:yVal>
            <c:numRef>
              <c:f>Sheet1!$B$50:$B$67</c:f>
              <c:numCache>
                <c:formatCode>General</c:formatCode>
                <c:ptCount val="18"/>
                <c:pt idx="0">
                  <c:v>-0.089</c:v>
                </c:pt>
                <c:pt idx="1">
                  <c:v>1.579</c:v>
                </c:pt>
                <c:pt idx="2">
                  <c:v>1.091</c:v>
                </c:pt>
                <c:pt idx="3">
                  <c:v>-0.268</c:v>
                </c:pt>
                <c:pt idx="4">
                  <c:v>1.138</c:v>
                </c:pt>
                <c:pt idx="5">
                  <c:v>1.875</c:v>
                </c:pt>
                <c:pt idx="6">
                  <c:v>0.512</c:v>
                </c:pt>
                <c:pt idx="7">
                  <c:v>-0.112</c:v>
                </c:pt>
                <c:pt idx="8">
                  <c:v>2.453</c:v>
                </c:pt>
                <c:pt idx="9">
                  <c:v>-0.482</c:v>
                </c:pt>
                <c:pt idx="10">
                  <c:v>2.03</c:v>
                </c:pt>
                <c:pt idx="11">
                  <c:v>1.075</c:v>
                </c:pt>
                <c:pt idx="12">
                  <c:v>0.27</c:v>
                </c:pt>
                <c:pt idx="13">
                  <c:v>-0.432</c:v>
                </c:pt>
                <c:pt idx="14">
                  <c:v>0.297</c:v>
                </c:pt>
                <c:pt idx="15">
                  <c:v>1.643</c:v>
                </c:pt>
                <c:pt idx="16">
                  <c:v>-0.378</c:v>
                </c:pt>
                <c:pt idx="17">
                  <c:v>0.118</c:v>
                </c:pt>
              </c:numCache>
            </c:numRef>
          </c:yVal>
          <c:smooth val="0"/>
        </c:ser>
        <c:axId val="-2128940872"/>
        <c:axId val="-2129643912"/>
      </c:scatterChart>
      <c:valAx>
        <c:axId val="-2128940872"/>
        <c:scaling>
          <c:orientation val="minMax"/>
        </c:scaling>
        <c:delete val="0"/>
        <c:axPos val="b"/>
        <c:title>
          <c:tx>
            <c:rich>
              <a:bodyPr/>
              <a:lstStyle/>
              <a:p>
                <a:r>
                  <a:rPr sz="900" b="0">
                    <a:solidFill>
                      <a:srgbClr val="A1B1CD"/>
                    </a:solidFill>
                  </a:rPr>
                  <a:t>pattern axis 1 (no units)</a:t>
                </a:r>
              </a:p>
            </c:rich>
          </c:tx>
          <c:layout/>
          <c:overlay val="0"/>
        </c:title>
        <c:numFmt formatCode="General" sourceLinked="1"/>
        <c:majorTickMark val="out"/>
        <c:minorTickMark val="none"/>
        <c:tickLblPos val="low"/>
        <c:spPr>
          <a:ln>
            <a:solidFill>
              <a:srgbClr val="374D73"/>
            </a:solidFill>
          </a:ln>
        </c:spPr>
        <c:txPr>
          <a:bodyPr/>
          <a:lstStyle/>
          <a:p>
            <a:pPr>
              <a:defRPr sz="900">
                <a:solidFill>
                  <a:srgbClr val="A1B1CD"/>
                </a:solidFill>
              </a:defRPr>
            </a:pPr>
          </a:p>
        </c:txPr>
        <c:crossAx val="-2129643912"/>
        <c:crosses val="autoZero"/>
        <c:crossBetween val="midCat"/>
      </c:valAx>
      <c:valAx>
        <c:axId val="-2129643912"/>
        <c:scaling>
          <c:orientation val="minMax"/>
        </c:scaling>
        <c:delete val="0"/>
        <c:axPos val="l"/>
        <c:majorGridlines>
          <c:spPr>
            <a:ln>
              <a:solidFill>
                <a:srgbClr val="1C2948"/>
              </a:solidFill>
            </a:ln>
          </c:spPr>
        </c:majorGridlines>
        <c:title>
          <c:tx>
            <c:rich>
              <a:bodyPr/>
              <a:lstStyle/>
              <a:p>
                <a:r>
                  <a:rPr sz="900" b="0">
                    <a:solidFill>
                      <a:srgbClr val="A1B1CD"/>
                    </a:solidFill>
                  </a:rPr>
                  <a:t>pattern axis 2 (no units)</a:t>
                </a:r>
              </a:p>
            </c:rich>
          </c:tx>
          <c:layout/>
          <c:overlay val="0"/>
        </c:title>
        <c:numFmt formatCode="General" sourceLinked="1"/>
        <c:majorTickMark val="out"/>
        <c:minorTickMark val="none"/>
        <c:tickLblPos val="nextTo"/>
        <c:spPr>
          <a:ln>
            <a:solidFill>
              <a:srgbClr val="374D73"/>
            </a:solidFill>
          </a:ln>
        </c:spPr>
        <c:txPr>
          <a:bodyPr/>
          <a:lstStyle/>
          <a:p>
            <a:pPr>
              <a:defRPr sz="900">
                <a:solidFill>
                  <a:srgbClr val="A1B1CD"/>
                </a:solidFill>
              </a:defRPr>
            </a:pPr>
          </a:p>
        </c:txPr>
        <c:crossAx val="-2128940872"/>
        <c:crosses val="autoZero"/>
        <c:crossBetween val="midCat"/>
      </c:valAx>
    </c:plotArea>
    <c:legend>
      <c:legendPos val="b"/>
      <c:layout/>
      <c:overlay val="0"/>
      <c:txPr>
        <a:bodyPr/>
        <a:lstStyle/>
        <a:p>
          <a:pPr>
            <a:defRPr sz="900">
              <a:solidFill>
                <a:srgbClr val="A1B1CD"/>
              </a:solidFill>
            </a:defRPr>
          </a:pPr>
        </a:p>
      </c:txPr>
    </c:legend>
    <c:plotVisOnly val="1"/>
    <c:dispBlanksAs val="gap"/>
    <c:showDLblsOverMax val="0"/>
  </c:chart>
  <c:txPr>
    <a:bodyPr/>
    <a:lstStyle/>
    <a:p>
      <a:pPr>
        <a:defRPr sz="900">
          <a:solidFill>
            <a:srgbClr val="A1B1CD"/>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Score</c:v>
                </c:pt>
              </c:strCache>
            </c:strRef>
          </c:tx>
          <c:spPr>
            <a:solidFill>
              <a:srgbClr val="A1B1CD"/>
            </a:solidFill>
            <a:ln>
              <a:noFill/>
            </a:ln>
          </c:spPr>
          <c:dPt>
            <c:idx val="0"/>
            <c:spPr>
              <a:solidFill>
                <a:srgbClr val="596C93"/>
              </a:solidFill>
            </c:spPr>
          </c:dPt>
          <c:dPt>
            <c:idx val="1"/>
            <c:spPr>
              <a:solidFill>
                <a:srgbClr val="27D6FF"/>
              </a:solidFill>
            </c:spPr>
          </c:dPt>
          <c:dPt>
            <c:idx val="2"/>
            <c:spPr>
              <a:solidFill>
                <a:srgbClr val="374D73"/>
              </a:solidFill>
            </c:spPr>
          </c:dPt>
          <c:dPt>
            <c:idx val="3"/>
            <c:spPr>
              <a:solidFill>
                <a:srgbClr val="374D73"/>
              </a:solidFill>
            </c:spPr>
          </c:dPt>
          <c:cat>
            <c:strRef>
              <c:f>Sheet1!$A$2:$A$5</c:f>
              <c:strCache>
                <c:ptCount val="4"/>
                <c:pt idx="0">
                  <c:v>Tuned from scratch (60 tries)</c:v>
                </c:pt>
                <c:pt idx="1">
                  <c:v>Copied from twin (1 try)</c:v>
                </c:pt>
                <c:pt idx="2">
                  <c:v>Copied from random (1 try)</c:v>
                </c:pt>
                <c:pt idx="3">
                  <c:v>Default dials (1 try)</c:v>
                </c:pt>
              </c:strCache>
            </c:strRef>
          </c:cat>
          <c:val>
            <c:numRef>
              <c:f>Sheet1!$B$2:$B$5</c:f>
              <c:numCache>
                <c:formatCode>General</c:formatCode>
                <c:ptCount val="4"/>
                <c:pt idx="0">
                  <c:v>0.633</c:v>
                </c:pt>
                <c:pt idx="1">
                  <c:v>0.599</c:v>
                </c:pt>
                <c:pt idx="2">
                  <c:v>0.577</c:v>
                </c:pt>
                <c:pt idx="3">
                  <c:v>0.581</c:v>
                </c:pt>
              </c:numCache>
            </c:numRef>
          </c:val>
        </c:ser>
        <c:dLbls>
          <c:numFmt formatCode="0.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0.66"/>
          <c:min val="0.5"/>
        </c:scaling>
        <c:delete/>
        <c:axPos val="b"/>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dispBlanksAs val="gap"/>
  </c:chart>
  <c:txPr>
    <a:bodyPr/>
    <a:lstStyle/>
    <a:p>
      <a:pPr>
        <a:defRPr sz="1000">
          <a:solidFill>
            <a:srgbClr val="A1B1CD"/>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Q-Router as % of normal</c:v>
                </c:pt>
              </c:strCache>
            </c:strRef>
          </c:tx>
          <c:spPr>
            <a:solidFill>
              <a:srgbClr val="5BF0B9"/>
            </a:solidFill>
            <a:ln>
              <a:noFill/>
            </a:ln>
          </c:spPr>
          <c:cat>
            <c:strRef>
              <c:f>Sheet1!$A$2:$A$5</c:f>
              <c:strCache>
                <c:ptCount val="4"/>
                <c:pt idx="0">
                  <c:v>Problems tuned</c:v>
                </c:pt>
                <c:pt idx="1">
                  <c:v>Tuning runs</c:v>
                </c:pt>
                <c:pt idx="2">
                  <c:v>Chip jobs</c:v>
                </c:pt>
                <c:pt idx="3">
                  <c:v>Quantum shots</c:v>
                </c:pt>
              </c:strCache>
            </c:strRef>
          </c:cat>
          <c:val>
            <c:numRef>
              <c:f>Sheet1!$B$2:$B$5</c:f>
              <c:numCache>
                <c:formatCode>General</c:formatCode>
                <c:ptCount val="4"/>
                <c:pt idx="0">
                  <c:v>50</c:v>
                </c:pt>
                <c:pt idx="1">
                  <c:v>48</c:v>
                </c:pt>
                <c:pt idx="2">
                  <c:v>25</c:v>
                </c:pt>
                <c:pt idx="3">
                  <c:v>25</c:v>
                </c:pt>
              </c:numCache>
            </c:numRef>
          </c:val>
        </c:ser>
        <c:dLbls>
          <c:numFmt formatCode="0&quot;%&quot;"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110.0"/>
          <c:min val="0.0"/>
        </c:scaling>
        <c:delete/>
        <c:axPos val="l"/>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dispBlanksAs val="gap"/>
  </c:chart>
  <c:txPr>
    <a:bodyPr/>
    <a:lstStyle/>
    <a:p>
      <a:pPr>
        <a:defRPr sz="1000">
          <a:solidFill>
            <a:srgbClr val="A1B1CD"/>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Gate-based QAOA</c:v>
                </c:pt>
              </c:strCache>
            </c:strRef>
          </c:tx>
          <c:spPr>
            <a:solidFill>
              <a:srgbClr val="27D6FF"/>
            </a:solidFill>
            <a:ln>
              <a:noFill/>
            </a:ln>
          </c:spPr>
          <c:cat>
            <c:strRef>
              <c:f>Sheet1!$A$2:$A$4</c:f>
              <c:strCache>
                <c:ptCount val="3"/>
                <c:pt idx="0">
                  <c:v>Drug funding (8, dense)</c:v>
                </c:pt>
                <c:pt idx="1">
                  <c:v>Trial sites A (7, sparse)</c:v>
                </c:pt>
                <c:pt idx="2">
                  <c:v>Trial sites B (3, small)</c:v>
                </c:pt>
              </c:strCache>
            </c:strRef>
          </c:cat>
          <c:val>
            <c:numRef>
              <c:f>Sheet1!$B$2:$B$4</c:f>
              <c:numCache>
                <c:formatCode>General</c:formatCode>
                <c:ptCount val="3"/>
                <c:pt idx="0">
                  <c:v>0.546</c:v>
                </c:pt>
                <c:pt idx="1">
                  <c:v>0.384</c:v>
                </c:pt>
                <c:pt idx="2">
                  <c:v>0.407</c:v>
                </c:pt>
              </c:numCache>
            </c:numRef>
          </c:val>
        </c:ser>
        <c:ser>
          <c:idx val="1"/>
          <c:order val="1"/>
          <c:tx>
            <c:strRef>
              <c:f>Sheet1!$C$1</c:f>
              <c:strCache>
                <c:ptCount val="1"/>
                <c:pt idx="0">
                  <c:v>Digital anneal</c:v>
                </c:pt>
              </c:strCache>
            </c:strRef>
          </c:tx>
          <c:spPr>
            <a:solidFill>
              <a:srgbClr val="D948FF"/>
            </a:solidFill>
            <a:ln>
              <a:noFill/>
            </a:ln>
          </c:spPr>
          <c:cat>
            <c:strRef>
              <c:f>Sheet1!$A$2:$A$4</c:f>
              <c:strCache>
                <c:ptCount val="3"/>
                <c:pt idx="0">
                  <c:v>Drug funding (8, dense)</c:v>
                </c:pt>
                <c:pt idx="1">
                  <c:v>Trial sites A (7, sparse)</c:v>
                </c:pt>
                <c:pt idx="2">
                  <c:v>Trial sites B (3, small)</c:v>
                </c:pt>
              </c:strCache>
            </c:strRef>
          </c:cat>
          <c:val>
            <c:numRef>
              <c:f>Sheet1!$C$2:$C$4</c:f>
              <c:numCache>
                <c:formatCode>General</c:formatCode>
                <c:ptCount val="3"/>
                <c:pt idx="0">
                  <c:v>0.336</c:v>
                </c:pt>
                <c:pt idx="1">
                  <c:v>0.42</c:v>
                </c:pt>
                <c:pt idx="2">
                  <c:v>0.725</c:v>
                </c:pt>
              </c:numCache>
            </c:numRef>
          </c:val>
        </c:ser>
        <c:dLbls>
          <c:numFmt formatCode="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1C2948"/>
              </a:solidFill>
            </a:ln>
          </c:spPr>
        </c:majorGridlines>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legend>
      <c:legendPos val="b"/>
      <c:overlay val="0"/>
      <c:txPr>
        <a:bodyPr/>
        <a:lstStyle/>
        <a:p>
          <a:pPr>
            <a:defRPr sz="1000">
              <a:solidFill>
                <a:srgbClr val="A1B1CD"/>
              </a:solidFill>
            </a:defRPr>
          </a:pPr>
        </a:p>
      </c:txPr>
    </c:legend>
    <c:dispBlanksAs val="gap"/>
  </c:chart>
  <c:txPr>
    <a:bodyPr/>
    <a:lstStyle/>
    <a:p>
      <a:pPr>
        <a:defRPr sz="1000">
          <a:solidFill>
            <a:srgbClr val="A1B1CD"/>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Perfect simulator</c:v>
                </c:pt>
              </c:strCache>
            </c:strRef>
          </c:tx>
          <c:spPr>
            <a:solidFill>
              <a:srgbClr val="5BF0B9"/>
            </a:solidFill>
            <a:ln>
              <a:noFill/>
            </a:ln>
          </c:spPr>
          <c:cat>
            <c:strRef>
              <c:f>Sheet1!$A$2:$A$3</c:f>
              <c:strCache>
                <c:ptCount val="2"/>
                <c:pt idx="0">
                  <c:v>Gate-based QAOA</c:v>
                </c:pt>
                <c:pt idx="1">
                  <c:v>Digital anneal</c:v>
                </c:pt>
              </c:strCache>
            </c:strRef>
          </c:cat>
          <c:val>
            <c:numRef>
              <c:f>Sheet1!$B$2:$B$3</c:f>
              <c:numCache>
                <c:formatCode>General</c:formatCode>
                <c:ptCount val="2"/>
                <c:pt idx="0">
                  <c:v>0.7243751624004338</c:v>
                </c:pt>
                <c:pt idx="1">
                  <c:v>0.8003232237197677</c:v>
                </c:pt>
              </c:numCache>
            </c:numRef>
          </c:val>
        </c:ser>
        <c:ser>
          <c:idx val="1"/>
          <c:order val="1"/>
          <c:tx>
            <c:strRef>
              <c:f>Sheet1!$C$1</c:f>
              <c:strCache>
                <c:ptCount val="1"/>
                <c:pt idx="0">
                  <c:v>Copy of chip (errors)</c:v>
                </c:pt>
              </c:strCache>
            </c:strRef>
          </c:tx>
          <c:spPr>
            <a:solidFill>
              <a:srgbClr val="8C5DFF"/>
            </a:solidFill>
            <a:ln>
              <a:noFill/>
            </a:ln>
          </c:spPr>
          <c:cat>
            <c:strRef>
              <c:f>Sheet1!$A$2:$A$3</c:f>
              <c:strCache>
                <c:ptCount val="2"/>
                <c:pt idx="0">
                  <c:v>Gate-based QAOA</c:v>
                </c:pt>
                <c:pt idx="1">
                  <c:v>Digital anneal</c:v>
                </c:pt>
              </c:strCache>
            </c:strRef>
          </c:cat>
          <c:val>
            <c:numRef>
              <c:f>Sheet1!$C$2:$C$3</c:f>
              <c:numCache>
                <c:formatCode>General</c:formatCode>
                <c:ptCount val="2"/>
                <c:pt idx="0">
                  <c:v>0.6684083021405337</c:v>
                </c:pt>
                <c:pt idx="1">
                  <c:v>0.6723802073990509</c:v>
                </c:pt>
              </c:numCache>
            </c:numRef>
          </c:val>
        </c:ser>
        <c:ser>
          <c:idx val="2"/>
          <c:order val="2"/>
          <c:tx>
            <c:strRef>
              <c:f>Sheet1!$D$1</c:f>
              <c:strCache>
                <c:ptCount val="1"/>
                <c:pt idx="0">
                  <c:v>Real chip, raw</c:v>
                </c:pt>
              </c:strCache>
            </c:strRef>
          </c:tx>
          <c:spPr>
            <a:solidFill>
              <a:srgbClr val="27D6FF"/>
            </a:solidFill>
            <a:ln>
              <a:noFill/>
            </a:ln>
          </c:spPr>
          <c:cat>
            <c:strRef>
              <c:f>Sheet1!$A$2:$A$3</c:f>
              <c:strCache>
                <c:ptCount val="2"/>
                <c:pt idx="0">
                  <c:v>Gate-based QAOA</c:v>
                </c:pt>
                <c:pt idx="1">
                  <c:v>Digital anneal</c:v>
                </c:pt>
              </c:strCache>
            </c:strRef>
          </c:cat>
          <c:val>
            <c:numRef>
              <c:f>Sheet1!$D$2:$D$3</c:f>
              <c:numCache>
                <c:formatCode>General</c:formatCode>
                <c:ptCount val="2"/>
                <c:pt idx="0">
                  <c:v>0.6364288676526114</c:v>
                </c:pt>
                <c:pt idx="1">
                  <c:v>0.545912255701395</c:v>
                </c:pt>
              </c:numCache>
            </c:numRef>
          </c:val>
        </c:ser>
        <c:ser>
          <c:idx val="3"/>
          <c:order val="3"/>
          <c:tx>
            <c:strRef>
              <c:f>Sheet1!$E$1</c:f>
              <c:strCache>
                <c:ptCount val="1"/>
                <c:pt idx="0">
                  <c:v>Real chip + fixes</c:v>
                </c:pt>
              </c:strCache>
            </c:strRef>
          </c:tx>
          <c:spPr>
            <a:solidFill>
              <a:srgbClr val="D948FF"/>
            </a:solidFill>
            <a:ln>
              <a:noFill/>
            </a:ln>
          </c:spPr>
          <c:cat>
            <c:strRef>
              <c:f>Sheet1!$A$2:$A$3</c:f>
              <c:strCache>
                <c:ptCount val="2"/>
                <c:pt idx="0">
                  <c:v>Gate-based QAOA</c:v>
                </c:pt>
                <c:pt idx="1">
                  <c:v>Digital anneal</c:v>
                </c:pt>
              </c:strCache>
            </c:strRef>
          </c:cat>
          <c:val>
            <c:numRef>
              <c:f>Sheet1!$E$2:$E$3</c:f>
              <c:numCache>
                <c:formatCode>General</c:formatCode>
                <c:ptCount val="2"/>
                <c:pt idx="0">
                  <c:v>0.5779404686453702</c:v>
                </c:pt>
                <c:pt idx="1">
                  <c:v>0.36145190879506245</c:v>
                </c:pt>
              </c:numCache>
            </c:numRef>
          </c:val>
        </c:ser>
        <c:dLbls>
          <c:numFmt formatCode="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1C2948"/>
              </a:solidFill>
            </a:ln>
          </c:spPr>
        </c:majorGridlines>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legend>
      <c:legendPos val="b"/>
      <c:overlay val="0"/>
      <c:txPr>
        <a:bodyPr/>
        <a:lstStyle/>
        <a:p>
          <a:pPr>
            <a:defRPr sz="1000">
              <a:solidFill>
                <a:srgbClr val="A1B1CD"/>
              </a:solidFill>
            </a:defRPr>
          </a:pPr>
        </a:p>
      </c:txPr>
    </c:legend>
    <c:dispBlanksAs val="gap"/>
  </c:chart>
  <c:txPr>
    <a:bodyPr/>
    <a:lstStyle/>
    <a:p>
      <a:pPr>
        <a:defRPr sz="1000">
          <a:solidFill>
            <a:srgbClr val="A1B1CD"/>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1 · TITLE · target 0:20</a:t>
            </a:r>
          </a:p>
          <a:p/>
          <a:p>
            <a:r>
              <a:t>WHAT TO SAY</a:t>
            </a:r>
          </a:p>
          <a:p>
            <a:r>
              <a:t>"Hi, we're Team Q-Router from Florida Atlantic University. You can now rent quantum computers over the internet, and there are two very different kinds. Q-Router is a traffic controller for that scarce quantum time: it looks at the shape of a business decision and sends each piece to the right machine, or to a normal laptop when quantum isn't worth it. And we tested it on a real IBM quantum computer."</a:t>
            </a:r>
          </a:p>
          <a:p/>
          <a:p>
            <a:r>
              <a:t>WHAT'S ON THE SLIDE</a:t>
            </a:r>
          </a:p>
          <a:p>
            <a:r>
              <a:t>The four boxes (Problem, Fingerprint, Router, Method) are the pipeline in one line: a decision comes in, we measure its shape, the router picks, a method solves it.</a:t>
            </a:r>
          </a:p>
          <a:p/>
          <a:p>
            <a:r>
              <a:t>KEY FACTS TO HAVE READY</a:t>
            </a:r>
          </a:p>
          <a:p>
            <a:r>
              <a:t>- Real hardware used: IBM's ibm_kingston, a 156-qubit Heron r2 processor (us-east), on the free Open Plan.</a:t>
            </a:r>
          </a:p>
          <a:p>
            <a:r>
              <a:t>- 7 real quantum jobs, all batched; most of our 10 free minutes are still unused.</a:t>
            </a:r>
          </a:p>
          <a:p/>
          <a:p>
            <a:r>
              <a:t>IF A JUDGE ASKS</a:t>
            </a:r>
          </a:p>
          <a:p>
            <a:r>
              <a:t>Q: Explain your project in one sentence to someone with no physics background.</a:t>
            </a:r>
          </a:p>
          <a:p>
            <a:r>
              <a:t>A: "Q-Router decides which kind of computer should solve each part of a hard business decision: one of two kinds of quantum computer, or a normal laptop, and it's honest when the laptop is better."</a:t>
            </a:r>
          </a:p>
          <a:p>
            <a:r>
              <a:t>Q: Who did what?</a:t>
            </a:r>
          </a:p>
          <a:p>
            <a:r>
              <a:t>A: (Fill in real names.) Our coder built the Qiskit program and ran the IBM jobs; the rest of the team framed the drug-funding problem, wrote the use case and limitations, and built this presentation. Everyone can explain the pipeline.</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2 · THE PROBLEM · target 0:40</a:t>
            </a:r>
          </a:p>
          <a:p/>
          <a:p>
            <a:r>
              <a:t>WHAT TO SAY</a:t>
            </a:r>
          </a:p>
          <a:p>
            <a:r>
              <a:t>"Companies keep making the same kind of decision: pick the best few out of many. Which 4 of 10 drug candidates to fund, which stocks to hold, which medical tests to order. Quantum computers might help with these, but quantum time is rare and expensive: our free IBM plan gives 10 minutes a month, and companies pay by the second. There are two different kinds of quantum computer, and today's chips make errors, so sending a problem to the wrong machine wastes money and gives a bad answer. Q-Router answers three questions: is quantum worth it, which kind, and for which part of the problem."</a:t>
            </a:r>
          </a:p>
          <a:p/>
          <a:p>
            <a:r>
              <a:t>WHAT'S ON THE SLIDE</a:t>
            </a:r>
          </a:p>
          <a:p>
            <a:r>
              <a:t>Three industries with the same shape of decision (choose a subset under value, risk and rules). The banner names who is affected.</a:t>
            </a:r>
          </a:p>
          <a:p/>
          <a:p>
            <a:r>
              <a:t>WHY IT MATTERS (background)</a:t>
            </a:r>
          </a:p>
          <a:p>
            <a:r>
              <a:t>- The number of possible choices explodes: 10 items have 1,024 combinations; 50 items about a quadrillion.</a:t>
            </a:r>
          </a:p>
          <a:p>
            <a:r>
              <a:t>- IBM, D-Wave and Amazon rent different kinds of quantum hardware, and users mostly guess which to use. D-Wave's hybrid solvers already split work between classical and quantum behind the scenes, so routing is a real industry need.</a:t>
            </a:r>
          </a:p>
          <a:p>
            <a:r>
              <a:t>- The event's theme, "a decade of quantum on the cloud", is exactly this: shared, scarce quantum machines.</a:t>
            </a:r>
          </a:p>
          <a:p/>
          <a:p>
            <a:r>
              <a:t>IF A JUDGE ASKS</a:t>
            </a:r>
          </a:p>
          <a:p>
            <a:r>
              <a:t>Q: What problem are you solving, and for whom?</a:t>
            </a:r>
          </a:p>
          <a:p>
            <a:r>
              <a:t>A: Knowing when and how to use quantum computing so scarce quantum time isn't wasted. For companies paying for quantum time, for cloud providers routing jobs, and for researchers with small budgets.</a:t>
            </a:r>
          </a:p>
          <a:p>
            <a:r>
              <a:t>Q: Is this a real problem if a laptop wins today?</a:t>
            </a:r>
          </a:p>
          <a:p>
            <a:r>
              <a:t>A: Yes. Today the honest answer is usually "use the laptop", and Q-Router says so. As chips improve, deciding which problems and which kind of quantum computer becomes more valuable, and choosing between the two quantum kinds already matters for anyone running quantum experiments now.</a:t>
            </a:r>
          </a:p>
        </p:txBody>
      </p:sp>
      <p:sp>
        <p:nvSpPr>
          <p:cNvPr id="220" name="Google Shape;220;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7" name="Google Shape;27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3 · DECISION → SCORE (QUBO) · target 0:30</a:t>
            </a:r>
          </a:p>
          <a:p/>
          <a:p>
            <a:r>
              <a:t>WHAT TO SAY</a:t>
            </a:r>
          </a:p>
          <a:p>
            <a:r>
              <a:t>"First, every decision becomes one shared score sheet called a QUBO. Each yes-or-no choice is one qubit. Each choice has a value, each pair of choices has a risk, and rules like 'fund exactly 4' become a penalty. The lowest score is the best decision. Because every industry uses this same format, one router can serve all of them. Honest note: our tests use 3 to 18 qubits; real decisions need 50 to 200."</a:t>
            </a:r>
          </a:p>
          <a:p/>
          <a:p>
            <a:r>
              <a:t>WHAT'S ON THE SLIDE</a:t>
            </a:r>
          </a:p>
          <a:p>
            <a:r>
              <a:t>Ten choices (x1-x10) feed a score: minus expected value, plus pair risk, plus a size penalty. The energy landscape is a picture of searching for the lowest valley; it's conceptual.</a:t>
            </a:r>
          </a:p>
          <a:p/>
          <a:p>
            <a:r>
              <a:t>DETAILS (if needed)</a:t>
            </a:r>
          </a:p>
          <a:p>
            <a:r>
              <a:t>- Drug value = chance of approval × sales if approved − development cost. Approval rates by phase: about 8% (Phase I), 15% (Phase II), 55% (Phase III).</a:t>
            </a:r>
          </a:p>
          <a:p>
            <a:r>
              <a:t>- Drugs for the same disease are strongly linked (correlation 0.6), different diseases weakly (0.1).</a:t>
            </a:r>
          </a:p>
          <a:p>
            <a:r>
              <a:t>- Penalty = P × (number funded − 4)², with P bigger than any gain, so breaking the rule never pays.</a:t>
            </a:r>
          </a:p>
          <a:p>
            <a:r>
              <a:t>- The same math investors use for stock portfolios (Markowitz), applied to drugs.</a:t>
            </a:r>
          </a:p>
          <a:p>
            <a:r>
              <a:t>- Data: stock prices are real (12 healthcare stocks, 2023-2025); medical tests are a real breast-cancer dataset (569 patients); the drug list is simulated with real phase success rates.</a:t>
            </a:r>
          </a:p>
          <a:p/>
          <a:p>
            <a:r>
              <a:t>IF A JUDGE ASKS</a:t>
            </a:r>
          </a:p>
          <a:p>
            <a:r>
              <a:t>Q: What is a QUBO?</a:t>
            </a:r>
          </a:p>
          <a:p>
            <a:r>
              <a:t>A: A score sheet for yes/no choices: points for each yes and for each pair of yeses; lower is better. Rules become penalties. Every solver in our project reads it.</a:t>
            </a:r>
          </a:p>
          <a:p>
            <a:r>
              <a:t>Q: Is the data real?</a:t>
            </a:r>
          </a:p>
          <a:p>
            <a:r>
              <a:t>A: Stocks and medical tests yes; the drug pipeline is simulated using real industry approval rates. Real ClinicalTrials.gov data is a next step.</a:t>
            </a:r>
          </a:p>
        </p:txBody>
      </p:sp>
      <p:sp>
        <p:nvSpPr>
          <p:cNvPr id="278" name="Google Shape;27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4 · THREE SOLVERS · target 0:40</a:t>
            </a:r>
          </a:p>
          <a:p/>
          <a:p>
            <a:r>
              <a:t>WHAT TO SAY</a:t>
            </a:r>
          </a:p>
          <a:p>
            <a:r>
              <a:t>"We compare three ways to solve the score sheet. Gate-based QAOA is a short quantum recipe: mix all answers, link choices that affect each other, shuffle, measure. It has two dials that we tune on a simulator. The digital anneal copies D-Wave-style annealing on IBM's chip using many small steps: a smoother sweep, but many more error-prone steps. And a normal laptop running simulated annealing scores 0.95 to 0.98 in a hundredth of a second. At this size the laptop wins, and we say so. Quantum is interesting because paired choices map onto linked qubits, but every step on today's chips can fail."</a:t>
            </a:r>
          </a:p>
          <a:p/>
          <a:p>
            <a:r>
              <a:t>WHAT'S ON THE SLIDE</a:t>
            </a:r>
          </a:p>
          <a:p>
            <a:r>
              <a:t>Three cards (two quantum methods and the baseline) and the noise banner: 100 link steps at 0.5% error each gives only a 61% chance the whole run is error-free.</a:t>
            </a:r>
          </a:p>
          <a:p/>
          <a:p>
            <a:r>
              <a:t>HOW EACH WORKS (if needed)</a:t>
            </a:r>
          </a:p>
          <a:p>
            <a:r>
              <a:t>- QAOA circuit: Hadamards put every qubit in a 50/50 mix; an RZ rotation per qubit for its value; an RZZ gate per connected pair (this is the entanglement); RX rotations to shuffle; repeat 1-2 rounds; measure thousands of times ("shots").</a:t>
            </a:r>
          </a:p>
          <a:p>
            <a:r>
              <a:t>- Tuning: an optimizer (COBYLA) tries dial settings about 60-120 times on the simulator, never on the chip.</a:t>
            </a:r>
          </a:p>
          <a:p>
            <a:r>
              <a:t>- Digital anneal: the same building blocks repeated 3-6 rounds on a fixed even ramp (shuffle fades out, problem fades in). Also called linear-ramp QAOA; used on IBM hardware at 100+ qubits by other groups.</a:t>
            </a:r>
          </a:p>
          <a:p>
            <a:r>
              <a:t>- Scoring: 1 = the true best answer (found by checking every combination), 0 = no better than random guessing; we average over every shot.</a:t>
            </a:r>
          </a:p>
          <a:p/>
          <a:p>
            <a:r>
              <a:t>IF A JUDGE ASKS</a:t>
            </a:r>
          </a:p>
          <a:p>
            <a:r>
              <a:t>Q: Why quantum instead of classical?</a:t>
            </a:r>
          </a:p>
          <a:p>
            <a:r>
              <a:t>A: At this size classical wins, and we show it. Quantum fits the structure (paired choices map to linked qubits); the question is whether that pays off for bigger problems on better chips.</a:t>
            </a:r>
          </a:p>
          <a:p>
            <a:r>
              <a:t>Q: Is your annealer real?</a:t>
            </a:r>
          </a:p>
          <a:p>
            <a:r>
              <a:t>A: It's annealing copied onto IBM's gate-based chip; a real D-Wave could plug into the same router.</a:t>
            </a:r>
          </a:p>
          <a:p>
            <a:r>
              <a:t>Q: Walk me through your circuit.</a:t>
            </a:r>
          </a:p>
          <a:p>
            <a:r>
              <a:t>A: Mix, nudge each choice by its value, link connected pairs, shuffle, repeat, measure.</a:t>
            </a:r>
          </a:p>
        </p:txBody>
      </p:sp>
      <p:sp>
        <p:nvSpPr>
          <p:cNvPr id="374" name="Google Shape;37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3" name="Google Shape;81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11 · WHAT'S NEXT + TAKEAWAY · target 0:30</a:t>
            </a:r>
          </a:p>
          <a:p/>
          <a:p>
            <a:r>
              <a:t>WHAT TO SAY</a:t>
            </a:r>
          </a:p>
          <a:p>
            <a:r>
              <a:t>"Next: repeat the real-chip runs to measure variation, use real drug-trial data from ClinicalTrials.gov, add a real D-Wave annealer as a third option, and wait for chips with 10 to 100 times fewer errors and 50 to 200 usable qubits, which is roughly what it would take for quantum to compete. Our takeaway: shape decides the solver. Dense goes to gate-based, sparse goes to annealing. And today the laptop still wins, and Q-Router knows when. Thank you, we'd love your questions."</a:t>
            </a:r>
          </a:p>
          <a:p/>
          <a:p>
            <a:r>
              <a:t>WHAT'S NEW (for the novelty question)</a:t>
            </a:r>
          </a:p>
          <a:p>
            <a:r>
              <a:t>1. Gate-based vs. annealing chosen piece by piece inside one problem, measured on real hardware.</a:t>
            </a:r>
          </a:p>
          <a:p>
            <a:r>
              <a:t>2. Settings reused across real industries, with a random-copy control proving the shape match matters.</a:t>
            </a:r>
          </a:p>
          <a:p>
            <a:r>
              <a:t>3. A fingerprint that includes the real chip's error rates.</a:t>
            </a:r>
          </a:p>
          <a:p>
            <a:r>
              <a:t>4. Quantum time saved, measured: 4× fewer shots, 1 job instead of 4.</a:t>
            </a:r>
          </a:p>
          <a:p>
            <a:r>
              <a:t>Prior work exists for each ingredient (QAOA parameter transfer, solver selection, multi-programming); the combination and the cross-industry test on hardware are ours. Say "we didn't find prior work testing this", never "first ever".</a:t>
            </a:r>
          </a:p>
          <a:p/>
          <a:p>
            <a:r>
              <a:t>HONEST LIMITS</a:t>
            </a:r>
          </a:p>
          <a:p>
            <a:r>
              <a:t>No quantum advantage; tiny problems (3-18 qubits); annealing is a copy on IBM's chip; drug data is simulated; single hardware runs; error fixes hurt on long recipes.</a:t>
            </a:r>
          </a:p>
          <a:p/>
          <a:p>
            <a:r>
              <a:t>WHAT WE LEARNED</a:t>
            </a:r>
          </a:p>
          <a:p>
            <a:r>
              <a:t>Honest scoring matters: an early version made everything look 0.99 and hid a sign bug that sent recipes to the worst answer (−1.37 → 0.79 after the fix). The best quantum method depends on the problem's shape and the chip's errors, not on theory. And how to run real experiments on 10 minutes: tune on simulators, batch jobs, dry-run on a fake chip first.</a:t>
            </a:r>
          </a:p>
          <a:p/>
          <a:p>
            <a:r>
              <a:t>IF A JUDGE ASKS</a:t>
            </a:r>
          </a:p>
          <a:p>
            <a:r>
              <a:t>Q: What would you do with another month?</a:t>
            </a:r>
          </a:p>
          <a:p>
            <a:r>
              <a:t>A: Repeat hardware runs for error bars, deeper circuits where copying settings saves more, a real D-Wave backend, real drug data, and a better error model for long recipes.</a:t>
            </a:r>
          </a:p>
          <a:p>
            <a:r>
              <a:t>Q: What surprised you?</a:t>
            </a:r>
          </a:p>
          <a:p>
            <a:r>
              <a:t>A: That IBM's error fixes made long circuits worse, and that copying settings from a random problem helps not at all.</a:t>
            </a:r>
          </a:p>
        </p:txBody>
      </p:sp>
      <p:sp>
        <p:nvSpPr>
          <p:cNvPr id="814" name="Google Shape;814;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5 · HOW SHAPES ARE BUILT · target 0:40</a:t>
            </a:r>
          </a:p>
          <a:p/>
          <a:p>
            <a:r>
              <a:t>WHAT TO SAY</a:t>
            </a:r>
          </a:p>
          <a:p>
            <a:r>
              <a:t>"How does the router see a problem? We draw a connection map: one dot per choice, and a line wherever two choices affect each other. Drug funding is fully connected, because 'fund exactly 4' ties every drug to every other one. A trial-site network is sparse: each site touches only its neighbors. From the map we count size, density and links. Then we compile the actual quantum recipe onto IBM's real chip and count its link steps and its chance of running with zero errors, using IBM's own error measurements. Those nine numbers are the problem's fingerprint."</a:t>
            </a:r>
          </a:p>
          <a:p/>
          <a:p>
            <a:r>
              <a:t>WHAT'S ON THE SLIDE</a:t>
            </a:r>
          </a:p>
          <a:p>
            <a:r>
              <a:t>Left: a dense map (every pair linked, density 1.00) next to a sparse one (density 0.40). Middle: the three steps. Right: real examples. An 8-choice drug problem needs 99 link steps; a network 49; a medical-test problem 53.</a:t>
            </a:r>
          </a:p>
          <a:p/>
          <a:p>
            <a:r>
              <a:t>THE NINE NUMBERS</a:t>
            </a:r>
          </a:p>
          <a:p>
            <a:r>
              <a:t>1 size · 2 density (lines ÷ possible) · 3 average links · 4 most links · 5 number spread (biggest ÷ smallest score number) · 6 chance of an error-free gate-based run · 7 the same for annealing · 8 link (two-qubit) steps · 9 recipe length.</a:t>
            </a:r>
          </a:p>
          <a:p>
            <a:r>
              <a:t>- Error-free chance = multiply (1 − error rate) for every step, using IBM Torino's calibration data.</a:t>
            </a:r>
          </a:p>
          <a:p>
            <a:r>
              <a:t>- An AI (a random forest: 300 small decision trees that vote) learned from 60 practice problems which solver fits which fingerprint. Its most important input: the annealing recipe's error-free chance (53% of its decisions).</a:t>
            </a:r>
          </a:p>
          <a:p/>
          <a:p>
            <a:r>
              <a:t>IF A JUDGE ASKS</a:t>
            </a:r>
          </a:p>
          <a:p>
            <a:r>
              <a:t>Q: How does it decide the shape of a piece?</a:t>
            </a:r>
          </a:p>
          <a:p>
            <a:r>
              <a:t>A: Nine measured numbers; nobody labels a problem "dense". The AI learns what the numbers mean.</a:t>
            </a:r>
          </a:p>
          <a:p>
            <a:r>
              <a:t>Q: Were the 60 practice problems run on the real chip?</a:t>
            </a:r>
          </a:p>
          <a:p>
            <a:r>
              <a:t>A: No, on a simulator, three ways each, with known best answers. The real chip was used for our final tests.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6 · PATTERN RECOGNITION · target 0:35</a:t>
            </a:r>
          </a:p>
          <a:p/>
          <a:p>
            <a:r>
              <a:t>WHAT TO SAY</a:t>
            </a:r>
          </a:p>
          <a:p>
            <a:r>
              <a:t>"This is the pattern recognition. Each dot is one of our 60 practice problems, placed by its nine-number fingerprint, so problems with similar shapes land close together. Stocks and drug funding cluster on the right, because both are fully connected. Networks and medical tests mix together on the left, because both are loosely connected. So the shape of a problem, not its industry, decides which solver fits, and what we learn in one industry carries over to another."</a:t>
            </a:r>
          </a:p>
          <a:p/>
          <a:p>
            <a:r>
              <a:t>HOW TO READ THE CHART</a:t>
            </a:r>
          </a:p>
          <a:p>
            <a:r>
              <a:t>- The nine numbers are compressed onto two axes with a method called PCA; the axes have no units, only distance matters.</a:t>
            </a:r>
          </a:p>
          <a:p>
            <a:r>
              <a:t>- Colors = industry. Overlapping colors = different industries with the same shape.</a:t>
            </a:r>
          </a:p>
          <a:p/>
          <a:p>
            <a:r>
              <a:t>SUPPORTING EVIDENCE</a:t>
            </a:r>
          </a:p>
          <a:p>
            <a:r>
              <a:t>We trained the AI on three industries and tested it on the fourth, unseen one, four times: it still picked the better quantum kind 72-100% of the time, with prediction errors of only 0.01-0.05. Networks were hardest because they differ most from the others.</a:t>
            </a:r>
          </a:p>
          <a:p/>
          <a:p>
            <a:r>
              <a:t>IF A JUDGE ASKS</a:t>
            </a:r>
          </a:p>
          <a:p>
            <a:r>
              <a:t>Q: What does pattern recognition mean here?</a:t>
            </a:r>
          </a:p>
          <a:p>
            <a:r>
              <a:t>A: Two things: the AI learns which solver fits which fingerprint, and we find each problem's closest-shaped "twin" to reuse its settings. Both work across industries because the shapes overlap.</a:t>
            </a:r>
          </a:p>
          <a:p>
            <a:r>
              <a:t>Q: Why does that matter?</a:t>
            </a:r>
          </a:p>
          <a:p>
            <a:r>
              <a:t>A: It lets us reuse what we learned instead of paying for it again in quantum time. The next two slides show the savings.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7 · COPY SETTINGS FROM A TWIN · target 0:40</a:t>
            </a:r>
          </a:p>
          <a:p/>
          <a:p>
            <a:r>
              <a:t>WHAT TO SAY</a:t>
            </a:r>
          </a:p>
          <a:p>
            <a:r>
              <a:t>"First payoff: tuning a quantum recipe normally takes about 60 trial runs. Q-Router instead finds the closest problem from a different industry, its twin, copies its dials, and runs once. Across all 60 problems, copied settings score 0.60, close to 0.63 for full tuning. The key check: copying from a random problem scores 0.58, no better than not tuning at all, so it's the shape match that helps. That's about half the benefit of tuning for one sixtieth of the effort."</a:t>
            </a:r>
          </a:p>
          <a:p/>
          <a:p>
            <a:r>
              <a:t>HOW TO READ THE CHART</a:t>
            </a:r>
          </a:p>
          <a:p>
            <a:r>
              <a:t>- The gap between "default dials" (0.581) and "tuned from scratch" (0.633) is what tuning buys. The twin (0.599) closes about half of it with 1 try instead of 60.</a:t>
            </a:r>
          </a:p>
          <a:p>
            <a:r>
              <a:t>- The random copy (0.577) is the control: same cost, also from another industry, no gain.</a:t>
            </a:r>
          </a:p>
          <a:p>
            <a:r>
              <a:t>- Table: results by industry. It works best for stocks and drugs and doesn't help medical tests (0.532 vs 0.555 default); we say that openly.</a:t>
            </a:r>
          </a:p>
          <a:p>
            <a:r>
              <a:t>- Statistics: the twin beats the random copy by 0.023 ± 0.010 (standard error) and wins on 65% of problems.</a:t>
            </a:r>
          </a:p>
          <a:p/>
          <a:p>
            <a:r>
              <a:t>HOW THE TWIN IS FOUND</a:t>
            </a:r>
          </a:p>
          <a:p>
            <a:r>
              <a:t>Rescale the nine fingerprint numbers so none dominates, measure the distance between fingerprints, keep only other industries, take the closest. A lookup, not a guess.</a:t>
            </a:r>
          </a:p>
          <a:p/>
          <a:p>
            <a:r>
              <a:t>IF A JUDGE ASKS</a:t>
            </a:r>
          </a:p>
          <a:p>
            <a:r>
              <a:t>Q: Hasn't copying QAOA settings been done before?</a:t>
            </a:r>
          </a:p>
          <a:p>
            <a:r>
              <a:t>A: Yes, between similar math problems (parameter concentration), and a 2025 study did it across problem types. What's new in ours: real industry decisions with real data, a random-copy control, and combining it with routing and packing to measure the quantum time saved.</a:t>
            </a:r>
          </a:p>
          <a:p>
            <a:r>
              <a:t>Q: Why does copying work at all?</a:t>
            </a:r>
          </a:p>
          <a:p>
            <a:r>
              <a:t>A: All score sheets are rescaled to the same size, so problems with similar shapes need similar dial settings.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8 · MANY PROBLEMS, ONE RUN · target 0:40</a:t>
            </a:r>
          </a:p>
          <a:p/>
          <a:p>
            <a:r>
              <a:t>WHAT TO SAY</a:t>
            </a:r>
          </a:p>
          <a:p>
            <a:r>
              <a:t>"Second payoff: problems with the same shape can share one run. We grouped four problems from four industries into two shape families, tuned only one problem per family, and packed all four side by side into a single 16-qubit job. Compared with the normal way, that's half the tunings, one chip job instead of four, and four times fewer quantum shots, which is what you pay for. In simulation we kept 96% of the quality; on the real IBM chip, 90%."</a:t>
            </a:r>
          </a:p>
          <a:p/>
          <a:p>
            <a:r>
              <a:t>HOW TO READ IT</a:t>
            </a:r>
          </a:p>
          <a:p>
            <a:r>
              <a:t>- Left: 4 problems → 2 shape families (grouped by fingerprint with k-means) → 1 chip job.</a:t>
            </a:r>
          </a:p>
          <a:p>
            <a:r>
              <a:t>- Chart: what Q-Router used as a percentage of the normal way (shorter is better): 50% of the tunings, 48% of the tuning runs, 25% of the jobs, 25% of the shots (4,096 instead of 16,384).</a:t>
            </a:r>
          </a:p>
          <a:p>
            <a:r>
              <a:t>- Table: quality (1 = best). Simulation 0.524 → 0.504 packed. Real ibm_kingston 0.528 → 0.475 packed.</a:t>
            </a:r>
          </a:p>
          <a:p>
            <a:r>
              <a:t>- Where the loss comes from: almost entirely one network problem grouped with the finance problems (0.58 alone → about 0.42 shared on the real chip). Packing itself costs very little: when we packed three industries on the real chip, each lost only 0.01-0.03.</a:t>
            </a:r>
          </a:p>
          <a:p/>
          <a:p>
            <a:r>
              <a:t>IF A JUDGE ASKS</a:t>
            </a:r>
          </a:p>
          <a:p>
            <a:r>
              <a:t>Q: Could you pack 20 problems?</a:t>
            </a:r>
          </a:p>
          <a:p>
            <a:r>
              <a:t>A: The chip has 156 qubits, so more fit, but more neighbors means more crosstalk. We measured 0.01-0.03 with three problems; scaling up is a next step.</a:t>
            </a:r>
          </a:p>
          <a:p>
            <a:r>
              <a:t>Q: Is 90% quality worth it?</a:t>
            </a:r>
          </a:p>
          <a:p>
            <a:r>
              <a:t>A: For exploring with scarce quantum time, yes: 4× less quantum time for a small quality loss. For a final decision, you'd check the best answers on a laptop anyway.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9 · GATE-BASED VS. ANNEALING, PIECE BY PIECE · target 0:45</a:t>
            </a:r>
          </a:p>
          <a:p/>
          <a:p>
            <a:r>
              <a:t>WHAT TO SAY</a:t>
            </a:r>
          </a:p>
          <a:p>
            <a:r>
              <a:t>"Now the key comparison, on the real IBM chip. We split one decision, drug funding plus clinical-trial sites, into three pieces and ran both quantum kinds on every piece. Gate-based wins the dense drug piece, 0.55 to 0.34. Annealing wins both sparse trial-site pieces, 0.42 to 0.38 and 0.73 to 0.41. Why? Annealing needs about seven times more link steps, and every step can fail, so it only pays off where choices are loosely linked. Mixing them beats either one alone: 0.55, versus 0.45 for all gate-based and 0.49 for all annealing. Our chip simulation predicted the same winners."</a:t>
            </a:r>
          </a:p>
          <a:p/>
          <a:p>
            <a:r>
              <a:t>HOW TO READ THE CHART</a:t>
            </a:r>
          </a:p>
          <a:p>
            <a:r>
              <a:t>Each pair of bars is one piece solved both ways on ibm_kingston. Score 1 = true best, 0 = random guess.</a:t>
            </a:r>
          </a:p>
          <a:p/>
          <a:p>
            <a:r>
              <a:t>THE TEST PROBLEM</a:t>
            </a:r>
          </a:p>
          <a:p>
            <a:r>
              <a:t>- Part A (dense): fund 3 of 8 drugs; every choice affects every other.</a:t>
            </a:r>
          </a:p>
          <a:p>
            <a:r>
              <a:t>- Part B (sparse): split 10 trial sites between two research partners; each site affects only a few neighbors.</a:t>
            </a:r>
          </a:p>
          <a:p>
            <a:r>
              <a:t>- A small link between parts: a bonus when a funded drug's trial site is chosen. Spectral clustering split it into pieces of 8, 7 and 3.</a:t>
            </a:r>
          </a:p>
          <a:p/>
          <a:p>
            <a:r>
              <a:t>ACROSS ALL 60 PRACTICE PROBLEMS (simulation)</a:t>
            </a:r>
          </a:p>
          <a:p>
            <a:r>
              <a:t>Annealing won 0 of 11 stock problems and 2 of 16 drug problems (fully connected), but 4 of 15 medical-test problems and 10 of 18 network problems (looser). The same density pattern.</a:t>
            </a:r>
          </a:p>
          <a:p/>
          <a:p>
            <a:r>
              <a:t>IF A JUDGE ASKS</a:t>
            </a:r>
          </a:p>
          <a:p>
            <a:r>
              <a:t>Q: Did the router choose correctly?</a:t>
            </a:r>
          </a:p>
          <a:p>
            <a:r>
              <a:t>A: Two of three pieces, the same on the simulator and the real chip. It chose gate-based for trial sites A, where annealing was slightly better, because its error estimate for long annealing recipes is imperfect.</a:t>
            </a:r>
          </a:p>
          <a:p>
            <a:r>
              <a:t>Q: Is one example enough?</a:t>
            </a:r>
          </a:p>
          <a:p>
            <a:r>
              <a:t>A: This one shows it clearly on hardware; the 60 practice problems show the same pattern statistically.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10 · REAL IBM HARDWARE · target 0:40</a:t>
            </a:r>
          </a:p>
          <a:p/>
          <a:p>
            <a:r>
              <a:t>WHAT TO SAY</a:t>
            </a:r>
          </a:p>
          <a:p>
            <a:r>
              <a:t>"Finally, the full real-hardware test on IBM's 156-qubit ibm_kingston. We ran our drug problem, fund 3 of 8, four ways. With no errors, annealing beats gate-based, 0.80 to 0.72. On the real chip it flips: gate-based 0.64, annealing 0.55, because annealing needs about six times more link steps. That's exactly why a router is needed. What did the chip actually answer? Its most common answer was a good set, but not the best one. Still, the true best set was among its answers in every run, two to three times more often than random guessing, and a laptop finds it directly. One surprise: IBM's error-reducing tricks made our scores worse, especially for long recipes. We report that honestly."</a:t>
            </a:r>
          </a:p>
          <a:p/>
          <a:p>
            <a:r>
              <a:t>HOW TO READ THE CHART</a:t>
            </a:r>
          </a:p>
          <a:p>
            <a:r>
              <a:t>Four bars per method, from ideal to real: perfect simulator → copy of the chip with its errors → real chip → real chip with error fixes. Score 1 = true best, 0 = random guess.</a:t>
            </a:r>
          </a:p>
          <a:p>
            <a:r>
              <a:t>- Gate-based (102 link steps): 0.72 → 0.67 → 0.64 → 0.58</a:t>
            </a:r>
          </a:p>
          <a:p>
            <a:r>
              <a:t>- Annealing (658 link steps): 0.80 → 0.67 → 0.55 → 0.36</a:t>
            </a:r>
          </a:p>
          <a:p>
            <a:r>
              <a:t>- Laptop: 0.93</a:t>
            </a:r>
          </a:p>
          <a:p/>
          <a:p>
            <a:r>
              <a:t>THE CHIP'S ACTUAL ANSWERS (4,096 shots per run)</a:t>
            </a:r>
          </a:p>
          <a:p>
            <a:r>
              <a:t>- True best set: onco-II-0, immu-III-2, card-III-3 (names = disease area, trial phase, candidate number).</a:t>
            </a:r>
          </a:p>
          <a:p>
            <a:r>
              <a:t>- Most common answers on the chip were other good sets (e.g. annealing: immu-III-2, card-III-3, card-I-4, two of three right).</a:t>
            </a:r>
          </a:p>
          <a:p>
            <a:r>
              <a:t>- The true best appeared in 0.7-1.1% of shots vs 0.4% for random guessing, and it was the best-scoring answer in every run's shots. In practice you check each shot on the score sheet and keep the best one.</a:t>
            </a:r>
          </a:p>
          <a:p/>
          <a:p>
            <a:r>
              <a:t>NOISE ANALYSIS</a:t>
            </a:r>
          </a:p>
          <a:p>
            <a:r>
              <a:t>- Our chip-copy model was close for gate-based (0.67 predicted vs 0.64 real) but too optimistic for annealing (0.67 vs 0.55): long recipes suffer extra errors the model misses.</a:t>
            </a:r>
          </a:p>
          <a:p>
            <a:r>
              <a:t>- Error fixes (dynamical decoupling + Pauli twirling) lowered scores: gate 0.64 → 0.58, annealing 0.55 → 0.36. Twirling randomizes every step; on long circuits it added more harm than it removed.</a:t>
            </a:r>
          </a:p>
          <a:p>
            <a:r>
              <a:t>- In simulation, zero-noise extrapolation recovered about 25% of the lost quality.</a:t>
            </a:r>
          </a:p>
          <a:p>
            <a:r>
              <a:t>- QPU use: 7 jobs, a few minutes of our 10.</a:t>
            </a:r>
          </a:p>
          <a:p/>
          <a:p>
            <a:r>
              <a:t>IF A JUDGE ASKS</a:t>
            </a:r>
          </a:p>
          <a:p>
            <a:r>
              <a:t>Q: Simulator vs. hardware, what did you learn?</a:t>
            </a:r>
          </a:p>
          <a:p>
            <a:r>
              <a:t>A: The ranking held: gate-based wins dense problems on the real chip. The chip was worse than our model for long recipes, and mitigation didn't help here.</a:t>
            </a:r>
          </a:p>
          <a:p>
            <a:r>
              <a:t>Q: Did you get a solution?</a:t>
            </a:r>
          </a:p>
          <a:p>
            <a:r>
              <a:t>A: Yes: the chip's samples contained the true best set in every run, but its most common answer wasn't it. A laptop finds the best set every time, which is why we claim no quantum advantage.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1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1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0"/>
          <p:cNvSpPr/>
          <p:nvPr>
            <p:ph idx="2" type="pic"/>
          </p:nvPr>
        </p:nvSpPr>
        <p:spPr>
          <a:xfrm>
            <a:off x="1792288" y="612775"/>
            <a:ext cx="5486400" cy="4114800"/>
          </a:xfrm>
          <a:prstGeom prst="rect">
            <a:avLst/>
          </a:prstGeom>
          <a:noFill/>
          <a:ln>
            <a:noFill/>
          </a:ln>
        </p:spPr>
      </p:sp>
      <p:sp>
        <p:nvSpPr>
          <p:cNvPr id="64" name="Google Shape;64;p2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84" name="Shape 84"/>
        <p:cNvGrpSpPr/>
        <p:nvPr/>
      </p:nvGrpSpPr>
      <p:grpSpPr>
        <a:xfrm>
          <a:off x="0" y="0"/>
          <a:ext cx="0" cy="0"/>
          <a:chOff x="0" y="0"/>
          <a:chExt cx="0" cy="0"/>
        </a:xfrm>
      </p:grpSpPr>
      <p:cxnSp>
        <p:nvCxnSpPr>
          <p:cNvPr id="85" name="Google Shape;85;p1"/>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6" name="Google Shape;86;p1"/>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7" name="Google Shape;87;p1"/>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8" name="Google Shape;88;p1"/>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9" name="Google Shape;89;p1"/>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0" name="Google Shape;90;p1"/>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1" name="Google Shape;91;p1"/>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2" name="Google Shape;92;p1"/>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3" name="Google Shape;93;p1"/>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4" name="Google Shape;94;p1"/>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5" name="Google Shape;95;p1"/>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6" name="Google Shape;96;p1"/>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7" name="Google Shape;97;p1"/>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8" name="Google Shape;98;p1"/>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9" name="Google Shape;99;p1"/>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0" name="Google Shape;100;p1"/>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1" name="Google Shape;101;p1"/>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2" name="Google Shape;102;p1"/>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3" name="Google Shape;103;p1"/>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4" name="Google Shape;104;p1"/>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105" name="Google Shape;105;p1"/>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 name="Google Shape;106;p1"/>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108" name="Google Shape;108;p1"/>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109" name="Google Shape;109;p1"/>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110" name="Google Shape;110;p1"/>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111" name="Google Shape;111;p1"/>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01</a:t>
            </a:r>
            <a:endParaRPr/>
          </a:p>
        </p:txBody>
      </p:sp>
      <p:cxnSp>
        <p:nvCxnSpPr>
          <p:cNvPr id="112" name="Google Shape;112;p1"/>
          <p:cNvCxnSpPr/>
          <p:nvPr/>
        </p:nvCxnSpPr>
        <p:spPr>
          <a:xfrm flipH="1" rot="10800000">
            <a:off x="6318789" y="3969608"/>
            <a:ext cx="719382" cy="70544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3" name="Google Shape;113;p1"/>
          <p:cNvCxnSpPr/>
          <p:nvPr/>
        </p:nvCxnSpPr>
        <p:spPr>
          <a:xfrm>
            <a:off x="7492181" y="3596301"/>
            <a:ext cx="431499" cy="17080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4" name="Google Shape;114;p1"/>
          <p:cNvCxnSpPr/>
          <p:nvPr/>
        </p:nvCxnSpPr>
        <p:spPr>
          <a:xfrm flipH="1" rot="10800000">
            <a:off x="7492181" y="3029682"/>
            <a:ext cx="791242" cy="566619"/>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5" name="Google Shape;115;p1"/>
          <p:cNvCxnSpPr/>
          <p:nvPr/>
        </p:nvCxnSpPr>
        <p:spPr>
          <a:xfrm flipH="1">
            <a:off x="7038171" y="3596301"/>
            <a:ext cx="454010" cy="373307"/>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6" name="Google Shape;116;p1"/>
          <p:cNvCxnSpPr/>
          <p:nvPr/>
        </p:nvCxnSpPr>
        <p:spPr>
          <a:xfrm flipH="1" rot="10800000">
            <a:off x="7923680" y="3029682"/>
            <a:ext cx="359743" cy="737421"/>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7" name="Google Shape;117;p1"/>
          <p:cNvCxnSpPr/>
          <p:nvPr/>
        </p:nvCxnSpPr>
        <p:spPr>
          <a:xfrm flipH="1">
            <a:off x="7038171" y="3767103"/>
            <a:ext cx="885509" cy="20250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8" name="Google Shape;118;p1"/>
          <p:cNvCxnSpPr/>
          <p:nvPr/>
        </p:nvCxnSpPr>
        <p:spPr>
          <a:xfrm flipH="1" rot="10800000">
            <a:off x="7167871" y="1497679"/>
            <a:ext cx="200400" cy="85408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9" name="Google Shape;119;p1"/>
          <p:cNvCxnSpPr/>
          <p:nvPr/>
        </p:nvCxnSpPr>
        <p:spPr>
          <a:xfrm rot="10800000">
            <a:off x="7149069" y="1736020"/>
            <a:ext cx="18802" cy="615739"/>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0" name="Google Shape;120;p1"/>
          <p:cNvCxnSpPr/>
          <p:nvPr/>
        </p:nvCxnSpPr>
        <p:spPr>
          <a:xfrm flipH="1" rot="10800000">
            <a:off x="7167871" y="2345664"/>
            <a:ext cx="900673" cy="609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1" name="Google Shape;121;p1"/>
          <p:cNvCxnSpPr/>
          <p:nvPr/>
        </p:nvCxnSpPr>
        <p:spPr>
          <a:xfrm flipH="1" rot="10800000">
            <a:off x="7167871" y="2210972"/>
            <a:ext cx="686923" cy="140787"/>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2" name="Google Shape;122;p1"/>
          <p:cNvCxnSpPr/>
          <p:nvPr/>
        </p:nvCxnSpPr>
        <p:spPr>
          <a:xfrm flipH="1">
            <a:off x="7149069" y="1497679"/>
            <a:ext cx="219202" cy="238341"/>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3" name="Google Shape;123;p1"/>
          <p:cNvCxnSpPr/>
          <p:nvPr/>
        </p:nvCxnSpPr>
        <p:spPr>
          <a:xfrm rot="10800000">
            <a:off x="7149069" y="1736020"/>
            <a:ext cx="739405" cy="59626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4" name="Google Shape;124;p1"/>
          <p:cNvCxnSpPr/>
          <p:nvPr/>
        </p:nvCxnSpPr>
        <p:spPr>
          <a:xfrm>
            <a:off x="7888474" y="2332282"/>
            <a:ext cx="394949" cy="69740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5" name="Google Shape;125;p1"/>
          <p:cNvCxnSpPr/>
          <p:nvPr/>
        </p:nvCxnSpPr>
        <p:spPr>
          <a:xfrm>
            <a:off x="8397248" y="4925554"/>
            <a:ext cx="645443" cy="384089"/>
          </a:xfrm>
          <a:prstGeom prst="straightConnector1">
            <a:avLst/>
          </a:prstGeom>
          <a:noFill/>
          <a:ln cap="flat" cmpd="sng" w="9525">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126" name="Google Shape;126;p1"/>
          <p:cNvCxnSpPr/>
          <p:nvPr/>
        </p:nvCxnSpPr>
        <p:spPr>
          <a:xfrm flipH="1">
            <a:off x="7791221" y="4296751"/>
            <a:ext cx="300174" cy="75223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7" name="Google Shape;127;p1"/>
          <p:cNvCxnSpPr/>
          <p:nvPr/>
        </p:nvCxnSpPr>
        <p:spPr>
          <a:xfrm rot="10800000">
            <a:off x="6373606" y="1333178"/>
            <a:ext cx="775463" cy="40284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8" name="Google Shape;128;p1"/>
          <p:cNvCxnSpPr/>
          <p:nvPr/>
        </p:nvCxnSpPr>
        <p:spPr>
          <a:xfrm rot="10800000">
            <a:off x="8068544" y="2345664"/>
            <a:ext cx="214879" cy="684018"/>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9" name="Google Shape;129;p1"/>
          <p:cNvCxnSpPr/>
          <p:nvPr/>
        </p:nvCxnSpPr>
        <p:spPr>
          <a:xfrm rot="10800000">
            <a:off x="7854794" y="2210972"/>
            <a:ext cx="213750" cy="13469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30" name="Google Shape;130;p1"/>
          <p:cNvCxnSpPr/>
          <p:nvPr/>
        </p:nvCxnSpPr>
        <p:spPr>
          <a:xfrm rot="10800000">
            <a:off x="9433087" y="4260964"/>
            <a:ext cx="895509" cy="61886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1" name="Google Shape;131;p1"/>
          <p:cNvCxnSpPr/>
          <p:nvPr/>
        </p:nvCxnSpPr>
        <p:spPr>
          <a:xfrm rot="10800000">
            <a:off x="10267989" y="4331226"/>
            <a:ext cx="60607" cy="548598"/>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2" name="Google Shape;132;p1"/>
          <p:cNvCxnSpPr/>
          <p:nvPr/>
        </p:nvCxnSpPr>
        <p:spPr>
          <a:xfrm rot="10800000">
            <a:off x="9744079" y="4201233"/>
            <a:ext cx="584517" cy="678591"/>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3" name="Google Shape;133;p1"/>
          <p:cNvCxnSpPr/>
          <p:nvPr/>
        </p:nvCxnSpPr>
        <p:spPr>
          <a:xfrm flipH="1" rot="10800000">
            <a:off x="10328596" y="4604049"/>
            <a:ext cx="256087" cy="27577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4" name="Google Shape;134;p1"/>
          <p:cNvCxnSpPr/>
          <p:nvPr/>
        </p:nvCxnSpPr>
        <p:spPr>
          <a:xfrm flipH="1" rot="10800000">
            <a:off x="9184566" y="3118428"/>
            <a:ext cx="820897" cy="463662"/>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5" name="Google Shape;135;p1"/>
          <p:cNvCxnSpPr/>
          <p:nvPr/>
        </p:nvCxnSpPr>
        <p:spPr>
          <a:xfrm>
            <a:off x="9184566" y="3582090"/>
            <a:ext cx="559513" cy="619143"/>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6" name="Google Shape;136;p1"/>
          <p:cNvCxnSpPr/>
          <p:nvPr/>
        </p:nvCxnSpPr>
        <p:spPr>
          <a:xfrm flipH="1">
            <a:off x="10818504" y="2172655"/>
            <a:ext cx="124815" cy="88994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7" name="Google Shape;137;p1"/>
          <p:cNvCxnSpPr/>
          <p:nvPr/>
        </p:nvCxnSpPr>
        <p:spPr>
          <a:xfrm flipH="1">
            <a:off x="11122253" y="5687873"/>
            <a:ext cx="61084" cy="362134"/>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8" name="Google Shape;138;p1"/>
          <p:cNvCxnSpPr/>
          <p:nvPr/>
        </p:nvCxnSpPr>
        <p:spPr>
          <a:xfrm>
            <a:off x="9901317" y="3013162"/>
            <a:ext cx="104146" cy="10526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9" name="Google Shape;139;p1"/>
          <p:cNvCxnSpPr/>
          <p:nvPr/>
        </p:nvCxnSpPr>
        <p:spPr>
          <a:xfrm>
            <a:off x="9901317" y="3013162"/>
            <a:ext cx="215704" cy="64683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0" name="Google Shape;140;p1"/>
          <p:cNvCxnSpPr/>
          <p:nvPr/>
        </p:nvCxnSpPr>
        <p:spPr>
          <a:xfrm>
            <a:off x="9901317" y="3013162"/>
            <a:ext cx="917187" cy="4944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1" name="Google Shape;141;p1"/>
          <p:cNvCxnSpPr/>
          <p:nvPr/>
        </p:nvCxnSpPr>
        <p:spPr>
          <a:xfrm flipH="1" rot="10800000">
            <a:off x="10005463" y="3062602"/>
            <a:ext cx="813041" cy="5582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2" name="Google Shape;142;p1"/>
          <p:cNvCxnSpPr/>
          <p:nvPr/>
        </p:nvCxnSpPr>
        <p:spPr>
          <a:xfrm rot="10800000">
            <a:off x="9748057" y="5890210"/>
            <a:ext cx="923350" cy="336681"/>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3" name="Google Shape;143;p1"/>
          <p:cNvCxnSpPr/>
          <p:nvPr/>
        </p:nvCxnSpPr>
        <p:spPr>
          <a:xfrm rot="10800000">
            <a:off x="9894859" y="6207874"/>
            <a:ext cx="776548" cy="1901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4" name="Google Shape;144;p1"/>
          <p:cNvCxnSpPr/>
          <p:nvPr/>
        </p:nvCxnSpPr>
        <p:spPr>
          <a:xfrm>
            <a:off x="10117021" y="3659997"/>
            <a:ext cx="150968" cy="671229"/>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5" name="Google Shape;145;p1"/>
          <p:cNvCxnSpPr/>
          <p:nvPr/>
        </p:nvCxnSpPr>
        <p:spPr>
          <a:xfrm flipH="1" rot="10800000">
            <a:off x="10117021" y="3062602"/>
            <a:ext cx="701483" cy="59739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6" name="Google Shape;146;p1"/>
          <p:cNvCxnSpPr/>
          <p:nvPr/>
        </p:nvCxnSpPr>
        <p:spPr>
          <a:xfrm rot="10800000">
            <a:off x="9433087" y="4260964"/>
            <a:ext cx="819784" cy="71317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7" name="Google Shape;147;p1"/>
          <p:cNvCxnSpPr/>
          <p:nvPr/>
        </p:nvCxnSpPr>
        <p:spPr>
          <a:xfrm flipH="1" rot="10800000">
            <a:off x="10252871" y="4331226"/>
            <a:ext cx="15118" cy="642914"/>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8" name="Google Shape;148;p1"/>
          <p:cNvCxnSpPr/>
          <p:nvPr/>
        </p:nvCxnSpPr>
        <p:spPr>
          <a:xfrm flipH="1">
            <a:off x="9748057" y="4974140"/>
            <a:ext cx="504814" cy="91607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9" name="Google Shape;149;p1"/>
          <p:cNvCxnSpPr/>
          <p:nvPr/>
        </p:nvCxnSpPr>
        <p:spPr>
          <a:xfrm rot="10800000">
            <a:off x="9744079" y="4201233"/>
            <a:ext cx="508792" cy="77290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0" name="Google Shape;150;p1"/>
          <p:cNvCxnSpPr/>
          <p:nvPr/>
        </p:nvCxnSpPr>
        <p:spPr>
          <a:xfrm>
            <a:off x="9433087" y="4260964"/>
            <a:ext cx="834902" cy="70262"/>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1" name="Google Shape;151;p1"/>
          <p:cNvCxnSpPr/>
          <p:nvPr/>
        </p:nvCxnSpPr>
        <p:spPr>
          <a:xfrm>
            <a:off x="10267989" y="4331226"/>
            <a:ext cx="316694" cy="272823"/>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2" name="Google Shape;152;p1"/>
          <p:cNvCxnSpPr/>
          <p:nvPr/>
        </p:nvCxnSpPr>
        <p:spPr>
          <a:xfrm>
            <a:off x="9744079" y="4201233"/>
            <a:ext cx="840604" cy="40281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sp>
        <p:nvSpPr>
          <p:cNvPr id="153" name="Google Shape;153;p1"/>
          <p:cNvSpPr/>
          <p:nvPr/>
        </p:nvSpPr>
        <p:spPr>
          <a:xfrm>
            <a:off x="6286785" y="4643044"/>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 name="Google Shape;154;p1"/>
          <p:cNvSpPr/>
          <p:nvPr/>
        </p:nvSpPr>
        <p:spPr>
          <a:xfrm>
            <a:off x="7469321" y="3573441"/>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 name="Google Shape;155;p1"/>
          <p:cNvSpPr/>
          <p:nvPr/>
        </p:nvSpPr>
        <p:spPr>
          <a:xfrm>
            <a:off x="6405115" y="5160642"/>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 name="Google Shape;156;p1"/>
          <p:cNvSpPr/>
          <p:nvPr/>
        </p:nvSpPr>
        <p:spPr>
          <a:xfrm>
            <a:off x="7891676" y="3735099"/>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
          <p:cNvSpPr/>
          <p:nvPr/>
        </p:nvSpPr>
        <p:spPr>
          <a:xfrm>
            <a:off x="7126723" y="2310611"/>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 name="Google Shape;158;p1"/>
          <p:cNvSpPr/>
          <p:nvPr/>
        </p:nvSpPr>
        <p:spPr>
          <a:xfrm>
            <a:off x="5892103" y="3020136"/>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 name="Google Shape;159;p1"/>
          <p:cNvSpPr/>
          <p:nvPr/>
        </p:nvSpPr>
        <p:spPr>
          <a:xfrm>
            <a:off x="7327123" y="1456531"/>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1"/>
          <p:cNvSpPr/>
          <p:nvPr/>
        </p:nvSpPr>
        <p:spPr>
          <a:xfrm>
            <a:off x="7833610" y="2277418"/>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1"/>
          <p:cNvSpPr/>
          <p:nvPr/>
        </p:nvSpPr>
        <p:spPr>
          <a:xfrm>
            <a:off x="6465043" y="133692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 name="Google Shape;162;p1"/>
          <p:cNvSpPr/>
          <p:nvPr/>
        </p:nvSpPr>
        <p:spPr>
          <a:xfrm>
            <a:off x="8374388" y="490269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1"/>
          <p:cNvSpPr/>
          <p:nvPr/>
        </p:nvSpPr>
        <p:spPr>
          <a:xfrm>
            <a:off x="8068535" y="4273891"/>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 name="Google Shape;164;p1"/>
          <p:cNvSpPr/>
          <p:nvPr/>
        </p:nvSpPr>
        <p:spPr>
          <a:xfrm>
            <a:off x="5937209" y="2772464"/>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1"/>
          <p:cNvSpPr/>
          <p:nvPr/>
        </p:nvSpPr>
        <p:spPr>
          <a:xfrm>
            <a:off x="7126209" y="1713160"/>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1"/>
          <p:cNvSpPr/>
          <p:nvPr/>
        </p:nvSpPr>
        <p:spPr>
          <a:xfrm>
            <a:off x="8228559" y="2974818"/>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p1"/>
          <p:cNvSpPr/>
          <p:nvPr/>
        </p:nvSpPr>
        <p:spPr>
          <a:xfrm>
            <a:off x="6238621" y="5274307"/>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p1"/>
          <p:cNvSpPr/>
          <p:nvPr/>
        </p:nvSpPr>
        <p:spPr>
          <a:xfrm>
            <a:off x="6163892" y="5839802"/>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1"/>
          <p:cNvSpPr/>
          <p:nvPr/>
        </p:nvSpPr>
        <p:spPr>
          <a:xfrm>
            <a:off x="6983307" y="3914744"/>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 name="Google Shape;170;p1"/>
          <p:cNvSpPr/>
          <p:nvPr/>
        </p:nvSpPr>
        <p:spPr>
          <a:xfrm>
            <a:off x="6740202" y="3602132"/>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 name="Google Shape;171;p1"/>
          <p:cNvSpPr/>
          <p:nvPr/>
        </p:nvSpPr>
        <p:spPr>
          <a:xfrm>
            <a:off x="6341602" y="1301174"/>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 name="Google Shape;172;p1"/>
          <p:cNvSpPr/>
          <p:nvPr/>
        </p:nvSpPr>
        <p:spPr>
          <a:xfrm>
            <a:off x="8045684" y="232280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1"/>
          <p:cNvSpPr/>
          <p:nvPr/>
        </p:nvSpPr>
        <p:spPr>
          <a:xfrm>
            <a:off x="7831934" y="2188112"/>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 name="Google Shape;174;p1"/>
          <p:cNvSpPr/>
          <p:nvPr/>
        </p:nvSpPr>
        <p:spPr>
          <a:xfrm>
            <a:off x="8270509" y="5665813"/>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1"/>
          <p:cNvSpPr/>
          <p:nvPr/>
        </p:nvSpPr>
        <p:spPr>
          <a:xfrm>
            <a:off x="7768361" y="5026126"/>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 name="Google Shape;176;p1"/>
          <p:cNvSpPr/>
          <p:nvPr/>
        </p:nvSpPr>
        <p:spPr>
          <a:xfrm>
            <a:off x="10296592" y="4847820"/>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1"/>
          <p:cNvSpPr/>
          <p:nvPr/>
        </p:nvSpPr>
        <p:spPr>
          <a:xfrm>
            <a:off x="9143418" y="3540942"/>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 name="Google Shape;178;p1"/>
          <p:cNvSpPr/>
          <p:nvPr/>
        </p:nvSpPr>
        <p:spPr>
          <a:xfrm>
            <a:off x="10888455" y="2117791"/>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1"/>
          <p:cNvSpPr/>
          <p:nvPr/>
        </p:nvSpPr>
        <p:spPr>
          <a:xfrm>
            <a:off x="11128473" y="563300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p1"/>
          <p:cNvSpPr/>
          <p:nvPr/>
        </p:nvSpPr>
        <p:spPr>
          <a:xfrm>
            <a:off x="9846453" y="2958298"/>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1"/>
          <p:cNvSpPr/>
          <p:nvPr/>
        </p:nvSpPr>
        <p:spPr>
          <a:xfrm>
            <a:off x="9973459" y="3086424"/>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 name="Google Shape;182;p1"/>
          <p:cNvSpPr/>
          <p:nvPr/>
        </p:nvSpPr>
        <p:spPr>
          <a:xfrm>
            <a:off x="11307397" y="306774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 name="Google Shape;183;p1"/>
          <p:cNvSpPr/>
          <p:nvPr/>
        </p:nvSpPr>
        <p:spPr>
          <a:xfrm>
            <a:off x="8890950" y="156569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 name="Google Shape;184;p1"/>
          <p:cNvSpPr/>
          <p:nvPr/>
        </p:nvSpPr>
        <p:spPr>
          <a:xfrm>
            <a:off x="10630259" y="6185743"/>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1"/>
          <p:cNvSpPr/>
          <p:nvPr/>
        </p:nvSpPr>
        <p:spPr>
          <a:xfrm>
            <a:off x="10062157" y="3605133"/>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 name="Google Shape;186;p1"/>
          <p:cNvSpPr/>
          <p:nvPr/>
        </p:nvSpPr>
        <p:spPr>
          <a:xfrm>
            <a:off x="10220867" y="4942136"/>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1"/>
          <p:cNvSpPr/>
          <p:nvPr/>
        </p:nvSpPr>
        <p:spPr>
          <a:xfrm>
            <a:off x="9410227" y="4238104"/>
            <a:ext cx="45720" cy="45720"/>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 name="Google Shape;188;p1"/>
          <p:cNvSpPr/>
          <p:nvPr/>
        </p:nvSpPr>
        <p:spPr>
          <a:xfrm>
            <a:off x="10245129" y="4308366"/>
            <a:ext cx="45720" cy="45720"/>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1"/>
          <p:cNvSpPr/>
          <p:nvPr/>
        </p:nvSpPr>
        <p:spPr>
          <a:xfrm>
            <a:off x="9274987" y="1959115"/>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 name="Google Shape;190;p1"/>
          <p:cNvSpPr/>
          <p:nvPr/>
        </p:nvSpPr>
        <p:spPr>
          <a:xfrm>
            <a:off x="9716053" y="5858206"/>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 name="Google Shape;191;p1"/>
          <p:cNvSpPr/>
          <p:nvPr/>
        </p:nvSpPr>
        <p:spPr>
          <a:xfrm>
            <a:off x="9689215" y="414636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 name="Google Shape;192;p1"/>
          <p:cNvSpPr/>
          <p:nvPr/>
        </p:nvSpPr>
        <p:spPr>
          <a:xfrm>
            <a:off x="9603080" y="1630677"/>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1"/>
          <p:cNvSpPr/>
          <p:nvPr/>
        </p:nvSpPr>
        <p:spPr>
          <a:xfrm>
            <a:off x="9010687" y="5277639"/>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 name="Google Shape;194;p1"/>
          <p:cNvSpPr/>
          <p:nvPr/>
        </p:nvSpPr>
        <p:spPr>
          <a:xfrm>
            <a:off x="10763640" y="3007738"/>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 name="Google Shape;195;p1"/>
          <p:cNvSpPr/>
          <p:nvPr/>
        </p:nvSpPr>
        <p:spPr>
          <a:xfrm>
            <a:off x="10543535" y="4562901"/>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1"/>
          <p:cNvSpPr/>
          <p:nvPr/>
        </p:nvSpPr>
        <p:spPr>
          <a:xfrm>
            <a:off x="11090249" y="6018003"/>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 name="Google Shape;197;p1"/>
          <p:cNvSpPr/>
          <p:nvPr/>
        </p:nvSpPr>
        <p:spPr>
          <a:xfrm>
            <a:off x="9839995" y="615301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 name="Google Shape;198;p1"/>
          <p:cNvSpPr/>
          <p:nvPr/>
        </p:nvSpPr>
        <p:spPr>
          <a:xfrm>
            <a:off x="11223988" y="411197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
          <p:cNvSpPr/>
          <p:nvPr/>
        </p:nvSpPr>
        <p:spPr>
          <a:xfrm>
            <a:off x="438912" y="1234440"/>
            <a:ext cx="5623560" cy="4983480"/>
          </a:xfrm>
          <a:prstGeom prst="roundRect">
            <a:avLst>
              <a:gd fmla="val 12000" name="adj"/>
            </a:avLst>
          </a:prstGeom>
          <a:solidFill>
            <a:srgbClr val="050816"/>
          </a:solidFill>
          <a:ln cap="flat" cmpd="sng" w="12700">
            <a:solidFill>
              <a:srgbClr val="20315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 name="Google Shape;200;p1"/>
          <p:cNvSpPr/>
          <p:nvPr/>
        </p:nvSpPr>
        <p:spPr>
          <a:xfrm>
            <a:off x="749808" y="1572768"/>
            <a:ext cx="1965960" cy="292608"/>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
          <p:cNvSpPr txBox="1"/>
          <p:nvPr/>
        </p:nvSpPr>
        <p:spPr>
          <a:xfrm>
            <a:off x="795528" y="1636776"/>
            <a:ext cx="1874519"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FLORIDA QISKIT FALL FEST 2026</a:t>
            </a:r>
            <a:endParaRPr/>
          </a:p>
        </p:txBody>
      </p:sp>
      <p:sp>
        <p:nvSpPr>
          <p:cNvPr id="202" name="Google Shape;202;p1"/>
          <p:cNvSpPr txBox="1"/>
          <p:nvPr/>
        </p:nvSpPr>
        <p:spPr>
          <a:xfrm>
            <a:off x="749808" y="2084831"/>
            <a:ext cx="4892040" cy="6858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4200" u="none" cap="none" strike="noStrike">
                <a:solidFill>
                  <a:srgbClr val="F4F8FF"/>
                </a:solidFill>
                <a:latin typeface="Arial"/>
                <a:ea typeface="Arial"/>
                <a:cs typeface="Arial"/>
                <a:sym typeface="Arial"/>
              </a:rPr>
              <a:t>Q-Router</a:t>
            </a:r>
            <a:endParaRPr/>
          </a:p>
        </p:txBody>
      </p:sp>
      <p:sp>
        <p:nvSpPr>
          <p:cNvPr id="203" name="Google Shape;203;p1"/>
          <p:cNvSpPr txBox="1"/>
          <p:nvPr/>
        </p:nvSpPr>
        <p:spPr>
          <a:xfrm>
            <a:off x="777240" y="2871216"/>
            <a:ext cx="4800600" cy="96012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300" u="none" cap="none" strike="noStrike">
                <a:solidFill>
                  <a:srgbClr val="F4F8FF"/>
                </a:solidFill>
                <a:latin typeface="Arial"/>
                <a:ea typeface="Arial"/>
                <a:cs typeface="Arial"/>
                <a:sym typeface="Arial"/>
              </a:rPr>
              <a:t>One quantum engine for</a:t>
            </a:r>
            <a:br>
              <a:rPr b="1" i="0" lang="en-US" sz="2300" u="none" cap="none" strike="noStrike">
                <a:solidFill>
                  <a:srgbClr val="F4F8FF"/>
                </a:solidFill>
                <a:latin typeface="Arial"/>
                <a:ea typeface="Arial"/>
                <a:cs typeface="Arial"/>
                <a:sym typeface="Arial"/>
              </a:rPr>
            </a:br>
            <a:r>
              <a:rPr b="1" i="0" lang="en-US" sz="2300" u="none" cap="none" strike="noStrike">
                <a:solidFill>
                  <a:srgbClr val="F4F8FF"/>
                </a:solidFill>
                <a:latin typeface="Arial"/>
                <a:ea typeface="Arial"/>
                <a:cs typeface="Arial"/>
                <a:sym typeface="Arial"/>
              </a:rPr>
              <a:t>finance &amp; healthcare decisions</a:t>
            </a:r>
            <a:endParaRPr/>
          </a:p>
        </p:txBody>
      </p:sp>
      <p:sp>
        <p:nvSpPr>
          <p:cNvPr id="204" name="Google Shape;204;p1"/>
          <p:cNvSpPr txBox="1"/>
          <p:nvPr/>
        </p:nvSpPr>
        <p:spPr>
          <a:xfrm>
            <a:off x="786384" y="4069080"/>
            <a:ext cx="4526280" cy="56692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400" u="none" cap="none" strike="noStrike">
                <a:solidFill>
                  <a:srgbClr val="A1B1CD"/>
                </a:solidFill>
                <a:latin typeface="Arial"/>
                <a:ea typeface="Arial"/>
                <a:cs typeface="Arial"/>
                <a:sym typeface="Arial"/>
              </a:rPr>
              <a:t>A traffic controller for scarce quantum time: it reads a problem's shape and picks the right machine, or the laptop.</a:t>
            </a:r>
            <a:endParaRPr/>
          </a:p>
        </p:txBody>
      </p:sp>
      <p:sp>
        <p:nvSpPr>
          <p:cNvPr id="205" name="Google Shape;205;p1"/>
          <p:cNvSpPr/>
          <p:nvPr/>
        </p:nvSpPr>
        <p:spPr>
          <a:xfrm>
            <a:off x="786384" y="5074920"/>
            <a:ext cx="1051560" cy="347472"/>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1"/>
          <p:cNvSpPr txBox="1"/>
          <p:nvPr/>
        </p:nvSpPr>
        <p:spPr>
          <a:xfrm>
            <a:off x="813816"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27D6FF"/>
                </a:solidFill>
                <a:latin typeface="Arial"/>
                <a:ea typeface="Arial"/>
                <a:cs typeface="Arial"/>
                <a:sym typeface="Arial"/>
              </a:rPr>
              <a:t>PROBLEM</a:t>
            </a:r>
            <a:endParaRPr/>
          </a:p>
        </p:txBody>
      </p:sp>
      <p:cxnSp>
        <p:nvCxnSpPr>
          <p:cNvPr id="207" name="Google Shape;207;p1"/>
          <p:cNvCxnSpPr/>
          <p:nvPr/>
        </p:nvCxnSpPr>
        <p:spPr>
          <a:xfrm>
            <a:off x="1847088" y="5248656"/>
            <a:ext cx="164592"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08" name="Google Shape;208;p1"/>
          <p:cNvSpPr/>
          <p:nvPr/>
        </p:nvSpPr>
        <p:spPr>
          <a:xfrm>
            <a:off x="2048255" y="5074920"/>
            <a:ext cx="1051560" cy="347472"/>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1"/>
          <p:cNvSpPr txBox="1"/>
          <p:nvPr/>
        </p:nvSpPr>
        <p:spPr>
          <a:xfrm>
            <a:off x="2075687"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8C5DFF"/>
                </a:solidFill>
                <a:latin typeface="Arial"/>
                <a:ea typeface="Arial"/>
                <a:cs typeface="Arial"/>
                <a:sym typeface="Arial"/>
              </a:rPr>
              <a:t>FINGERPRINT</a:t>
            </a:r>
            <a:endParaRPr/>
          </a:p>
        </p:txBody>
      </p:sp>
      <p:cxnSp>
        <p:nvCxnSpPr>
          <p:cNvPr id="210" name="Google Shape;210;p1"/>
          <p:cNvCxnSpPr/>
          <p:nvPr/>
        </p:nvCxnSpPr>
        <p:spPr>
          <a:xfrm>
            <a:off x="3108959" y="5248656"/>
            <a:ext cx="164593"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11" name="Google Shape;211;p1"/>
          <p:cNvSpPr/>
          <p:nvPr/>
        </p:nvSpPr>
        <p:spPr>
          <a:xfrm>
            <a:off x="3310127" y="5074920"/>
            <a:ext cx="1051560" cy="347472"/>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1"/>
          <p:cNvSpPr txBox="1"/>
          <p:nvPr/>
        </p:nvSpPr>
        <p:spPr>
          <a:xfrm>
            <a:off x="3337559"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ROUTER</a:t>
            </a:r>
            <a:endParaRPr/>
          </a:p>
        </p:txBody>
      </p:sp>
      <p:cxnSp>
        <p:nvCxnSpPr>
          <p:cNvPr id="213" name="Google Shape;213;p1"/>
          <p:cNvCxnSpPr/>
          <p:nvPr/>
        </p:nvCxnSpPr>
        <p:spPr>
          <a:xfrm>
            <a:off x="4370831" y="5248656"/>
            <a:ext cx="164593"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14" name="Google Shape;214;p1"/>
          <p:cNvSpPr/>
          <p:nvPr/>
        </p:nvSpPr>
        <p:spPr>
          <a:xfrm>
            <a:off x="4572000" y="5074920"/>
            <a:ext cx="1051560" cy="347472"/>
          </a:xfrm>
          <a:prstGeom prst="roundRect">
            <a:avLst>
              <a:gd fmla="val 12000" name="adj"/>
            </a:avLst>
          </a:prstGeom>
          <a:solidFill>
            <a:srgbClr val="121B37"/>
          </a:solidFill>
          <a:ln cap="flat" cmpd="sng" w="12700">
            <a:solidFill>
              <a:srgbClr val="5BF0B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 name="Google Shape;215;p1"/>
          <p:cNvSpPr txBox="1"/>
          <p:nvPr/>
        </p:nvSpPr>
        <p:spPr>
          <a:xfrm>
            <a:off x="4599432"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5BF0B9"/>
                </a:solidFill>
                <a:latin typeface="Arial"/>
                <a:ea typeface="Arial"/>
                <a:cs typeface="Arial"/>
                <a:sym typeface="Arial"/>
              </a:rPr>
              <a:t>METHOD</a:t>
            </a:r>
            <a:endParaRPr/>
          </a:p>
        </p:txBody>
      </p:sp>
      <p:sp>
        <p:nvSpPr>
          <p:cNvPr id="216" name="Google Shape;216;p1"/>
          <p:cNvSpPr txBox="1"/>
          <p:nvPr/>
        </p:nvSpPr>
        <p:spPr>
          <a:xfrm>
            <a:off x="786384" y="5687568"/>
            <a:ext cx="438912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TEAM Q-ROUTER  •  7-MINUTE PRESENTATION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221" name="Shape 221"/>
        <p:cNvGrpSpPr/>
        <p:nvPr/>
      </p:nvGrpSpPr>
      <p:grpSpPr>
        <a:xfrm>
          <a:off x="0" y="0"/>
          <a:ext cx="0" cy="0"/>
          <a:chOff x="0" y="0"/>
          <a:chExt cx="0" cy="0"/>
        </a:xfrm>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02</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01 / THE PROBLEM</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Quantum time is scarce. Which machine do you pick?</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Every industry picks a subset under value, risk and rules. Our free IBM plan: 10 minutes per 28 days.</a:t>
            </a:r>
            <a:endParaRPr/>
          </a:p>
        </p:txBody>
      </p:sp>
      <p:sp>
        <p:nvSpPr>
          <p:cNvPr id="252" name="Google Shape;252;p2"/>
          <p:cNvSpPr/>
          <p:nvPr/>
        </p:nvSpPr>
        <p:spPr>
          <a:xfrm>
            <a:off x="62179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2"/>
          <p:cNvSpPr/>
          <p:nvPr/>
        </p:nvSpPr>
        <p:spPr>
          <a:xfrm>
            <a:off x="786384" y="2578608"/>
            <a:ext cx="50292" cy="1810512"/>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4" name="Google Shape;254;p2"/>
          <p:cNvSpPr txBox="1"/>
          <p:nvPr/>
        </p:nvSpPr>
        <p:spPr>
          <a:xfrm>
            <a:off x="96926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27D6FF"/>
                </a:solidFill>
                <a:latin typeface="Arial"/>
                <a:ea typeface="Arial"/>
                <a:cs typeface="Arial"/>
                <a:sym typeface="Arial"/>
              </a:rPr>
              <a:t>PHARMA</a:t>
            </a:r>
            <a:endParaRPr/>
          </a:p>
        </p:txBody>
      </p:sp>
      <p:sp>
        <p:nvSpPr>
          <p:cNvPr id="255" name="Google Shape;255;p2"/>
          <p:cNvSpPr txBox="1"/>
          <p:nvPr/>
        </p:nvSpPr>
        <p:spPr>
          <a:xfrm>
            <a:off x="96926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drugs to fund?</a:t>
            </a:r>
            <a:endParaRPr/>
          </a:p>
        </p:txBody>
      </p:sp>
      <p:sp>
        <p:nvSpPr>
          <p:cNvPr id="256" name="Google Shape;256;p2"/>
          <p:cNvSpPr txBox="1"/>
          <p:nvPr/>
        </p:nvSpPr>
        <p:spPr>
          <a:xfrm>
            <a:off x="96926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4 of 10 candidates while considering shared risk. Drug makers pay for quantum time by the second.</a:t>
            </a:r>
            <a:endParaRPr/>
          </a:p>
        </p:txBody>
      </p:sp>
      <p:sp>
        <p:nvSpPr>
          <p:cNvPr id="257" name="Google Shape;257;p2"/>
          <p:cNvSpPr/>
          <p:nvPr/>
        </p:nvSpPr>
        <p:spPr>
          <a:xfrm>
            <a:off x="2084832" y="2121407"/>
            <a:ext cx="512064" cy="512064"/>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8" name="Google Shape;258;p2"/>
          <p:cNvSpPr txBox="1"/>
          <p:nvPr/>
        </p:nvSpPr>
        <p:spPr>
          <a:xfrm>
            <a:off x="203911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Rx</a:t>
            </a:r>
            <a:endParaRPr/>
          </a:p>
        </p:txBody>
      </p:sp>
      <p:sp>
        <p:nvSpPr>
          <p:cNvPr id="259" name="Google Shape;259;p2"/>
          <p:cNvSpPr/>
          <p:nvPr/>
        </p:nvSpPr>
        <p:spPr>
          <a:xfrm>
            <a:off x="437083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2"/>
          <p:cNvSpPr/>
          <p:nvPr/>
        </p:nvSpPr>
        <p:spPr>
          <a:xfrm>
            <a:off x="4535424" y="2578608"/>
            <a:ext cx="50292" cy="1810512"/>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1" name="Google Shape;261;p2"/>
          <p:cNvSpPr txBox="1"/>
          <p:nvPr/>
        </p:nvSpPr>
        <p:spPr>
          <a:xfrm>
            <a:off x="471830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D948FF"/>
                </a:solidFill>
                <a:latin typeface="Arial"/>
                <a:ea typeface="Arial"/>
                <a:cs typeface="Arial"/>
                <a:sym typeface="Arial"/>
              </a:rPr>
              <a:t>FINANCE</a:t>
            </a:r>
            <a:endParaRPr/>
          </a:p>
        </p:txBody>
      </p:sp>
      <p:sp>
        <p:nvSpPr>
          <p:cNvPr id="262" name="Google Shape;262;p2"/>
          <p:cNvSpPr txBox="1"/>
          <p:nvPr/>
        </p:nvSpPr>
        <p:spPr>
          <a:xfrm>
            <a:off x="471830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assets to hold?</a:t>
            </a:r>
            <a:endParaRPr/>
          </a:p>
        </p:txBody>
      </p:sp>
      <p:sp>
        <p:nvSpPr>
          <p:cNvPr id="263" name="Google Shape;263;p2"/>
          <p:cNvSpPr txBox="1"/>
          <p:nvPr/>
        </p:nvSpPr>
        <p:spPr>
          <a:xfrm>
            <a:off x="471830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investments while balancing expected return and risk. Banks face the same subset choice.</a:t>
            </a:r>
            <a:endParaRPr/>
          </a:p>
        </p:txBody>
      </p:sp>
      <p:sp>
        <p:nvSpPr>
          <p:cNvPr id="264" name="Google Shape;264;p2"/>
          <p:cNvSpPr/>
          <p:nvPr/>
        </p:nvSpPr>
        <p:spPr>
          <a:xfrm>
            <a:off x="5833872" y="2121407"/>
            <a:ext cx="512064" cy="512064"/>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p2"/>
          <p:cNvSpPr txBox="1"/>
          <p:nvPr/>
        </p:nvSpPr>
        <p:spPr>
          <a:xfrm>
            <a:off x="578815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a:t>
            </a:r>
            <a:endParaRPr/>
          </a:p>
        </p:txBody>
      </p:sp>
      <p:sp>
        <p:nvSpPr>
          <p:cNvPr id="266" name="Google Shape;266;p2"/>
          <p:cNvSpPr/>
          <p:nvPr/>
        </p:nvSpPr>
        <p:spPr>
          <a:xfrm>
            <a:off x="811987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7" name="Google Shape;267;p2"/>
          <p:cNvSpPr/>
          <p:nvPr/>
        </p:nvSpPr>
        <p:spPr>
          <a:xfrm>
            <a:off x="8284464" y="2578608"/>
            <a:ext cx="50292" cy="1810512"/>
          </a:xfrm>
          <a:prstGeom prst="rect">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8" name="Google Shape;268;p2"/>
          <p:cNvSpPr txBox="1"/>
          <p:nvPr/>
        </p:nvSpPr>
        <p:spPr>
          <a:xfrm>
            <a:off x="846734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5BF0B9"/>
                </a:solidFill>
                <a:latin typeface="Arial"/>
                <a:ea typeface="Arial"/>
                <a:cs typeface="Arial"/>
                <a:sym typeface="Arial"/>
              </a:rPr>
              <a:t>HEALTHCARE</a:t>
            </a:r>
            <a:endParaRPr/>
          </a:p>
        </p:txBody>
      </p:sp>
      <p:sp>
        <p:nvSpPr>
          <p:cNvPr id="269" name="Google Shape;269;p2"/>
          <p:cNvSpPr txBox="1"/>
          <p:nvPr/>
        </p:nvSpPr>
        <p:spPr>
          <a:xfrm>
            <a:off x="846734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tests to order?</a:t>
            </a:r>
            <a:endParaRPr/>
          </a:p>
        </p:txBody>
      </p:sp>
      <p:sp>
        <p:nvSpPr>
          <p:cNvPr id="270" name="Google Shape;270;p2"/>
          <p:cNvSpPr txBox="1"/>
          <p:nvPr/>
        </p:nvSpPr>
        <p:spPr>
          <a:xfrm>
            <a:off x="846734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useful tests within cost limits. Researchers and students share tiny quantum budgets.</a:t>
            </a:r>
            <a:endParaRPr/>
          </a:p>
        </p:txBody>
      </p:sp>
      <p:sp>
        <p:nvSpPr>
          <p:cNvPr id="271" name="Google Shape;271;p2"/>
          <p:cNvSpPr/>
          <p:nvPr/>
        </p:nvSpPr>
        <p:spPr>
          <a:xfrm>
            <a:off x="9582912" y="2121407"/>
            <a:ext cx="512064" cy="512064"/>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2" name="Google Shape;272;p2"/>
          <p:cNvSpPr txBox="1"/>
          <p:nvPr/>
        </p:nvSpPr>
        <p:spPr>
          <a:xfrm>
            <a:off x="953719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a:t>
            </a:r>
            <a:endParaRPr/>
          </a:p>
        </p:txBody>
      </p:sp>
      <p:sp>
        <p:nvSpPr>
          <p:cNvPr id="273" name="Google Shape;273;p2"/>
          <p:cNvSpPr/>
          <p:nvPr/>
        </p:nvSpPr>
        <p:spPr>
          <a:xfrm>
            <a:off x="1298448" y="4983480"/>
            <a:ext cx="9601200" cy="658368"/>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4" name="Google Shape;274;p2"/>
          <p:cNvSpPr txBox="1"/>
          <p:nvPr/>
        </p:nvSpPr>
        <p:spPr>
          <a:xfrm>
            <a:off x="1554480" y="5175504"/>
            <a:ext cx="909828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500" u="none" cap="none" strike="noStrike">
                <a:solidFill>
                  <a:srgbClr val="F4F8FF"/>
                </a:solidFill>
                <a:latin typeface="Arial"/>
                <a:ea typeface="Arial"/>
                <a:cs typeface="Arial"/>
                <a:sym typeface="Arial"/>
              </a:rPr>
              <a:t>WHO IT AFFECTS: COMPANIES, CLOUD PROVIDERS AND RESEARCHERS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279" name="Shape 279"/>
        <p:cNvGrpSpPr/>
        <p:nvPr/>
      </p:nvGrpSpPr>
      <p:grpSpPr>
        <a:xfrm>
          <a:off x="0" y="0"/>
          <a:ext cx="0" cy="0"/>
          <a:chOff x="0" y="0"/>
          <a:chExt cx="0" cy="0"/>
        </a:xfrm>
      </p:grpSpPr>
      <p:cxnSp>
        <p:nvCxnSpPr>
          <p:cNvPr id="280" name="Google Shape;280;p3"/>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1" name="Google Shape;281;p3"/>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2" name="Google Shape;282;p3"/>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3" name="Google Shape;283;p3"/>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4" name="Google Shape;284;p3"/>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5" name="Google Shape;285;p3"/>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6" name="Google Shape;286;p3"/>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7" name="Google Shape;287;p3"/>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8" name="Google Shape;288;p3"/>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9" name="Google Shape;289;p3"/>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0" name="Google Shape;290;p3"/>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1" name="Google Shape;291;p3"/>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2" name="Google Shape;292;p3"/>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3" name="Google Shape;293;p3"/>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4" name="Google Shape;294;p3"/>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5" name="Google Shape;295;p3"/>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6" name="Google Shape;296;p3"/>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7" name="Google Shape;297;p3"/>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8" name="Google Shape;298;p3"/>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9" name="Google Shape;299;p3"/>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300" name="Google Shape;300;p3"/>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3"/>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2" name="Google Shape;302;p3"/>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303" name="Google Shape;303;p3"/>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304" name="Google Shape;304;p3"/>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305" name="Google Shape;305;p3"/>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306" name="Google Shape;306;p3"/>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03</a:t>
            </a:r>
            <a:endParaRPr/>
          </a:p>
        </p:txBody>
      </p:sp>
      <p:sp>
        <p:nvSpPr>
          <p:cNvPr id="307" name="Google Shape;307;p3"/>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02 / SHARED MATHEMATICS</a:t>
            </a:r>
            <a:endParaRPr/>
          </a:p>
        </p:txBody>
      </p:sp>
      <p:sp>
        <p:nvSpPr>
          <p:cNvPr id="308" name="Google Shape;308;p3"/>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Turn a real decision into a score.</a:t>
            </a:r>
            <a:endParaRPr/>
          </a:p>
        </p:txBody>
      </p:sp>
      <p:sp>
        <p:nvSpPr>
          <p:cNvPr id="309" name="Google Shape;309;p3"/>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QUBO gives every industry one shared format, so one router can serve them all.</a:t>
            </a:r>
            <a:endParaRPr/>
          </a:p>
        </p:txBody>
      </p:sp>
      <p:sp>
        <p:nvSpPr>
          <p:cNvPr id="310" name="Google Shape;310;p3"/>
          <p:cNvSpPr txBox="1"/>
          <p:nvPr/>
        </p:nvSpPr>
        <p:spPr>
          <a:xfrm>
            <a:off x="713232" y="2267712"/>
            <a:ext cx="329184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10 BINARY CHOICES</a:t>
            </a:r>
            <a:endParaRPr/>
          </a:p>
        </p:txBody>
      </p:sp>
      <p:sp>
        <p:nvSpPr>
          <p:cNvPr id="311" name="Google Shape;311;p3"/>
          <p:cNvSpPr/>
          <p:nvPr/>
        </p:nvSpPr>
        <p:spPr>
          <a:xfrm>
            <a:off x="777240" y="2697480"/>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3"/>
          <p:cNvSpPr txBox="1"/>
          <p:nvPr/>
        </p:nvSpPr>
        <p:spPr>
          <a:xfrm>
            <a:off x="777240"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x1</a:t>
            </a:r>
            <a:endParaRPr/>
          </a:p>
        </p:txBody>
      </p:sp>
      <p:sp>
        <p:nvSpPr>
          <p:cNvPr id="313" name="Google Shape;313;p3"/>
          <p:cNvSpPr/>
          <p:nvPr/>
        </p:nvSpPr>
        <p:spPr>
          <a:xfrm>
            <a:off x="1472184"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4" name="Google Shape;314;p3"/>
          <p:cNvSpPr txBox="1"/>
          <p:nvPr/>
        </p:nvSpPr>
        <p:spPr>
          <a:xfrm>
            <a:off x="1472184"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x2</a:t>
            </a:r>
            <a:endParaRPr/>
          </a:p>
        </p:txBody>
      </p:sp>
      <p:sp>
        <p:nvSpPr>
          <p:cNvPr id="315" name="Google Shape;315;p3"/>
          <p:cNvSpPr/>
          <p:nvPr/>
        </p:nvSpPr>
        <p:spPr>
          <a:xfrm>
            <a:off x="2167128" y="2697480"/>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6" name="Google Shape;316;p3"/>
          <p:cNvSpPr txBox="1"/>
          <p:nvPr/>
        </p:nvSpPr>
        <p:spPr>
          <a:xfrm>
            <a:off x="2167128"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x3</a:t>
            </a:r>
            <a:endParaRPr/>
          </a:p>
        </p:txBody>
      </p:sp>
      <p:sp>
        <p:nvSpPr>
          <p:cNvPr id="317" name="Google Shape;317;p3"/>
          <p:cNvSpPr/>
          <p:nvPr/>
        </p:nvSpPr>
        <p:spPr>
          <a:xfrm>
            <a:off x="2862072"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8" name="Google Shape;318;p3"/>
          <p:cNvSpPr txBox="1"/>
          <p:nvPr/>
        </p:nvSpPr>
        <p:spPr>
          <a:xfrm>
            <a:off x="2862072"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x4</a:t>
            </a:r>
            <a:endParaRPr/>
          </a:p>
        </p:txBody>
      </p:sp>
      <p:sp>
        <p:nvSpPr>
          <p:cNvPr id="319" name="Google Shape;319;p3"/>
          <p:cNvSpPr/>
          <p:nvPr/>
        </p:nvSpPr>
        <p:spPr>
          <a:xfrm>
            <a:off x="3557016"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3"/>
          <p:cNvSpPr txBox="1"/>
          <p:nvPr/>
        </p:nvSpPr>
        <p:spPr>
          <a:xfrm>
            <a:off x="3557016"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x5</a:t>
            </a:r>
            <a:endParaRPr/>
          </a:p>
        </p:txBody>
      </p:sp>
      <p:sp>
        <p:nvSpPr>
          <p:cNvPr id="321" name="Google Shape;321;p3"/>
          <p:cNvSpPr/>
          <p:nvPr/>
        </p:nvSpPr>
        <p:spPr>
          <a:xfrm>
            <a:off x="777240" y="3410712"/>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2" name="Google Shape;322;p3"/>
          <p:cNvSpPr txBox="1"/>
          <p:nvPr/>
        </p:nvSpPr>
        <p:spPr>
          <a:xfrm>
            <a:off x="777240"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x6</a:t>
            </a:r>
            <a:endParaRPr/>
          </a:p>
        </p:txBody>
      </p:sp>
      <p:sp>
        <p:nvSpPr>
          <p:cNvPr id="323" name="Google Shape;323;p3"/>
          <p:cNvSpPr/>
          <p:nvPr/>
        </p:nvSpPr>
        <p:spPr>
          <a:xfrm>
            <a:off x="1472184"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4" name="Google Shape;324;p3"/>
          <p:cNvSpPr txBox="1"/>
          <p:nvPr/>
        </p:nvSpPr>
        <p:spPr>
          <a:xfrm>
            <a:off x="1472184"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x7</a:t>
            </a:r>
            <a:endParaRPr/>
          </a:p>
        </p:txBody>
      </p:sp>
      <p:sp>
        <p:nvSpPr>
          <p:cNvPr id="325" name="Google Shape;325;p3"/>
          <p:cNvSpPr/>
          <p:nvPr/>
        </p:nvSpPr>
        <p:spPr>
          <a:xfrm>
            <a:off x="2167128"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6" name="Google Shape;326;p3"/>
          <p:cNvSpPr txBox="1"/>
          <p:nvPr/>
        </p:nvSpPr>
        <p:spPr>
          <a:xfrm>
            <a:off x="2167128"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x8</a:t>
            </a:r>
            <a:endParaRPr/>
          </a:p>
        </p:txBody>
      </p:sp>
      <p:sp>
        <p:nvSpPr>
          <p:cNvPr id="327" name="Google Shape;327;p3"/>
          <p:cNvSpPr/>
          <p:nvPr/>
        </p:nvSpPr>
        <p:spPr>
          <a:xfrm>
            <a:off x="2862072" y="3410712"/>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8" name="Google Shape;328;p3"/>
          <p:cNvSpPr txBox="1"/>
          <p:nvPr/>
        </p:nvSpPr>
        <p:spPr>
          <a:xfrm>
            <a:off x="2862072"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x9</a:t>
            </a:r>
            <a:endParaRPr/>
          </a:p>
        </p:txBody>
      </p:sp>
      <p:sp>
        <p:nvSpPr>
          <p:cNvPr id="329" name="Google Shape;329;p3"/>
          <p:cNvSpPr/>
          <p:nvPr/>
        </p:nvSpPr>
        <p:spPr>
          <a:xfrm>
            <a:off x="3557016"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3"/>
          <p:cNvSpPr txBox="1"/>
          <p:nvPr/>
        </p:nvSpPr>
        <p:spPr>
          <a:xfrm>
            <a:off x="3557016"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x10</a:t>
            </a:r>
            <a:endParaRPr/>
          </a:p>
        </p:txBody>
      </p:sp>
      <p:sp>
        <p:nvSpPr>
          <p:cNvPr id="331" name="Google Shape;331;p3"/>
          <p:cNvSpPr/>
          <p:nvPr/>
        </p:nvSpPr>
        <p:spPr>
          <a:xfrm>
            <a:off x="4434840" y="2359152"/>
            <a:ext cx="2926080" cy="2423160"/>
          </a:xfrm>
          <a:prstGeom prst="roundRect">
            <a:avLst>
              <a:gd fmla="val 12000" name="adj"/>
            </a:avLst>
          </a:prstGeom>
          <a:solidFill>
            <a:srgbClr val="0D132A"/>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2" name="Google Shape;332;p3"/>
          <p:cNvSpPr txBox="1"/>
          <p:nvPr/>
        </p:nvSpPr>
        <p:spPr>
          <a:xfrm>
            <a:off x="4709160" y="2633472"/>
            <a:ext cx="237744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D948FF"/>
                </a:solidFill>
                <a:latin typeface="Arial"/>
                <a:ea typeface="Arial"/>
                <a:cs typeface="Arial"/>
                <a:sym typeface="Arial"/>
              </a:rPr>
              <a:t>SCORE TO MINIMIZE</a:t>
            </a:r>
            <a:endParaRPr/>
          </a:p>
        </p:txBody>
      </p:sp>
      <p:sp>
        <p:nvSpPr>
          <p:cNvPr id="333" name="Google Shape;333;p3"/>
          <p:cNvSpPr txBox="1"/>
          <p:nvPr/>
        </p:nvSpPr>
        <p:spPr>
          <a:xfrm>
            <a:off x="4709160" y="3108960"/>
            <a:ext cx="2377440" cy="10972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expected value</a:t>
            </a:r>
            <a:endParaRPr/>
          </a:p>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pair risk</a:t>
            </a:r>
            <a:endParaRPr/>
          </a:p>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size penalty</a:t>
            </a:r>
            <a:endParaRPr/>
          </a:p>
        </p:txBody>
      </p:sp>
      <p:sp>
        <p:nvSpPr>
          <p:cNvPr id="334" name="Google Shape;334;p3"/>
          <p:cNvSpPr txBox="1"/>
          <p:nvPr/>
        </p:nvSpPr>
        <p:spPr>
          <a:xfrm>
            <a:off x="7909560" y="2331720"/>
            <a:ext cx="342900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8C5DFF"/>
                </a:solidFill>
                <a:latin typeface="Arial"/>
                <a:ea typeface="Arial"/>
                <a:cs typeface="Arial"/>
                <a:sym typeface="Arial"/>
              </a:rPr>
              <a:t>ENERGY LANDSCAPE</a:t>
            </a:r>
            <a:endParaRPr/>
          </a:p>
        </p:txBody>
      </p:sp>
      <p:cxnSp>
        <p:nvCxnSpPr>
          <p:cNvPr id="335" name="Google Shape;335;p3"/>
          <p:cNvCxnSpPr/>
          <p:nvPr/>
        </p:nvCxnSpPr>
        <p:spPr>
          <a:xfrm flipH="1" rot="10800000">
            <a:off x="8046720" y="3566589"/>
            <a:ext cx="96012" cy="27389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6" name="Google Shape;336;p3"/>
          <p:cNvCxnSpPr/>
          <p:nvPr/>
        </p:nvCxnSpPr>
        <p:spPr>
          <a:xfrm flipH="1" rot="10800000">
            <a:off x="8142732" y="3390315"/>
            <a:ext cx="96012" cy="176274"/>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7" name="Google Shape;337;p3"/>
          <p:cNvCxnSpPr/>
          <p:nvPr/>
        </p:nvCxnSpPr>
        <p:spPr>
          <a:xfrm flipH="1" rot="10800000">
            <a:off x="8238744" y="3351870"/>
            <a:ext cx="96012" cy="3844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8" name="Google Shape;338;p3"/>
          <p:cNvCxnSpPr/>
          <p:nvPr/>
        </p:nvCxnSpPr>
        <p:spPr>
          <a:xfrm>
            <a:off x="8334756" y="3351870"/>
            <a:ext cx="96012" cy="6575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9" name="Google Shape;339;p3"/>
          <p:cNvCxnSpPr/>
          <p:nvPr/>
        </p:nvCxnSpPr>
        <p:spPr>
          <a:xfrm>
            <a:off x="8430768" y="3417623"/>
            <a:ext cx="96012" cy="9734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0" name="Google Shape;340;p3"/>
          <p:cNvCxnSpPr/>
          <p:nvPr/>
        </p:nvCxnSpPr>
        <p:spPr>
          <a:xfrm>
            <a:off x="8526780" y="3514971"/>
            <a:ext cx="96012" cy="7574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1" name="Google Shape;341;p3"/>
          <p:cNvCxnSpPr/>
          <p:nvPr/>
        </p:nvCxnSpPr>
        <p:spPr>
          <a:xfrm>
            <a:off x="8622792" y="3590718"/>
            <a:ext cx="96012" cy="5753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2" name="Google Shape;342;p3"/>
          <p:cNvCxnSpPr/>
          <p:nvPr/>
        </p:nvCxnSpPr>
        <p:spPr>
          <a:xfrm>
            <a:off x="8718804" y="3648253"/>
            <a:ext cx="96012" cy="8761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3" name="Google Shape;343;p3"/>
          <p:cNvCxnSpPr/>
          <p:nvPr/>
        </p:nvCxnSpPr>
        <p:spPr>
          <a:xfrm>
            <a:off x="8814816" y="3735868"/>
            <a:ext cx="96012" cy="16055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4" name="Google Shape;344;p3"/>
          <p:cNvCxnSpPr/>
          <p:nvPr/>
        </p:nvCxnSpPr>
        <p:spPr>
          <a:xfrm>
            <a:off x="8910828" y="3896424"/>
            <a:ext cx="96012" cy="22209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5" name="Google Shape;345;p3"/>
          <p:cNvCxnSpPr/>
          <p:nvPr/>
        </p:nvCxnSpPr>
        <p:spPr>
          <a:xfrm>
            <a:off x="9006840" y="4118515"/>
            <a:ext cx="96012" cy="21005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6" name="Google Shape;346;p3"/>
          <p:cNvCxnSpPr/>
          <p:nvPr/>
        </p:nvCxnSpPr>
        <p:spPr>
          <a:xfrm>
            <a:off x="9102852" y="4328566"/>
            <a:ext cx="96012" cy="10375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7" name="Google Shape;347;p3"/>
          <p:cNvCxnSpPr/>
          <p:nvPr/>
        </p:nvCxnSpPr>
        <p:spPr>
          <a:xfrm flipH="1" rot="10800000">
            <a:off x="9198864" y="4376465"/>
            <a:ext cx="96012" cy="55859"/>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8" name="Google Shape;348;p3"/>
          <p:cNvCxnSpPr/>
          <p:nvPr/>
        </p:nvCxnSpPr>
        <p:spPr>
          <a:xfrm flipH="1" rot="10800000">
            <a:off x="9294876" y="4185165"/>
            <a:ext cx="96012" cy="19130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9" name="Google Shape;349;p3"/>
          <p:cNvCxnSpPr/>
          <p:nvPr/>
        </p:nvCxnSpPr>
        <p:spPr>
          <a:xfrm flipH="1" rot="10800000">
            <a:off x="9390888" y="3944525"/>
            <a:ext cx="96012" cy="24064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0" name="Google Shape;350;p3"/>
          <p:cNvCxnSpPr/>
          <p:nvPr/>
        </p:nvCxnSpPr>
        <p:spPr>
          <a:xfrm flipH="1" rot="10800000">
            <a:off x="9486900" y="3746218"/>
            <a:ext cx="96012" cy="1983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1" name="Google Shape;351;p3"/>
          <p:cNvCxnSpPr/>
          <p:nvPr/>
        </p:nvCxnSpPr>
        <p:spPr>
          <a:xfrm flipH="1" rot="10800000">
            <a:off x="9582912" y="3631698"/>
            <a:ext cx="96012" cy="11452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2" name="Google Shape;352;p3"/>
          <p:cNvCxnSpPr/>
          <p:nvPr/>
        </p:nvCxnSpPr>
        <p:spPr>
          <a:xfrm flipH="1" rot="10800000">
            <a:off x="9678924" y="3577142"/>
            <a:ext cx="96012" cy="5455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3" name="Google Shape;353;p3"/>
          <p:cNvCxnSpPr/>
          <p:nvPr/>
        </p:nvCxnSpPr>
        <p:spPr>
          <a:xfrm flipH="1" rot="10800000">
            <a:off x="9774936" y="3528069"/>
            <a:ext cx="96012" cy="4907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4" name="Google Shape;354;p3"/>
          <p:cNvCxnSpPr/>
          <p:nvPr/>
        </p:nvCxnSpPr>
        <p:spPr>
          <a:xfrm flipH="1" rot="10800000">
            <a:off x="9870948" y="3454955"/>
            <a:ext cx="96012" cy="73114"/>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5" name="Google Shape;355;p3"/>
          <p:cNvCxnSpPr/>
          <p:nvPr/>
        </p:nvCxnSpPr>
        <p:spPr>
          <a:xfrm flipH="1" rot="10800000">
            <a:off x="9966960" y="3385589"/>
            <a:ext cx="96012" cy="6936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6" name="Google Shape;356;p3"/>
          <p:cNvCxnSpPr/>
          <p:nvPr/>
        </p:nvCxnSpPr>
        <p:spPr>
          <a:xfrm>
            <a:off x="10062972" y="3385589"/>
            <a:ext cx="96012" cy="258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7" name="Google Shape;357;p3"/>
          <p:cNvCxnSpPr/>
          <p:nvPr/>
        </p:nvCxnSpPr>
        <p:spPr>
          <a:xfrm>
            <a:off x="10158984" y="3388175"/>
            <a:ext cx="96012" cy="12918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8" name="Google Shape;358;p3"/>
          <p:cNvCxnSpPr/>
          <p:nvPr/>
        </p:nvCxnSpPr>
        <p:spPr>
          <a:xfrm>
            <a:off x="10254996" y="3517361"/>
            <a:ext cx="96012" cy="247019"/>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9" name="Google Shape;359;p3"/>
          <p:cNvCxnSpPr/>
          <p:nvPr/>
        </p:nvCxnSpPr>
        <p:spPr>
          <a:xfrm>
            <a:off x="10351008" y="3764380"/>
            <a:ext cx="96012" cy="28593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0" name="Google Shape;360;p3"/>
          <p:cNvCxnSpPr/>
          <p:nvPr/>
        </p:nvCxnSpPr>
        <p:spPr>
          <a:xfrm>
            <a:off x="10447020" y="4050318"/>
            <a:ext cx="96012" cy="21929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1" name="Google Shape;361;p3"/>
          <p:cNvCxnSpPr/>
          <p:nvPr/>
        </p:nvCxnSpPr>
        <p:spPr>
          <a:xfrm>
            <a:off x="10543032" y="4269614"/>
            <a:ext cx="96012" cy="8368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2" name="Google Shape;362;p3"/>
          <p:cNvCxnSpPr/>
          <p:nvPr/>
        </p:nvCxnSpPr>
        <p:spPr>
          <a:xfrm flipH="1" rot="10800000">
            <a:off x="10639044" y="4306621"/>
            <a:ext cx="96012" cy="4667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3" name="Google Shape;363;p3"/>
          <p:cNvCxnSpPr/>
          <p:nvPr/>
        </p:nvCxnSpPr>
        <p:spPr>
          <a:xfrm flipH="1" rot="10800000">
            <a:off x="10735056" y="4194785"/>
            <a:ext cx="96012" cy="11183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4" name="Google Shape;364;p3"/>
          <p:cNvCxnSpPr/>
          <p:nvPr/>
        </p:nvCxnSpPr>
        <p:spPr>
          <a:xfrm flipH="1" rot="10800000">
            <a:off x="10831068" y="4089107"/>
            <a:ext cx="96012" cy="10567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5" name="Google Shape;365;p3"/>
          <p:cNvCxnSpPr/>
          <p:nvPr/>
        </p:nvCxnSpPr>
        <p:spPr>
          <a:xfrm flipH="1" rot="10800000">
            <a:off x="10927080" y="4015052"/>
            <a:ext cx="96012" cy="7405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6" name="Google Shape;366;p3"/>
          <p:cNvCxnSpPr/>
          <p:nvPr/>
        </p:nvCxnSpPr>
        <p:spPr>
          <a:xfrm flipH="1" rot="10800000">
            <a:off x="11023092" y="3941145"/>
            <a:ext cx="96012" cy="739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7" name="Google Shape;367;p3"/>
          <p:cNvCxnSpPr/>
          <p:nvPr/>
        </p:nvCxnSpPr>
        <p:spPr>
          <a:xfrm flipH="1" rot="10800000">
            <a:off x="11119104" y="3815938"/>
            <a:ext cx="96012" cy="1252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sp>
        <p:nvSpPr>
          <p:cNvPr id="368" name="Google Shape;368;p3"/>
          <p:cNvSpPr/>
          <p:nvPr/>
        </p:nvSpPr>
        <p:spPr>
          <a:xfrm>
            <a:off x="9198864" y="4334256"/>
            <a:ext cx="164592" cy="164592"/>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3"/>
          <p:cNvSpPr txBox="1"/>
          <p:nvPr/>
        </p:nvSpPr>
        <p:spPr>
          <a:xfrm>
            <a:off x="8321040" y="4736592"/>
            <a:ext cx="265176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5BF0B9"/>
                </a:solidFill>
                <a:latin typeface="Arial"/>
                <a:ea typeface="Arial"/>
                <a:cs typeface="Arial"/>
                <a:sym typeface="Arial"/>
              </a:rPr>
              <a:t>LOWER SCORE = BETTER</a:t>
            </a:r>
            <a:endParaRPr/>
          </a:p>
        </p:txBody>
      </p:sp>
      <p:sp>
        <p:nvSpPr>
          <p:cNvPr id="370" name="Google Shape;370;p3"/>
          <p:cNvSpPr txBox="1"/>
          <p:nvPr/>
        </p:nvSpPr>
        <p:spPr>
          <a:xfrm>
            <a:off x="713232" y="5623560"/>
            <a:ext cx="1042416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1" lang="en-US" sz="1000" u="none" cap="none" strike="noStrike">
                <a:solidFill>
                  <a:srgbClr val="A1B1CD"/>
                </a:solidFill>
                <a:latin typeface="Arial"/>
                <a:ea typeface="Arial"/>
                <a:cs typeface="Arial"/>
                <a:sym typeface="Arial"/>
              </a:rPr>
              <a:t>A qubit = one yes/no choice. Our tests use 3–18 qubits; real decisions need 50–200 plus chip wiring. The landscape is conceptual.</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375" name="Shape 375"/>
        <p:cNvGrpSpPr/>
        <p:nvPr/>
      </p:nvGrpSpPr>
      <p:grpSpPr>
        <a:xfrm>
          <a:off x="0" y="0"/>
          <a:ext cx="0" cy="0"/>
          <a:chOff x="0" y="0"/>
          <a:chExt cx="0" cy="0"/>
        </a:xfrm>
      </p:grpSpPr>
      <p:cxnSp>
        <p:nvCxnSpPr>
          <p:cNvPr id="376" name="Google Shape;376;p4"/>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7" name="Google Shape;377;p4"/>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8" name="Google Shape;378;p4"/>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9" name="Google Shape;379;p4"/>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0" name="Google Shape;380;p4"/>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1" name="Google Shape;381;p4"/>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2" name="Google Shape;382;p4"/>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3" name="Google Shape;383;p4"/>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4" name="Google Shape;384;p4"/>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5" name="Google Shape;385;p4"/>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6" name="Google Shape;386;p4"/>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7" name="Google Shape;387;p4"/>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8" name="Google Shape;388;p4"/>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9" name="Google Shape;389;p4"/>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0" name="Google Shape;390;p4"/>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1" name="Google Shape;391;p4"/>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2" name="Google Shape;392;p4"/>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3" name="Google Shape;393;p4"/>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4" name="Google Shape;394;p4"/>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5" name="Google Shape;395;p4"/>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396" name="Google Shape;396;p4"/>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4"/>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8" name="Google Shape;398;p4"/>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399" name="Google Shape;399;p4"/>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400" name="Google Shape;400;p4"/>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401" name="Google Shape;401;p4"/>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402" name="Google Shape;402;p4"/>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04</a:t>
            </a:r>
            <a:endParaRPr/>
          </a:p>
        </p:txBody>
      </p:sp>
      <p:sp>
        <p:nvSpPr>
          <p:cNvPr id="403" name="Google Shape;403;p4"/>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03 / QUANTUM METHODS</a:t>
            </a:r>
            <a:endParaRPr/>
          </a:p>
        </p:txBody>
      </p:sp>
      <p:sp>
        <p:nvSpPr>
          <p:cNvPr id="404" name="Google Shape;404;p4"/>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Three solver choices. One honest comparison.</a:t>
            </a:r>
            <a:endParaRPr/>
          </a:p>
        </p:txBody>
      </p:sp>
      <p:sp>
        <p:nvSpPr>
          <p:cNvPr id="405" name="Google Shape;405;p4"/>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Why quantum? Paired choices map onto linked qubits. Whether it pays off depends on circuit cost, noise and quality.</a:t>
            </a:r>
            <a:endParaRPr/>
          </a:p>
        </p:txBody>
      </p:sp>
      <p:sp>
        <p:nvSpPr>
          <p:cNvPr id="406" name="Google Shape;406;p4"/>
          <p:cNvSpPr/>
          <p:nvPr/>
        </p:nvSpPr>
        <p:spPr>
          <a:xfrm>
            <a:off x="640080"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4"/>
          <p:cNvSpPr/>
          <p:nvPr/>
        </p:nvSpPr>
        <p:spPr>
          <a:xfrm>
            <a:off x="804671" y="2514600"/>
            <a:ext cx="50292" cy="2148840"/>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8" name="Google Shape;408;p4"/>
          <p:cNvSpPr txBox="1"/>
          <p:nvPr/>
        </p:nvSpPr>
        <p:spPr>
          <a:xfrm>
            <a:off x="987552"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27D6FF"/>
                </a:solidFill>
                <a:latin typeface="Arial"/>
                <a:ea typeface="Arial"/>
                <a:cs typeface="Arial"/>
                <a:sym typeface="Arial"/>
              </a:rPr>
              <a:t>QUANTUM A</a:t>
            </a:r>
            <a:endParaRPr/>
          </a:p>
        </p:txBody>
      </p:sp>
      <p:sp>
        <p:nvSpPr>
          <p:cNvPr id="409" name="Google Shape;409;p4"/>
          <p:cNvSpPr txBox="1"/>
          <p:nvPr/>
        </p:nvSpPr>
        <p:spPr>
          <a:xfrm>
            <a:off x="987552"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Gate-based QAOA</a:t>
            </a:r>
            <a:endParaRPr/>
          </a:p>
        </p:txBody>
      </p:sp>
      <p:sp>
        <p:nvSpPr>
          <p:cNvPr id="410" name="Google Shape;410;p4"/>
          <p:cNvSpPr txBox="1"/>
          <p:nvPr/>
        </p:nvSpPr>
        <p:spPr>
          <a:xfrm>
            <a:off x="987552"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Short recipe: mix, nudge, link, shuffle, measure. Just 1–2 rounds, with 60–120 simulator tries to tune two dials. Fewer steps, fewer errors.</a:t>
            </a:r>
            <a:endParaRPr/>
          </a:p>
        </p:txBody>
      </p:sp>
      <p:sp>
        <p:nvSpPr>
          <p:cNvPr id="411" name="Google Shape;411;p4"/>
          <p:cNvSpPr/>
          <p:nvPr/>
        </p:nvSpPr>
        <p:spPr>
          <a:xfrm>
            <a:off x="4352544"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2" name="Google Shape;412;p4"/>
          <p:cNvSpPr/>
          <p:nvPr/>
        </p:nvSpPr>
        <p:spPr>
          <a:xfrm>
            <a:off x="4517136" y="2514600"/>
            <a:ext cx="50292" cy="2148840"/>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4"/>
          <p:cNvSpPr txBox="1"/>
          <p:nvPr/>
        </p:nvSpPr>
        <p:spPr>
          <a:xfrm>
            <a:off x="4700016"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D948FF"/>
                </a:solidFill>
                <a:latin typeface="Arial"/>
                <a:ea typeface="Arial"/>
                <a:cs typeface="Arial"/>
                <a:sym typeface="Arial"/>
              </a:rPr>
              <a:t>QUANTUM B</a:t>
            </a:r>
            <a:endParaRPr/>
          </a:p>
        </p:txBody>
      </p:sp>
      <p:sp>
        <p:nvSpPr>
          <p:cNvPr id="414" name="Google Shape;414;p4"/>
          <p:cNvSpPr txBox="1"/>
          <p:nvPr/>
        </p:nvSpPr>
        <p:spPr>
          <a:xfrm>
            <a:off x="4700016"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Digital anneal</a:t>
            </a:r>
            <a:endParaRPr/>
          </a:p>
        </p:txBody>
      </p:sp>
      <p:sp>
        <p:nvSpPr>
          <p:cNvPr id="415" name="Google Shape;415;p4"/>
          <p:cNvSpPr txBox="1"/>
          <p:nvPr/>
        </p:nvSpPr>
        <p:spPr>
          <a:xfrm>
            <a:off x="4700016"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An annealing copy built from gate steps on IBM's chip: 3–6 rounds on a fixed ramp. A smoother sweep, but more link steps and more errors.</a:t>
            </a:r>
            <a:endParaRPr/>
          </a:p>
        </p:txBody>
      </p:sp>
      <p:sp>
        <p:nvSpPr>
          <p:cNvPr id="416" name="Google Shape;416;p4"/>
          <p:cNvSpPr/>
          <p:nvPr/>
        </p:nvSpPr>
        <p:spPr>
          <a:xfrm>
            <a:off x="8065008"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7" name="Google Shape;417;p4"/>
          <p:cNvSpPr/>
          <p:nvPr/>
        </p:nvSpPr>
        <p:spPr>
          <a:xfrm>
            <a:off x="8229600" y="2514600"/>
            <a:ext cx="50292" cy="2148840"/>
          </a:xfrm>
          <a:prstGeom prst="rect">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8" name="Google Shape;418;p4"/>
          <p:cNvSpPr txBox="1"/>
          <p:nvPr/>
        </p:nvSpPr>
        <p:spPr>
          <a:xfrm>
            <a:off x="8412480"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5BF0B9"/>
                </a:solidFill>
                <a:latin typeface="Arial"/>
                <a:ea typeface="Arial"/>
                <a:cs typeface="Arial"/>
                <a:sym typeface="Arial"/>
              </a:rPr>
              <a:t>BASELINE</a:t>
            </a:r>
            <a:endParaRPr/>
          </a:p>
        </p:txBody>
      </p:sp>
      <p:sp>
        <p:nvSpPr>
          <p:cNvPr id="419" name="Google Shape;419;p4"/>
          <p:cNvSpPr txBox="1"/>
          <p:nvPr/>
        </p:nvSpPr>
        <p:spPr>
          <a:xfrm>
            <a:off x="8412480"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Classical solver</a:t>
            </a:r>
            <a:endParaRPr/>
          </a:p>
        </p:txBody>
      </p:sp>
      <p:sp>
        <p:nvSpPr>
          <p:cNvPr id="420" name="Google Shape;420;p4"/>
          <p:cNvSpPr txBox="1"/>
          <p:nvPr/>
        </p:nvSpPr>
        <p:spPr>
          <a:xfrm>
            <a:off x="8412480"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Simulated annealing on a laptop scores 0.95–0.98 in about 0.01 s on every problem. At 3–18 qubits, classical wins.</a:t>
            </a:r>
            <a:endParaRPr/>
          </a:p>
        </p:txBody>
      </p:sp>
      <p:sp>
        <p:nvSpPr>
          <p:cNvPr id="421" name="Google Shape;421;p4"/>
          <p:cNvSpPr/>
          <p:nvPr/>
        </p:nvSpPr>
        <p:spPr>
          <a:xfrm>
            <a:off x="960120" y="5230368"/>
            <a:ext cx="10241280" cy="566928"/>
          </a:xfrm>
          <a:prstGeom prst="roundRect">
            <a:avLst>
              <a:gd fmla="val 12000" name="adj"/>
            </a:avLst>
          </a:prstGeom>
          <a:solidFill>
            <a:srgbClr val="121B37"/>
          </a:solidFill>
          <a:ln cap="flat" cmpd="sng" w="12700">
            <a:solidFill>
              <a:srgbClr val="FFCA5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2" name="Google Shape;422;p4"/>
          <p:cNvSpPr txBox="1"/>
          <p:nvPr/>
        </p:nvSpPr>
        <p:spPr>
          <a:xfrm>
            <a:off x="1170432" y="5404104"/>
            <a:ext cx="9829800" cy="201168"/>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FCA5C"/>
                </a:solidFill>
                <a:latin typeface="Arial"/>
                <a:ea typeface="Arial"/>
                <a:cs typeface="Arial"/>
                <a:sym typeface="Arial"/>
              </a:rPr>
              <a:t>NOISE MATTERS: 100 LINK STEPS AT 0.5% ERROR EACH → 39% CHANCE SOMETHING WENT WRONG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815" name="Shape 815"/>
        <p:cNvGrpSpPr/>
        <p:nvPr/>
      </p:nvGrpSpPr>
      <p:grpSpPr>
        <a:xfrm>
          <a:off x="0" y="0"/>
          <a:ext cx="0" cy="0"/>
          <a:chOff x="0" y="0"/>
          <a:chExt cx="0" cy="0"/>
        </a:xfrm>
      </p:grpSpPr>
      <p:cxnSp>
        <p:nvCxnSpPr>
          <p:cNvPr id="816" name="Google Shape;816;p10"/>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7" name="Google Shape;817;p10"/>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8" name="Google Shape;818;p10"/>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9" name="Google Shape;819;p10"/>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0" name="Google Shape;820;p10"/>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1" name="Google Shape;821;p10"/>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2" name="Google Shape;822;p10"/>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3" name="Google Shape;823;p10"/>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4" name="Google Shape;824;p10"/>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5" name="Google Shape;825;p10"/>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6" name="Google Shape;826;p10"/>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7" name="Google Shape;827;p10"/>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8" name="Google Shape;828;p10"/>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9" name="Google Shape;829;p10"/>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0" name="Google Shape;830;p10"/>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1" name="Google Shape;831;p10"/>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2" name="Google Shape;832;p10"/>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3" name="Google Shape;833;p10"/>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4" name="Google Shape;834;p10"/>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5" name="Google Shape;835;p10"/>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836" name="Google Shape;836;p10"/>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7" name="Google Shape;837;p10"/>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8" name="Google Shape;838;p10"/>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839" name="Google Shape;839;p10"/>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840" name="Google Shape;840;p10"/>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841" name="Google Shape;841;p10"/>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842" name="Google Shape;842;p10"/>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11</a:t>
            </a:r>
            <a:endParaRPr/>
          </a:p>
        </p:txBody>
      </p:sp>
      <p:sp>
        <p:nvSpPr>
          <p:cNvPr id="843" name="Google Shape;843;p10"/>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10 / WHAT'S NEXT</a:t>
            </a:r>
            <a:endParaRPr/>
          </a:p>
        </p:txBody>
      </p:sp>
      <p:sp>
        <p:nvSpPr>
          <p:cNvPr id="844" name="Google Shape;844;p10"/>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One router. More options as hardware improves.</a:t>
            </a:r>
            <a:endParaRPr/>
          </a:p>
        </p:txBody>
      </p:sp>
      <p:sp>
        <p:nvSpPr>
          <p:cNvPr id="845" name="Google Shape;845;p10"/>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Q-Router aims to know when quantum may help, and when it doesn't yet.</a:t>
            </a:r>
            <a:endParaRPr/>
          </a:p>
        </p:txBody>
      </p:sp>
      <p:cxnSp>
        <p:nvCxnSpPr>
          <p:cNvPr id="846" name="Google Shape;846;p10"/>
          <p:cNvCxnSpPr/>
          <p:nvPr/>
        </p:nvCxnSpPr>
        <p:spPr>
          <a:xfrm>
            <a:off x="1097280" y="2880360"/>
            <a:ext cx="9829800" cy="0"/>
          </a:xfrm>
          <a:prstGeom prst="straightConnector1">
            <a:avLst/>
          </a:prstGeom>
          <a:noFill/>
          <a:ln cap="flat" cmpd="sng" w="25400">
            <a:solidFill>
              <a:srgbClr val="455781"/>
            </a:solidFill>
            <a:prstDash val="solid"/>
            <a:round/>
            <a:headEnd len="sm" w="sm" type="none"/>
            <a:tailEnd len="sm" w="sm" type="none"/>
          </a:ln>
          <a:effectLst>
            <a:outerShdw blurRad="40000" rotWithShape="0" dir="5400000" dist="20000">
              <a:srgbClr val="000000">
                <a:alpha val="38039"/>
              </a:srgbClr>
            </a:outerShdw>
          </a:effectLst>
        </p:spPr>
      </p:cxnSp>
      <p:sp>
        <p:nvSpPr>
          <p:cNvPr id="847" name="Google Shape;847;p10"/>
          <p:cNvSpPr/>
          <p:nvPr/>
        </p:nvSpPr>
        <p:spPr>
          <a:xfrm>
            <a:off x="1344168" y="2761488"/>
            <a:ext cx="237744" cy="237744"/>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8" name="Google Shape;848;p10"/>
          <p:cNvSpPr/>
          <p:nvPr/>
        </p:nvSpPr>
        <p:spPr>
          <a:xfrm>
            <a:off x="1051560" y="2176272"/>
            <a:ext cx="822960" cy="292608"/>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9" name="Google Shape;849;p10"/>
          <p:cNvSpPr txBox="1"/>
          <p:nvPr/>
        </p:nvSpPr>
        <p:spPr>
          <a:xfrm>
            <a:off x="109728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27D6FF"/>
                </a:solidFill>
                <a:latin typeface="Arial"/>
                <a:ea typeface="Arial"/>
                <a:cs typeface="Arial"/>
                <a:sym typeface="Arial"/>
              </a:rPr>
              <a:t>NOW</a:t>
            </a:r>
            <a:endParaRPr/>
          </a:p>
        </p:txBody>
      </p:sp>
      <p:sp>
        <p:nvSpPr>
          <p:cNvPr id="850" name="Google Shape;850;p10"/>
          <p:cNvSpPr txBox="1"/>
          <p:nvPr/>
        </p:nvSpPr>
        <p:spPr>
          <a:xfrm>
            <a:off x="77724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Validate</a:t>
            </a:r>
            <a:endParaRPr/>
          </a:p>
        </p:txBody>
      </p:sp>
      <p:sp>
        <p:nvSpPr>
          <p:cNvPr id="851" name="Google Shape;851;p10"/>
          <p:cNvSpPr txBox="1"/>
          <p:nvPr/>
        </p:nvSpPr>
        <p:spPr>
          <a:xfrm>
            <a:off x="73152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Repeat real-chip runs</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for run-to-run wobble</a:t>
            </a:r>
            <a:endParaRPr/>
          </a:p>
        </p:txBody>
      </p:sp>
      <p:sp>
        <p:nvSpPr>
          <p:cNvPr id="852" name="Google Shape;852;p10"/>
          <p:cNvSpPr/>
          <p:nvPr/>
        </p:nvSpPr>
        <p:spPr>
          <a:xfrm>
            <a:off x="4133088" y="2761488"/>
            <a:ext cx="237744" cy="237744"/>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3" name="Google Shape;853;p10"/>
          <p:cNvSpPr/>
          <p:nvPr/>
        </p:nvSpPr>
        <p:spPr>
          <a:xfrm>
            <a:off x="3840480" y="2176272"/>
            <a:ext cx="822960" cy="292608"/>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4" name="Google Shape;854;p10"/>
          <p:cNvSpPr txBox="1"/>
          <p:nvPr/>
        </p:nvSpPr>
        <p:spPr>
          <a:xfrm>
            <a:off x="388620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NEXT</a:t>
            </a:r>
            <a:endParaRPr/>
          </a:p>
        </p:txBody>
      </p:sp>
      <p:sp>
        <p:nvSpPr>
          <p:cNvPr id="855" name="Google Shape;855;p10"/>
          <p:cNvSpPr txBox="1"/>
          <p:nvPr/>
        </p:nvSpPr>
        <p:spPr>
          <a:xfrm>
            <a:off x="356616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More data</a:t>
            </a:r>
            <a:endParaRPr/>
          </a:p>
        </p:txBody>
      </p:sp>
      <p:sp>
        <p:nvSpPr>
          <p:cNvPr id="856" name="Google Shape;856;p10"/>
          <p:cNvSpPr txBox="1"/>
          <p:nvPr/>
        </p:nvSpPr>
        <p:spPr>
          <a:xfrm>
            <a:off x="352044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Real drug data from</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ClinicalTrials.gov</a:t>
            </a:r>
            <a:endParaRPr/>
          </a:p>
        </p:txBody>
      </p:sp>
      <p:sp>
        <p:nvSpPr>
          <p:cNvPr id="857" name="Google Shape;857;p10"/>
          <p:cNvSpPr/>
          <p:nvPr/>
        </p:nvSpPr>
        <p:spPr>
          <a:xfrm>
            <a:off x="6922008" y="2761488"/>
            <a:ext cx="237744" cy="237744"/>
          </a:xfrm>
          <a:prstGeom prst="ellipse">
            <a:avLst/>
          </a:prstGeom>
          <a:solidFill>
            <a:srgbClr val="8C5D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8" name="Google Shape;858;p10"/>
          <p:cNvSpPr/>
          <p:nvPr/>
        </p:nvSpPr>
        <p:spPr>
          <a:xfrm>
            <a:off x="6629400" y="2176272"/>
            <a:ext cx="822960" cy="292608"/>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9" name="Google Shape;859;p10"/>
          <p:cNvSpPr txBox="1"/>
          <p:nvPr/>
        </p:nvSpPr>
        <p:spPr>
          <a:xfrm>
            <a:off x="667512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8C5DFF"/>
                </a:solidFill>
                <a:latin typeface="Arial"/>
                <a:ea typeface="Arial"/>
                <a:cs typeface="Arial"/>
                <a:sym typeface="Arial"/>
              </a:rPr>
              <a:t>EXPAND</a:t>
            </a:r>
            <a:endParaRPr/>
          </a:p>
        </p:txBody>
      </p:sp>
      <p:sp>
        <p:nvSpPr>
          <p:cNvPr id="860" name="Google Shape;860;p10"/>
          <p:cNvSpPr txBox="1"/>
          <p:nvPr/>
        </p:nvSpPr>
        <p:spPr>
          <a:xfrm>
            <a:off x="635508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More solvers</a:t>
            </a:r>
            <a:endParaRPr/>
          </a:p>
        </p:txBody>
      </p:sp>
      <p:sp>
        <p:nvSpPr>
          <p:cNvPr id="861" name="Google Shape;861;p10"/>
          <p:cNvSpPr txBox="1"/>
          <p:nvPr/>
        </p:nvSpPr>
        <p:spPr>
          <a:xfrm>
            <a:off x="630936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A real D-Wave</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annealer as option 3</a:t>
            </a:r>
            <a:endParaRPr/>
          </a:p>
        </p:txBody>
      </p:sp>
      <p:sp>
        <p:nvSpPr>
          <p:cNvPr id="862" name="Google Shape;862;p10"/>
          <p:cNvSpPr/>
          <p:nvPr/>
        </p:nvSpPr>
        <p:spPr>
          <a:xfrm>
            <a:off x="9756648" y="2761488"/>
            <a:ext cx="237744" cy="237744"/>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3" name="Google Shape;863;p10"/>
          <p:cNvSpPr/>
          <p:nvPr/>
        </p:nvSpPr>
        <p:spPr>
          <a:xfrm>
            <a:off x="9464040" y="2176272"/>
            <a:ext cx="822960" cy="292608"/>
          </a:xfrm>
          <a:prstGeom prst="roundRect">
            <a:avLst>
              <a:gd fmla="val 12000" name="adj"/>
            </a:avLst>
          </a:prstGeom>
          <a:solidFill>
            <a:srgbClr val="121B37"/>
          </a:solidFill>
          <a:ln cap="flat" cmpd="sng" w="12700">
            <a:solidFill>
              <a:srgbClr val="5BF0B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4" name="Google Shape;864;p10"/>
          <p:cNvSpPr txBox="1"/>
          <p:nvPr/>
        </p:nvSpPr>
        <p:spPr>
          <a:xfrm>
            <a:off x="950976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5BF0B9"/>
                </a:solidFill>
                <a:latin typeface="Arial"/>
                <a:ea typeface="Arial"/>
                <a:cs typeface="Arial"/>
                <a:sym typeface="Arial"/>
              </a:rPr>
              <a:t>FUTURE</a:t>
            </a:r>
            <a:endParaRPr/>
          </a:p>
        </p:txBody>
      </p:sp>
      <p:sp>
        <p:nvSpPr>
          <p:cNvPr id="865" name="Google Shape;865;p10"/>
          <p:cNvSpPr txBox="1"/>
          <p:nvPr/>
        </p:nvSpPr>
        <p:spPr>
          <a:xfrm>
            <a:off x="918972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Better chips</a:t>
            </a:r>
            <a:endParaRPr/>
          </a:p>
        </p:txBody>
      </p:sp>
      <p:sp>
        <p:nvSpPr>
          <p:cNvPr id="866" name="Google Shape;866;p10"/>
          <p:cNvSpPr txBox="1"/>
          <p:nvPr/>
        </p:nvSpPr>
        <p:spPr>
          <a:xfrm>
            <a:off x="914400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10–100× fewer errors,</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50–200 usable qubits</a:t>
            </a:r>
            <a:endParaRPr/>
          </a:p>
        </p:txBody>
      </p:sp>
      <p:sp>
        <p:nvSpPr>
          <p:cNvPr id="867" name="Google Shape;867;p10"/>
          <p:cNvSpPr/>
          <p:nvPr/>
        </p:nvSpPr>
        <p:spPr>
          <a:xfrm>
            <a:off x="960120" y="4800600"/>
            <a:ext cx="10287000" cy="822960"/>
          </a:xfrm>
          <a:prstGeom prst="roundRect">
            <a:avLst>
              <a:gd fmla="val 12000" name="adj"/>
            </a:avLst>
          </a:prstGeom>
          <a:solidFill>
            <a:srgbClr val="0D132A"/>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8" name="Google Shape;868;p10"/>
          <p:cNvSpPr txBox="1"/>
          <p:nvPr/>
        </p:nvSpPr>
        <p:spPr>
          <a:xfrm>
            <a:off x="1234440" y="5047488"/>
            <a:ext cx="9738360" cy="310896"/>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700" u="none" cap="none" strike="noStrike">
                <a:solidFill>
                  <a:srgbClr val="F4F8FF"/>
                </a:solidFill>
                <a:latin typeface="Arial"/>
                <a:ea typeface="Arial"/>
                <a:cs typeface="Arial"/>
                <a:sym typeface="Arial"/>
              </a:rPr>
              <a:t>Shape decides the solver: dense → gate-based, sparse → annealing. Today the laptop still wins, and Q-Router knows when.</a:t>
            </a:r>
            <a:endParaRPr/>
          </a:p>
        </p:txBody>
      </p:sp>
      <p:sp>
        <p:nvSpPr>
          <p:cNvPr id="869" name="Google Shape;869;p10"/>
          <p:cNvSpPr txBox="1"/>
          <p:nvPr/>
        </p:nvSpPr>
        <p:spPr>
          <a:xfrm>
            <a:off x="731520" y="5961888"/>
            <a:ext cx="10698480" cy="201168"/>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A1B1CD"/>
                </a:solidFill>
                <a:latin typeface="Arial"/>
                <a:ea typeface="Arial"/>
                <a:cs typeface="Arial"/>
                <a:sym typeface="Arial"/>
              </a:rPr>
              <a:t>Q-Router  •  Florida Atlantic University  •  Qiskit Fall Fest 2026  •  Questions?</a:t>
            </a:r>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05</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04 / HOW SHAPES ARE BUILT</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How we turn each problem into a shape.</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Every yes/no choice becomes a dot. Every pair of choices that affect each other becomes a line.</a:t>
            </a:r>
            <a:endParaRPr/>
          </a:p>
        </p:txBody>
      </p:sp>
      <p:cxnSp>
        <p:nvCxnSpPr>
          <p:cNvPr id="252" name="Connector 251"/>
          <p:cNvCxnSpPr/>
          <p:nvPr/>
        </p:nvCxnSpPr>
        <p:spPr>
          <a:xfrm flipH="1">
            <a:off x="1030781" y="2651760"/>
            <a:ext cx="752299"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H="1">
            <a:off x="1030781" y="2651760"/>
            <a:ext cx="752299"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H="1">
            <a:off x="1783079" y="2651760"/>
            <a:ext cx="1" cy="173736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783080" y="2651760"/>
            <a:ext cx="752298"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783080" y="2651760"/>
            <a:ext cx="752298"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30781" y="3086100"/>
            <a:ext cx="0"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1030781" y="3086100"/>
            <a:ext cx="752298"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1030781" y="3086100"/>
            <a:ext cx="1504597"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1030781" y="3086100"/>
            <a:ext cx="1504597" cy="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30781" y="3954780"/>
            <a:ext cx="752298"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030781" y="3954780"/>
            <a:ext cx="1504597" cy="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1030781" y="3086100"/>
            <a:ext cx="1504597"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783079" y="3954780"/>
            <a:ext cx="752299"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783079" y="3086100"/>
            <a:ext cx="752299"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35378" y="3086100"/>
            <a:ext cx="0"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sp>
        <p:nvSpPr>
          <p:cNvPr id="267" name="Oval 266"/>
          <p:cNvSpPr/>
          <p:nvPr/>
        </p:nvSpPr>
        <p:spPr>
          <a:xfrm>
            <a:off x="1691639" y="256032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Oval 267"/>
          <p:cNvSpPr/>
          <p:nvPr/>
        </p:nvSpPr>
        <p:spPr>
          <a:xfrm>
            <a:off x="939341" y="299466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Oval 268"/>
          <p:cNvSpPr/>
          <p:nvPr/>
        </p:nvSpPr>
        <p:spPr>
          <a:xfrm>
            <a:off x="939341" y="386334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1691639" y="429768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Oval 270"/>
          <p:cNvSpPr/>
          <p:nvPr/>
        </p:nvSpPr>
        <p:spPr>
          <a:xfrm>
            <a:off x="2443938" y="386334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Oval 271"/>
          <p:cNvSpPr/>
          <p:nvPr/>
        </p:nvSpPr>
        <p:spPr>
          <a:xfrm>
            <a:off x="2443938" y="299466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685800" y="2240280"/>
            <a:ext cx="2194560" cy="228600"/>
          </a:xfrm>
          <a:prstGeom prst="rect">
            <a:avLst/>
          </a:prstGeom>
          <a:noFill/>
        </p:spPr>
        <p:txBody>
          <a:bodyPr wrap="square" lIns="27425" rIns="27425" tIns="22850" bIns="22850" anchor="t">
            <a:spAutoFit/>
          </a:bodyPr>
          <a:lstStyle/>
          <a:p>
            <a:pPr algn="ctr"/>
            <a:r>
              <a:rPr sz="900" b="1">
                <a:solidFill>
                  <a:srgbClr val="27D6FF"/>
                </a:solidFill>
                <a:latin typeface="Arial"/>
              </a:rPr>
              <a:t>DRUG FUNDING</a:t>
            </a:r>
          </a:p>
        </p:txBody>
      </p:sp>
      <p:sp>
        <p:nvSpPr>
          <p:cNvPr id="274" name="TextBox 273"/>
          <p:cNvSpPr txBox="1"/>
          <p:nvPr/>
        </p:nvSpPr>
        <p:spPr>
          <a:xfrm>
            <a:off x="685800" y="4526280"/>
            <a:ext cx="2194560" cy="411480"/>
          </a:xfrm>
          <a:prstGeom prst="rect">
            <a:avLst/>
          </a:prstGeom>
          <a:noFill/>
        </p:spPr>
        <p:txBody>
          <a:bodyPr wrap="square" lIns="27425" rIns="27425" tIns="22850" bIns="22850" anchor="t">
            <a:spAutoFit/>
          </a:bodyPr>
          <a:lstStyle/>
          <a:p>
            <a:pPr algn="ctr"/>
            <a:r>
              <a:rPr sz="1100" b="0">
                <a:solidFill>
                  <a:srgbClr val="A1B1CD"/>
                </a:solidFill>
                <a:latin typeface="Arial"/>
              </a:rPr>
              <a:t>15 of 15 lines</a:t>
            </a:r>
          </a:p>
          <a:p>
            <a:pPr algn="ctr">
              <a:spcBef>
                <a:spcPts val="400"/>
              </a:spcBef>
            </a:pPr>
            <a:r>
              <a:rPr sz="1100" b="0">
                <a:solidFill>
                  <a:srgbClr val="A1B1CD"/>
                </a:solidFill>
                <a:latin typeface="Arial"/>
              </a:rPr>
              <a:t>density 1.00: dense</a:t>
            </a:r>
          </a:p>
        </p:txBody>
      </p:sp>
      <p:cxnSp>
        <p:nvCxnSpPr>
          <p:cNvPr id="275" name="Connector 274"/>
          <p:cNvCxnSpPr/>
          <p:nvPr/>
        </p:nvCxnSpPr>
        <p:spPr>
          <a:xfrm flipH="1">
            <a:off x="3408221" y="2651760"/>
            <a:ext cx="752299"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3408221" y="3086100"/>
            <a:ext cx="0" cy="86868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3408221" y="3954780"/>
            <a:ext cx="752299"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4160520" y="3954780"/>
            <a:ext cx="752298"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4912818" y="3086100"/>
            <a:ext cx="0" cy="86868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H="1" flipV="1">
            <a:off x="4160520" y="2651760"/>
            <a:ext cx="752298"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sp>
        <p:nvSpPr>
          <p:cNvPr id="281" name="Oval 280"/>
          <p:cNvSpPr/>
          <p:nvPr/>
        </p:nvSpPr>
        <p:spPr>
          <a:xfrm>
            <a:off x="4069080" y="256032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Oval 281"/>
          <p:cNvSpPr/>
          <p:nvPr/>
        </p:nvSpPr>
        <p:spPr>
          <a:xfrm>
            <a:off x="3316781" y="299466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Oval 282"/>
          <p:cNvSpPr/>
          <p:nvPr/>
        </p:nvSpPr>
        <p:spPr>
          <a:xfrm>
            <a:off x="3316781" y="386334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Oval 283"/>
          <p:cNvSpPr/>
          <p:nvPr/>
        </p:nvSpPr>
        <p:spPr>
          <a:xfrm>
            <a:off x="4069080" y="429768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Oval 284"/>
          <p:cNvSpPr/>
          <p:nvPr/>
        </p:nvSpPr>
        <p:spPr>
          <a:xfrm>
            <a:off x="4821378" y="386334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Oval 285"/>
          <p:cNvSpPr/>
          <p:nvPr/>
        </p:nvSpPr>
        <p:spPr>
          <a:xfrm>
            <a:off x="4821378" y="299466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TextBox 286"/>
          <p:cNvSpPr txBox="1"/>
          <p:nvPr/>
        </p:nvSpPr>
        <p:spPr>
          <a:xfrm>
            <a:off x="3063240" y="2240280"/>
            <a:ext cx="2194560" cy="228600"/>
          </a:xfrm>
          <a:prstGeom prst="rect">
            <a:avLst/>
          </a:prstGeom>
          <a:noFill/>
        </p:spPr>
        <p:txBody>
          <a:bodyPr wrap="square" lIns="27425" rIns="27425" tIns="22850" bIns="22850" anchor="t">
            <a:spAutoFit/>
          </a:bodyPr>
          <a:lstStyle/>
          <a:p>
            <a:pPr algn="ctr"/>
            <a:r>
              <a:rPr sz="900" b="1">
                <a:solidFill>
                  <a:srgbClr val="D948FF"/>
                </a:solidFill>
                <a:latin typeface="Arial"/>
              </a:rPr>
              <a:t>TRIAL-SITE NETWORK</a:t>
            </a:r>
          </a:p>
        </p:txBody>
      </p:sp>
      <p:sp>
        <p:nvSpPr>
          <p:cNvPr id="288" name="TextBox 287"/>
          <p:cNvSpPr txBox="1"/>
          <p:nvPr/>
        </p:nvSpPr>
        <p:spPr>
          <a:xfrm>
            <a:off x="3063240" y="4526280"/>
            <a:ext cx="2194560" cy="411480"/>
          </a:xfrm>
          <a:prstGeom prst="rect">
            <a:avLst/>
          </a:prstGeom>
          <a:noFill/>
        </p:spPr>
        <p:txBody>
          <a:bodyPr wrap="square" lIns="27425" rIns="27425" tIns="22850" bIns="22850" anchor="t">
            <a:spAutoFit/>
          </a:bodyPr>
          <a:lstStyle/>
          <a:p>
            <a:pPr algn="ctr"/>
            <a:r>
              <a:rPr sz="1100" b="0">
                <a:solidFill>
                  <a:srgbClr val="A1B1CD"/>
                </a:solidFill>
                <a:latin typeface="Arial"/>
              </a:rPr>
              <a:t>6 of 15 lines</a:t>
            </a:r>
          </a:p>
          <a:p>
            <a:pPr algn="ctr">
              <a:spcBef>
                <a:spcPts val="400"/>
              </a:spcBef>
            </a:pPr>
            <a:r>
              <a:rPr sz="1100" b="0">
                <a:solidFill>
                  <a:srgbClr val="A1B1CD"/>
                </a:solidFill>
                <a:latin typeface="Arial"/>
              </a:rPr>
              <a:t>density 0.40: sparse</a:t>
            </a:r>
          </a:p>
        </p:txBody>
      </p:sp>
      <p:sp>
        <p:nvSpPr>
          <p:cNvPr id="289" name="Rounded Rectangle 288"/>
          <p:cNvSpPr/>
          <p:nvPr/>
        </p:nvSpPr>
        <p:spPr>
          <a:xfrm>
            <a:off x="5715000" y="2240280"/>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5879592" y="2423160"/>
            <a:ext cx="50292" cy="54864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extBox 290"/>
          <p:cNvSpPr txBox="1"/>
          <p:nvPr/>
        </p:nvSpPr>
        <p:spPr>
          <a:xfrm>
            <a:off x="6044184" y="2404872"/>
            <a:ext cx="2788920" cy="201168"/>
          </a:xfrm>
          <a:prstGeom prst="rect">
            <a:avLst/>
          </a:prstGeom>
          <a:noFill/>
        </p:spPr>
        <p:txBody>
          <a:bodyPr wrap="square" lIns="27425" rIns="27425" tIns="22850" bIns="22850" anchor="t">
            <a:spAutoFit/>
          </a:bodyPr>
          <a:lstStyle/>
          <a:p>
            <a:pPr algn="l"/>
            <a:r>
              <a:rPr sz="900" b="1">
                <a:solidFill>
                  <a:srgbClr val="27D6FF"/>
                </a:solidFill>
                <a:latin typeface="Arial"/>
              </a:rPr>
              <a:t>STEP 1</a:t>
            </a:r>
          </a:p>
        </p:txBody>
      </p:sp>
      <p:sp>
        <p:nvSpPr>
          <p:cNvPr id="292" name="TextBox 291"/>
          <p:cNvSpPr txBox="1"/>
          <p:nvPr/>
        </p:nvSpPr>
        <p:spPr>
          <a:xfrm>
            <a:off x="6044184" y="2651760"/>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Draw the map: </a:t>
            </a:r>
            <a:r>
              <a:rPr sz="1100" b="0">
                <a:solidFill>
                  <a:srgbClr val="A1B1CD"/>
                </a:solidFill>
                <a:latin typeface="Arial"/>
              </a:rPr>
              <a:t>One dot per choice; a line wherever the score sheet has a pair term.</a:t>
            </a:r>
          </a:p>
        </p:txBody>
      </p:sp>
      <p:sp>
        <p:nvSpPr>
          <p:cNvPr id="293" name="Rounded Rectangle 292"/>
          <p:cNvSpPr/>
          <p:nvPr/>
        </p:nvSpPr>
        <p:spPr>
          <a:xfrm>
            <a:off x="5715000" y="3218688"/>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ectangle 293"/>
          <p:cNvSpPr/>
          <p:nvPr/>
        </p:nvSpPr>
        <p:spPr>
          <a:xfrm>
            <a:off x="5879592" y="3401568"/>
            <a:ext cx="50292" cy="54864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TextBox 294"/>
          <p:cNvSpPr txBox="1"/>
          <p:nvPr/>
        </p:nvSpPr>
        <p:spPr>
          <a:xfrm>
            <a:off x="6044184" y="3383280"/>
            <a:ext cx="2788920" cy="201168"/>
          </a:xfrm>
          <a:prstGeom prst="rect">
            <a:avLst/>
          </a:prstGeom>
          <a:noFill/>
        </p:spPr>
        <p:txBody>
          <a:bodyPr wrap="square" lIns="27425" rIns="27425" tIns="22850" bIns="22850" anchor="t">
            <a:spAutoFit/>
          </a:bodyPr>
          <a:lstStyle/>
          <a:p>
            <a:pPr algn="l"/>
            <a:r>
              <a:rPr sz="900" b="1">
                <a:solidFill>
                  <a:srgbClr val="D948FF"/>
                </a:solidFill>
                <a:latin typeface="Arial"/>
              </a:rPr>
              <a:t>STEP 2</a:t>
            </a:r>
          </a:p>
        </p:txBody>
      </p:sp>
      <p:sp>
        <p:nvSpPr>
          <p:cNvPr id="296" name="TextBox 295"/>
          <p:cNvSpPr txBox="1"/>
          <p:nvPr/>
        </p:nvSpPr>
        <p:spPr>
          <a:xfrm>
            <a:off x="6044184" y="3630168"/>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Count the shape: </a:t>
            </a:r>
            <a:r>
              <a:rPr sz="1100" b="0">
                <a:solidFill>
                  <a:srgbClr val="A1B1CD"/>
                </a:solidFill>
                <a:latin typeface="Arial"/>
              </a:rPr>
              <a:t>Size, density (lines ÷ possible), links per choice, number spread.</a:t>
            </a:r>
          </a:p>
        </p:txBody>
      </p:sp>
      <p:sp>
        <p:nvSpPr>
          <p:cNvPr id="297" name="Rounded Rectangle 296"/>
          <p:cNvSpPr/>
          <p:nvPr/>
        </p:nvSpPr>
        <p:spPr>
          <a:xfrm>
            <a:off x="5715000" y="4197096"/>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Rectangle 297"/>
          <p:cNvSpPr/>
          <p:nvPr/>
        </p:nvSpPr>
        <p:spPr>
          <a:xfrm>
            <a:off x="5879592" y="4379976"/>
            <a:ext cx="50292" cy="5486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TextBox 298"/>
          <p:cNvSpPr txBox="1"/>
          <p:nvPr/>
        </p:nvSpPr>
        <p:spPr>
          <a:xfrm>
            <a:off x="6044184" y="4361688"/>
            <a:ext cx="2788920" cy="201168"/>
          </a:xfrm>
          <a:prstGeom prst="rect">
            <a:avLst/>
          </a:prstGeom>
          <a:noFill/>
        </p:spPr>
        <p:txBody>
          <a:bodyPr wrap="square" lIns="27425" rIns="27425" tIns="22850" bIns="22850" anchor="t">
            <a:spAutoFit/>
          </a:bodyPr>
          <a:lstStyle/>
          <a:p>
            <a:pPr algn="l"/>
            <a:r>
              <a:rPr sz="900" b="1">
                <a:solidFill>
                  <a:srgbClr val="5BF0B9"/>
                </a:solidFill>
                <a:latin typeface="Arial"/>
              </a:rPr>
              <a:t>STEP 3</a:t>
            </a:r>
          </a:p>
        </p:txBody>
      </p:sp>
      <p:sp>
        <p:nvSpPr>
          <p:cNvPr id="300" name="TextBox 299"/>
          <p:cNvSpPr txBox="1"/>
          <p:nvPr/>
        </p:nvSpPr>
        <p:spPr>
          <a:xfrm>
            <a:off x="6044184" y="4608576"/>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Fit IBM's real chip: </a:t>
            </a:r>
            <a:r>
              <a:rPr sz="1100" b="0">
                <a:solidFill>
                  <a:srgbClr val="A1B1CD"/>
                </a:solidFill>
                <a:latin typeface="Arial"/>
              </a:rPr>
              <a:t>Compile onto IBM Torino; count link steps and length; multiply step error chances.</a:t>
            </a:r>
          </a:p>
        </p:txBody>
      </p:sp>
      <p:graphicFrame>
        <p:nvGraphicFramePr>
          <p:cNvPr id="301" name="Table 300"/>
          <p:cNvGraphicFramePr>
            <a:graphicFrameLocks noGrp="1"/>
          </p:cNvGraphicFramePr>
          <p:nvPr/>
        </p:nvGraphicFramePr>
        <p:xfrm>
          <a:off x="9144000" y="2240280"/>
          <a:ext cx="2514600" cy="1170432"/>
        </p:xfrm>
        <a:graphic>
          <a:graphicData uri="http://schemas.openxmlformats.org/drawingml/2006/table">
            <a:tbl>
              <a:tblPr firstRow="0" bandRow="0"/>
              <a:tblGrid>
                <a:gridCol w="1143000"/>
                <a:gridCol w="640080"/>
                <a:gridCol w="731520"/>
              </a:tblGrid>
              <a:tr h="292608">
                <a:tc>
                  <a:txBody>
                    <a:bodyPr/>
                    <a:lstStyle/>
                    <a:p>
                      <a:r>
                        <a:rPr sz="1000" b="1">
                          <a:solidFill>
                            <a:srgbClr val="F4F8FF"/>
                          </a:solidFill>
                          <a:latin typeface="Arial"/>
                        </a:rPr>
                        <a:t>8-choice example</a:t>
                      </a:r>
                    </a:p>
                  </a:txBody>
                  <a:tcPr marL="54864" marR="54864" marT="18288" marB="18288" anchor="ctr">
                    <a:solidFill>
                      <a:srgbClr val="233558"/>
                    </a:solidFill>
                  </a:tcPr>
                </a:tc>
                <a:tc>
                  <a:txBody>
                    <a:bodyPr/>
                    <a:lstStyle/>
                    <a:p>
                      <a:r>
                        <a:rPr sz="1000" b="1">
                          <a:solidFill>
                            <a:srgbClr val="F4F8FF"/>
                          </a:solidFill>
                          <a:latin typeface="Arial"/>
                        </a:rPr>
                        <a:t>Density</a:t>
                      </a:r>
                    </a:p>
                  </a:txBody>
                  <a:tcPr marL="54864" marR="54864" marT="18288" marB="18288" anchor="ctr">
                    <a:solidFill>
                      <a:srgbClr val="233558"/>
                    </a:solidFill>
                  </a:tcPr>
                </a:tc>
                <a:tc>
                  <a:txBody>
                    <a:bodyPr/>
                    <a:lstStyle/>
                    <a:p>
                      <a:r>
                        <a:rPr sz="1000" b="1">
                          <a:solidFill>
                            <a:srgbClr val="F4F8FF"/>
                          </a:solidFill>
                          <a:latin typeface="Arial"/>
                        </a:rPr>
                        <a:t>Link steps</a:t>
                      </a:r>
                    </a:p>
                  </a:txBody>
                  <a:tcPr marL="54864" marR="54864" marT="18288" marB="18288" anchor="ctr">
                    <a:solidFill>
                      <a:srgbClr val="233558"/>
                    </a:solidFill>
                  </a:tcPr>
                </a:tc>
              </a:tr>
              <a:tr h="292608">
                <a:tc>
                  <a:txBody>
                    <a:bodyPr/>
                    <a:lstStyle/>
                    <a:p>
                      <a:r>
                        <a:rPr sz="1000" b="0">
                          <a:solidFill>
                            <a:srgbClr val="A1B1CD"/>
                          </a:solidFill>
                          <a:latin typeface="Arial"/>
                        </a:rPr>
                        <a:t>Drugs</a:t>
                      </a:r>
                    </a:p>
                  </a:txBody>
                  <a:tcPr marL="54864" marR="54864" marT="18288" marB="18288" anchor="ctr">
                    <a:solidFill>
                      <a:srgbClr val="0D132A"/>
                    </a:solidFill>
                  </a:tcPr>
                </a:tc>
                <a:tc>
                  <a:txBody>
                    <a:bodyPr/>
                    <a:lstStyle/>
                    <a:p>
                      <a:r>
                        <a:rPr sz="1000" b="0">
                          <a:solidFill>
                            <a:srgbClr val="A1B1CD"/>
                          </a:solidFill>
                          <a:latin typeface="Arial"/>
                        </a:rPr>
                        <a:t>1.00</a:t>
                      </a:r>
                    </a:p>
                  </a:txBody>
                  <a:tcPr marL="54864" marR="54864" marT="18288" marB="18288" anchor="ctr">
                    <a:solidFill>
                      <a:srgbClr val="0D132A"/>
                    </a:solidFill>
                  </a:tcPr>
                </a:tc>
                <a:tc>
                  <a:txBody>
                    <a:bodyPr/>
                    <a:lstStyle/>
                    <a:p>
                      <a:r>
                        <a:rPr sz="1000" b="0">
                          <a:solidFill>
                            <a:srgbClr val="A1B1CD"/>
                          </a:solidFill>
                          <a:latin typeface="Arial"/>
                        </a:rPr>
                        <a:t>99</a:t>
                      </a:r>
                    </a:p>
                  </a:txBody>
                  <a:tcPr marL="54864" marR="54864" marT="18288" marB="18288" anchor="ctr">
                    <a:solidFill>
                      <a:srgbClr val="0D132A"/>
                    </a:solidFill>
                  </a:tcPr>
                </a:tc>
              </a:tr>
              <a:tr h="292608">
                <a:tc>
                  <a:txBody>
                    <a:bodyPr/>
                    <a:lstStyle/>
                    <a:p>
                      <a:r>
                        <a:rPr sz="1000" b="0">
                          <a:solidFill>
                            <a:srgbClr val="A1B1CD"/>
                          </a:solidFill>
                          <a:latin typeface="Arial"/>
                        </a:rPr>
                        <a:t>Network</a:t>
                      </a:r>
                    </a:p>
                  </a:txBody>
                  <a:tcPr marL="54864" marR="54864" marT="18288" marB="18288" anchor="ctr">
                    <a:solidFill>
                      <a:srgbClr val="0D132A"/>
                    </a:solidFill>
                  </a:tcPr>
                </a:tc>
                <a:tc>
                  <a:txBody>
                    <a:bodyPr/>
                    <a:lstStyle/>
                    <a:p>
                      <a:r>
                        <a:rPr sz="1000" b="0">
                          <a:solidFill>
                            <a:srgbClr val="A1B1CD"/>
                          </a:solidFill>
                          <a:latin typeface="Arial"/>
                        </a:rPr>
                        <a:t>0.50</a:t>
                      </a:r>
                    </a:p>
                  </a:txBody>
                  <a:tcPr marL="54864" marR="54864" marT="18288" marB="18288" anchor="ctr">
                    <a:solidFill>
                      <a:srgbClr val="0D132A"/>
                    </a:solidFill>
                  </a:tcPr>
                </a:tc>
                <a:tc>
                  <a:txBody>
                    <a:bodyPr/>
                    <a:lstStyle/>
                    <a:p>
                      <a:r>
                        <a:rPr sz="1000" b="0">
                          <a:solidFill>
                            <a:srgbClr val="A1B1CD"/>
                          </a:solidFill>
                          <a:latin typeface="Arial"/>
                        </a:rPr>
                        <a:t>49</a:t>
                      </a:r>
                    </a:p>
                  </a:txBody>
                  <a:tcPr marL="54864" marR="54864" marT="18288" marB="18288" anchor="ctr">
                    <a:solidFill>
                      <a:srgbClr val="0D132A"/>
                    </a:solidFill>
                  </a:tcPr>
                </a:tc>
              </a:tr>
              <a:tr h="292608">
                <a:tc>
                  <a:txBody>
                    <a:bodyPr/>
                    <a:lstStyle/>
                    <a:p>
                      <a:r>
                        <a:rPr sz="1000" b="0">
                          <a:solidFill>
                            <a:srgbClr val="A1B1CD"/>
                          </a:solidFill>
                          <a:latin typeface="Arial"/>
                        </a:rPr>
                        <a:t>Medical tests</a:t>
                      </a:r>
                    </a:p>
                  </a:txBody>
                  <a:tcPr marL="54864" marR="54864" marT="18288" marB="18288" anchor="ctr">
                    <a:solidFill>
                      <a:srgbClr val="0D132A"/>
                    </a:solidFill>
                  </a:tcPr>
                </a:tc>
                <a:tc>
                  <a:txBody>
                    <a:bodyPr/>
                    <a:lstStyle/>
                    <a:p>
                      <a:r>
                        <a:rPr sz="1000" b="0">
                          <a:solidFill>
                            <a:srgbClr val="A1B1CD"/>
                          </a:solidFill>
                          <a:latin typeface="Arial"/>
                        </a:rPr>
                        <a:t>0.61</a:t>
                      </a:r>
                    </a:p>
                  </a:txBody>
                  <a:tcPr marL="54864" marR="54864" marT="18288" marB="18288" anchor="ctr">
                    <a:solidFill>
                      <a:srgbClr val="0D132A"/>
                    </a:solidFill>
                  </a:tcPr>
                </a:tc>
                <a:tc>
                  <a:txBody>
                    <a:bodyPr/>
                    <a:lstStyle/>
                    <a:p>
                      <a:r>
                        <a:rPr sz="1000" b="0">
                          <a:solidFill>
                            <a:srgbClr val="A1B1CD"/>
                          </a:solidFill>
                          <a:latin typeface="Arial"/>
                        </a:rPr>
                        <a:t>53</a:t>
                      </a:r>
                    </a:p>
                  </a:txBody>
                  <a:tcPr marL="54864" marR="54864" marT="18288" marB="18288" anchor="ctr">
                    <a:solidFill>
                      <a:srgbClr val="0D132A"/>
                    </a:solidFill>
                  </a:tcPr>
                </a:tc>
              </a:tr>
            </a:tbl>
          </a:graphicData>
        </a:graphic>
      </p:graphicFrame>
      <p:sp>
        <p:nvSpPr>
          <p:cNvPr id="302" name="TextBox 301"/>
          <p:cNvSpPr txBox="1"/>
          <p:nvPr/>
        </p:nvSpPr>
        <p:spPr>
          <a:xfrm>
            <a:off x="9144000" y="3520440"/>
            <a:ext cx="2514600" cy="1371600"/>
          </a:xfrm>
          <a:prstGeom prst="rect">
            <a:avLst/>
          </a:prstGeom>
          <a:noFill/>
        </p:spPr>
        <p:txBody>
          <a:bodyPr wrap="square" lIns="27425" rIns="27425" tIns="22850" bIns="22850" anchor="t">
            <a:spAutoFit/>
          </a:bodyPr>
          <a:lstStyle/>
          <a:p>
            <a:pPr algn="l"/>
            <a:r>
              <a:rPr sz="1100" b="0">
                <a:solidFill>
                  <a:srgbClr val="A1B1CD"/>
                </a:solidFill>
                <a:latin typeface="Arial"/>
              </a:rPr>
              <a:t>Fewer lines → fewer link steps → fewer chip errors. Link steps are the noisiest part of any quantum recipe.</a:t>
            </a:r>
          </a:p>
        </p:txBody>
      </p:sp>
      <p:sp>
        <p:nvSpPr>
          <p:cNvPr id="303" name="Rounded Rectangle 302"/>
          <p:cNvSpPr/>
          <p:nvPr/>
        </p:nvSpPr>
        <p:spPr>
          <a:xfrm>
            <a:off x="822960" y="5349240"/>
            <a:ext cx="10424160" cy="50292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005840" y="5349240"/>
            <a:ext cx="10058400" cy="502920"/>
          </a:xfrm>
          <a:prstGeom prst="rect">
            <a:avLst/>
          </a:prstGeom>
          <a:noFill/>
        </p:spPr>
        <p:txBody>
          <a:bodyPr wrap="square" lIns="27425" rIns="27425" tIns="22850" bIns="22850" anchor="ctr">
            <a:spAutoFit/>
          </a:bodyPr>
          <a:lstStyle/>
          <a:p>
            <a:pPr algn="ctr"/>
            <a:r>
              <a:rPr sz="1200" b="1">
                <a:solidFill>
                  <a:srgbClr val="FFCA5C"/>
                </a:solidFill>
                <a:latin typeface="Arial"/>
              </a:rPr>
              <a:t>NINE NUMBERS = FIVE ABOUT THE MAP + FOUR ABOUT HOW THE RECIPE RUNS ON IBM'S CHIP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06</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05 / PATTERN RECOGNITION</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Different industries share hidden shapes.</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Each dot is one of our 60 practice problems, placed by its nine-number fingerprint. Close dots = similar shape.</a:t>
            </a:r>
            <a:endParaRPr/>
          </a:p>
        </p:txBody>
      </p:sp>
      <p:graphicFrame>
        <p:nvGraphicFramePr>
          <p:cNvPr id="252" name="Chart 251"/>
          <p:cNvGraphicFramePr>
            <a:graphicFrameLocks noGrp="1"/>
          </p:cNvGraphicFramePr>
          <p:nvPr/>
        </p:nvGraphicFramePr>
        <p:xfrm>
          <a:off x="548640" y="2194560"/>
          <a:ext cx="6675120" cy="3657600"/>
        </p:xfrm>
        <a:graphic>
          <a:graphicData uri="http://schemas.openxmlformats.org/drawingml/2006/chart">
            <c:chart xmlns:c="http://schemas.openxmlformats.org/drawingml/2006/chart" r:id="rId3"/>
          </a:graphicData>
        </a:graphic>
      </p:graphicFrame>
      <p:sp>
        <p:nvSpPr>
          <p:cNvPr id="253" name="Rounded Rectangle 252"/>
          <p:cNvSpPr/>
          <p:nvPr/>
        </p:nvSpPr>
        <p:spPr>
          <a:xfrm>
            <a:off x="7498079" y="2194560"/>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662671" y="2377440"/>
            <a:ext cx="50292" cy="77724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7827263" y="2359152"/>
            <a:ext cx="3703320" cy="201168"/>
          </a:xfrm>
          <a:prstGeom prst="rect">
            <a:avLst/>
          </a:prstGeom>
          <a:noFill/>
        </p:spPr>
        <p:txBody>
          <a:bodyPr wrap="square" lIns="27425" rIns="27425" tIns="22850" bIns="22850" anchor="t">
            <a:spAutoFit/>
          </a:bodyPr>
          <a:lstStyle/>
          <a:p>
            <a:pPr algn="l"/>
            <a:r>
              <a:rPr sz="900" b="1">
                <a:solidFill>
                  <a:srgbClr val="27D6FF"/>
                </a:solidFill>
                <a:latin typeface="Arial"/>
              </a:rPr>
              <a:t>HOW TO READ IT</a:t>
            </a:r>
          </a:p>
        </p:txBody>
      </p:sp>
      <p:sp>
        <p:nvSpPr>
          <p:cNvPr id="256" name="TextBox 255"/>
          <p:cNvSpPr txBox="1"/>
          <p:nvPr/>
        </p:nvSpPr>
        <p:spPr>
          <a:xfrm>
            <a:off x="7827263" y="2606040"/>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Nine numbers per problem, compressed to two axes (PCA). Only distance matters: close dots have similar shapes.</a:t>
            </a:r>
          </a:p>
        </p:txBody>
      </p:sp>
      <p:sp>
        <p:nvSpPr>
          <p:cNvPr id="257" name="Rounded Rectangle 256"/>
          <p:cNvSpPr/>
          <p:nvPr/>
        </p:nvSpPr>
        <p:spPr>
          <a:xfrm>
            <a:off x="7498079" y="3456432"/>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662671" y="3639312"/>
            <a:ext cx="50292" cy="77724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7827263" y="3621024"/>
            <a:ext cx="3703320" cy="201168"/>
          </a:xfrm>
          <a:prstGeom prst="rect">
            <a:avLst/>
          </a:prstGeom>
          <a:noFill/>
        </p:spPr>
        <p:txBody>
          <a:bodyPr wrap="square" lIns="27425" rIns="27425" tIns="22850" bIns="22850" anchor="t">
            <a:spAutoFit/>
          </a:bodyPr>
          <a:lstStyle/>
          <a:p>
            <a:pPr algn="l"/>
            <a:r>
              <a:rPr sz="900" b="1">
                <a:solidFill>
                  <a:srgbClr val="D948FF"/>
                </a:solidFill>
                <a:latin typeface="Arial"/>
              </a:rPr>
              <a:t>WHAT IT SHOWS</a:t>
            </a:r>
          </a:p>
        </p:txBody>
      </p:sp>
      <p:sp>
        <p:nvSpPr>
          <p:cNvPr id="260" name="TextBox 259"/>
          <p:cNvSpPr txBox="1"/>
          <p:nvPr/>
        </p:nvSpPr>
        <p:spPr>
          <a:xfrm>
            <a:off x="7827263" y="3867911"/>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Stocks and drugs overlap (both fully connected). Networks and medical tests overlap (both loosely connected).</a:t>
            </a:r>
          </a:p>
        </p:txBody>
      </p:sp>
      <p:sp>
        <p:nvSpPr>
          <p:cNvPr id="261" name="Rounded Rectangle 260"/>
          <p:cNvSpPr/>
          <p:nvPr/>
        </p:nvSpPr>
        <p:spPr>
          <a:xfrm>
            <a:off x="7498079" y="4718304"/>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7662671" y="4901184"/>
            <a:ext cx="50292" cy="7772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7827263" y="4882896"/>
            <a:ext cx="3703320" cy="201168"/>
          </a:xfrm>
          <a:prstGeom prst="rect">
            <a:avLst/>
          </a:prstGeom>
          <a:noFill/>
        </p:spPr>
        <p:txBody>
          <a:bodyPr wrap="square" lIns="27425" rIns="27425" tIns="22850" bIns="22850" anchor="t">
            <a:spAutoFit/>
          </a:bodyPr>
          <a:lstStyle/>
          <a:p>
            <a:pPr algn="l"/>
            <a:r>
              <a:rPr sz="900" b="1">
                <a:solidFill>
                  <a:srgbClr val="5BF0B9"/>
                </a:solidFill>
                <a:latin typeface="Arial"/>
              </a:rPr>
              <a:t>WHY IT MATTERS</a:t>
            </a:r>
          </a:p>
        </p:txBody>
      </p:sp>
      <p:sp>
        <p:nvSpPr>
          <p:cNvPr id="264" name="TextBox 263"/>
          <p:cNvSpPr txBox="1"/>
          <p:nvPr/>
        </p:nvSpPr>
        <p:spPr>
          <a:xfrm>
            <a:off x="7827263" y="5129784"/>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Shape, not industry, decides which solver fits, so lessons learned in one industry carry to another.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07</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06 / REUSING WHAT WE LEARNED</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Copy settings from a twin: one try instead of sixty.</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Tuning a quantum recipe takes about 60 tries. Q-Router copies the dials from the closest problem in another industry.</a:t>
            </a:r>
            <a:endParaRPr/>
          </a:p>
        </p:txBody>
      </p:sp>
      <p:graphicFrame>
        <p:nvGraphicFramePr>
          <p:cNvPr id="252" name="Chart 251"/>
          <p:cNvGraphicFramePr>
            <a:graphicFrameLocks noGrp="1"/>
          </p:cNvGraphicFramePr>
          <p:nvPr/>
        </p:nvGraphicFramePr>
        <p:xfrm>
          <a:off x="548640" y="2194560"/>
          <a:ext cx="5760720" cy="3017520"/>
        </p:xfrm>
        <a:graphic>
          <a:graphicData uri="http://schemas.openxmlformats.org/drawingml/2006/chart">
            <c:chart xmlns:c="http://schemas.openxmlformats.org/drawingml/2006/chart" r:id="rId3"/>
          </a:graphicData>
        </a:graphic>
      </p:graphicFrame>
      <p:sp>
        <p:nvSpPr>
          <p:cNvPr id="253" name="TextBox 252"/>
          <p:cNvSpPr txBox="1"/>
          <p:nvPr/>
        </p:nvSpPr>
        <p:spPr>
          <a:xfrm>
            <a:off x="548640" y="5230368"/>
            <a:ext cx="5760720" cy="274320"/>
          </a:xfrm>
          <a:prstGeom prst="rect">
            <a:avLst/>
          </a:prstGeom>
          <a:noFill/>
        </p:spPr>
        <p:txBody>
          <a:bodyPr wrap="square" lIns="27425" rIns="27425" tIns="22850" bIns="22850" anchor="t">
            <a:spAutoFit/>
          </a:bodyPr>
          <a:lstStyle/>
          <a:p>
            <a:pPr algn="l"/>
            <a:r>
              <a:rPr sz="1000" b="0">
                <a:solidFill>
                  <a:srgbClr val="A1B1CD"/>
                </a:solidFill>
                <a:latin typeface="Arial"/>
              </a:rPr>
              <a:t>All 60 problems · score 1 = best, 0 = random guess · ± 0.02 standard error</a:t>
            </a:r>
          </a:p>
        </p:txBody>
      </p:sp>
      <p:graphicFrame>
        <p:nvGraphicFramePr>
          <p:cNvPr id="254" name="Table 253"/>
          <p:cNvGraphicFramePr>
            <a:graphicFrameLocks noGrp="1"/>
          </p:cNvGraphicFramePr>
          <p:nvPr/>
        </p:nvGraphicFramePr>
        <p:xfrm>
          <a:off x="6583680" y="2194560"/>
          <a:ext cx="5074920" cy="1463040"/>
        </p:xfrm>
        <a:graphic>
          <a:graphicData uri="http://schemas.openxmlformats.org/drawingml/2006/table">
            <a:tbl>
              <a:tblPr firstRow="0" bandRow="0"/>
              <a:tblGrid>
                <a:gridCol w="1417320"/>
                <a:gridCol w="914400"/>
                <a:gridCol w="914400"/>
                <a:gridCol w="914400"/>
                <a:gridCol w="914400"/>
              </a:tblGrid>
              <a:tr h="292608">
                <a:tc>
                  <a:txBody>
                    <a:bodyPr/>
                    <a:lstStyle/>
                    <a:p>
                      <a:r>
                        <a:rPr sz="1000" b="1">
                          <a:solidFill>
                            <a:srgbClr val="F4F8FF"/>
                          </a:solidFill>
                          <a:latin typeface="Arial"/>
                        </a:rPr>
                        <a:t>Industry</a:t>
                      </a:r>
                    </a:p>
                  </a:txBody>
                  <a:tcPr marL="54864" marR="54864" marT="18288" marB="18288" anchor="ctr">
                    <a:solidFill>
                      <a:srgbClr val="233558"/>
                    </a:solidFill>
                  </a:tcPr>
                </a:tc>
                <a:tc>
                  <a:txBody>
                    <a:bodyPr/>
                    <a:lstStyle/>
                    <a:p>
                      <a:r>
                        <a:rPr sz="1000" b="1">
                          <a:solidFill>
                            <a:srgbClr val="F4F8FF"/>
                          </a:solidFill>
                          <a:latin typeface="Arial"/>
                        </a:rPr>
                        <a:t>Tuned</a:t>
                      </a:r>
                    </a:p>
                  </a:txBody>
                  <a:tcPr marL="54864" marR="54864" marT="18288" marB="18288" anchor="ctr">
                    <a:solidFill>
                      <a:srgbClr val="233558"/>
                    </a:solidFill>
                  </a:tcPr>
                </a:tc>
                <a:tc>
                  <a:txBody>
                    <a:bodyPr/>
                    <a:lstStyle/>
                    <a:p>
                      <a:r>
                        <a:rPr sz="1000" b="1">
                          <a:solidFill>
                            <a:srgbClr val="F4F8FF"/>
                          </a:solidFill>
                          <a:latin typeface="Arial"/>
                        </a:rPr>
                        <a:t>Twin</a:t>
                      </a:r>
                    </a:p>
                  </a:txBody>
                  <a:tcPr marL="54864" marR="54864" marT="18288" marB="18288" anchor="ctr">
                    <a:solidFill>
                      <a:srgbClr val="233558"/>
                    </a:solidFill>
                  </a:tcPr>
                </a:tc>
                <a:tc>
                  <a:txBody>
                    <a:bodyPr/>
                    <a:lstStyle/>
                    <a:p>
                      <a:r>
                        <a:rPr sz="1000" b="1">
                          <a:solidFill>
                            <a:srgbClr val="F4F8FF"/>
                          </a:solidFill>
                          <a:latin typeface="Arial"/>
                        </a:rPr>
                        <a:t>Random</a:t>
                      </a:r>
                    </a:p>
                  </a:txBody>
                  <a:tcPr marL="54864" marR="54864" marT="18288" marB="18288" anchor="ctr">
                    <a:solidFill>
                      <a:srgbClr val="233558"/>
                    </a:solidFill>
                  </a:tcPr>
                </a:tc>
                <a:tc>
                  <a:txBody>
                    <a:bodyPr/>
                    <a:lstStyle/>
                    <a:p>
                      <a:r>
                        <a:rPr sz="1000" b="1">
                          <a:solidFill>
                            <a:srgbClr val="F4F8FF"/>
                          </a:solidFill>
                          <a:latin typeface="Arial"/>
                        </a:rPr>
                        <a:t>Default</a:t>
                      </a:r>
                    </a:p>
                  </a:txBody>
                  <a:tcPr marL="54864" marR="54864" marT="18288" marB="18288" anchor="ctr">
                    <a:solidFill>
                      <a:srgbClr val="233558"/>
                    </a:solidFill>
                  </a:tcPr>
                </a:tc>
              </a:tr>
              <a:tr h="292608">
                <a:tc>
                  <a:txBody>
                    <a:bodyPr/>
                    <a:lstStyle/>
                    <a:p>
                      <a:r>
                        <a:rPr sz="1000" b="0">
                          <a:solidFill>
                            <a:srgbClr val="A1B1CD"/>
                          </a:solidFill>
                          <a:latin typeface="Arial"/>
                        </a:rPr>
                        <a:t>Stocks</a:t>
                      </a:r>
                    </a:p>
                  </a:txBody>
                  <a:tcPr marL="54864" marR="54864" marT="18288" marB="18288" anchor="ctr">
                    <a:solidFill>
                      <a:srgbClr val="0D132A"/>
                    </a:solidFill>
                  </a:tcPr>
                </a:tc>
                <a:tc>
                  <a:txBody>
                    <a:bodyPr/>
                    <a:lstStyle/>
                    <a:p>
                      <a:r>
                        <a:rPr sz="1000" b="0">
                          <a:solidFill>
                            <a:srgbClr val="A1B1CD"/>
                          </a:solidFill>
                          <a:latin typeface="Arial"/>
                        </a:rPr>
                        <a:t>0.736</a:t>
                      </a:r>
                    </a:p>
                  </a:txBody>
                  <a:tcPr marL="54864" marR="54864" marT="18288" marB="18288" anchor="ctr">
                    <a:solidFill>
                      <a:srgbClr val="0D132A"/>
                    </a:solidFill>
                  </a:tcPr>
                </a:tc>
                <a:tc>
                  <a:txBody>
                    <a:bodyPr/>
                    <a:lstStyle/>
                    <a:p>
                      <a:r>
                        <a:rPr sz="1000" b="0">
                          <a:solidFill>
                            <a:srgbClr val="A1B1CD"/>
                          </a:solidFill>
                          <a:latin typeface="Arial"/>
                        </a:rPr>
                        <a:t>0.737</a:t>
                      </a:r>
                    </a:p>
                  </a:txBody>
                  <a:tcPr marL="54864" marR="54864" marT="18288" marB="18288" anchor="ctr">
                    <a:solidFill>
                      <a:srgbClr val="0D132A"/>
                    </a:solidFill>
                  </a:tcPr>
                </a:tc>
                <a:tc>
                  <a:txBody>
                    <a:bodyPr/>
                    <a:lstStyle/>
                    <a:p>
                      <a:r>
                        <a:rPr sz="1000" b="0">
                          <a:solidFill>
                            <a:srgbClr val="A1B1CD"/>
                          </a:solidFill>
                          <a:latin typeface="Arial"/>
                        </a:rPr>
                        <a:t>0.684</a:t>
                      </a:r>
                    </a:p>
                  </a:txBody>
                  <a:tcPr marL="54864" marR="54864" marT="18288" marB="18288" anchor="ctr">
                    <a:solidFill>
                      <a:srgbClr val="0D132A"/>
                    </a:solidFill>
                  </a:tcPr>
                </a:tc>
                <a:tc>
                  <a:txBody>
                    <a:bodyPr/>
                    <a:lstStyle/>
                    <a:p>
                      <a:r>
                        <a:rPr sz="1000" b="0">
                          <a:solidFill>
                            <a:srgbClr val="A1B1CD"/>
                          </a:solidFill>
                          <a:latin typeface="Arial"/>
                        </a:rPr>
                        <a:t>0.690</a:t>
                      </a:r>
                    </a:p>
                  </a:txBody>
                  <a:tcPr marL="54864" marR="54864" marT="18288" marB="18288" anchor="ctr">
                    <a:solidFill>
                      <a:srgbClr val="0D132A"/>
                    </a:solidFill>
                  </a:tcPr>
                </a:tc>
              </a:tr>
              <a:tr h="292608">
                <a:tc>
                  <a:txBody>
                    <a:bodyPr/>
                    <a:lstStyle/>
                    <a:p>
                      <a:r>
                        <a:rPr sz="1000" b="0">
                          <a:solidFill>
                            <a:srgbClr val="A1B1CD"/>
                          </a:solidFill>
                          <a:latin typeface="Arial"/>
                        </a:rPr>
                        <a:t>Drugs</a:t>
                      </a:r>
                    </a:p>
                  </a:txBody>
                  <a:tcPr marL="54864" marR="54864" marT="18288" marB="18288" anchor="ctr">
                    <a:solidFill>
                      <a:srgbClr val="0D132A"/>
                    </a:solidFill>
                  </a:tcPr>
                </a:tc>
                <a:tc>
                  <a:txBody>
                    <a:bodyPr/>
                    <a:lstStyle/>
                    <a:p>
                      <a:r>
                        <a:rPr sz="1000" b="0">
                          <a:solidFill>
                            <a:srgbClr val="A1B1CD"/>
                          </a:solidFill>
                          <a:latin typeface="Arial"/>
                        </a:rPr>
                        <a:t>0.749</a:t>
                      </a:r>
                    </a:p>
                  </a:txBody>
                  <a:tcPr marL="54864" marR="54864" marT="18288" marB="18288" anchor="ctr">
                    <a:solidFill>
                      <a:srgbClr val="0D132A"/>
                    </a:solidFill>
                  </a:tcPr>
                </a:tc>
                <a:tc>
                  <a:txBody>
                    <a:bodyPr/>
                    <a:lstStyle/>
                    <a:p>
                      <a:r>
                        <a:rPr sz="1000" b="0">
                          <a:solidFill>
                            <a:srgbClr val="A1B1CD"/>
                          </a:solidFill>
                          <a:latin typeface="Arial"/>
                        </a:rPr>
                        <a:t>0.737</a:t>
                      </a:r>
                    </a:p>
                  </a:txBody>
                  <a:tcPr marL="54864" marR="54864" marT="18288" marB="18288" anchor="ctr">
                    <a:solidFill>
                      <a:srgbClr val="0D132A"/>
                    </a:solidFill>
                  </a:tcPr>
                </a:tc>
                <a:tc>
                  <a:txBody>
                    <a:bodyPr/>
                    <a:lstStyle/>
                    <a:p>
                      <a:r>
                        <a:rPr sz="1000" b="0">
                          <a:solidFill>
                            <a:srgbClr val="A1B1CD"/>
                          </a:solidFill>
                          <a:latin typeface="Arial"/>
                        </a:rPr>
                        <a:t>0.663</a:t>
                      </a:r>
                    </a:p>
                  </a:txBody>
                  <a:tcPr marL="54864" marR="54864" marT="18288" marB="18288" anchor="ctr">
                    <a:solidFill>
                      <a:srgbClr val="0D132A"/>
                    </a:solidFill>
                  </a:tcPr>
                </a:tc>
                <a:tc>
                  <a:txBody>
                    <a:bodyPr/>
                    <a:lstStyle/>
                    <a:p>
                      <a:r>
                        <a:rPr sz="1000" b="0">
                          <a:solidFill>
                            <a:srgbClr val="A1B1CD"/>
                          </a:solidFill>
                          <a:latin typeface="Arial"/>
                        </a:rPr>
                        <a:t>0.694</a:t>
                      </a:r>
                    </a:p>
                  </a:txBody>
                  <a:tcPr marL="54864" marR="54864" marT="18288" marB="18288" anchor="ctr">
                    <a:solidFill>
                      <a:srgbClr val="0D132A"/>
                    </a:solidFill>
                  </a:tcPr>
                </a:tc>
              </a:tr>
              <a:tr h="292608">
                <a:tc>
                  <a:txBody>
                    <a:bodyPr/>
                    <a:lstStyle/>
                    <a:p>
                      <a:r>
                        <a:rPr sz="1000" b="0">
                          <a:solidFill>
                            <a:srgbClr val="A1B1CD"/>
                          </a:solidFill>
                          <a:latin typeface="Arial"/>
                        </a:rPr>
                        <a:t>Medical tests</a:t>
                      </a:r>
                    </a:p>
                  </a:txBody>
                  <a:tcPr marL="54864" marR="54864" marT="18288" marB="18288" anchor="ctr">
                    <a:solidFill>
                      <a:srgbClr val="0D132A"/>
                    </a:solidFill>
                  </a:tcPr>
                </a:tc>
                <a:tc>
                  <a:txBody>
                    <a:bodyPr/>
                    <a:lstStyle/>
                    <a:p>
                      <a:r>
                        <a:rPr sz="1000" b="0">
                          <a:solidFill>
                            <a:srgbClr val="A1B1CD"/>
                          </a:solidFill>
                          <a:latin typeface="Arial"/>
                        </a:rPr>
                        <a:t>0.615</a:t>
                      </a:r>
                    </a:p>
                  </a:txBody>
                  <a:tcPr marL="54864" marR="54864" marT="18288" marB="18288" anchor="ctr">
                    <a:solidFill>
                      <a:srgbClr val="0D132A"/>
                    </a:solidFill>
                  </a:tcPr>
                </a:tc>
                <a:tc>
                  <a:txBody>
                    <a:bodyPr/>
                    <a:lstStyle/>
                    <a:p>
                      <a:r>
                        <a:rPr sz="1000" b="0">
                          <a:solidFill>
                            <a:srgbClr val="A1B1CD"/>
                          </a:solidFill>
                          <a:latin typeface="Arial"/>
                        </a:rPr>
                        <a:t>0.532</a:t>
                      </a:r>
                    </a:p>
                  </a:txBody>
                  <a:tcPr marL="54864" marR="54864" marT="18288" marB="18288" anchor="ctr">
                    <a:solidFill>
                      <a:srgbClr val="0D132A"/>
                    </a:solidFill>
                  </a:tcPr>
                </a:tc>
                <a:tc>
                  <a:txBody>
                    <a:bodyPr/>
                    <a:lstStyle/>
                    <a:p>
                      <a:r>
                        <a:rPr sz="1000" b="0">
                          <a:solidFill>
                            <a:srgbClr val="A1B1CD"/>
                          </a:solidFill>
                          <a:latin typeface="Arial"/>
                        </a:rPr>
                        <a:t>0.571</a:t>
                      </a:r>
                    </a:p>
                  </a:txBody>
                  <a:tcPr marL="54864" marR="54864" marT="18288" marB="18288" anchor="ctr">
                    <a:solidFill>
                      <a:srgbClr val="0D132A"/>
                    </a:solidFill>
                  </a:tcPr>
                </a:tc>
                <a:tc>
                  <a:txBody>
                    <a:bodyPr/>
                    <a:lstStyle/>
                    <a:p>
                      <a:r>
                        <a:rPr sz="1000" b="0">
                          <a:solidFill>
                            <a:srgbClr val="A1B1CD"/>
                          </a:solidFill>
                          <a:latin typeface="Arial"/>
                        </a:rPr>
                        <a:t>0.555</a:t>
                      </a:r>
                    </a:p>
                  </a:txBody>
                  <a:tcPr marL="54864" marR="54864" marT="18288" marB="18288" anchor="ctr">
                    <a:solidFill>
                      <a:srgbClr val="0D132A"/>
                    </a:solidFill>
                  </a:tcPr>
                </a:tc>
              </a:tr>
              <a:tr h="292608">
                <a:tc>
                  <a:txBody>
                    <a:bodyPr/>
                    <a:lstStyle/>
                    <a:p>
                      <a:r>
                        <a:rPr sz="1000" b="0">
                          <a:solidFill>
                            <a:srgbClr val="A1B1CD"/>
                          </a:solidFill>
                          <a:latin typeface="Arial"/>
                        </a:rPr>
                        <a:t>Networks</a:t>
                      </a:r>
                    </a:p>
                  </a:txBody>
                  <a:tcPr marL="54864" marR="54864" marT="18288" marB="18288" anchor="ctr">
                    <a:solidFill>
                      <a:srgbClr val="0D132A"/>
                    </a:solidFill>
                  </a:tcPr>
                </a:tc>
                <a:tc>
                  <a:txBody>
                    <a:bodyPr/>
                    <a:lstStyle/>
                    <a:p>
                      <a:r>
                        <a:rPr sz="1000" b="0">
                          <a:solidFill>
                            <a:srgbClr val="A1B1CD"/>
                          </a:solidFill>
                          <a:latin typeface="Arial"/>
                        </a:rPr>
                        <a:t>0.481</a:t>
                      </a:r>
                    </a:p>
                  </a:txBody>
                  <a:tcPr marL="54864" marR="54864" marT="18288" marB="18288" anchor="ctr">
                    <a:solidFill>
                      <a:srgbClr val="0D132A"/>
                    </a:solidFill>
                  </a:tcPr>
                </a:tc>
                <a:tc>
                  <a:txBody>
                    <a:bodyPr/>
                    <a:lstStyle/>
                    <a:p>
                      <a:r>
                        <a:rPr sz="1000" b="0">
                          <a:solidFill>
                            <a:srgbClr val="A1B1CD"/>
                          </a:solidFill>
                          <a:latin typeface="Arial"/>
                        </a:rPr>
                        <a:t>0.448</a:t>
                      </a:r>
                    </a:p>
                  </a:txBody>
                  <a:tcPr marL="54864" marR="54864" marT="18288" marB="18288" anchor="ctr">
                    <a:solidFill>
                      <a:srgbClr val="0D132A"/>
                    </a:solidFill>
                  </a:tcPr>
                </a:tc>
                <a:tc>
                  <a:txBody>
                    <a:bodyPr/>
                    <a:lstStyle/>
                    <a:p>
                      <a:r>
                        <a:rPr sz="1000" b="0">
                          <a:solidFill>
                            <a:srgbClr val="A1B1CD"/>
                          </a:solidFill>
                          <a:latin typeface="Arial"/>
                        </a:rPr>
                        <a:t>0.438</a:t>
                      </a:r>
                    </a:p>
                  </a:txBody>
                  <a:tcPr marL="54864" marR="54864" marT="18288" marB="18288" anchor="ctr">
                    <a:solidFill>
                      <a:srgbClr val="0D132A"/>
                    </a:solidFill>
                  </a:tcPr>
                </a:tc>
                <a:tc>
                  <a:txBody>
                    <a:bodyPr/>
                    <a:lstStyle/>
                    <a:p>
                      <a:r>
                        <a:rPr sz="1000" b="0">
                          <a:solidFill>
                            <a:srgbClr val="A1B1CD"/>
                          </a:solidFill>
                          <a:latin typeface="Arial"/>
                        </a:rPr>
                        <a:t>0.434</a:t>
                      </a:r>
                    </a:p>
                  </a:txBody>
                  <a:tcPr marL="54864" marR="54864" marT="18288" marB="18288" anchor="ctr">
                    <a:solidFill>
                      <a:srgbClr val="0D132A"/>
                    </a:solidFill>
                  </a:tcPr>
                </a:tc>
              </a:tr>
            </a:tbl>
          </a:graphicData>
        </a:graphic>
      </p:graphicFrame>
      <p:sp>
        <p:nvSpPr>
          <p:cNvPr id="255" name="Rounded Rectangle 254"/>
          <p:cNvSpPr/>
          <p:nvPr/>
        </p:nvSpPr>
        <p:spPr>
          <a:xfrm>
            <a:off x="6583680" y="3794760"/>
            <a:ext cx="5074920" cy="141732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6748272" y="3977640"/>
            <a:ext cx="50292" cy="105156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6912864" y="3959352"/>
            <a:ext cx="4617720" cy="201168"/>
          </a:xfrm>
          <a:prstGeom prst="rect">
            <a:avLst/>
          </a:prstGeom>
          <a:noFill/>
        </p:spPr>
        <p:txBody>
          <a:bodyPr wrap="square" lIns="27425" rIns="27425" tIns="22850" bIns="22850" anchor="t">
            <a:spAutoFit/>
          </a:bodyPr>
          <a:lstStyle/>
          <a:p>
            <a:pPr algn="l"/>
            <a:r>
              <a:rPr sz="900" b="1">
                <a:solidFill>
                  <a:srgbClr val="27D6FF"/>
                </a:solidFill>
                <a:latin typeface="Arial"/>
              </a:rPr>
              <a:t>HOW THE TWIN IS FOUND</a:t>
            </a:r>
          </a:p>
        </p:txBody>
      </p:sp>
      <p:sp>
        <p:nvSpPr>
          <p:cNvPr id="258" name="TextBox 257"/>
          <p:cNvSpPr txBox="1"/>
          <p:nvPr/>
        </p:nvSpPr>
        <p:spPr>
          <a:xfrm>
            <a:off x="6912864" y="4206240"/>
            <a:ext cx="4599431" cy="896111"/>
          </a:xfrm>
          <a:prstGeom prst="rect">
            <a:avLst/>
          </a:prstGeom>
          <a:noFill/>
        </p:spPr>
        <p:txBody>
          <a:bodyPr wrap="square" lIns="27425" rIns="27425" tIns="22850" bIns="22850" anchor="t">
            <a:spAutoFit/>
          </a:bodyPr>
          <a:lstStyle/>
          <a:p>
            <a:pPr algn="l"/>
            <a:r>
              <a:rPr sz="1100" b="0">
                <a:solidFill>
                  <a:srgbClr val="A1B1CD"/>
                </a:solidFill>
                <a:latin typeface="Arial"/>
              </a:rPr>
              <a:t>Rescale the nine numbers, measure the distance between fingerprints, keep only other industries, take the closest. A lookup, not a guess.</a:t>
            </a:r>
          </a:p>
        </p:txBody>
      </p:sp>
      <p:sp>
        <p:nvSpPr>
          <p:cNvPr id="259" name="Rounded Rectangle 258"/>
          <p:cNvSpPr/>
          <p:nvPr/>
        </p:nvSpPr>
        <p:spPr>
          <a:xfrm>
            <a:off x="822960" y="5577840"/>
            <a:ext cx="10424160" cy="45720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1005840" y="5577840"/>
            <a:ext cx="10058400" cy="457200"/>
          </a:xfrm>
          <a:prstGeom prst="rect">
            <a:avLst/>
          </a:prstGeom>
          <a:noFill/>
        </p:spPr>
        <p:txBody>
          <a:bodyPr wrap="square" lIns="27425" rIns="27425" tIns="22850" bIns="22850" anchor="ctr">
            <a:spAutoFit/>
          </a:bodyPr>
          <a:lstStyle/>
          <a:p>
            <a:pPr algn="ctr"/>
            <a:r>
              <a:rPr sz="1200" b="1">
                <a:solidFill>
                  <a:srgbClr val="FFCA5C"/>
                </a:solidFill>
                <a:latin typeface="Arial"/>
              </a:rPr>
              <a:t>TWIN BEATS A RANDOM COPY BY 0.023 ± 0.010 ON 65% OF PROBLEMS: THE SHAPE MATCH IS WHAT HELPS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08</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07 / SAVING QUANTUM TIME</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Pattern recognition lets many problems share one run.</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Group problems by shape, tune once per group, and send them all to the chip together in a single job.</a:t>
            </a:r>
            <a:endParaRPr/>
          </a:p>
        </p:txBody>
      </p:sp>
      <p:sp>
        <p:nvSpPr>
          <p:cNvPr id="252" name="Rounded Rectangle 251"/>
          <p:cNvSpPr/>
          <p:nvPr/>
        </p:nvSpPr>
        <p:spPr>
          <a:xfrm>
            <a:off x="548640" y="2240280"/>
            <a:ext cx="1417320" cy="438912"/>
          </a:xfrm>
          <a:prstGeom prst="roundRect">
            <a:avLst>
              <a:gd name="adj" fmla="val 20000"/>
            </a:avLst>
          </a:prstGeom>
          <a:solidFill>
            <a:srgbClr val="0D132A"/>
          </a:solidFill>
          <a:ln w="12700">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extBox 252"/>
          <p:cNvSpPr txBox="1"/>
          <p:nvPr/>
        </p:nvSpPr>
        <p:spPr>
          <a:xfrm>
            <a:off x="548640" y="2240280"/>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Stocks</a:t>
            </a:r>
          </a:p>
        </p:txBody>
      </p:sp>
      <p:sp>
        <p:nvSpPr>
          <p:cNvPr id="254" name="Rounded Rectangle 253"/>
          <p:cNvSpPr/>
          <p:nvPr/>
        </p:nvSpPr>
        <p:spPr>
          <a:xfrm>
            <a:off x="548640" y="2807208"/>
            <a:ext cx="1417320" cy="438912"/>
          </a:xfrm>
          <a:prstGeom prst="roundRect">
            <a:avLst>
              <a:gd name="adj" fmla="val 20000"/>
            </a:avLst>
          </a:prstGeom>
          <a:solidFill>
            <a:srgbClr val="0D132A"/>
          </a:solidFill>
          <a:ln w="12700">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8640" y="2807208"/>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Medical tests</a:t>
            </a:r>
          </a:p>
        </p:txBody>
      </p:sp>
      <p:sp>
        <p:nvSpPr>
          <p:cNvPr id="256" name="Rounded Rectangle 255"/>
          <p:cNvSpPr/>
          <p:nvPr/>
        </p:nvSpPr>
        <p:spPr>
          <a:xfrm>
            <a:off x="548640" y="3374136"/>
            <a:ext cx="1417320" cy="438912"/>
          </a:xfrm>
          <a:prstGeom prst="roundRect">
            <a:avLst>
              <a:gd name="adj" fmla="val 20000"/>
            </a:avLst>
          </a:prstGeom>
          <a:solidFill>
            <a:srgbClr val="0D132A"/>
          </a:solidFill>
          <a:ln w="12700">
            <a:solidFill>
              <a:srgbClr val="8C5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548640" y="3374136"/>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Drugs</a:t>
            </a:r>
          </a:p>
        </p:txBody>
      </p:sp>
      <p:sp>
        <p:nvSpPr>
          <p:cNvPr id="258" name="Rounded Rectangle 257"/>
          <p:cNvSpPr/>
          <p:nvPr/>
        </p:nvSpPr>
        <p:spPr>
          <a:xfrm>
            <a:off x="548640" y="3941064"/>
            <a:ext cx="1417320" cy="438912"/>
          </a:xfrm>
          <a:prstGeom prst="roundRect">
            <a:avLst>
              <a:gd name="adj" fmla="val 20000"/>
            </a:avLst>
          </a:prstGeom>
          <a:solidFill>
            <a:srgbClr val="0D132A"/>
          </a:solidFill>
          <a:ln w="12700">
            <a:solidFill>
              <a:srgbClr val="5BF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48640" y="3941064"/>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Network</a:t>
            </a:r>
          </a:p>
        </p:txBody>
      </p:sp>
      <p:sp>
        <p:nvSpPr>
          <p:cNvPr id="260" name="Rounded Rectangle 259"/>
          <p:cNvSpPr/>
          <p:nvPr/>
        </p:nvSpPr>
        <p:spPr>
          <a:xfrm>
            <a:off x="2377440" y="2240280"/>
            <a:ext cx="1463040" cy="987552"/>
          </a:xfrm>
          <a:prstGeom prst="roundRect">
            <a:avLst>
              <a:gd name="adj" fmla="val 12000"/>
            </a:avLst>
          </a:prstGeom>
          <a:solidFill>
            <a:srgbClr val="121B37"/>
          </a:solidFill>
          <a:ln w="12700">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2377440" y="2240280"/>
            <a:ext cx="1463040" cy="987552"/>
          </a:xfrm>
          <a:prstGeom prst="rect">
            <a:avLst/>
          </a:prstGeom>
          <a:noFill/>
        </p:spPr>
        <p:txBody>
          <a:bodyPr wrap="square" lIns="27425" rIns="27425" tIns="22850" bIns="22850" anchor="ctr">
            <a:spAutoFit/>
          </a:bodyPr>
          <a:lstStyle/>
          <a:p>
            <a:pPr algn="ctr"/>
            <a:r>
              <a:rPr sz="900" b="1">
                <a:solidFill>
                  <a:srgbClr val="F4F8FF"/>
                </a:solidFill>
                <a:latin typeface="Arial"/>
              </a:rPr>
              <a:t>SHAPE FAMILY 1</a:t>
            </a:r>
          </a:p>
          <a:p>
            <a:pPr algn="ctr">
              <a:spcBef>
                <a:spcPts val="400"/>
              </a:spcBef>
            </a:pPr>
            <a:r>
              <a:rPr sz="900" b="1">
                <a:solidFill>
                  <a:srgbClr val="F4F8FF"/>
                </a:solidFill>
                <a:latin typeface="Arial"/>
              </a:rPr>
              <a:t>stocks · drugs · network</a:t>
            </a:r>
          </a:p>
        </p:txBody>
      </p:sp>
      <p:sp>
        <p:nvSpPr>
          <p:cNvPr id="262" name="Rounded Rectangle 261"/>
          <p:cNvSpPr/>
          <p:nvPr/>
        </p:nvSpPr>
        <p:spPr>
          <a:xfrm>
            <a:off x="2377440" y="3374136"/>
            <a:ext cx="1463040" cy="896112"/>
          </a:xfrm>
          <a:prstGeom prst="roundRect">
            <a:avLst>
              <a:gd name="adj" fmla="val 20000"/>
            </a:avLst>
          </a:prstGeom>
          <a:solidFill>
            <a:srgbClr val="121B37"/>
          </a:solidFill>
          <a:ln w="12700">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2377440" y="3374136"/>
            <a:ext cx="1463040" cy="896112"/>
          </a:xfrm>
          <a:prstGeom prst="rect">
            <a:avLst/>
          </a:prstGeom>
          <a:noFill/>
        </p:spPr>
        <p:txBody>
          <a:bodyPr wrap="square" lIns="27425" rIns="27425" tIns="22850" bIns="22850" anchor="ctr">
            <a:spAutoFit/>
          </a:bodyPr>
          <a:lstStyle/>
          <a:p>
            <a:pPr algn="ctr"/>
            <a:r>
              <a:rPr sz="900" b="1">
                <a:solidFill>
                  <a:srgbClr val="F4F8FF"/>
                </a:solidFill>
                <a:latin typeface="Arial"/>
              </a:rPr>
              <a:t>SHAPE FAMILY 2</a:t>
            </a:r>
          </a:p>
          <a:p>
            <a:pPr algn="ctr">
              <a:spcBef>
                <a:spcPts val="400"/>
              </a:spcBef>
            </a:pPr>
            <a:r>
              <a:rPr sz="900" b="1">
                <a:solidFill>
                  <a:srgbClr val="F4F8FF"/>
                </a:solidFill>
                <a:latin typeface="Arial"/>
              </a:rPr>
              <a:t>medical tests</a:t>
            </a:r>
          </a:p>
        </p:txBody>
      </p:sp>
      <p:cxnSp>
        <p:nvCxnSpPr>
          <p:cNvPr id="264" name="Connector 263"/>
          <p:cNvCxnSpPr/>
          <p:nvPr/>
        </p:nvCxnSpPr>
        <p:spPr>
          <a:xfrm>
            <a:off x="1965960" y="2459736"/>
            <a:ext cx="393192" cy="274320"/>
          </a:xfrm>
          <a:prstGeom prst="line">
            <a:avLst/>
          </a:prstGeom>
          <a:ln w="15875">
            <a:solidFill>
              <a:srgbClr val="27D6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1965960" y="3026664"/>
            <a:ext cx="393192" cy="795527"/>
          </a:xfrm>
          <a:prstGeom prst="line">
            <a:avLst/>
          </a:prstGeom>
          <a:ln w="15875">
            <a:solidFill>
              <a:srgbClr val="D948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965960" y="2734056"/>
            <a:ext cx="393192" cy="859535"/>
          </a:xfrm>
          <a:prstGeom prst="line">
            <a:avLst/>
          </a:prstGeom>
          <a:ln w="15875">
            <a:solidFill>
              <a:srgbClr val="8C5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1965960" y="2734056"/>
            <a:ext cx="393192" cy="1426464"/>
          </a:xfrm>
          <a:prstGeom prst="line">
            <a:avLst/>
          </a:prstGeom>
          <a:ln w="15875">
            <a:solidFill>
              <a:srgbClr val="5BF0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8" name="Rounded Rectangle 267"/>
          <p:cNvSpPr/>
          <p:nvPr/>
        </p:nvSpPr>
        <p:spPr>
          <a:xfrm>
            <a:off x="4251960" y="2240280"/>
            <a:ext cx="1600200" cy="2029968"/>
          </a:xfrm>
          <a:prstGeom prst="roundRect">
            <a:avLst>
              <a:gd name="adj" fmla="val 12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4251960" y="2240280"/>
            <a:ext cx="1600200" cy="2029968"/>
          </a:xfrm>
          <a:prstGeom prst="rect">
            <a:avLst/>
          </a:prstGeom>
          <a:noFill/>
        </p:spPr>
        <p:txBody>
          <a:bodyPr wrap="square" lIns="27425" rIns="27425" tIns="22850" bIns="22850" anchor="ctr">
            <a:spAutoFit/>
          </a:bodyPr>
          <a:lstStyle/>
          <a:p>
            <a:pPr algn="ctr"/>
            <a:r>
              <a:rPr sz="1100" b="1">
                <a:solidFill>
                  <a:srgbClr val="FFCA5C"/>
                </a:solidFill>
                <a:latin typeface="Arial"/>
              </a:rPr>
              <a:t>ONE CHIP JOB</a:t>
            </a:r>
          </a:p>
          <a:p>
            <a:pPr algn="ctr">
              <a:spcBef>
                <a:spcPts val="400"/>
              </a:spcBef>
            </a:pPr>
            <a:r>
              <a:rPr sz="1000" b="0">
                <a:solidFill>
                  <a:srgbClr val="F4F8FF"/>
                </a:solidFill>
                <a:latin typeface="Arial"/>
              </a:rPr>
              <a:t>16 qubits</a:t>
            </a:r>
          </a:p>
          <a:p>
            <a:pPr algn="ctr">
              <a:spcBef>
                <a:spcPts val="400"/>
              </a:spcBef>
            </a:pPr>
            <a:r>
              <a:rPr sz="1000" b="0">
                <a:solidFill>
                  <a:srgbClr val="F4F8FF"/>
                </a:solidFill>
                <a:latin typeface="Arial"/>
              </a:rPr>
              <a:t>1 tuning per family</a:t>
            </a:r>
          </a:p>
          <a:p>
            <a:pPr algn="ctr">
              <a:spcBef>
                <a:spcPts val="400"/>
              </a:spcBef>
            </a:pPr>
            <a:r>
              <a:rPr sz="1000" b="0">
                <a:solidFill>
                  <a:srgbClr val="F4F8FF"/>
                </a:solidFill>
                <a:latin typeface="Arial"/>
              </a:rPr>
              <a:t>4 problems side by side</a:t>
            </a:r>
          </a:p>
        </p:txBody>
      </p:sp>
      <p:cxnSp>
        <p:nvCxnSpPr>
          <p:cNvPr id="270" name="Connector 269"/>
          <p:cNvCxnSpPr/>
          <p:nvPr/>
        </p:nvCxnSpPr>
        <p:spPr>
          <a:xfrm>
            <a:off x="3840480" y="2734056"/>
            <a:ext cx="393192" cy="283464"/>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3840480" y="3474720"/>
            <a:ext cx="393192" cy="347471"/>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272" name="Chart 271"/>
          <p:cNvGraphicFramePr>
            <a:graphicFrameLocks noGrp="1"/>
          </p:cNvGraphicFramePr>
          <p:nvPr/>
        </p:nvGraphicFramePr>
        <p:xfrm>
          <a:off x="6172200" y="2103120"/>
          <a:ext cx="5486400" cy="2377440"/>
        </p:xfrm>
        <a:graphic>
          <a:graphicData uri="http://schemas.openxmlformats.org/drawingml/2006/chart">
            <c:chart xmlns:c="http://schemas.openxmlformats.org/drawingml/2006/chart" r:id="rId3"/>
          </a:graphicData>
        </a:graphic>
      </p:graphicFrame>
      <p:sp>
        <p:nvSpPr>
          <p:cNvPr id="273" name="TextBox 272"/>
          <p:cNvSpPr txBox="1"/>
          <p:nvPr/>
        </p:nvSpPr>
        <p:spPr>
          <a:xfrm>
            <a:off x="6172200" y="4434840"/>
            <a:ext cx="5486400" cy="228600"/>
          </a:xfrm>
          <a:prstGeom prst="rect">
            <a:avLst/>
          </a:prstGeom>
          <a:noFill/>
        </p:spPr>
        <p:txBody>
          <a:bodyPr wrap="square" lIns="27425" rIns="27425" tIns="22850" bIns="22850" anchor="t">
            <a:spAutoFit/>
          </a:bodyPr>
          <a:lstStyle/>
          <a:p>
            <a:pPr algn="ctr"/>
            <a:r>
              <a:rPr sz="1000" b="0">
                <a:solidFill>
                  <a:srgbClr val="A1B1CD"/>
                </a:solidFill>
                <a:latin typeface="Arial"/>
              </a:rPr>
              <a:t>Normal way = 100%: 4 tunings · 114 runs · 4 jobs · 16,384 shots</a:t>
            </a:r>
          </a:p>
        </p:txBody>
      </p:sp>
      <p:graphicFrame>
        <p:nvGraphicFramePr>
          <p:cNvPr id="274" name="Table 273"/>
          <p:cNvGraphicFramePr>
            <a:graphicFrameLocks noGrp="1"/>
          </p:cNvGraphicFramePr>
          <p:nvPr/>
        </p:nvGraphicFramePr>
        <p:xfrm>
          <a:off x="548640" y="4526280"/>
          <a:ext cx="5303520" cy="822960"/>
        </p:xfrm>
        <a:graphic>
          <a:graphicData uri="http://schemas.openxmlformats.org/drawingml/2006/table">
            <a:tbl>
              <a:tblPr firstRow="0" bandRow="0"/>
              <a:tblGrid>
                <a:gridCol w="1463040"/>
                <a:gridCol w="1280160"/>
                <a:gridCol w="1280160"/>
                <a:gridCol w="1280160"/>
              </a:tblGrid>
              <a:tr h="274320">
                <a:tc>
                  <a:txBody>
                    <a:bodyPr/>
                    <a:lstStyle/>
                    <a:p>
                      <a:r>
                        <a:rPr sz="1000" b="1">
                          <a:solidFill>
                            <a:srgbClr val="F4F8FF"/>
                          </a:solidFill>
                          <a:latin typeface="Arial"/>
                        </a:rPr>
                        <a:t>Quality (1 = best)</a:t>
                      </a:r>
                    </a:p>
                  </a:txBody>
                  <a:tcPr marL="54864" marR="54864" marT="18288" marB="18288" anchor="ctr">
                    <a:solidFill>
                      <a:srgbClr val="233558"/>
                    </a:solidFill>
                  </a:tcPr>
                </a:tc>
                <a:tc>
                  <a:txBody>
                    <a:bodyPr/>
                    <a:lstStyle/>
                    <a:p>
                      <a:r>
                        <a:rPr sz="1000" b="1">
                          <a:solidFill>
                            <a:srgbClr val="F4F8FF"/>
                          </a:solidFill>
                          <a:latin typeface="Arial"/>
                        </a:rPr>
                        <a:t>Own dials, alone</a:t>
                      </a:r>
                    </a:p>
                  </a:txBody>
                  <a:tcPr marL="54864" marR="54864" marT="18288" marB="18288" anchor="ctr">
                    <a:solidFill>
                      <a:srgbClr val="233558"/>
                    </a:solidFill>
                  </a:tcPr>
                </a:tc>
                <a:tc>
                  <a:txBody>
                    <a:bodyPr/>
                    <a:lstStyle/>
                    <a:p>
                      <a:r>
                        <a:rPr sz="1000" b="1">
                          <a:solidFill>
                            <a:srgbClr val="F4F8FF"/>
                          </a:solidFill>
                          <a:latin typeface="Arial"/>
                        </a:rPr>
                        <a:t>Shared, alone</a:t>
                      </a:r>
                    </a:p>
                  </a:txBody>
                  <a:tcPr marL="54864" marR="54864" marT="18288" marB="18288" anchor="ctr">
                    <a:solidFill>
                      <a:srgbClr val="233558"/>
                    </a:solidFill>
                  </a:tcPr>
                </a:tc>
                <a:tc>
                  <a:txBody>
                    <a:bodyPr/>
                    <a:lstStyle/>
                    <a:p>
                      <a:r>
                        <a:rPr sz="1000" b="1">
                          <a:solidFill>
                            <a:srgbClr val="F4F8FF"/>
                          </a:solidFill>
                          <a:latin typeface="Arial"/>
                        </a:rPr>
                        <a:t>Shared, packed</a:t>
                      </a:r>
                    </a:p>
                  </a:txBody>
                  <a:tcPr marL="54864" marR="54864" marT="18288" marB="18288" anchor="ctr">
                    <a:solidFill>
                      <a:srgbClr val="233558"/>
                    </a:solidFill>
                  </a:tcPr>
                </a:tc>
              </a:tr>
              <a:tr h="274320">
                <a:tc>
                  <a:txBody>
                    <a:bodyPr/>
                    <a:lstStyle/>
                    <a:p>
                      <a:r>
                        <a:rPr sz="1000" b="0">
                          <a:solidFill>
                            <a:srgbClr val="A1B1CD"/>
                          </a:solidFill>
                          <a:latin typeface="Arial"/>
                        </a:rPr>
                        <a:t>Chip simulation</a:t>
                      </a:r>
                    </a:p>
                  </a:txBody>
                  <a:tcPr marL="54864" marR="54864" marT="18288" marB="18288" anchor="ctr">
                    <a:solidFill>
                      <a:srgbClr val="0D132A"/>
                    </a:solidFill>
                  </a:tcPr>
                </a:tc>
                <a:tc>
                  <a:txBody>
                    <a:bodyPr/>
                    <a:lstStyle/>
                    <a:p>
                      <a:r>
                        <a:rPr sz="1000" b="0">
                          <a:solidFill>
                            <a:srgbClr val="A1B1CD"/>
                          </a:solidFill>
                          <a:latin typeface="Arial"/>
                        </a:rPr>
                        <a:t>0.524</a:t>
                      </a:r>
                    </a:p>
                  </a:txBody>
                  <a:tcPr marL="54864" marR="54864" marT="18288" marB="18288" anchor="ctr">
                    <a:solidFill>
                      <a:srgbClr val="0D132A"/>
                    </a:solidFill>
                  </a:tcPr>
                </a:tc>
                <a:tc>
                  <a:txBody>
                    <a:bodyPr/>
                    <a:lstStyle/>
                    <a:p>
                      <a:r>
                        <a:rPr sz="1000" b="0">
                          <a:solidFill>
                            <a:srgbClr val="A1B1CD"/>
                          </a:solidFill>
                          <a:latin typeface="Arial"/>
                        </a:rPr>
                        <a:t>0.499</a:t>
                      </a:r>
                    </a:p>
                  </a:txBody>
                  <a:tcPr marL="54864" marR="54864" marT="18288" marB="18288" anchor="ctr">
                    <a:solidFill>
                      <a:srgbClr val="0D132A"/>
                    </a:solidFill>
                  </a:tcPr>
                </a:tc>
                <a:tc>
                  <a:txBody>
                    <a:bodyPr/>
                    <a:lstStyle/>
                    <a:p>
                      <a:r>
                        <a:rPr sz="1000" b="0">
                          <a:solidFill>
                            <a:srgbClr val="A1B1CD"/>
                          </a:solidFill>
                          <a:latin typeface="Arial"/>
                        </a:rPr>
                        <a:t>0.504</a:t>
                      </a:r>
                    </a:p>
                  </a:txBody>
                  <a:tcPr marL="54864" marR="54864" marT="18288" marB="18288" anchor="ctr">
                    <a:solidFill>
                      <a:srgbClr val="0D132A"/>
                    </a:solidFill>
                  </a:tcPr>
                </a:tc>
              </a:tr>
              <a:tr h="274320">
                <a:tc>
                  <a:txBody>
                    <a:bodyPr/>
                    <a:lstStyle/>
                    <a:p>
                      <a:r>
                        <a:rPr sz="1000" b="0">
                          <a:solidFill>
                            <a:srgbClr val="A1B1CD"/>
                          </a:solidFill>
                          <a:latin typeface="Arial"/>
                        </a:rPr>
                        <a:t>Real ibm_kingston</a:t>
                      </a:r>
                    </a:p>
                  </a:txBody>
                  <a:tcPr marL="54864" marR="54864" marT="18288" marB="18288" anchor="ctr">
                    <a:solidFill>
                      <a:srgbClr val="0D132A"/>
                    </a:solidFill>
                  </a:tcPr>
                </a:tc>
                <a:tc>
                  <a:txBody>
                    <a:bodyPr/>
                    <a:lstStyle/>
                    <a:p>
                      <a:r>
                        <a:rPr sz="1000" b="0">
                          <a:solidFill>
                            <a:srgbClr val="A1B1CD"/>
                          </a:solidFill>
                          <a:latin typeface="Arial"/>
                        </a:rPr>
                        <a:t>0.528</a:t>
                      </a:r>
                    </a:p>
                  </a:txBody>
                  <a:tcPr marL="54864" marR="54864" marT="18288" marB="18288" anchor="ctr">
                    <a:solidFill>
                      <a:srgbClr val="0D132A"/>
                    </a:solidFill>
                  </a:tcPr>
                </a:tc>
                <a:tc>
                  <a:txBody>
                    <a:bodyPr/>
                    <a:lstStyle/>
                    <a:p>
                      <a:r>
                        <a:rPr sz="1000" b="0">
                          <a:solidFill>
                            <a:srgbClr val="A1B1CD"/>
                          </a:solidFill>
                          <a:latin typeface="Arial"/>
                        </a:rPr>
                        <a:t>0.482</a:t>
                      </a:r>
                    </a:p>
                  </a:txBody>
                  <a:tcPr marL="54864" marR="54864" marT="18288" marB="18288" anchor="ctr">
                    <a:solidFill>
                      <a:srgbClr val="0D132A"/>
                    </a:solidFill>
                  </a:tcPr>
                </a:tc>
                <a:tc>
                  <a:txBody>
                    <a:bodyPr/>
                    <a:lstStyle/>
                    <a:p>
                      <a:r>
                        <a:rPr sz="1000" b="0">
                          <a:solidFill>
                            <a:srgbClr val="A1B1CD"/>
                          </a:solidFill>
                          <a:latin typeface="Arial"/>
                        </a:rPr>
                        <a:t>0.475</a:t>
                      </a:r>
                    </a:p>
                  </a:txBody>
                  <a:tcPr marL="54864" marR="54864" marT="18288" marB="18288" anchor="ctr">
                    <a:solidFill>
                      <a:srgbClr val="0D132A"/>
                    </a:solidFill>
                  </a:tcPr>
                </a:tc>
              </a:tr>
            </a:tbl>
          </a:graphicData>
        </a:graphic>
      </p:graphicFrame>
      <p:sp>
        <p:nvSpPr>
          <p:cNvPr id="275" name="TextBox 274"/>
          <p:cNvSpPr txBox="1"/>
          <p:nvPr/>
        </p:nvSpPr>
        <p:spPr>
          <a:xfrm>
            <a:off x="6172200" y="4754880"/>
            <a:ext cx="5486400" cy="457200"/>
          </a:xfrm>
          <a:prstGeom prst="rect">
            <a:avLst/>
          </a:prstGeom>
          <a:noFill/>
        </p:spPr>
        <p:txBody>
          <a:bodyPr wrap="square" lIns="27425" rIns="27425" tIns="22850" bIns="22850" anchor="t">
            <a:spAutoFit/>
          </a:bodyPr>
          <a:lstStyle/>
          <a:p>
            <a:pPr algn="ctr"/>
            <a:r>
              <a:rPr sz="1000" b="0">
                <a:solidFill>
                  <a:srgbClr val="A1B1CD"/>
                </a:solidFill>
                <a:latin typeface="Arial"/>
              </a:rPr>
              <a:t>Run both in simulation and on the real ibm_kingston chip (one 16-qubit job).</a:t>
            </a:r>
          </a:p>
        </p:txBody>
      </p:sp>
      <p:sp>
        <p:nvSpPr>
          <p:cNvPr id="276" name="Rounded Rectangle 275"/>
          <p:cNvSpPr/>
          <p:nvPr/>
        </p:nvSpPr>
        <p:spPr>
          <a:xfrm>
            <a:off x="822960" y="5440680"/>
            <a:ext cx="10424160" cy="45720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1005840" y="5440680"/>
            <a:ext cx="10058400" cy="457200"/>
          </a:xfrm>
          <a:prstGeom prst="rect">
            <a:avLst/>
          </a:prstGeom>
          <a:noFill/>
        </p:spPr>
        <p:txBody>
          <a:bodyPr wrap="square" lIns="27425" rIns="27425" tIns="22850" bIns="22850" anchor="ctr">
            <a:spAutoFit/>
          </a:bodyPr>
          <a:lstStyle/>
          <a:p>
            <a:pPr algn="ctr"/>
            <a:r>
              <a:rPr sz="1300" b="1">
                <a:solidFill>
                  <a:srgbClr val="FFCA5C"/>
                </a:solidFill>
                <a:latin typeface="Arial"/>
              </a:rPr>
              <a:t>4× FEWER QUANTUM SHOTS · 1 JOB INSTEAD OF 4 · 96% OF THE QUALITY (SIMULATION), 90% ON THE REAL CHIP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09</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08 / GATE-BASED VS. ANNEALING</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Which quantum computer wins which piece?</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One problem, split into three pieces, each solved both ways on IBM's real 156-qubit ibm_kingston chip.</a:t>
            </a:r>
            <a:endParaRPr/>
          </a:p>
        </p:txBody>
      </p:sp>
      <p:graphicFrame>
        <p:nvGraphicFramePr>
          <p:cNvPr id="252" name="Chart 251"/>
          <p:cNvGraphicFramePr>
            <a:graphicFrameLocks noGrp="1"/>
          </p:cNvGraphicFramePr>
          <p:nvPr/>
        </p:nvGraphicFramePr>
        <p:xfrm>
          <a:off x="548640" y="2148840"/>
          <a:ext cx="6309360" cy="3108960"/>
        </p:xfrm>
        <a:graphic>
          <a:graphicData uri="http://schemas.openxmlformats.org/drawingml/2006/chart">
            <c:chart xmlns:c="http://schemas.openxmlformats.org/drawingml/2006/chart" r:id="rId3"/>
          </a:graphicData>
        </a:graphic>
      </p:graphicFrame>
      <p:sp>
        <p:nvSpPr>
          <p:cNvPr id="253" name="Rounded Rectangle 252"/>
          <p:cNvSpPr/>
          <p:nvPr/>
        </p:nvSpPr>
        <p:spPr>
          <a:xfrm>
            <a:off x="7132320" y="2148840"/>
            <a:ext cx="4526280" cy="178308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7315200" y="2240280"/>
            <a:ext cx="4206240" cy="228600"/>
          </a:xfrm>
          <a:prstGeom prst="rect">
            <a:avLst/>
          </a:prstGeom>
          <a:noFill/>
        </p:spPr>
        <p:txBody>
          <a:bodyPr wrap="square" lIns="27425" rIns="27425" tIns="22850" bIns="22850" anchor="t">
            <a:spAutoFit/>
          </a:bodyPr>
          <a:lstStyle/>
          <a:p>
            <a:pPr algn="l"/>
            <a:r>
              <a:rPr sz="900" b="1">
                <a:solidFill>
                  <a:srgbClr val="FFCA5C"/>
                </a:solidFill>
                <a:latin typeface="Arial"/>
              </a:rPr>
              <a:t>AVERAGE SCORE BY STRATEGY (REAL CHIP)</a:t>
            </a:r>
          </a:p>
        </p:txBody>
      </p:sp>
      <p:sp>
        <p:nvSpPr>
          <p:cNvPr id="255" name="TextBox 254"/>
          <p:cNvSpPr txBox="1"/>
          <p:nvPr/>
        </p:nvSpPr>
        <p:spPr>
          <a:xfrm>
            <a:off x="7315200" y="2578608"/>
            <a:ext cx="1554480" cy="320040"/>
          </a:xfrm>
          <a:prstGeom prst="rect">
            <a:avLst/>
          </a:prstGeom>
          <a:noFill/>
        </p:spPr>
        <p:txBody>
          <a:bodyPr wrap="square" lIns="27425" rIns="27425" tIns="22850" bIns="22850" anchor="ctr">
            <a:spAutoFit/>
          </a:bodyPr>
          <a:lstStyle/>
          <a:p>
            <a:pPr algn="l"/>
            <a:r>
              <a:rPr sz="1200" b="0">
                <a:solidFill>
                  <a:srgbClr val="A1B1CD"/>
                </a:solidFill>
                <a:latin typeface="Arial"/>
              </a:rPr>
              <a:t>All gate-based</a:t>
            </a:r>
          </a:p>
        </p:txBody>
      </p:sp>
      <p:sp>
        <p:nvSpPr>
          <p:cNvPr id="256" name="Rectangle 255"/>
          <p:cNvSpPr/>
          <p:nvPr/>
        </p:nvSpPr>
        <p:spPr>
          <a:xfrm>
            <a:off x="8915400" y="2651760"/>
            <a:ext cx="1712854" cy="18288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10673974" y="257860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0.45</a:t>
            </a:r>
          </a:p>
        </p:txBody>
      </p:sp>
      <p:sp>
        <p:nvSpPr>
          <p:cNvPr id="258" name="TextBox 257"/>
          <p:cNvSpPr txBox="1"/>
          <p:nvPr/>
        </p:nvSpPr>
        <p:spPr>
          <a:xfrm>
            <a:off x="7315200" y="2990088"/>
            <a:ext cx="1554480" cy="320040"/>
          </a:xfrm>
          <a:prstGeom prst="rect">
            <a:avLst/>
          </a:prstGeom>
          <a:noFill/>
        </p:spPr>
        <p:txBody>
          <a:bodyPr wrap="square" lIns="27425" rIns="27425" tIns="22850" bIns="22850" anchor="ctr">
            <a:spAutoFit/>
          </a:bodyPr>
          <a:lstStyle/>
          <a:p>
            <a:pPr algn="l"/>
            <a:r>
              <a:rPr sz="1200" b="0">
                <a:solidFill>
                  <a:srgbClr val="A1B1CD"/>
                </a:solidFill>
                <a:latin typeface="Arial"/>
              </a:rPr>
              <a:t>All annealing</a:t>
            </a:r>
          </a:p>
        </p:txBody>
      </p:sp>
      <p:sp>
        <p:nvSpPr>
          <p:cNvPr id="259" name="Rectangle 258"/>
          <p:cNvSpPr/>
          <p:nvPr/>
        </p:nvSpPr>
        <p:spPr>
          <a:xfrm>
            <a:off x="8915400" y="3063240"/>
            <a:ext cx="1897197" cy="18288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10858317" y="299008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0.49</a:t>
            </a:r>
          </a:p>
        </p:txBody>
      </p:sp>
      <p:sp>
        <p:nvSpPr>
          <p:cNvPr id="261" name="TextBox 260"/>
          <p:cNvSpPr txBox="1"/>
          <p:nvPr/>
        </p:nvSpPr>
        <p:spPr>
          <a:xfrm>
            <a:off x="7315200" y="3401568"/>
            <a:ext cx="1554480" cy="320040"/>
          </a:xfrm>
          <a:prstGeom prst="rect">
            <a:avLst/>
          </a:prstGeom>
          <a:noFill/>
        </p:spPr>
        <p:txBody>
          <a:bodyPr wrap="square" lIns="27425" rIns="27425" tIns="22850" bIns="22850" anchor="ctr">
            <a:spAutoFit/>
          </a:bodyPr>
          <a:lstStyle/>
          <a:p>
            <a:pPr algn="l"/>
            <a:r>
              <a:rPr sz="1200" b="1">
                <a:solidFill>
                  <a:srgbClr val="F4F8FF"/>
                </a:solidFill>
                <a:latin typeface="Arial"/>
              </a:rPr>
              <a:t>Q-Router's mix</a:t>
            </a:r>
          </a:p>
        </p:txBody>
      </p:sp>
      <p:sp>
        <p:nvSpPr>
          <p:cNvPr id="262" name="Rectangle 261"/>
          <p:cNvSpPr/>
          <p:nvPr/>
        </p:nvSpPr>
        <p:spPr>
          <a:xfrm>
            <a:off x="8915400" y="3474720"/>
            <a:ext cx="2119944" cy="182880"/>
          </a:xfrm>
          <a:prstGeom prst="rect">
            <a:avLst/>
          </a:prstGeom>
          <a:solidFill>
            <a:srgbClr val="FFC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11081064" y="340156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0.55</a:t>
            </a:r>
          </a:p>
        </p:txBody>
      </p:sp>
      <p:sp>
        <p:nvSpPr>
          <p:cNvPr id="264" name="Rounded Rectangle 263"/>
          <p:cNvSpPr/>
          <p:nvPr/>
        </p:nvSpPr>
        <p:spPr>
          <a:xfrm>
            <a:off x="7132320" y="4069080"/>
            <a:ext cx="4526280" cy="118872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7296912" y="4251960"/>
            <a:ext cx="50292" cy="82296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7461504" y="4233672"/>
            <a:ext cx="4069080" cy="201168"/>
          </a:xfrm>
          <a:prstGeom prst="rect">
            <a:avLst/>
          </a:prstGeom>
          <a:noFill/>
        </p:spPr>
        <p:txBody>
          <a:bodyPr wrap="square" lIns="27425" rIns="27425" tIns="22850" bIns="22850" anchor="t">
            <a:spAutoFit/>
          </a:bodyPr>
          <a:lstStyle/>
          <a:p>
            <a:pPr algn="l"/>
            <a:r>
              <a:rPr sz="900" b="1">
                <a:solidFill>
                  <a:srgbClr val="D948FF"/>
                </a:solidFill>
                <a:latin typeface="Arial"/>
              </a:rPr>
              <a:t>WHY ANNEALING LOSES DENSE PIECES</a:t>
            </a:r>
          </a:p>
        </p:txBody>
      </p:sp>
      <p:sp>
        <p:nvSpPr>
          <p:cNvPr id="267" name="TextBox 266"/>
          <p:cNvSpPr txBox="1"/>
          <p:nvPr/>
        </p:nvSpPr>
        <p:spPr>
          <a:xfrm>
            <a:off x="7461504" y="4480560"/>
            <a:ext cx="4050791" cy="667511"/>
          </a:xfrm>
          <a:prstGeom prst="rect">
            <a:avLst/>
          </a:prstGeom>
          <a:noFill/>
        </p:spPr>
        <p:txBody>
          <a:bodyPr wrap="square" lIns="27425" rIns="27425" tIns="22850" bIns="22850" anchor="t">
            <a:spAutoFit/>
          </a:bodyPr>
          <a:lstStyle/>
          <a:p>
            <a:pPr algn="l"/>
            <a:r>
              <a:rPr sz="1100" b="0">
                <a:solidFill>
                  <a:srgbClr val="A1B1CD"/>
                </a:solidFill>
                <a:latin typeface="Arial"/>
              </a:rPr>
              <a:t>It needs about 7× more link steps on the dense drug piece. Each step can fail, so errors pile up where everything is linked. The chip simulation predicted the same winners.</a:t>
            </a:r>
          </a:p>
        </p:txBody>
      </p:sp>
      <p:sp>
        <p:nvSpPr>
          <p:cNvPr id="268" name="Rounded Rectangle 267"/>
          <p:cNvSpPr/>
          <p:nvPr/>
        </p:nvSpPr>
        <p:spPr>
          <a:xfrm>
            <a:off x="822960" y="5486400"/>
            <a:ext cx="10424160" cy="50292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1005840" y="5486400"/>
            <a:ext cx="10058400" cy="502920"/>
          </a:xfrm>
          <a:prstGeom prst="rect">
            <a:avLst/>
          </a:prstGeom>
          <a:noFill/>
        </p:spPr>
        <p:txBody>
          <a:bodyPr wrap="square" lIns="27425" rIns="27425" tIns="22850" bIns="22850" anchor="ctr">
            <a:spAutoFit/>
          </a:bodyPr>
          <a:lstStyle/>
          <a:p>
            <a:pPr algn="ctr"/>
            <a:r>
              <a:rPr sz="1300" b="1">
                <a:solidFill>
                  <a:srgbClr val="FFCA5C"/>
                </a:solidFill>
                <a:latin typeface="Arial"/>
              </a:rPr>
              <a:t>DENSE → GATE-BASED · SPARSE → ANNEALING · MIXING BEATS EITHER ONE ALONE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10</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09 / REAL IBM HARDWARE</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From simulator to a real quantum chip: ibm_kingston.</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The flagship drug problem (8 drugs, fund 3) run four ways, from ideal to real. Score: 1 = best, 0 = random guess.</a:t>
            </a:r>
            <a:endParaRPr/>
          </a:p>
        </p:txBody>
      </p:sp>
      <p:graphicFrame>
        <p:nvGraphicFramePr>
          <p:cNvPr id="252" name="Chart 251"/>
          <p:cNvGraphicFramePr>
            <a:graphicFrameLocks noGrp="1"/>
          </p:cNvGraphicFramePr>
          <p:nvPr/>
        </p:nvGraphicFramePr>
        <p:xfrm>
          <a:off x="548640" y="2148840"/>
          <a:ext cx="6400800" cy="3154680"/>
        </p:xfrm>
        <a:graphic>
          <a:graphicData uri="http://schemas.openxmlformats.org/drawingml/2006/chart">
            <c:chart xmlns:c="http://schemas.openxmlformats.org/drawingml/2006/chart" r:id="rId3"/>
          </a:graphicData>
        </a:graphic>
      </p:graphicFrame>
      <p:sp>
        <p:nvSpPr>
          <p:cNvPr id="253" name="Rounded Rectangle 252"/>
          <p:cNvSpPr/>
          <p:nvPr/>
        </p:nvSpPr>
        <p:spPr>
          <a:xfrm>
            <a:off x="7223760" y="2148840"/>
            <a:ext cx="4434840" cy="16002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88352" y="2331720"/>
            <a:ext cx="50292" cy="12344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7552944" y="2313432"/>
            <a:ext cx="3977639" cy="201168"/>
          </a:xfrm>
          <a:prstGeom prst="rect">
            <a:avLst/>
          </a:prstGeom>
          <a:noFill/>
        </p:spPr>
        <p:txBody>
          <a:bodyPr wrap="square" lIns="27425" rIns="27425" tIns="22850" bIns="22850" anchor="t">
            <a:spAutoFit/>
          </a:bodyPr>
          <a:lstStyle/>
          <a:p>
            <a:pPr algn="l"/>
            <a:r>
              <a:rPr sz="900" b="1">
                <a:solidFill>
                  <a:srgbClr val="5BF0B9"/>
                </a:solidFill>
                <a:latin typeface="Arial"/>
              </a:rPr>
              <a:t>WHAT THE CHIP ANSWERED</a:t>
            </a:r>
          </a:p>
        </p:txBody>
      </p:sp>
      <p:sp>
        <p:nvSpPr>
          <p:cNvPr id="256" name="TextBox 255"/>
          <p:cNvSpPr txBox="1"/>
          <p:nvPr/>
        </p:nvSpPr>
        <p:spPr>
          <a:xfrm>
            <a:off x="7552944" y="2560320"/>
            <a:ext cx="3959352" cy="1078991"/>
          </a:xfrm>
          <a:prstGeom prst="rect">
            <a:avLst/>
          </a:prstGeom>
          <a:noFill/>
        </p:spPr>
        <p:txBody>
          <a:bodyPr wrap="square" lIns="27425" rIns="27425" tIns="22850" bIns="22850" anchor="t">
            <a:spAutoFit/>
          </a:bodyPr>
          <a:lstStyle/>
          <a:p>
            <a:pPr algn="l"/>
            <a:r>
              <a:rPr sz="1100" b="0">
                <a:solidFill>
                  <a:srgbClr val="A1B1CD"/>
                </a:solidFill>
                <a:latin typeface="Arial"/>
              </a:rPr>
              <a:t>Most common answer: a good set, not the best. But the true best set (onco-II-0, immu-III-2, card-III-3) was among its 4,096 answers in every run, 2-3× more often than random guessing.</a:t>
            </a:r>
          </a:p>
        </p:txBody>
      </p:sp>
      <p:sp>
        <p:nvSpPr>
          <p:cNvPr id="257" name="Rounded Rectangle 256"/>
          <p:cNvSpPr/>
          <p:nvPr/>
        </p:nvSpPr>
        <p:spPr>
          <a:xfrm>
            <a:off x="7223760" y="3858768"/>
            <a:ext cx="4434840" cy="1444752"/>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388352" y="4041648"/>
            <a:ext cx="50292" cy="1078992"/>
          </a:xfrm>
          <a:prstGeom prst="rect">
            <a:avLst/>
          </a:prstGeom>
          <a:solidFill>
            <a:srgbClr val="DC41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7552944" y="4023359"/>
            <a:ext cx="3977639" cy="201168"/>
          </a:xfrm>
          <a:prstGeom prst="rect">
            <a:avLst/>
          </a:prstGeom>
          <a:noFill/>
        </p:spPr>
        <p:txBody>
          <a:bodyPr wrap="square" lIns="27425" rIns="27425" tIns="22850" bIns="22850" anchor="t">
            <a:spAutoFit/>
          </a:bodyPr>
          <a:lstStyle/>
          <a:p>
            <a:pPr algn="l"/>
            <a:r>
              <a:rPr sz="900" b="1">
                <a:solidFill>
                  <a:srgbClr val="DC415F"/>
                </a:solidFill>
                <a:latin typeface="Arial"/>
              </a:rPr>
              <a:t>SURPRISE: THE ERROR FIXES HURT</a:t>
            </a:r>
          </a:p>
        </p:txBody>
      </p:sp>
      <p:sp>
        <p:nvSpPr>
          <p:cNvPr id="260" name="TextBox 259"/>
          <p:cNvSpPr txBox="1"/>
          <p:nvPr/>
        </p:nvSpPr>
        <p:spPr>
          <a:xfrm>
            <a:off x="7552944" y="4270248"/>
            <a:ext cx="3959352" cy="923543"/>
          </a:xfrm>
          <a:prstGeom prst="rect">
            <a:avLst/>
          </a:prstGeom>
          <a:noFill/>
        </p:spPr>
        <p:txBody>
          <a:bodyPr wrap="square" lIns="27425" rIns="27425" tIns="22850" bIns="22850" anchor="t">
            <a:spAutoFit/>
          </a:bodyPr>
          <a:lstStyle/>
          <a:p>
            <a:pPr algn="l"/>
            <a:r>
              <a:rPr sz="1100" b="0">
                <a:solidFill>
                  <a:srgbClr val="A1B1CD"/>
                </a:solidFill>
                <a:latin typeface="Arial"/>
              </a:rPr>
              <a:t>Twirling + decoupling lowered scores (gate 0.64 → 0.58, anneal 0.55 → 0.36). Packing 3 problems cost only 0.01-0.03.</a:t>
            </a:r>
          </a:p>
        </p:txBody>
      </p:sp>
      <p:sp>
        <p:nvSpPr>
          <p:cNvPr id="261" name="Rounded Rectangle 260"/>
          <p:cNvSpPr/>
          <p:nvPr/>
        </p:nvSpPr>
        <p:spPr>
          <a:xfrm>
            <a:off x="822960" y="5577840"/>
            <a:ext cx="10424160" cy="45720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extBox 261"/>
          <p:cNvSpPr txBox="1"/>
          <p:nvPr/>
        </p:nvSpPr>
        <p:spPr>
          <a:xfrm>
            <a:off x="1005840" y="5577840"/>
            <a:ext cx="10058400" cy="457200"/>
          </a:xfrm>
          <a:prstGeom prst="rect">
            <a:avLst/>
          </a:prstGeom>
          <a:noFill/>
        </p:spPr>
        <p:txBody>
          <a:bodyPr wrap="square" lIns="27425" rIns="27425" tIns="22850" bIns="22850" anchor="ctr">
            <a:spAutoFit/>
          </a:bodyPr>
          <a:lstStyle/>
          <a:p>
            <a:pPr algn="ctr"/>
            <a:r>
              <a:rPr sz="1200" b="1">
                <a:solidFill>
                  <a:srgbClr val="FFCA5C"/>
                </a:solidFill>
                <a:latin typeface="Arial"/>
              </a:rPr>
              <a:t>REAL DEVICE + NOISE ANALYSIS: SIMULATOR VS. CHIP COPY VS. IBM_KINGSTON, RAW AND MITIGATED</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