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6.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6" r:id="rId17"/>
    <p:sldId id="267" r:id="rId18"/>
    <p:sldId id="268" r:id="rId19"/>
    <p:sldId id="269" r:id="rId20"/>
    <p:sldId id="270" r:id="rId21"/>
    <p:sldId id="272" r:id="rId23"/>
    <p:sldId id="265" r:id="rId15"/>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6" roundtripDataSignature="AMtx7mhChXasPdFPjgpBycLKpEo5AxRQ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5" Type="http://schemas.openxmlformats.org/officeDocument/2006/relationships/slide" Target="slides/slide10.xml"/><Relationship Id="rId16" Type="http://customschemas.google.com/relationships/presentationmetadata" Target="metadata"/><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Stocks (11)</c:v>
                </c:pt>
              </c:strCache>
            </c:strRef>
          </c:tx>
          <c:spPr>
            <a:ln w="47625">
              <a:noFill/>
            </a:ln>
          </c:spPr>
          <c:marker>
            <c:symbol val="circle"/>
            <c:size val="7"/>
            <c:spPr>
              <a:solidFill>
                <a:srgbClr val="27D6FF"/>
              </a:solidFill>
              <a:ln>
                <a:solidFill>
                  <a:srgbClr val="27D6FF"/>
                </a:solidFill>
              </a:ln>
            </c:spPr>
          </c:marker>
          <c:xVal>
            <c:numRef>
              <c:f>Sheet1!$A$2:$A$12</c:f>
              <c:numCache>
                <c:formatCode>General</c:formatCode>
                <c:ptCount val="11"/>
                <c:pt idx="0">
                  <c:v>2.915</c:v>
                </c:pt>
                <c:pt idx="1">
                  <c:v>1.333</c:v>
                </c:pt>
                <c:pt idx="2">
                  <c:v>2.915</c:v>
                </c:pt>
                <c:pt idx="3">
                  <c:v>1.333</c:v>
                </c:pt>
                <c:pt idx="4">
                  <c:v>5.083</c:v>
                </c:pt>
                <c:pt idx="5">
                  <c:v>-0.571</c:v>
                </c:pt>
                <c:pt idx="6">
                  <c:v>1.333</c:v>
                </c:pt>
                <c:pt idx="7">
                  <c:v>-0.571</c:v>
                </c:pt>
                <c:pt idx="8">
                  <c:v>1.333</c:v>
                </c:pt>
                <c:pt idx="9">
                  <c:v>-0.571</c:v>
                </c:pt>
                <c:pt idx="10">
                  <c:v>-0.571</c:v>
                </c:pt>
              </c:numCache>
            </c:numRef>
          </c:xVal>
          <c:yVal>
            <c:numRef>
              <c:f>Sheet1!$B$2:$B$12</c:f>
              <c:numCache>
                <c:formatCode>General</c:formatCode>
                <c:ptCount val="11"/>
                <c:pt idx="0">
                  <c:v>-0.602</c:v>
                </c:pt>
                <c:pt idx="1">
                  <c:v>-1.135</c:v>
                </c:pt>
                <c:pt idx="2">
                  <c:v>-0.602</c:v>
                </c:pt>
                <c:pt idx="3">
                  <c:v>-1.135</c:v>
                </c:pt>
                <c:pt idx="4">
                  <c:v>0.705</c:v>
                </c:pt>
                <c:pt idx="5">
                  <c:v>-1.808</c:v>
                </c:pt>
                <c:pt idx="6">
                  <c:v>-1.135</c:v>
                </c:pt>
                <c:pt idx="7">
                  <c:v>-1.808</c:v>
                </c:pt>
                <c:pt idx="8">
                  <c:v>-1.135</c:v>
                </c:pt>
                <c:pt idx="9">
                  <c:v>-1.808</c:v>
                </c:pt>
                <c:pt idx="10">
                  <c:v>-1.808</c:v>
                </c:pt>
              </c:numCache>
            </c:numRef>
          </c:yVal>
          <c:smooth val="0"/>
        </c:ser>
        <c:ser>
          <c:idx val="1"/>
          <c:order val="1"/>
          <c:tx>
            <c:strRef>
              <c:f>Sheet1!$B$14</c:f>
              <c:strCache>
                <c:ptCount val="1"/>
                <c:pt idx="0">
                  <c:v>Drugs (pharma) (16)</c:v>
                </c:pt>
              </c:strCache>
            </c:strRef>
          </c:tx>
          <c:spPr>
            <a:ln w="47625">
              <a:noFill/>
            </a:ln>
          </c:spPr>
          <c:marker>
            <c:symbol val="circle"/>
            <c:size val="7"/>
            <c:spPr>
              <a:solidFill>
                <a:srgbClr val="8C5DFF"/>
              </a:solidFill>
              <a:ln>
                <a:solidFill>
                  <a:srgbClr val="8C5DFF"/>
                </a:solidFill>
              </a:ln>
            </c:spPr>
          </c:marker>
          <c:xVal>
            <c:numRef>
              <c:f>Sheet1!$A$15:$A$30</c:f>
              <c:numCache>
                <c:formatCode>General</c:formatCode>
                <c:ptCount val="16"/>
                <c:pt idx="0">
                  <c:v>1.331</c:v>
                </c:pt>
                <c:pt idx="1">
                  <c:v>1.334</c:v>
                </c:pt>
                <c:pt idx="2">
                  <c:v>-0.581</c:v>
                </c:pt>
                <c:pt idx="3">
                  <c:v>5.076</c:v>
                </c:pt>
                <c:pt idx="4">
                  <c:v>1.334</c:v>
                </c:pt>
                <c:pt idx="5">
                  <c:v>5.077</c:v>
                </c:pt>
                <c:pt idx="6">
                  <c:v>2.926</c:v>
                </c:pt>
                <c:pt idx="7">
                  <c:v>5.092</c:v>
                </c:pt>
                <c:pt idx="8">
                  <c:v>1.334</c:v>
                </c:pt>
                <c:pt idx="9">
                  <c:v>2.924</c:v>
                </c:pt>
                <c:pt idx="10">
                  <c:v>2.937</c:v>
                </c:pt>
                <c:pt idx="11">
                  <c:v>-1.819</c:v>
                </c:pt>
                <c:pt idx="12">
                  <c:v>2.908</c:v>
                </c:pt>
                <c:pt idx="13">
                  <c:v>1.337</c:v>
                </c:pt>
                <c:pt idx="14">
                  <c:v>-1.815</c:v>
                </c:pt>
                <c:pt idx="15">
                  <c:v>2.92</c:v>
                </c:pt>
              </c:numCache>
            </c:numRef>
          </c:xVal>
          <c:yVal>
            <c:numRef>
              <c:f>Sheet1!$B$15:$B$30</c:f>
              <c:numCache>
                <c:formatCode>General</c:formatCode>
                <c:ptCount val="16"/>
                <c:pt idx="0">
                  <c:v>-1.127</c:v>
                </c:pt>
                <c:pt idx="1">
                  <c:v>-1.138</c:v>
                </c:pt>
                <c:pt idx="2">
                  <c:v>-1.769</c:v>
                </c:pt>
                <c:pt idx="3">
                  <c:v>0.736</c:v>
                </c:pt>
                <c:pt idx="4">
                  <c:v>-1.136</c:v>
                </c:pt>
                <c:pt idx="5">
                  <c:v>0.732</c:v>
                </c:pt>
                <c:pt idx="6">
                  <c:v>-0.645</c:v>
                </c:pt>
                <c:pt idx="7">
                  <c:v>0.671</c:v>
                </c:pt>
                <c:pt idx="8">
                  <c:v>-1.136</c:v>
                </c:pt>
                <c:pt idx="9">
                  <c:v>-0.64</c:v>
                </c:pt>
                <c:pt idx="10">
                  <c:v>-0.691</c:v>
                </c:pt>
                <c:pt idx="11">
                  <c:v>-2.174</c:v>
                </c:pt>
                <c:pt idx="12">
                  <c:v>-0.57</c:v>
                </c:pt>
                <c:pt idx="13">
                  <c:v>-1.152</c:v>
                </c:pt>
                <c:pt idx="14">
                  <c:v>-2.191</c:v>
                </c:pt>
                <c:pt idx="15">
                  <c:v>-0.622</c:v>
                </c:pt>
              </c:numCache>
            </c:numRef>
          </c:yVal>
          <c:smooth val="0"/>
        </c:ser>
        <c:ser>
          <c:idx val="2"/>
          <c:order val="2"/>
          <c:tx>
            <c:strRef>
              <c:f>Sheet1!$B$32</c:f>
              <c:strCache>
                <c:ptCount val="1"/>
                <c:pt idx="0">
                  <c:v>Medical tests (15)</c:v>
                </c:pt>
              </c:strCache>
            </c:strRef>
          </c:tx>
          <c:spPr>
            <a:ln w="47625">
              <a:noFill/>
            </a:ln>
          </c:spPr>
          <c:marker>
            <c:symbol val="circle"/>
            <c:size val="7"/>
            <c:spPr>
              <a:solidFill>
                <a:srgbClr val="D948FF"/>
              </a:solidFill>
              <a:ln>
                <a:solidFill>
                  <a:srgbClr val="D948FF"/>
                </a:solidFill>
              </a:ln>
            </c:spPr>
          </c:marker>
          <c:xVal>
            <c:numRef>
              <c:f>Sheet1!$A$33:$A$47</c:f>
              <c:numCache>
                <c:formatCode>General</c:formatCode>
                <c:ptCount val="15"/>
                <c:pt idx="0">
                  <c:v>-4.838</c:v>
                </c:pt>
                <c:pt idx="1">
                  <c:v>-1.278</c:v>
                </c:pt>
                <c:pt idx="2">
                  <c:v>-3.342</c:v>
                </c:pt>
                <c:pt idx="3">
                  <c:v>-1.278</c:v>
                </c:pt>
                <c:pt idx="4">
                  <c:v>0.688</c:v>
                </c:pt>
                <c:pt idx="5">
                  <c:v>3.389</c:v>
                </c:pt>
                <c:pt idx="6">
                  <c:v>-1.278</c:v>
                </c:pt>
                <c:pt idx="7">
                  <c:v>-0.502</c:v>
                </c:pt>
                <c:pt idx="8">
                  <c:v>0.271</c:v>
                </c:pt>
                <c:pt idx="9">
                  <c:v>0.496</c:v>
                </c:pt>
                <c:pt idx="10">
                  <c:v>-3.933</c:v>
                </c:pt>
                <c:pt idx="11">
                  <c:v>4.335</c:v>
                </c:pt>
                <c:pt idx="12">
                  <c:v>-2.623</c:v>
                </c:pt>
                <c:pt idx="13">
                  <c:v>-0.828</c:v>
                </c:pt>
                <c:pt idx="14">
                  <c:v>4.335</c:v>
                </c:pt>
              </c:numCache>
            </c:numRef>
          </c:xVal>
          <c:yVal>
            <c:numRef>
              <c:f>Sheet1!$B$33:$B$47</c:f>
              <c:numCache>
                <c:formatCode>General</c:formatCode>
                <c:ptCount val="15"/>
                <c:pt idx="0">
                  <c:v>1.063</c:v>
                </c:pt>
                <c:pt idx="1">
                  <c:v>1.177</c:v>
                </c:pt>
                <c:pt idx="2">
                  <c:v>0.087</c:v>
                </c:pt>
                <c:pt idx="3">
                  <c:v>1.177</c:v>
                </c:pt>
                <c:pt idx="4">
                  <c:v>0.462</c:v>
                </c:pt>
                <c:pt idx="5">
                  <c:v>1.63</c:v>
                </c:pt>
                <c:pt idx="6">
                  <c:v>1.177</c:v>
                </c:pt>
                <c:pt idx="7">
                  <c:v>0.059</c:v>
                </c:pt>
                <c:pt idx="8">
                  <c:v>0.862</c:v>
                </c:pt>
                <c:pt idx="9">
                  <c:v>0.548</c:v>
                </c:pt>
                <c:pt idx="10">
                  <c:v>0.881</c:v>
                </c:pt>
                <c:pt idx="11">
                  <c:v>1.988</c:v>
                </c:pt>
                <c:pt idx="12">
                  <c:v>-0.512</c:v>
                </c:pt>
                <c:pt idx="13">
                  <c:v>0.218</c:v>
                </c:pt>
                <c:pt idx="14">
                  <c:v>1.988</c:v>
                </c:pt>
              </c:numCache>
            </c:numRef>
          </c:yVal>
          <c:smooth val="0"/>
        </c:ser>
        <c:ser>
          <c:idx val="3"/>
          <c:order val="3"/>
          <c:tx>
            <c:strRef>
              <c:f>Sheet1!$B$49</c:f>
              <c:strCache>
                <c:ptCount val="1"/>
                <c:pt idx="0">
                  <c:v>Networks (18)</c:v>
                </c:pt>
              </c:strCache>
            </c:strRef>
          </c:tx>
          <c:spPr>
            <a:ln w="47625">
              <a:noFill/>
            </a:ln>
          </c:spPr>
          <c:marker>
            <c:symbol val="circle"/>
            <c:size val="7"/>
            <c:spPr>
              <a:solidFill>
                <a:srgbClr val="5BF0B9"/>
              </a:solidFill>
              <a:ln>
                <a:solidFill>
                  <a:srgbClr val="5BF0B9"/>
                </a:solidFill>
              </a:ln>
            </c:spPr>
          </c:marker>
          <c:xVal>
            <c:numRef>
              <c:f>Sheet1!$A$50:$A$67</c:f>
              <c:numCache>
                <c:formatCode>General</c:formatCode>
                <c:ptCount val="18"/>
                <c:pt idx="0">
                  <c:v>-3.536</c:v>
                </c:pt>
                <c:pt idx="1">
                  <c:v>-0.798</c:v>
                </c:pt>
                <c:pt idx="2">
                  <c:v>-2.569</c:v>
                </c:pt>
                <c:pt idx="3">
                  <c:v>-3.518</c:v>
                </c:pt>
                <c:pt idx="4">
                  <c:v>-1.437</c:v>
                </c:pt>
                <c:pt idx="5">
                  <c:v>-0.098</c:v>
                </c:pt>
                <c:pt idx="6">
                  <c:v>-3.137</c:v>
                </c:pt>
                <c:pt idx="7">
                  <c:v>-3.581</c:v>
                </c:pt>
                <c:pt idx="8">
                  <c:v>-1.462</c:v>
                </c:pt>
                <c:pt idx="9">
                  <c:v>-3.004</c:v>
                </c:pt>
                <c:pt idx="10">
                  <c:v>-0.477</c:v>
                </c:pt>
                <c:pt idx="11">
                  <c:v>-1.865</c:v>
                </c:pt>
                <c:pt idx="12">
                  <c:v>-2.807</c:v>
                </c:pt>
                <c:pt idx="13">
                  <c:v>-3.062</c:v>
                </c:pt>
                <c:pt idx="14">
                  <c:v>-1.962</c:v>
                </c:pt>
                <c:pt idx="15">
                  <c:v>-1.537</c:v>
                </c:pt>
                <c:pt idx="16">
                  <c:v>-3.323</c:v>
                </c:pt>
                <c:pt idx="17">
                  <c:v>-1.714</c:v>
                </c:pt>
              </c:numCache>
            </c:numRef>
          </c:xVal>
          <c:yVal>
            <c:numRef>
              <c:f>Sheet1!$B$50:$B$67</c:f>
              <c:numCache>
                <c:formatCode>General</c:formatCode>
                <c:ptCount val="18"/>
                <c:pt idx="0">
                  <c:v>-0.089</c:v>
                </c:pt>
                <c:pt idx="1">
                  <c:v>1.579</c:v>
                </c:pt>
                <c:pt idx="2">
                  <c:v>1.091</c:v>
                </c:pt>
                <c:pt idx="3">
                  <c:v>-0.268</c:v>
                </c:pt>
                <c:pt idx="4">
                  <c:v>1.138</c:v>
                </c:pt>
                <c:pt idx="5">
                  <c:v>1.875</c:v>
                </c:pt>
                <c:pt idx="6">
                  <c:v>0.512</c:v>
                </c:pt>
                <c:pt idx="7">
                  <c:v>-0.112</c:v>
                </c:pt>
                <c:pt idx="8">
                  <c:v>2.453</c:v>
                </c:pt>
                <c:pt idx="9">
                  <c:v>-0.482</c:v>
                </c:pt>
                <c:pt idx="10">
                  <c:v>2.03</c:v>
                </c:pt>
                <c:pt idx="11">
                  <c:v>1.075</c:v>
                </c:pt>
                <c:pt idx="12">
                  <c:v>0.27</c:v>
                </c:pt>
                <c:pt idx="13">
                  <c:v>-0.432</c:v>
                </c:pt>
                <c:pt idx="14">
                  <c:v>0.297</c:v>
                </c:pt>
                <c:pt idx="15">
                  <c:v>1.643</c:v>
                </c:pt>
                <c:pt idx="16">
                  <c:v>-0.378</c:v>
                </c:pt>
                <c:pt idx="17">
                  <c:v>0.118</c:v>
                </c:pt>
              </c:numCache>
            </c:numRef>
          </c:yVal>
          <c:smooth val="0"/>
        </c:ser>
        <c:axId val="-2128940872"/>
        <c:axId val="-2129643912"/>
      </c:scatterChart>
      <c:valAx>
        <c:axId val="-2128940872"/>
        <c:scaling>
          <c:orientation val="minMax"/>
        </c:scaling>
        <c:delete val="0"/>
        <c:axPos val="b"/>
        <c:title>
          <c:tx>
            <c:rich>
              <a:bodyPr/>
              <a:lstStyle/>
              <a:p>
                <a:r>
                  <a:rPr sz="900" b="0">
                    <a:solidFill>
                      <a:srgbClr val="A1B1CD"/>
                    </a:solidFill>
                  </a:rPr>
                  <a:t>pattern axis 1 (no units)</a:t>
                </a:r>
              </a:p>
            </c:rich>
          </c:tx>
          <c:layout/>
          <c:overlay val="0"/>
        </c:title>
        <c:numFmt formatCode="General" sourceLinked="1"/>
        <c:majorTickMark val="out"/>
        <c:minorTickMark val="none"/>
        <c:tickLblPos val="low"/>
        <c:spPr>
          <a:ln>
            <a:solidFill>
              <a:srgbClr val="374D73"/>
            </a:solidFill>
          </a:ln>
        </c:spPr>
        <c:txPr>
          <a:bodyPr/>
          <a:lstStyle/>
          <a:p>
            <a:pPr>
              <a:defRPr sz="900">
                <a:solidFill>
                  <a:srgbClr val="A1B1CD"/>
                </a:solidFill>
              </a:defRPr>
            </a:pPr>
          </a:p>
        </c:txPr>
        <c:crossAx val="-2129643912"/>
        <c:crosses val="autoZero"/>
        <c:crossBetween val="midCat"/>
      </c:valAx>
      <c:valAx>
        <c:axId val="-2129643912"/>
        <c:scaling>
          <c:orientation val="minMax"/>
        </c:scaling>
        <c:delete val="0"/>
        <c:axPos val="l"/>
        <c:majorGridlines>
          <c:spPr>
            <a:ln>
              <a:solidFill>
                <a:srgbClr val="1C2948"/>
              </a:solidFill>
            </a:ln>
          </c:spPr>
        </c:majorGridlines>
        <c:title>
          <c:tx>
            <c:rich>
              <a:bodyPr/>
              <a:lstStyle/>
              <a:p>
                <a:r>
                  <a:rPr sz="900" b="0">
                    <a:solidFill>
                      <a:srgbClr val="A1B1CD"/>
                    </a:solidFill>
                  </a:rPr>
                  <a:t>pattern axis 2 (no units)</a:t>
                </a:r>
              </a:p>
            </c:rich>
          </c:tx>
          <c:layout/>
          <c:overlay val="0"/>
        </c:title>
        <c:numFmt formatCode="General" sourceLinked="1"/>
        <c:majorTickMark val="out"/>
        <c:minorTickMark val="none"/>
        <c:tickLblPos val="nextTo"/>
        <c:spPr>
          <a:ln>
            <a:solidFill>
              <a:srgbClr val="374D73"/>
            </a:solidFill>
          </a:ln>
        </c:spPr>
        <c:txPr>
          <a:bodyPr/>
          <a:lstStyle/>
          <a:p>
            <a:pPr>
              <a:defRPr sz="900">
                <a:solidFill>
                  <a:srgbClr val="A1B1CD"/>
                </a:solidFill>
              </a:defRPr>
            </a:pPr>
          </a:p>
        </c:txPr>
        <c:crossAx val="-2128940872"/>
        <c:crosses val="autoZero"/>
        <c:crossBetween val="midCat"/>
      </c:valAx>
    </c:plotArea>
    <c:legend>
      <c:legendPos val="b"/>
      <c:layout/>
      <c:overlay val="0"/>
      <c:txPr>
        <a:bodyPr/>
        <a:lstStyle/>
        <a:p>
          <a:pPr>
            <a:defRPr sz="900">
              <a:solidFill>
                <a:srgbClr val="A1B1CD"/>
              </a:solidFill>
            </a:defRPr>
          </a:pPr>
        </a:p>
      </c:txPr>
    </c:legend>
    <c:plotVisOnly val="1"/>
    <c:dispBlanksAs val="gap"/>
    <c:showDLblsOverMax val="0"/>
  </c:chart>
  <c:txPr>
    <a:bodyPr/>
    <a:lstStyle/>
    <a:p>
      <a:pPr>
        <a:defRPr sz="900">
          <a:solidFill>
            <a:srgbClr val="A1B1CD"/>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Score</c:v>
                </c:pt>
              </c:strCache>
            </c:strRef>
          </c:tx>
          <c:spPr>
            <a:solidFill>
              <a:srgbClr val="A1B1CD"/>
            </a:solidFill>
            <a:ln>
              <a:noFill/>
            </a:ln>
          </c:spPr>
          <c:dPt>
            <c:idx val="0"/>
            <c:spPr>
              <a:solidFill>
                <a:srgbClr val="596C93"/>
              </a:solidFill>
            </c:spPr>
          </c:dPt>
          <c:dPt>
            <c:idx val="1"/>
            <c:spPr>
              <a:solidFill>
                <a:srgbClr val="27D6FF"/>
              </a:solidFill>
            </c:spPr>
          </c:dPt>
          <c:dPt>
            <c:idx val="2"/>
            <c:spPr>
              <a:solidFill>
                <a:srgbClr val="374D73"/>
              </a:solidFill>
            </c:spPr>
          </c:dPt>
          <c:dPt>
            <c:idx val="3"/>
            <c:spPr>
              <a:solidFill>
                <a:srgbClr val="374D73"/>
              </a:solidFill>
            </c:spPr>
          </c:dPt>
          <c:cat>
            <c:strRef>
              <c:f>Sheet1!$A$2:$A$5</c:f>
              <c:strCache>
                <c:ptCount val="4"/>
                <c:pt idx="0">
                  <c:v>Tuned from scratch (60 tries)</c:v>
                </c:pt>
                <c:pt idx="1">
                  <c:v>Copied from twin (1 try)</c:v>
                </c:pt>
                <c:pt idx="2">
                  <c:v>Copied from random (1 try)</c:v>
                </c:pt>
                <c:pt idx="3">
                  <c:v>Default dials (1 try)</c:v>
                </c:pt>
              </c:strCache>
            </c:strRef>
          </c:cat>
          <c:val>
            <c:numRef>
              <c:f>Sheet1!$B$2:$B$5</c:f>
              <c:numCache>
                <c:formatCode>General</c:formatCode>
                <c:ptCount val="4"/>
                <c:pt idx="0">
                  <c:v>0.633</c:v>
                </c:pt>
                <c:pt idx="1">
                  <c:v>0.599</c:v>
                </c:pt>
                <c:pt idx="2">
                  <c:v>0.577</c:v>
                </c:pt>
                <c:pt idx="3">
                  <c:v>0.581</c:v>
                </c:pt>
              </c:numCache>
            </c:numRef>
          </c:val>
        </c:ser>
        <c:dLbls>
          <c:numFmt formatCode="0.000" sourceLinked="0"/>
          <c:txPr>
            <a:bodyPr/>
            <a:lstStyle/>
            <a:p>
              <a:pPr>
                <a:defRPr sz="1000" b="1">
                  <a:solidFill>
                    <a:srgbClr val="F4F8FF"/>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374D73"/>
            </a:solidFill>
          </a:ln>
        </c:spPr>
        <c:txPr>
          <a:bodyPr/>
          <a:lstStyle/>
          <a:p>
            <a:pPr>
              <a:defRPr sz="1000">
                <a:solidFill>
                  <a:srgbClr val="A1B1CD"/>
                </a:solidFill>
              </a:defRPr>
            </a:pPr>
          </a:p>
        </c:txPr>
        <c:crossAx val="-2113994440"/>
        <c:crosses val="autoZero"/>
        <c:auto val="1"/>
        <c:lblAlgn val="ctr"/>
        <c:lblOffset val="100"/>
        <c:noMultiLvlLbl val="0"/>
      </c:catAx>
      <c:valAx>
        <c:axId val="-2113994440"/>
        <c:scaling>
          <c:max val="0.66"/>
          <c:min val="0.5"/>
        </c:scaling>
        <c:delete/>
        <c:axPos val="b"/>
        <c:majorTickMark val="out"/>
        <c:minorTickMark val="none"/>
        <c:tickLblPos val="nextTo"/>
        <c:spPr>
          <a:ln>
            <a:solidFill>
              <a:srgbClr val="374D73"/>
            </a:solidFill>
          </a:ln>
        </c:spPr>
        <c:txPr>
          <a:bodyPr/>
          <a:lstStyle/>
          <a:p>
            <a:pPr>
              <a:defRPr sz="1000">
                <a:solidFill>
                  <a:srgbClr val="A1B1CD"/>
                </a:solidFill>
              </a:defRPr>
            </a:pPr>
          </a:p>
        </c:txPr>
        <c:crossAx val="-2068027336"/>
        <c:crosses val="autoZero"/>
      </c:valAx>
    </c:plotArea>
    <c:dispBlanksAs val="gap"/>
  </c:chart>
  <c:txPr>
    <a:bodyPr/>
    <a:lstStyle/>
    <a:p>
      <a:pPr>
        <a:defRPr sz="1000">
          <a:solidFill>
            <a:srgbClr val="A1B1CD"/>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Q-Router as % of normal</c:v>
                </c:pt>
              </c:strCache>
            </c:strRef>
          </c:tx>
          <c:spPr>
            <a:solidFill>
              <a:srgbClr val="5BF0B9"/>
            </a:solidFill>
            <a:ln>
              <a:noFill/>
            </a:ln>
          </c:spPr>
          <c:cat>
            <c:strRef>
              <c:f>Sheet1!$A$2:$A$5</c:f>
              <c:strCache>
                <c:ptCount val="4"/>
                <c:pt idx="0">
                  <c:v>Problems tuned</c:v>
                </c:pt>
                <c:pt idx="1">
                  <c:v>Tuning runs</c:v>
                </c:pt>
                <c:pt idx="2">
                  <c:v>Chip jobs</c:v>
                </c:pt>
                <c:pt idx="3">
                  <c:v>Quantum shots</c:v>
                </c:pt>
              </c:strCache>
            </c:strRef>
          </c:cat>
          <c:val>
            <c:numRef>
              <c:f>Sheet1!$B$2:$B$5</c:f>
              <c:numCache>
                <c:formatCode>General</c:formatCode>
                <c:ptCount val="4"/>
                <c:pt idx="0">
                  <c:v>50</c:v>
                </c:pt>
                <c:pt idx="1">
                  <c:v>48</c:v>
                </c:pt>
                <c:pt idx="2">
                  <c:v>25</c:v>
                </c:pt>
                <c:pt idx="3">
                  <c:v>25</c:v>
                </c:pt>
              </c:numCache>
            </c:numRef>
          </c:val>
        </c:ser>
        <c:dLbls>
          <c:numFmt formatCode="0&quot;%&quot;" sourceLinked="0"/>
          <c:txPr>
            <a:bodyPr/>
            <a:lstStyle/>
            <a:p>
              <a:pPr>
                <a:defRPr sz="1000" b="1">
                  <a:solidFill>
                    <a:srgbClr val="F4F8FF"/>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374D73"/>
            </a:solidFill>
          </a:ln>
        </c:spPr>
        <c:txPr>
          <a:bodyPr/>
          <a:lstStyle/>
          <a:p>
            <a:pPr>
              <a:defRPr sz="1000">
                <a:solidFill>
                  <a:srgbClr val="A1B1CD"/>
                </a:solidFill>
              </a:defRPr>
            </a:pPr>
          </a:p>
        </c:txPr>
        <c:crossAx val="-2113994440"/>
        <c:crosses val="autoZero"/>
        <c:auto val="1"/>
        <c:lblAlgn val="ctr"/>
        <c:lblOffset val="100"/>
        <c:noMultiLvlLbl val="0"/>
      </c:catAx>
      <c:valAx>
        <c:axId val="-2113994440"/>
        <c:scaling>
          <c:max val="110.0"/>
          <c:min val="0.0"/>
        </c:scaling>
        <c:delete/>
        <c:axPos val="l"/>
        <c:majorTickMark val="out"/>
        <c:minorTickMark val="none"/>
        <c:tickLblPos val="nextTo"/>
        <c:spPr>
          <a:ln>
            <a:solidFill>
              <a:srgbClr val="374D73"/>
            </a:solidFill>
          </a:ln>
        </c:spPr>
        <c:txPr>
          <a:bodyPr/>
          <a:lstStyle/>
          <a:p>
            <a:pPr>
              <a:defRPr sz="1000">
                <a:solidFill>
                  <a:srgbClr val="A1B1CD"/>
                </a:solidFill>
              </a:defRPr>
            </a:pPr>
          </a:p>
        </c:txPr>
        <c:crossAx val="-2068027336"/>
        <c:crosses val="autoZero"/>
      </c:valAx>
    </c:plotArea>
    <c:dispBlanksAs val="gap"/>
  </c:chart>
  <c:txPr>
    <a:bodyPr/>
    <a:lstStyle/>
    <a:p>
      <a:pPr>
        <a:defRPr sz="1000">
          <a:solidFill>
            <a:srgbClr val="A1B1CD"/>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Gate-based QAOA</c:v>
                </c:pt>
              </c:strCache>
            </c:strRef>
          </c:tx>
          <c:spPr>
            <a:solidFill>
              <a:srgbClr val="27D6FF"/>
            </a:solidFill>
            <a:ln>
              <a:noFill/>
            </a:ln>
          </c:spPr>
          <c:cat>
            <c:strRef>
              <c:f>Sheet1!$A$2:$A$4</c:f>
              <c:strCache>
                <c:ptCount val="3"/>
                <c:pt idx="0">
                  <c:v>Drug funding (8, dense)</c:v>
                </c:pt>
                <c:pt idx="1">
                  <c:v>Trial sites A (7, sparse)</c:v>
                </c:pt>
                <c:pt idx="2">
                  <c:v>Trial sites B (3, small)</c:v>
                </c:pt>
              </c:strCache>
            </c:strRef>
          </c:cat>
          <c:val>
            <c:numRef>
              <c:f>Sheet1!$B$2:$B$4</c:f>
              <c:numCache>
                <c:formatCode>General</c:formatCode>
                <c:ptCount val="3"/>
                <c:pt idx="0">
                  <c:v>0.546</c:v>
                </c:pt>
                <c:pt idx="1">
                  <c:v>0.384</c:v>
                </c:pt>
                <c:pt idx="2">
                  <c:v>0.407</c:v>
                </c:pt>
              </c:numCache>
            </c:numRef>
          </c:val>
        </c:ser>
        <c:ser>
          <c:idx val="1"/>
          <c:order val="1"/>
          <c:tx>
            <c:strRef>
              <c:f>Sheet1!$C$1</c:f>
              <c:strCache>
                <c:ptCount val="1"/>
                <c:pt idx="0">
                  <c:v>Digital anneal</c:v>
                </c:pt>
              </c:strCache>
            </c:strRef>
          </c:tx>
          <c:spPr>
            <a:solidFill>
              <a:srgbClr val="D948FF"/>
            </a:solidFill>
            <a:ln>
              <a:noFill/>
            </a:ln>
          </c:spPr>
          <c:cat>
            <c:strRef>
              <c:f>Sheet1!$A$2:$A$4</c:f>
              <c:strCache>
                <c:ptCount val="3"/>
                <c:pt idx="0">
                  <c:v>Drug funding (8, dense)</c:v>
                </c:pt>
                <c:pt idx="1">
                  <c:v>Trial sites A (7, sparse)</c:v>
                </c:pt>
                <c:pt idx="2">
                  <c:v>Trial sites B (3, small)</c:v>
                </c:pt>
              </c:strCache>
            </c:strRef>
          </c:cat>
          <c:val>
            <c:numRef>
              <c:f>Sheet1!$C$2:$C$4</c:f>
              <c:numCache>
                <c:formatCode>General</c:formatCode>
                <c:ptCount val="3"/>
                <c:pt idx="0">
                  <c:v>0.336</c:v>
                </c:pt>
                <c:pt idx="1">
                  <c:v>0.42</c:v>
                </c:pt>
                <c:pt idx="2">
                  <c:v>0.725</c:v>
                </c:pt>
              </c:numCache>
            </c:numRef>
          </c:val>
        </c:ser>
        <c:dLbls>
          <c:numFmt formatCode="0.00" sourceLinked="0"/>
          <c:txPr>
            <a:bodyPr/>
            <a:lstStyle/>
            <a:p>
              <a:pPr>
                <a:defRPr sz="1000" b="1">
                  <a:solidFill>
                    <a:srgbClr val="F4F8FF"/>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374D73"/>
            </a:solidFill>
          </a:ln>
        </c:spPr>
        <c:txPr>
          <a:bodyPr/>
          <a:lstStyle/>
          <a:p>
            <a:pPr>
              <a:defRPr sz="1000">
                <a:solidFill>
                  <a:srgbClr val="A1B1CD"/>
                </a:solidFill>
              </a:defRPr>
            </a:pPr>
          </a:p>
        </c:txPr>
        <c:crossAx val="-2113994440"/>
        <c:crosses val="autoZero"/>
        <c:auto val="1"/>
        <c:lblAlgn val="ctr"/>
        <c:lblOffset val="100"/>
        <c:noMultiLvlLbl val="0"/>
      </c:catAx>
      <c:valAx>
        <c:axId val="-2113994440"/>
        <c:scaling>
          <c:max val="0.8"/>
          <c:min val="0.0"/>
        </c:scaling>
        <c:delete val="0"/>
        <c:axPos val="l"/>
        <c:majorGridlines>
          <c:spPr>
            <a:ln>
              <a:solidFill>
                <a:srgbClr val="1C2948"/>
              </a:solidFill>
            </a:ln>
          </c:spPr>
        </c:majorGridlines>
        <c:majorTickMark val="out"/>
        <c:minorTickMark val="none"/>
        <c:tickLblPos val="nextTo"/>
        <c:spPr>
          <a:ln>
            <a:solidFill>
              <a:srgbClr val="374D73"/>
            </a:solidFill>
          </a:ln>
        </c:spPr>
        <c:txPr>
          <a:bodyPr/>
          <a:lstStyle/>
          <a:p>
            <a:pPr>
              <a:defRPr sz="1000">
                <a:solidFill>
                  <a:srgbClr val="A1B1CD"/>
                </a:solidFill>
              </a:defRPr>
            </a:pPr>
          </a:p>
        </c:txPr>
        <c:crossAx val="-2068027336"/>
        <c:crosses val="autoZero"/>
      </c:valAx>
    </c:plotArea>
    <c:legend>
      <c:legendPos val="b"/>
      <c:overlay val="0"/>
      <c:txPr>
        <a:bodyPr/>
        <a:lstStyle/>
        <a:p>
          <a:pPr>
            <a:defRPr sz="1000">
              <a:solidFill>
                <a:srgbClr val="A1B1CD"/>
              </a:solidFill>
            </a:defRPr>
          </a:pPr>
        </a:p>
      </c:txPr>
    </c:legend>
    <c:dispBlanksAs val="gap"/>
  </c:chart>
  <c:txPr>
    <a:bodyPr/>
    <a:lstStyle/>
    <a:p>
      <a:pPr>
        <a:defRPr sz="1000">
          <a:solidFill>
            <a:srgbClr val="A1B1CD"/>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Perfect simulator</c:v>
                </c:pt>
              </c:strCache>
            </c:strRef>
          </c:tx>
          <c:spPr>
            <a:solidFill>
              <a:srgbClr val="5BF0B9"/>
            </a:solidFill>
            <a:ln>
              <a:noFill/>
            </a:ln>
          </c:spPr>
          <c:cat>
            <c:strRef>
              <c:f>Sheet1!$A$2:$A$3</c:f>
              <c:strCache>
                <c:ptCount val="2"/>
                <c:pt idx="0">
                  <c:v>Gate-based QAOA</c:v>
                </c:pt>
                <c:pt idx="1">
                  <c:v>Digital anneal</c:v>
                </c:pt>
              </c:strCache>
            </c:strRef>
          </c:cat>
          <c:val>
            <c:numRef>
              <c:f>Sheet1!$B$2:$B$3</c:f>
              <c:numCache>
                <c:formatCode>General</c:formatCode>
                <c:ptCount val="2"/>
                <c:pt idx="0">
                  <c:v>0.7243751624004338</c:v>
                </c:pt>
                <c:pt idx="1">
                  <c:v>0.8003232237197677</c:v>
                </c:pt>
              </c:numCache>
            </c:numRef>
          </c:val>
        </c:ser>
        <c:ser>
          <c:idx val="1"/>
          <c:order val="1"/>
          <c:tx>
            <c:strRef>
              <c:f>Sheet1!$C$1</c:f>
              <c:strCache>
                <c:ptCount val="1"/>
                <c:pt idx="0">
                  <c:v>Copy of chip (errors)</c:v>
                </c:pt>
              </c:strCache>
            </c:strRef>
          </c:tx>
          <c:spPr>
            <a:solidFill>
              <a:srgbClr val="8C5DFF"/>
            </a:solidFill>
            <a:ln>
              <a:noFill/>
            </a:ln>
          </c:spPr>
          <c:cat>
            <c:strRef>
              <c:f>Sheet1!$A$2:$A$3</c:f>
              <c:strCache>
                <c:ptCount val="2"/>
                <c:pt idx="0">
                  <c:v>Gate-based QAOA</c:v>
                </c:pt>
                <c:pt idx="1">
                  <c:v>Digital anneal</c:v>
                </c:pt>
              </c:strCache>
            </c:strRef>
          </c:cat>
          <c:val>
            <c:numRef>
              <c:f>Sheet1!$C$2:$C$3</c:f>
              <c:numCache>
                <c:formatCode>General</c:formatCode>
                <c:ptCount val="2"/>
                <c:pt idx="0">
                  <c:v>0.6684083021405337</c:v>
                </c:pt>
                <c:pt idx="1">
                  <c:v>0.6723802073990509</c:v>
                </c:pt>
              </c:numCache>
            </c:numRef>
          </c:val>
        </c:ser>
        <c:ser>
          <c:idx val="2"/>
          <c:order val="2"/>
          <c:tx>
            <c:strRef>
              <c:f>Sheet1!$D$1</c:f>
              <c:strCache>
                <c:ptCount val="1"/>
                <c:pt idx="0">
                  <c:v>Real chip, raw</c:v>
                </c:pt>
              </c:strCache>
            </c:strRef>
          </c:tx>
          <c:spPr>
            <a:solidFill>
              <a:srgbClr val="27D6FF"/>
            </a:solidFill>
            <a:ln>
              <a:noFill/>
            </a:ln>
          </c:spPr>
          <c:cat>
            <c:strRef>
              <c:f>Sheet1!$A$2:$A$3</c:f>
              <c:strCache>
                <c:ptCount val="2"/>
                <c:pt idx="0">
                  <c:v>Gate-based QAOA</c:v>
                </c:pt>
                <c:pt idx="1">
                  <c:v>Digital anneal</c:v>
                </c:pt>
              </c:strCache>
            </c:strRef>
          </c:cat>
          <c:val>
            <c:numRef>
              <c:f>Sheet1!$D$2:$D$3</c:f>
              <c:numCache>
                <c:formatCode>General</c:formatCode>
                <c:ptCount val="2"/>
                <c:pt idx="0">
                  <c:v>0.6364288676526114</c:v>
                </c:pt>
                <c:pt idx="1">
                  <c:v>0.545912255701395</c:v>
                </c:pt>
              </c:numCache>
            </c:numRef>
          </c:val>
        </c:ser>
        <c:ser>
          <c:idx val="3"/>
          <c:order val="3"/>
          <c:tx>
            <c:strRef>
              <c:f>Sheet1!$E$1</c:f>
              <c:strCache>
                <c:ptCount val="1"/>
                <c:pt idx="0">
                  <c:v>Real chip + fixes</c:v>
                </c:pt>
              </c:strCache>
            </c:strRef>
          </c:tx>
          <c:spPr>
            <a:solidFill>
              <a:srgbClr val="D948FF"/>
            </a:solidFill>
            <a:ln>
              <a:noFill/>
            </a:ln>
          </c:spPr>
          <c:cat>
            <c:strRef>
              <c:f>Sheet1!$A$2:$A$3</c:f>
              <c:strCache>
                <c:ptCount val="2"/>
                <c:pt idx="0">
                  <c:v>Gate-based QAOA</c:v>
                </c:pt>
                <c:pt idx="1">
                  <c:v>Digital anneal</c:v>
                </c:pt>
              </c:strCache>
            </c:strRef>
          </c:cat>
          <c:val>
            <c:numRef>
              <c:f>Sheet1!$E$2:$E$3</c:f>
              <c:numCache>
                <c:formatCode>General</c:formatCode>
                <c:ptCount val="2"/>
                <c:pt idx="0">
                  <c:v>0.5779404686453702</c:v>
                </c:pt>
                <c:pt idx="1">
                  <c:v>0.36145190879506245</c:v>
                </c:pt>
              </c:numCache>
            </c:numRef>
          </c:val>
        </c:ser>
        <c:dLbls>
          <c:numFmt formatCode="0.00" sourceLinked="0"/>
          <c:txPr>
            <a:bodyPr/>
            <a:lstStyle/>
            <a:p>
              <a:pPr>
                <a:defRPr sz="1000" b="1">
                  <a:solidFill>
                    <a:srgbClr val="F4F8FF"/>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374D73"/>
            </a:solidFill>
          </a:ln>
        </c:spPr>
        <c:txPr>
          <a:bodyPr/>
          <a:lstStyle/>
          <a:p>
            <a:pPr>
              <a:defRPr sz="1000">
                <a:solidFill>
                  <a:srgbClr val="A1B1CD"/>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1C2948"/>
              </a:solidFill>
            </a:ln>
          </c:spPr>
        </c:majorGridlines>
        <c:majorTickMark val="out"/>
        <c:minorTickMark val="none"/>
        <c:tickLblPos val="nextTo"/>
        <c:spPr>
          <a:ln>
            <a:solidFill>
              <a:srgbClr val="374D73"/>
            </a:solidFill>
          </a:ln>
        </c:spPr>
        <c:txPr>
          <a:bodyPr/>
          <a:lstStyle/>
          <a:p>
            <a:pPr>
              <a:defRPr sz="1000">
                <a:solidFill>
                  <a:srgbClr val="A1B1CD"/>
                </a:solidFill>
              </a:defRPr>
            </a:pPr>
          </a:p>
        </c:txPr>
        <c:crossAx val="-2068027336"/>
        <c:crosses val="autoZero"/>
      </c:valAx>
    </c:plotArea>
    <c:legend>
      <c:legendPos val="b"/>
      <c:overlay val="0"/>
      <c:txPr>
        <a:bodyPr/>
        <a:lstStyle/>
        <a:p>
          <a:pPr>
            <a:defRPr sz="1000">
              <a:solidFill>
                <a:srgbClr val="A1B1CD"/>
              </a:solidFill>
            </a:defRPr>
          </a:pPr>
        </a:p>
      </c:txPr>
    </c:legend>
    <c:dispBlanksAs val="gap"/>
  </c:chart>
  <c:txPr>
    <a:bodyPr/>
    <a:lstStyle/>
    <a:p>
      <a:pPr>
        <a:defRPr sz="1000">
          <a:solidFill>
            <a:srgbClr val="A1B1CD"/>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SLIDE 1 · TITLE · speak for about 20 seconds</a:t>
            </a:r>
          </a:p>
          <a:p/>
          <a:p>
            <a:r>
              <a:t>WHAT TO SAY</a:t>
            </a:r>
          </a:p>
          <a:p>
            <a:r>
              <a:t>"Hi, we're Team Q-Router from Florida Atlantic University. You can now rent quantum computers over the internet, and there are two very different kinds. Q-Router is a traffic controller for scarce quantum time: it sends each piece of a business decision to the right machine, or to a laptop when quantum isn't worth it, and we tested it on a real IBM quantum computer."</a:t>
            </a:r>
          </a:p>
          <a:p/>
          <a:p>
            <a:r>
              <a:t>WHAT'S ON THE SLIDE</a:t>
            </a:r>
          </a:p>
          <a:p>
            <a:r>
              <a:t>The four boxes (Problem → Fingerprint → Router → Method) are the whole project in one line: a decision comes in, we measure its shape, the router picks a computer, and that computer solves it.</a:t>
            </a:r>
          </a:p>
          <a:p/>
          <a:p>
            <a:r>
              <a:t>NUMBERS YOU MAY BE ASKED ABOUT</a:t>
            </a:r>
          </a:p>
          <a:p>
            <a:r>
              <a:t>- ibm_kingston, 156 qubits = the real IBM quantum chip we used; it has 156 qubits (quantum bits), far more than our problems need.</a:t>
            </a:r>
          </a:p>
          <a:p>
            <a:r>
              <a:t>- 7 jobs = we sent work to the real chip 7 separate times; everything else ran on normal computers.</a:t>
            </a:r>
          </a:p>
          <a:p>
            <a:r>
              <a:t>- 10 minutes = all the real quantum computer time our free IBM plan gives us per 28 days. We used only a few minutes.</a:t>
            </a:r>
          </a:p>
          <a:p/>
          <a:p>
            <a:r>
              <a:t>IF A JUDGE ASKS</a:t>
            </a:r>
          </a:p>
          <a:p>
            <a:r>
              <a:t>Q: Explain your project in one sentence to someone with no physics background.</a:t>
            </a:r>
          </a:p>
          <a:p>
            <a:r>
              <a:t>A: "Q-Router decides which kind of computer should solve each part of a hard business decision: one of two kinds of quantum computer, or a normal laptop, and it's honest when the laptop is better."</a:t>
            </a:r>
          </a:p>
          <a:p>
            <a:r>
              <a:t>Q: Who did what?</a:t>
            </a:r>
          </a:p>
          <a:p>
            <a:r>
              <a:t>A: (Fill in real names.) Our coder built the Qiskit program and ran the IBM jobs; the rest of the team framed the drug-funding problem, wrote the use case and limitations, and built this presentation.</a:t>
            </a: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SLIDE 2 · THE PROBLEM · speak for about 40 seconds</a:t>
            </a:r>
          </a:p>
          <a:p/>
          <a:p>
            <a:r>
              <a:t>WHAT TO SAY</a:t>
            </a:r>
          </a:p>
          <a:p>
            <a:r>
              <a:t>"Companies keep making the same kind of decision: pick the best few out of many. Which 4 of 10 drug candidates to fund, which stocks to hold, which medical tests to order. Quantum computers might help, but quantum time is rare and expensive: our free IBM plan gives us 10 minutes a month, and companies pay by the second. There are two kinds of quantum computer, and today's chips make errors, so sending a problem to the wrong machine wastes money and gives a bad answer. Q-Router answers three questions: is quantum worth it, which kind, and for which part of the problem."</a:t>
            </a:r>
          </a:p>
          <a:p/>
          <a:p>
            <a:r>
              <a:t>WHAT EACH NUMBER MEANS</a:t>
            </a:r>
          </a:p>
          <a:p>
            <a:r>
              <a:t>- "4 of 10 drug candidates" = a company has 10 possible medicines in testing and money to develop only 4. Our main example.</a:t>
            </a:r>
          </a:p>
          <a:p>
            <a:r>
              <a:t>- "10 minutes per 28 days" = the total time IBM lets a free account use its real quantum computers. Minutes used today come back only after 28 days.</a:t>
            </a:r>
          </a:p>
          <a:p>
            <a:r>
              <a:t>- "pay by the second" = paying customers are billed for every second of quantum computer use, so wasted runs cost real money.</a:t>
            </a:r>
          </a:p>
          <a:p>
            <a:r>
              <a:t>- 1,024 combinations = with 10 yes/no choices there are 1,024 possible combinations (2 × 2 × ... ten times). With 50 choices it becomes about a quadrillion, which is why these decisions are hard.</a:t>
            </a:r>
          </a:p>
          <a:p/>
          <a:p>
            <a:r>
              <a:t>BACKGROUND</a:t>
            </a:r>
          </a:p>
          <a:p>
            <a:r>
              <a:t>- IBM, D-Wave and Amazon rent out different kinds of quantum computers, and users mostly guess which to use. D-Wave's "hybrid" service already splits work between normal and quantum computers behind the scenes, so deciding where work goes is a real industry need.</a:t>
            </a:r>
          </a:p>
          <a:p>
            <a:r>
              <a:t>- This year's theme, "a decade of quantum on the cloud", is exactly this: shared, scarce quantum machines.</a:t>
            </a:r>
          </a:p>
          <a:p/>
          <a:p>
            <a:r>
              <a:t>IF A JUDGE ASKS</a:t>
            </a:r>
          </a:p>
          <a:p>
            <a:r>
              <a:t>Q: What problem are you solving, and for whom?</a:t>
            </a:r>
          </a:p>
          <a:p>
            <a:r>
              <a:t>A: Knowing when and how to use a quantum computer, so scarce quantum time isn't wasted. For companies paying for quantum time, for the companies renting it out, and for researchers with small budgets.</a:t>
            </a:r>
          </a:p>
          <a:p>
            <a:r>
              <a:t>Q: Is this a real problem if a laptop wins today?</a:t>
            </a:r>
          </a:p>
          <a:p>
            <a:r>
              <a:t>A: Yes. Today the honest answer is usually "use the laptop", and Q-Router says so. As chips improve, choosing which problems and which kind of quantum computer becomes more valuable.</a:t>
            </a:r>
          </a:p>
        </p:txBody>
      </p:sp>
      <p:sp>
        <p:nvSpPr>
          <p:cNvPr id="220" name="Google Shape;22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SLIDE 3 · DECISION → SCORE (QUBO) · speak for about 30 seconds</a:t>
            </a:r>
          </a:p>
          <a:p/>
          <a:p>
            <a:r>
              <a:t>WHAT TO SAY</a:t>
            </a:r>
          </a:p>
          <a:p>
            <a:r>
              <a:t>"First, every decision becomes one shared score sheet called a QUBO. Each yes-or-no choice is one qubit. Each choice has a value, each pair of choices has a risk, and rules like 'fund exactly 4' become a penalty. The lowest score is the best decision. Because every industry uses this same format, one router can serve all of them. Honest note: our tests use 3 to 18 qubits, meaning 3 to 18 yes/no choices; real company decisions need 50 to 200."</a:t>
            </a:r>
          </a:p>
          <a:p/>
          <a:p>
            <a:r>
              <a:t>WHAT EACH NUMBER MEANS</a:t>
            </a:r>
          </a:p>
          <a:p>
            <a:r>
              <a:t>- x1 ... x10 on the slide = ten yes/no choices, for example "fund drug 1?" through "fund drug 10?". Each one becomes one qubit.</a:t>
            </a:r>
          </a:p>
          <a:p>
            <a:r>
              <a:t>- "3-18 qubits" = our test problems had between 3 and 18 yes/no choices.</a:t>
            </a:r>
          </a:p>
          <a:p>
            <a:r>
              <a:t>- "50-200" = how many choices real company decisions have (for example, a big drug company's pipeline). Our tests are much smaller.</a:t>
            </a:r>
          </a:p>
          <a:p>
            <a:r>
              <a:t>- "Lower score = better" = the score sheet adds up good things as negative numbers and bad things as positive numbers, so the smallest total is the best decision.</a:t>
            </a:r>
          </a:p>
          <a:p/>
          <a:p>
            <a:r>
              <a:t>HOW THE DRUG SCORE IS BUILT (if asked)</a:t>
            </a:r>
          </a:p>
          <a:p>
            <a:r>
              <a:t>- Each drug's value = (chance it gets approved) × (sales if approved) − (cost to develop it).</a:t>
            </a:r>
          </a:p>
          <a:p>
            <a:r>
              <a:t>- Approval chances by testing stage: about 8% for early (Phase I) drugs, 15% for middle (Phase II), 55% for late (Phase III). So a late-stage drug is about 7 times more likely to succeed than an early one.</a:t>
            </a:r>
          </a:p>
          <a:p>
            <a:r>
              <a:t>- 0.6 vs 0.1 = how strongly two drugs' success is tied together: 0.6 (strong) if they treat the same disease, 0.1 (weak) if they treat different diseases. Strong ties add risk.</a:t>
            </a:r>
          </a:p>
          <a:p>
            <a:r>
              <a:t>- The rule "fund exactly 4" is a penalty so large that breaking the rule can never improve the score.</a:t>
            </a:r>
          </a:p>
          <a:p>
            <a:r>
              <a:t>- Data: stock prices are real (12 healthcare stocks, 2023-2025); the medical-test data is a real breast-cancer dataset (569 patients); the drug list is made up but uses those real approval rates.</a:t>
            </a:r>
          </a:p>
          <a:p/>
          <a:p>
            <a:r>
              <a:t>IF A JUDGE ASKS</a:t>
            </a:r>
          </a:p>
          <a:p>
            <a:r>
              <a:t>Q: What is a QUBO?</a:t>
            </a:r>
          </a:p>
          <a:p>
            <a:r>
              <a:t>A: A score sheet for yes/no choices: points for each yes and for each pair of yeses; lower is better. Rules become penalties. Every solver in our project reads it.</a:t>
            </a:r>
          </a:p>
        </p:txBody>
      </p:sp>
      <p:sp>
        <p:nvSpPr>
          <p:cNvPr id="278" name="Google Shape;27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SLIDE 4 · THREE SOLVERS · speak for about 40 seconds</a:t>
            </a:r>
          </a:p>
          <a:p/>
          <a:p>
            <a:r>
              <a:t>WHAT TO SAY</a:t>
            </a:r>
          </a:p>
          <a:p>
            <a:r>
              <a:t>"We compare three ways to solve the score sheet. Gate-based QAOA is a short quantum recipe with two tunable dials. The digital anneal copies D-Wave-style annealing on IBM's chip with many small steps: smoother, but more steps that can go wrong. And a normal laptop running simulated annealing scores between 0.95 and 0.98 out of 1, nearly perfect, in about a hundredth of a second. At this size the laptop wins, and we say so."</a:t>
            </a:r>
          </a:p>
          <a:p/>
          <a:p>
            <a:r>
              <a:t>HOW TO READ OUR SCORES: every score is between 0 and 1. 1 = the perfect (true best) answer. 0 = no better than picking at random. So 0.64 means "64% of the way from a random guess to the perfect answer."</a:t>
            </a:r>
          </a:p>
          <a:p/>
          <a:p>
            <a:r>
              <a:t>WHAT EACH NUMBER MEANS</a:t>
            </a:r>
          </a:p>
          <a:p>
            <a:r>
              <a:t>- "1-2 rounds" (gate-based) = the recipe's steps are repeated only once or twice, so it's short.</a:t>
            </a:r>
          </a:p>
          <a:p>
            <a:r>
              <a:t>- "60-120 simulator tries" = to find good dial settings, a program tries 60 to 120 different settings on a normal computer pretending to be quantum (a simulator), never on the real chip.</a:t>
            </a:r>
          </a:p>
          <a:p>
            <a:r>
              <a:t>- "two dials" = two numbers that control the recipe (explained on slide 7).</a:t>
            </a:r>
          </a:p>
          <a:p>
            <a:r>
              <a:t>- "3-6 rounds" (digital anneal) = its steps repeat 3 to 6 times, so it's longer, with more chances for errors.</a:t>
            </a:r>
          </a:p>
          <a:p>
            <a:r>
              <a:t>- "0.95-0.98" (laptop) = on every test problem, the laptop's answers were 95-98% of the way from a random guess to the perfect answer, basically always right.</a:t>
            </a:r>
          </a:p>
          <a:p>
            <a:r>
              <a:t>- "0.01 s" = the laptop takes about one hundredth of a second.</a:t>
            </a:r>
          </a:p>
          <a:p>
            <a:r>
              <a:t>- The yellow banner: "100 link steps at 0.5% error each → 39% chance something went wrong" = each of the chip's linking steps fails 0.5% of the time (1 in 200). Do 100 of them and the chance that ALL succeed is only about 61%, so there's a 39% chance at least one went wrong. Longer recipes are riskier.</a:t>
            </a:r>
          </a:p>
          <a:p/>
          <a:p>
            <a:r>
              <a:t>HOW EACH WORKS (if asked)</a:t>
            </a:r>
          </a:p>
          <a:p>
            <a:r>
              <a:t>- Gate-based recipe: put every qubit in a 50/50 mix of yes and no; nudge each choice by its value; link every pair of choices that affect each other (this linking is "entanglement"); shuffle; repeat; then measure thousands of times. Each measurement ("shot") gives one complete answer.</a:t>
            </a:r>
          </a:p>
          <a:p>
            <a:r>
              <a:t>- Digital anneal: the same building blocks repeated more times on a fixed schedule, imitating a slow "settle into the best answer" process.</a:t>
            </a:r>
          </a:p>
          <a:p/>
          <a:p>
            <a:r>
              <a:t>IF A JUDGE ASKS</a:t>
            </a:r>
          </a:p>
          <a:p>
            <a:r>
              <a:t>Q: Why quantum instead of classical?</a:t>
            </a:r>
          </a:p>
          <a:p>
            <a:r>
              <a:t>A: At this size classical wins, and we show it. Quantum fits the structure (pairs of linked choices match pairs of linked qubits); the open question is whether that pays off for bigger problems on better chips.</a:t>
            </a:r>
          </a:p>
          <a:p>
            <a:r>
              <a:t>Q: Is your annealer real?</a:t>
            </a:r>
          </a:p>
          <a:p>
            <a:r>
              <a:t>A: It's annealing copied onto IBM's gate-based chip; a real D-Wave annealer could plug into the same router.</a:t>
            </a:r>
          </a:p>
        </p:txBody>
      </p:sp>
      <p:sp>
        <p:nvSpPr>
          <p:cNvPr id="374" name="Google Shape;374;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3" name="Google Shape;81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SLIDE 11 · WHAT'S NEXT + TAKEAWAY · speak for about 30 seconds</a:t>
            </a:r>
          </a:p>
          <a:p/>
          <a:p>
            <a:r>
              <a:t>WHAT TO SAY</a:t>
            </a:r>
          </a:p>
          <a:p>
            <a:r>
              <a:t>"Next: repeat the real-chip runs to see how much results vary, use real drug-trial data, add a real D-Wave annealer as a third option, and wait for chips with 10 to 100 times fewer errors and 50 to 200 usable qubits, which is roughly what it would take for quantum to compete. Our takeaway: shape decides the solver. Dense goes to gate-based, sparse goes to annealing. And today the laptop still wins, and Q-Router knows when. Thank you, we'd love your questions."</a:t>
            </a:r>
          </a:p>
          <a:p/>
          <a:p>
            <a:r>
              <a:t>WHAT EACH NUMBER MEANS</a:t>
            </a:r>
          </a:p>
          <a:p>
            <a:r>
              <a:t>- "10-100× fewer errors" = today's chips would need to make 10 to 100 times fewer mistakes per step before quantum could compete with a laptop on these problems.</a:t>
            </a:r>
          </a:p>
          <a:p>
            <a:r>
              <a:t>- "50-200 usable qubits" = enough working qubits for real-size decisions (50 to 200 yes/no choices), plus extra for the chip's wiring.</a:t>
            </a:r>
          </a:p>
          <a:p>
            <a:r>
              <a:t>- "Option 3" = a real D-Wave annealer would become a third quantum choice the router can pick, alongside gate-based and our copied annealing.</a:t>
            </a:r>
          </a:p>
          <a:p/>
          <a:p>
            <a:r>
              <a:t>WHAT'S NEW IN OUR PROJECT (for the novelty question)</a:t>
            </a:r>
          </a:p>
          <a:p>
            <a:r>
              <a:t>1. Choosing gate-based or annealing piece by piece inside one problem, tested on real hardware.</a:t>
            </a:r>
          </a:p>
          <a:p>
            <a:r>
              <a:t>2. Copying quantum settings across real industries, with a fair random comparison proving the shape match matters.</a:t>
            </a:r>
          </a:p>
          <a:p>
            <a:r>
              <a:t>3. A fingerprint that includes the real chip's error rates.</a:t>
            </a:r>
          </a:p>
          <a:p>
            <a:r>
              <a:t>4. Measured savings: 4× fewer quantum measurements, 1 job instead of 4.</a:t>
            </a:r>
          </a:p>
          <a:p>
            <a:r>
              <a:t>Each ingredient has prior work; the combination and the cross-industry test on hardware are ours. Say "we didn't find prior work testing this", never "first ever".</a:t>
            </a:r>
          </a:p>
          <a:p/>
          <a:p>
            <a:r>
              <a:t>HONEST LIMITS</a:t>
            </a:r>
          </a:p>
          <a:p>
            <a:r>
              <a:t>No quantum advantage (the laptop wins); our tests are tiny (3-18 choices vs 50-200 real); our annealing is a copy on IBM's chip; the drug data is made up; each hardware test ran once; IBM's error fixes hurt long recipes.</a:t>
            </a:r>
          </a:p>
          <a:p/>
          <a:p>
            <a:r>
              <a:t>WHAT WE LEARNED</a:t>
            </a:r>
          </a:p>
          <a:p>
            <a:r>
              <a:t>- Honest scoring matters: an early version made everything look 99% good and hid a bug. The bug made our recipes search for the WORST answer: the score was −1.37 (worse than random guessing) until we fixed one sign, after which it was 0.79 (79% of the way to perfect).</a:t>
            </a:r>
          </a:p>
          <a:p>
            <a:r>
              <a:t>- The best quantum method depends on the problem's shape and the chip's errors, not on theory.</a:t>
            </a:r>
          </a:p>
          <a:p>
            <a:r>
              <a:t>- How to run real experiments with only 10 minutes: tune on simulators, batch jobs, test on a fake chip first.</a:t>
            </a:r>
          </a:p>
          <a:p/>
          <a:p>
            <a:r>
              <a:t>IF A JUDGE ASKS</a:t>
            </a:r>
          </a:p>
          <a:p>
            <a:r>
              <a:t>Q: What would you do with another month?</a:t>
            </a:r>
          </a:p>
          <a:p>
            <a:r>
              <a:t>A: Repeat hardware runs to measure variation, try bigger recipes where copying settings saves more, add a real D-Wave, use real drug data, and improve our error model for long recipes.</a:t>
            </a:r>
          </a:p>
          <a:p>
            <a:r>
              <a:t>Q: What surprised you?</a:t>
            </a:r>
          </a:p>
          <a:p>
            <a:r>
              <a:t>A: That IBM's error fixes made long circuits worse, and that copying settings from a random problem helps not at all.</a:t>
            </a:r>
          </a:p>
        </p:txBody>
      </p:sp>
      <p:sp>
        <p:nvSpPr>
          <p:cNvPr id="814" name="Google Shape;81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5 · HOW SHAPES ARE BUILT · speak for about 40 seconds</a:t>
            </a:r>
          </a:p>
          <a:p/>
          <a:p>
            <a:r>
              <a:t>WHAT TO SAY</a:t>
            </a:r>
          </a:p>
          <a:p>
            <a:r>
              <a:t>"How does the router see a problem? We draw a connection map: one dot per choice, and a line wherever two choices affect each other. Drug funding is fully connected, because 'fund exactly 4' ties every drug to every other one. A trial-site network is sparse: each site touches only its neighbors. We measure the map, then fit the quantum recipe onto IBM's real chip and count its error-prone steps. Those nine numbers are the problem's fingerprint. An AI trained on 60 practice problems, each solved three ways on a simulator, learned which solver scores best for which fingerprint."</a:t>
            </a:r>
          </a:p>
          <a:p/>
          <a:p>
            <a:r>
              <a:t>WHAT EACH NUMBER MEANS</a:t>
            </a:r>
          </a:p>
          <a:p>
            <a:r>
              <a:t>- "15 of 15 lines, density 1.00" (drug map) = 6 drugs can be paired 15 different ways, and all 15 pairs are linked. Density = lines drawn ÷ lines possible, so 15 ÷ 15 = 1.00 = 100% connected (dense).</a:t>
            </a:r>
          </a:p>
          <a:p>
            <a:r>
              <a:t>- "6 of 15 lines, density 0.40" (network map) = only 6 of the 15 possible pairs are linked, so 6 ÷ 15 = 0.40 = 40% connected (sparse).</a:t>
            </a:r>
          </a:p>
          <a:p>
            <a:r>
              <a:t>- "Nine numbers" = the fingerprint. Five describe the map: (1) how many choices, (2) density, (3) average links per choice, (4) most links on any one choice, (5) how spread out the score sheet's numbers are. Four describe running on IBM's chip: (6) chance the gate-based recipe runs with zero errors, (7) the same for annealing, (8) number of linking steps, (9) how many steps long the recipe is.</a:t>
            </a:r>
          </a:p>
          <a:p>
            <a:r>
              <a:t>- "Chance of zero errors" = we multiply together the success chance of every single step, using IBM's measured error rate for each part of the chip.</a:t>
            </a:r>
          </a:p>
          <a:p>
            <a:r>
              <a:t>- "60 practice problems" = small made-up problems from our four industries that the AI learns from. They ran only on a simulator.</a:t>
            </a:r>
          </a:p>
          <a:p>
            <a:r>
              <a:t>- "solved 3 ways" = each practice problem was solved by gate-based, annealing, and the laptop, and we recorded each score.</a:t>
            </a:r>
          </a:p>
          <a:p>
            <a:r>
              <a:t>- "Random forest" = the AI: 300 small yes/no flowcharts that each make a guess, then vote. "300" is just how many flowcharts vote.</a:t>
            </a:r>
          </a:p>
          <a:p>
            <a:r>
              <a:t>- "0.5" = the router's bar: if no quantum option is predicted to get at least halfway from a random guess to the perfect answer, it sends the problem to the laptop.</a:t>
            </a:r>
          </a:p>
          <a:p>
            <a:r>
              <a:t>- "53%" (if asked) = of everything the AI uses to decide, 53% of its decisions rely on number 7, the annealing recipe's chance of zero errors. It learned on its own that this matters most.</a:t>
            </a:r>
          </a:p>
          <a:p/>
          <a:p>
            <a:r>
              <a:t>IF A JUDGE ASKS</a:t>
            </a:r>
          </a:p>
          <a:p>
            <a:r>
              <a:t>Q: How does it decide the shape of a piece?</a:t>
            </a:r>
          </a:p>
          <a:p>
            <a:r>
              <a:t>A: From nine measured numbers; nobody labels a problem "dense". The AI learns what the numbers mean.</a:t>
            </a:r>
          </a:p>
          <a:p>
            <a:r>
              <a:t>Q: Were the 60 practice problems run on the real chip?</a:t>
            </a:r>
          </a:p>
          <a:p>
            <a:r>
              <a:t>A: No, on a simulator. The real chip was used for our final tests (slides 9 and 10).</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6 · PATTERN RECOGNITION · speak for about 35 seconds</a:t>
            </a:r>
          </a:p>
          <a:p/>
          <a:p>
            <a:r>
              <a:t>WHAT TO SAY</a:t>
            </a:r>
          </a:p>
          <a:p>
            <a:r>
              <a:t>"This is the pattern recognition. Each dot is one of our 60 practice problems, placed by its nine-number fingerprint, so problems with similar shapes land close together. Stocks and drug funding cluster together, because both are fully connected. Networks and medical tests mix together, because both are loosely connected. So the shape of a problem, not its industry, decides which solver fits, and what we learn in one industry carries over to another."</a:t>
            </a:r>
          </a:p>
          <a:p/>
          <a:p>
            <a:r>
              <a:t>WHAT EACH NUMBER MEANS</a:t>
            </a:r>
          </a:p>
          <a:p>
            <a:r>
              <a:t>- Each dot = one practice problem. The numbers in the legend, Stocks (11), Drugs (16), Medical tests (15), Networks (18), = how many of the 60 practice problems came from each industry (11 + 16 + 15 + 18 = 60).</a:t>
            </a:r>
          </a:p>
          <a:p>
            <a:r>
              <a:t>- The axes (−6 to 6, −3 to 3) have NO units. A computer squashes the nine fingerprint numbers down to two so we can draw them (a method called PCA). Only the distance between dots matters: close = similar shape.</a:t>
            </a:r>
          </a:p>
          <a:p/>
          <a:p>
            <a:r>
              <a:t>SUPPORTING NUMBERS (if asked)</a:t>
            </a:r>
          </a:p>
          <a:p>
            <a:r>
              <a:t>- We trained the AI on three industries and tested it on the fourth, which it had never seen, four times (once per industry).</a:t>
            </a:r>
          </a:p>
          <a:p>
            <a:r>
              <a:t>- "72-100%" = on the unseen industry, the AI still picked the better quantum computer between 72% and 100% of the time.</a:t>
            </a:r>
          </a:p>
          <a:p>
            <a:r>
              <a:t>- "0.01-0.05" = its predicted scores were off by only 0.01 to 0.05 on our 0-to-1 scale, i.e. 1 to 5 points out of 100.</a:t>
            </a:r>
          </a:p>
          <a:p>
            <a:r>
              <a:t>- Networks were hardest to predict (72%), because they differ most from the other three industries.</a:t>
            </a:r>
          </a:p>
          <a:p/>
          <a:p>
            <a:r>
              <a:t>IF A JUDGE ASKS</a:t>
            </a:r>
          </a:p>
          <a:p>
            <a:r>
              <a:t>Q: What does "pattern recognition" mean here?</a:t>
            </a:r>
          </a:p>
          <a:p>
            <a:r>
              <a:t>A: Two things: the AI learns which solver fits which fingerprint, and we find each problem's closest-shaped "twin" to reuse its settings (next slide). Both work across industries because the shapes overlap.</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7 · WHERE THE DIALS COME FROM · speak for about 45 seconds</a:t>
            </a:r>
          </a:p>
          <a:p/>
          <a:p>
            <a:r>
              <a:t>WHAT TO SAY</a:t>
            </a:r>
          </a:p>
          <a:p>
            <a:r>
              <a:t>"The gate-based recipe has two dials, two numbers that normally take about 60 tries to tune. Here's where ours come from: we tuned each of our 60 practice problems once, on a simulator, at no quantum cost, and saved the dials in a library next to each problem's shape. When a new problem arrives, Q-Router finds the closest shape from a different industry and copies its dials, then runs once. Copied dials scored 0.60 out of 1, close to 0.63 for full tuning, while copying from a random problem scored 0.58, no better than no tuning. So it's the shape match that works: about a third of the benefit of tuning, for one sixtieth of the effort."</a:t>
            </a:r>
          </a:p>
          <a:p/>
          <a:p>
            <a:r>
              <a:t>HOW TO READ OUR SCORES: every score is between 0 and 1. 1 = the perfect (true best) answer. 0 = no better than picking at random. So 0.64 means "64% of the way from a random guess to the perfect answer."</a:t>
            </a:r>
          </a:p>
          <a:p/>
          <a:p>
            <a:r>
              <a:t>WHAT EACH NUMBER MEANS</a:t>
            </a:r>
          </a:p>
          <a:p>
            <a:r>
              <a:t>- "Two dials" = two numbers that set the recipe: gamma (γ), how hard to push each choice toward its value and pull linked choices together, and beta (β), how much to shuffle answers. Example setting: β = 0.35, γ = −0.42.</a:t>
            </a:r>
          </a:p>
          <a:p>
            <a:r>
              <a:t>- "~60 tries" = finding good dial values by trial and error takes about 60 test runs per problem.</a:t>
            </a:r>
          </a:p>
          <a:p>
            <a:r>
              <a:t>- "60 practice problems" = the library. Each one was tuned once on a simulator (a normal computer), and its best two numbers were saved with its shape.</a:t>
            </a:r>
          </a:p>
          <a:p>
            <a:r>
              <a:t>- "1 try instead of 60" = copying means running the recipe once instead of about 60 times. That's 1/60 of the effort.</a:t>
            </a:r>
          </a:p>
          <a:p/>
          <a:p>
            <a:r>
              <a:t>THE BAR CHART (longer bar = better answer)</a:t>
            </a:r>
          </a:p>
          <a:p>
            <a:r>
              <a:t>- 0.633 "Tuned from scratch (60 tries)" = the best you can do: the answers averaged 63% of the way from random to perfect. Costs about 60 runs.</a:t>
            </a:r>
          </a:p>
          <a:p>
            <a:r>
              <a:t>- 0.599 "Copied from twin (1 try)" = our method: 60% of the way, for 1 run.</a:t>
            </a:r>
          </a:p>
          <a:p>
            <a:r>
              <a:t>- 0.577 "Copied from random (1 try)" = the fair comparison: same cost, also from another industry, but not matched by shape. 58%.</a:t>
            </a:r>
          </a:p>
          <a:p>
            <a:r>
              <a:t>- 0.581 "Default dials (1 try)" = a generic setting, no learning at all. 58%.</a:t>
            </a:r>
          </a:p>
          <a:p>
            <a:r>
              <a:t>- "A third of tuning's gain" = full tuning raises the score from 0.581 (no learning) to 0.633, a gain of 0.052. Copying from a twin raises it to 0.599, a gain of 0.018. 0.018 ÷ 0.052 ≈ 0.35, so about a third of the benefit of tuning, for 1 run instead of about 60.</a:t>
            </a:r>
          </a:p>
          <a:p>
            <a:r>
              <a:t>- "± 0.02" (under the chart) = how much these averages could wobble just by chance; the differences between bars are bigger than random wobble.</a:t>
            </a:r>
          </a:p>
          <a:p/>
          <a:p>
            <a:r>
              <a:t>THE TABLE (same four methods, by industry)</a:t>
            </a:r>
          </a:p>
          <a:p>
            <a:r>
              <a:t>- Stocks: tuned 0.736, twin 0.737 = copying worked as well as full tuning.</a:t>
            </a:r>
          </a:p>
          <a:p>
            <a:r>
              <a:t>- Drugs: tuned 0.749, twin 0.737 = copying was almost as good.</a:t>
            </a:r>
          </a:p>
          <a:p>
            <a:r>
              <a:t>- Medical tests: twin 0.532 vs default 0.555 = copying did NOT help here; it was slightly worse than no learning. We say that honestly.</a:t>
            </a:r>
          </a:p>
          <a:p>
            <a:r>
              <a:t>- Networks: twin 0.448 vs default 0.434 = a small gain.</a:t>
            </a:r>
          </a:p>
          <a:p/>
          <a:p>
            <a:r>
              <a:t>THE YELLOW BANNER</a:t>
            </a:r>
          </a:p>
          <a:p>
            <a:r>
              <a:t>"0.599 vs 0.577" = twin 0.599 vs random copy 0.577: = copying from a similar shape beat copying from a random problem. Across all 60 problems, the twin won 65% of the time (about 2 out of 3).</a:t>
            </a:r>
          </a:p>
          <a:p/>
          <a:p>
            <a:r>
              <a:t>IF A JUDGE ASKS</a:t>
            </a:r>
          </a:p>
          <a:p>
            <a:r>
              <a:t>Q: Where do the copied dials come from?</a:t>
            </a:r>
          </a:p>
          <a:p>
            <a:r>
              <a:t>A: From our library: each of the 60 practice problems was tuned once on a simulator and its best two numbers were saved with its shape.</a:t>
            </a:r>
          </a:p>
          <a:p>
            <a:r>
              <a:t>Q: Hasn't this been done before?</a:t>
            </a:r>
          </a:p>
          <a:p>
            <a:r>
              <a:t>A: Copying settings between similar math problems has been done, and a 2025 study did it across problem types. Ours tests it across real industry decisions with real data, with a fair random comparison, and combines it with routing and packing.</a:t>
            </a:r>
          </a:p>
          <a:p>
            <a:r>
              <a:t>Q: Why does copying work?</a:t>
            </a:r>
          </a:p>
          <a:p>
            <a:r>
              <a:t>A: Every score sheet is rescaled to the same size, so problems with similar shapes need similar dial settings.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8 · MANY PROBLEMS, ONE RUN · speak for about 40 seconds</a:t>
            </a:r>
          </a:p>
          <a:p/>
          <a:p>
            <a:r>
              <a:t>WHAT TO SAY</a:t>
            </a:r>
          </a:p>
          <a:p>
            <a:r>
              <a:t>"Second payoff: problems with the same shape can share one run. We took four problems from four industries and grouped them into two shape families. We tuned only the most typical problem in each family and let the others copy its dials, then packed all four side by side into a single job on the chip. Compared with the normal way, that's half the tuning, one chip job instead of four, and four times fewer quantum measurements, which is what you pay for. We kept 96% of the quality in simulation and 90% on the real IBM chip."</a:t>
            </a:r>
          </a:p>
          <a:p/>
          <a:p>
            <a:r>
              <a:t>HOW TO READ OUR SCORES: every score is between 0 and 1. 1 = the perfect (true best) answer. 0 = no better than picking at random. So 0.64 means "64% of the way from a random guess to the perfect answer."</a:t>
            </a:r>
          </a:p>
          <a:p/>
          <a:p>
            <a:r>
              <a:t>WHAT EACH NUMBER MEANS</a:t>
            </a:r>
          </a:p>
          <a:p>
            <a:r>
              <a:t>- "4 problems, 2 shape families" = stocks, drugs and network were similar enough to share settings (family 1); medical tests was different (family 2).</a:t>
            </a:r>
          </a:p>
          <a:p>
            <a:r>
              <a:t>- "16 qubits" = the four problems used 4 qubits each, placed side by side: 4 × 4 = 16 qubits in one job.</a:t>
            </a:r>
          </a:p>
          <a:p/>
          <a:p>
            <a:r>
              <a:t>THE GREEN BARS: "Q-Router as % of normal" (shorter = better; 100% would mean no saving)</a:t>
            </a:r>
          </a:p>
          <a:p>
            <a:r>
              <a:t>- Problems tuned 50% = we tuned 2 problems instead of 4.</a:t>
            </a:r>
          </a:p>
          <a:p>
            <a:r>
              <a:t>- Tuning runs 48% = 55 tuning tries instead of 114 (about half).</a:t>
            </a:r>
          </a:p>
          <a:p>
            <a:r>
              <a:t>- Chip jobs 25% = 1 trip to the quantum computer instead of 4.</a:t>
            </a:r>
          </a:p>
          <a:p>
            <a:r>
              <a:t>- Quantum shots 25% = 4,096 measurements instead of 16,384. A "shot" is one measurement of the chip giving one answer; shots are what use up quantum time. 4× fewer shots = 4× less quantum time.</a:t>
            </a:r>
          </a:p>
          <a:p/>
          <a:p>
            <a:r>
              <a:t>THE TABLE (average score of the 4 problems)</a:t>
            </a:r>
          </a:p>
          <a:p>
            <a:r>
              <a:t>- Simulation: 0.524 (each tuned alone) → 0.504 (shared settings, packed together). 0.504 ÷ 0.524 = 96% of the quality kept.</a:t>
            </a:r>
          </a:p>
          <a:p>
            <a:r>
              <a:t>- Real ibm_kingston chip: 0.528 → 0.475. 0.475 ÷ 0.528 = 90% of the quality kept.</a:t>
            </a:r>
          </a:p>
          <a:p>
            <a:r>
              <a:t>- Where the loss came from: almost all from the network problem, whose settings were borrowed from the finance problems (it dropped from about 0.58 to 0.42).</a:t>
            </a:r>
          </a:p>
          <a:p>
            <a:r>
              <a:t>- Packing itself costs very little: when we packed three industries on the real chip (a separate test), each one's score dropped by only 0.01-0.03 (1 to 3 points out of 100) compared with running alone.</a:t>
            </a:r>
          </a:p>
          <a:p/>
          <a:p>
            <a:r>
              <a:t>IF A JUDGE ASKS</a:t>
            </a:r>
          </a:p>
          <a:p>
            <a:r>
              <a:t>Q: Could you pack 20 problems?</a:t>
            </a:r>
          </a:p>
          <a:p>
            <a:r>
              <a:t>A: The chip has 156 qubits, so more would fit, but more neighbors means more interference. We measured only 1-3 points of interference with three problems; scaling up is a next step.</a:t>
            </a:r>
          </a:p>
          <a:p>
            <a:r>
              <a:t>Q: Is losing 10% worth it?</a:t>
            </a:r>
          </a:p>
          <a:p>
            <a:r>
              <a:t>A: For exploring with scarce quantum time, yes: 4× less quantum time for a small loss in quality.</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9 · GATE-BASED VS. ANNEALING, PIECE BY PIECE · speak for about 45 seconds</a:t>
            </a:r>
          </a:p>
          <a:p/>
          <a:p>
            <a:r>
              <a:t>WHAT TO SAY</a:t>
            </a:r>
          </a:p>
          <a:p>
            <a:r>
              <a:t>"Now the key comparison, on the real IBM chip. We split one decision, drug funding plus clinical-trial sites, into three pieces and ran both quantum computers on every piece. Gate-based wins the dense drug piece: 0.55 versus 0.34. Annealing wins both loosely connected trial-site pieces: 0.42 versus 0.38, and 0.73 versus 0.41. Annealing needs about seven times more error-prone linking steps, so it only pays off where choices are loosely linked. Q-Router's mix scores 0.55, beating all gate-based at 0.45 and all annealing at 0.49."</a:t>
            </a:r>
          </a:p>
          <a:p/>
          <a:p>
            <a:r>
              <a:t>HOW TO READ OUR SCORES: every score is between 0 and 1. 1 = the perfect (true best) answer. 0 = no better than picking at random. So 0.64 means "64% of the way from a random guess to the perfect answer."</a:t>
            </a:r>
          </a:p>
          <a:p/>
          <a:p>
            <a:r>
              <a:t>THE BAR CHART (blue = gate-based, pink = annealing; taller = better)</a:t>
            </a:r>
          </a:p>
          <a:p>
            <a:r>
              <a:t>- "Drug funding (8, dense)" = a piece with 8 yes/no choices where every choice affects every other. Gate-based 0.55 vs annealing 0.34 → gate-based wins clearly.</a:t>
            </a:r>
          </a:p>
          <a:p>
            <a:r>
              <a:t>- "Trial sites A (7, sparse)" = 7 choices, each affecting only a few others. Gate 0.38 vs annealing 0.42 → annealing wins narrowly.</a:t>
            </a:r>
          </a:p>
          <a:p>
            <a:r>
              <a:t>- "Trial sites B (3, small)" = only 3 choices. Gate 0.41 vs annealing 0.73 → annealing wins big.</a:t>
            </a:r>
          </a:p>
          <a:p/>
          <a:p>
            <a:r>
              <a:t>THE STRATEGY BARS ("average score by strategy", averaged over the 3 pieces)</a:t>
            </a:r>
          </a:p>
          <a:p>
            <a:r>
              <a:t>- All gate-based 0.45 = use gate-based on every piece.</a:t>
            </a:r>
          </a:p>
          <a:p>
            <a:r>
              <a:t>- All annealing 0.49 = use annealing on every piece.</a:t>
            </a:r>
          </a:p>
          <a:p>
            <a:r>
              <a:t>- Q-Router's mix 0.55 = use whichever the router picked for each piece. Mixing is best.</a:t>
            </a:r>
          </a:p>
          <a:p/>
          <a:p>
            <a:r>
              <a:t>OTHER NUMBERS</a:t>
            </a:r>
          </a:p>
          <a:p>
            <a:r>
              <a:t>- "About 7× more linking steps" = on the drug piece, the annealing recipe needed roughly seven times as many of the chip's error-prone linking steps as gate-based.</a:t>
            </a:r>
          </a:p>
          <a:p>
            <a:r>
              <a:t>- The router chose correctly on 2 of the 3 pieces. It picked gate-based for trial sites A, where annealing was slightly better.</a:t>
            </a:r>
          </a:p>
          <a:p>
            <a:r>
              <a:t>- Across our 60 practice problems (simulation): annealing beat gate-based on 0 of 11 stock problems and 2 of 16 drug problems (both fully connected), but on 4 of 15 medical-test problems and 10 of 18 network problems (looser). The same pattern: dense → gate-based, sparse → annealing.</a:t>
            </a:r>
          </a:p>
          <a:p/>
          <a:p>
            <a:r>
              <a:t>IF A JUDGE ASKS</a:t>
            </a:r>
          </a:p>
          <a:p>
            <a:r>
              <a:t>Q: When was each type of quantum computer effective?</a:t>
            </a:r>
          </a:p>
          <a:p>
            <a:r>
              <a:t>A: Gate-based on tightly connected pieces, annealing on loosely connected ones, and mixing them per piece beats either one alone.</a:t>
            </a:r>
          </a:p>
          <a:p>
            <a:r>
              <a:t>Q: Is one example enough?</a:t>
            </a:r>
          </a:p>
          <a:p>
            <a:r>
              <a:t>A: This one shows it clearly on real hardware; the 60 practice problems show the same pattern statistically.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10 · REAL IBM HARDWARE · speak for about 40 seconds</a:t>
            </a:r>
          </a:p>
          <a:p/>
          <a:p>
            <a:r>
              <a:t>WHAT TO SAY</a:t>
            </a:r>
          </a:p>
          <a:p>
            <a:r>
              <a:t>"Finally, the full real-hardware test on IBM's 156-qubit ibm_kingston. We ran our drug problem, choosing 3 of 8 drugs, four ways. On a perfect simulator with no errors, annealing beats gate-based: 0.80 versus 0.72. On the real chip it flips: gate-based 0.64, annealing 0.55, because annealing needs about six times more error-prone steps. That's exactly why a router is needed. The chip's most common answer was a good set, not the best, but the true best showed up in every run, two to three times more often than random guessing. IBM's error fixes actually made scores worse. Overall: on the real chip gate-based beat annealing, and the laptop beat both."</a:t>
            </a:r>
          </a:p>
          <a:p/>
          <a:p>
            <a:r>
              <a:t>HOW TO READ OUR SCORES: every score is between 0 and 1. 1 = the perfect (true best) answer. 0 = no better than picking at random. So 0.64 means "64% of the way from a random guess to the perfect answer."</a:t>
            </a:r>
          </a:p>
          <a:p/>
          <a:p>
            <a:r>
              <a:t>THE BAR CHART (four bars per method, from ideal to real)</a:t>
            </a:r>
          </a:p>
          <a:p>
            <a:r>
              <a:t>- Green "Perfect simulator" = a normal computer pretending to be a flawless quantum computer. Gate 0.72, annealing 0.80.</a:t>
            </a:r>
          </a:p>
          <a:p>
            <a:r>
              <a:t>- Purple "Copy of chip (errors)" = the simulator imitating ibm_kingston's errors, using IBM's measurements. Gate 0.67, annealing 0.67. This was our prediction.</a:t>
            </a:r>
          </a:p>
          <a:p>
            <a:r>
              <a:t>- Blue "Real chip, raw" = the actual quantum computer. Gate 0.64 (64% of the way to perfect), annealing 0.55 (55%).</a:t>
            </a:r>
          </a:p>
          <a:p>
            <a:r>
              <a:t>- Pink "Real chip + fixes" = the real chip with IBM's error-reducing tricks turned on. Gate 0.58, annealing 0.36. The fixes made it worse.</a:t>
            </a:r>
          </a:p>
          <a:p>
            <a:r>
              <a:t>- Laptop 0.93 = the normal computer's answers were 93% of the way to perfect.</a:t>
            </a:r>
          </a:p>
          <a:p/>
          <a:p>
            <a:r>
              <a:t>OTHER NUMBERS</a:t>
            </a:r>
          </a:p>
          <a:p>
            <a:r>
              <a:t>- "8 drugs, fund 3" = 8 candidates, money for 3. There are 56 possible groups of 3 (and 256 combinations if you don't follow the rule).</a:t>
            </a:r>
          </a:p>
          <a:p>
            <a:r>
              <a:t>- "About 6× more steps" = the annealing recipe used 658 linking steps vs 102 for gate-based.</a:t>
            </a:r>
          </a:p>
          <a:p>
            <a:r>
              <a:t>- "4,096 answers" = each run measured the chip 4,096 times; each measurement is one complete answer (one set of drugs).</a:t>
            </a:r>
          </a:p>
          <a:p>
            <a:r>
              <a:t>- True best set = onco-II-0, immu-III-2, card-III-3. (Names = disease area, testing phase, candidate number: e.g. onco-II-0 = a cancer drug in Phase II, candidate #0.)</a:t>
            </a:r>
          </a:p>
          <a:p>
            <a:r>
              <a:t>- "2-3× more often than random" = the true best set came up in about 1% of the chip's 4,096 answers (0.7-1.1%), while a random guess would hit it only 0.4% of the time (1 in 256).</a:t>
            </a:r>
          </a:p>
          <a:p>
            <a:r>
              <a:t>- Prediction check: our copy-of-chip predicted gate-based 0.67 and the real chip gave 0.64 (close). For annealing it predicted 0.67 and the real chip gave 0.55 (too optimistic): long recipes suffer extra errors our model misses.</a:t>
            </a:r>
          </a:p>
          <a:p>
            <a:r>
              <a:t>- "Packing 3 problems cost only 0.01-0.03" = running three industries side by side on the real chip lowered each one's score by just 1-3 points out of 100.</a:t>
            </a:r>
          </a:p>
          <a:p/>
          <a:p>
            <a:r>
              <a:t>IF A JUDGE ASKS</a:t>
            </a:r>
          </a:p>
          <a:p>
            <a:r>
              <a:t>Q: Simulator vs. hardware: what did you learn?</a:t>
            </a:r>
          </a:p>
          <a:p>
            <a:r>
              <a:t>A: The ranking held on the real chip (gate-based wins dense problems), the chip was worse than our model for long recipes, and IBM's error fixes didn't help here.</a:t>
            </a:r>
          </a:p>
          <a:p>
            <a:r>
              <a:t>Q: Did you get a solution?</a:t>
            </a:r>
          </a:p>
          <a:p>
            <a:r>
              <a:t>A: Yes: the true best set was among the chip's answers in every run, but its most common answer wasn't it. A laptop finds the best set every time, which is why we claim no quantum advantage.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hart" Target="../charts/char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816"/>
        </a:solidFill>
      </p:bgPr>
    </p:bg>
    <p:spTree>
      <p:nvGrpSpPr>
        <p:cNvPr id="84" name="Shape 84"/>
        <p:cNvGrpSpPr/>
        <p:nvPr/>
      </p:nvGrpSpPr>
      <p:grpSpPr>
        <a:xfrm>
          <a:off x="0" y="0"/>
          <a:ext cx="0" cy="0"/>
          <a:chOff x="0" y="0"/>
          <a:chExt cx="0" cy="0"/>
        </a:xfrm>
      </p:grpSpPr>
      <p:cxnSp>
        <p:nvCxnSpPr>
          <p:cNvPr id="85" name="Google Shape;85;p1"/>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6" name="Google Shape;86;p1"/>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7" name="Google Shape;87;p1"/>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8" name="Google Shape;88;p1"/>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9" name="Google Shape;89;p1"/>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90" name="Google Shape;90;p1"/>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91" name="Google Shape;91;p1"/>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92" name="Google Shape;92;p1"/>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93" name="Google Shape;93;p1"/>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94" name="Google Shape;94;p1"/>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95" name="Google Shape;95;p1"/>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96" name="Google Shape;96;p1"/>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97" name="Google Shape;97;p1"/>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98" name="Google Shape;98;p1"/>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99" name="Google Shape;99;p1"/>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100" name="Google Shape;100;p1"/>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101" name="Google Shape;101;p1"/>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102" name="Google Shape;102;p1"/>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103" name="Google Shape;103;p1"/>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104" name="Google Shape;104;p1"/>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105" name="Google Shape;105;p1"/>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 name="Google Shape;106;p1"/>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1"/>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108" name="Google Shape;108;p1"/>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109" name="Google Shape;109;p1"/>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110" name="Google Shape;110;p1"/>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111" name="Google Shape;111;p1"/>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01</a:t>
            </a:r>
            <a:endParaRPr/>
          </a:p>
        </p:txBody>
      </p:sp>
      <p:cxnSp>
        <p:nvCxnSpPr>
          <p:cNvPr id="112" name="Google Shape;112;p1"/>
          <p:cNvCxnSpPr/>
          <p:nvPr/>
        </p:nvCxnSpPr>
        <p:spPr>
          <a:xfrm flipH="1" rot="10800000">
            <a:off x="6318789" y="3969608"/>
            <a:ext cx="719382" cy="705440"/>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13" name="Google Shape;113;p1"/>
          <p:cNvCxnSpPr/>
          <p:nvPr/>
        </p:nvCxnSpPr>
        <p:spPr>
          <a:xfrm>
            <a:off x="7492181" y="3596301"/>
            <a:ext cx="431499" cy="170802"/>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14" name="Google Shape;114;p1"/>
          <p:cNvCxnSpPr/>
          <p:nvPr/>
        </p:nvCxnSpPr>
        <p:spPr>
          <a:xfrm flipH="1" rot="10800000">
            <a:off x="7492181" y="3029682"/>
            <a:ext cx="791242" cy="566619"/>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15" name="Google Shape;115;p1"/>
          <p:cNvCxnSpPr/>
          <p:nvPr/>
        </p:nvCxnSpPr>
        <p:spPr>
          <a:xfrm flipH="1">
            <a:off x="7038171" y="3596301"/>
            <a:ext cx="454010" cy="373307"/>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16" name="Google Shape;116;p1"/>
          <p:cNvCxnSpPr/>
          <p:nvPr/>
        </p:nvCxnSpPr>
        <p:spPr>
          <a:xfrm flipH="1" rot="10800000">
            <a:off x="7923680" y="3029682"/>
            <a:ext cx="359743" cy="737421"/>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17" name="Google Shape;117;p1"/>
          <p:cNvCxnSpPr/>
          <p:nvPr/>
        </p:nvCxnSpPr>
        <p:spPr>
          <a:xfrm flipH="1">
            <a:off x="7038171" y="3767103"/>
            <a:ext cx="885509" cy="202505"/>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18" name="Google Shape;118;p1"/>
          <p:cNvCxnSpPr/>
          <p:nvPr/>
        </p:nvCxnSpPr>
        <p:spPr>
          <a:xfrm flipH="1" rot="10800000">
            <a:off x="7167871" y="1497679"/>
            <a:ext cx="200400" cy="854080"/>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19" name="Google Shape;119;p1"/>
          <p:cNvCxnSpPr/>
          <p:nvPr/>
        </p:nvCxnSpPr>
        <p:spPr>
          <a:xfrm rot="10800000">
            <a:off x="7149069" y="1736020"/>
            <a:ext cx="18802" cy="615739"/>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20" name="Google Shape;120;p1"/>
          <p:cNvCxnSpPr/>
          <p:nvPr/>
        </p:nvCxnSpPr>
        <p:spPr>
          <a:xfrm flipH="1" rot="10800000">
            <a:off x="7167871" y="2345664"/>
            <a:ext cx="900673" cy="6095"/>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21" name="Google Shape;121;p1"/>
          <p:cNvCxnSpPr/>
          <p:nvPr/>
        </p:nvCxnSpPr>
        <p:spPr>
          <a:xfrm flipH="1" rot="10800000">
            <a:off x="7167871" y="2210972"/>
            <a:ext cx="686923" cy="140787"/>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22" name="Google Shape;122;p1"/>
          <p:cNvCxnSpPr/>
          <p:nvPr/>
        </p:nvCxnSpPr>
        <p:spPr>
          <a:xfrm flipH="1">
            <a:off x="7149069" y="1497679"/>
            <a:ext cx="219202" cy="238341"/>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23" name="Google Shape;123;p1"/>
          <p:cNvCxnSpPr/>
          <p:nvPr/>
        </p:nvCxnSpPr>
        <p:spPr>
          <a:xfrm rot="10800000">
            <a:off x="7149069" y="1736020"/>
            <a:ext cx="739405" cy="596262"/>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24" name="Google Shape;124;p1"/>
          <p:cNvCxnSpPr/>
          <p:nvPr/>
        </p:nvCxnSpPr>
        <p:spPr>
          <a:xfrm>
            <a:off x="7888474" y="2332282"/>
            <a:ext cx="394949" cy="697400"/>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25" name="Google Shape;125;p1"/>
          <p:cNvCxnSpPr/>
          <p:nvPr/>
        </p:nvCxnSpPr>
        <p:spPr>
          <a:xfrm>
            <a:off x="8397248" y="4925554"/>
            <a:ext cx="645443" cy="384089"/>
          </a:xfrm>
          <a:prstGeom prst="straightConnector1">
            <a:avLst/>
          </a:prstGeom>
          <a:noFill/>
          <a:ln cap="flat" cmpd="sng" w="9525">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126" name="Google Shape;126;p1"/>
          <p:cNvCxnSpPr/>
          <p:nvPr/>
        </p:nvCxnSpPr>
        <p:spPr>
          <a:xfrm flipH="1">
            <a:off x="7791221" y="4296751"/>
            <a:ext cx="300174" cy="752235"/>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27" name="Google Shape;127;p1"/>
          <p:cNvCxnSpPr/>
          <p:nvPr/>
        </p:nvCxnSpPr>
        <p:spPr>
          <a:xfrm rot="10800000">
            <a:off x="6373606" y="1333178"/>
            <a:ext cx="775463" cy="402842"/>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28" name="Google Shape;128;p1"/>
          <p:cNvCxnSpPr/>
          <p:nvPr/>
        </p:nvCxnSpPr>
        <p:spPr>
          <a:xfrm rot="10800000">
            <a:off x="8068544" y="2345664"/>
            <a:ext cx="214879" cy="684018"/>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29" name="Google Shape;129;p1"/>
          <p:cNvCxnSpPr/>
          <p:nvPr/>
        </p:nvCxnSpPr>
        <p:spPr>
          <a:xfrm rot="10800000">
            <a:off x="7854794" y="2210972"/>
            <a:ext cx="213750" cy="134692"/>
          </a:xfrm>
          <a:prstGeom prst="straightConnector1">
            <a:avLst/>
          </a:prstGeom>
          <a:noFill/>
          <a:ln cap="flat" cmpd="sng" w="9525">
            <a:solidFill>
              <a:srgbClr val="27D6FF"/>
            </a:solidFill>
            <a:prstDash val="solid"/>
            <a:round/>
            <a:headEnd len="sm" w="sm" type="none"/>
            <a:tailEnd len="sm" w="sm" type="none"/>
          </a:ln>
          <a:effectLst>
            <a:outerShdw blurRad="40000" rotWithShape="0" dir="5400000" dist="20000">
              <a:srgbClr val="000000">
                <a:alpha val="38039"/>
              </a:srgbClr>
            </a:outerShdw>
          </a:effectLst>
        </p:spPr>
      </p:cxnSp>
      <p:cxnSp>
        <p:nvCxnSpPr>
          <p:cNvPr id="130" name="Google Shape;130;p1"/>
          <p:cNvCxnSpPr/>
          <p:nvPr/>
        </p:nvCxnSpPr>
        <p:spPr>
          <a:xfrm rot="10800000">
            <a:off x="9433087" y="4260964"/>
            <a:ext cx="895509" cy="618860"/>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31" name="Google Shape;131;p1"/>
          <p:cNvCxnSpPr/>
          <p:nvPr/>
        </p:nvCxnSpPr>
        <p:spPr>
          <a:xfrm rot="10800000">
            <a:off x="10267989" y="4331226"/>
            <a:ext cx="60607" cy="548598"/>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32" name="Google Shape;132;p1"/>
          <p:cNvCxnSpPr/>
          <p:nvPr/>
        </p:nvCxnSpPr>
        <p:spPr>
          <a:xfrm rot="10800000">
            <a:off x="9744079" y="4201233"/>
            <a:ext cx="584517" cy="678591"/>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33" name="Google Shape;133;p1"/>
          <p:cNvCxnSpPr/>
          <p:nvPr/>
        </p:nvCxnSpPr>
        <p:spPr>
          <a:xfrm flipH="1" rot="10800000">
            <a:off x="10328596" y="4604049"/>
            <a:ext cx="256087" cy="275775"/>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34" name="Google Shape;134;p1"/>
          <p:cNvCxnSpPr/>
          <p:nvPr/>
        </p:nvCxnSpPr>
        <p:spPr>
          <a:xfrm flipH="1" rot="10800000">
            <a:off x="9184566" y="3118428"/>
            <a:ext cx="820897" cy="463662"/>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35" name="Google Shape;135;p1"/>
          <p:cNvCxnSpPr/>
          <p:nvPr/>
        </p:nvCxnSpPr>
        <p:spPr>
          <a:xfrm>
            <a:off x="9184566" y="3582090"/>
            <a:ext cx="559513" cy="619143"/>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36" name="Google Shape;136;p1"/>
          <p:cNvCxnSpPr/>
          <p:nvPr/>
        </p:nvCxnSpPr>
        <p:spPr>
          <a:xfrm flipH="1">
            <a:off x="10818504" y="2172655"/>
            <a:ext cx="124815" cy="889947"/>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37" name="Google Shape;137;p1"/>
          <p:cNvCxnSpPr/>
          <p:nvPr/>
        </p:nvCxnSpPr>
        <p:spPr>
          <a:xfrm flipH="1">
            <a:off x="11122253" y="5687873"/>
            <a:ext cx="61084" cy="362134"/>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38" name="Google Shape;138;p1"/>
          <p:cNvCxnSpPr/>
          <p:nvPr/>
        </p:nvCxnSpPr>
        <p:spPr>
          <a:xfrm>
            <a:off x="9901317" y="3013162"/>
            <a:ext cx="104146" cy="105266"/>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39" name="Google Shape;139;p1"/>
          <p:cNvCxnSpPr/>
          <p:nvPr/>
        </p:nvCxnSpPr>
        <p:spPr>
          <a:xfrm>
            <a:off x="9901317" y="3013162"/>
            <a:ext cx="215704" cy="646835"/>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40" name="Google Shape;140;p1"/>
          <p:cNvCxnSpPr/>
          <p:nvPr/>
        </p:nvCxnSpPr>
        <p:spPr>
          <a:xfrm>
            <a:off x="9901317" y="3013162"/>
            <a:ext cx="917187" cy="49440"/>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41" name="Google Shape;141;p1"/>
          <p:cNvCxnSpPr/>
          <p:nvPr/>
        </p:nvCxnSpPr>
        <p:spPr>
          <a:xfrm flipH="1" rot="10800000">
            <a:off x="10005463" y="3062602"/>
            <a:ext cx="813041" cy="55826"/>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42" name="Google Shape;142;p1"/>
          <p:cNvCxnSpPr/>
          <p:nvPr/>
        </p:nvCxnSpPr>
        <p:spPr>
          <a:xfrm rot="10800000">
            <a:off x="9748057" y="5890210"/>
            <a:ext cx="923350" cy="336681"/>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43" name="Google Shape;143;p1"/>
          <p:cNvCxnSpPr/>
          <p:nvPr/>
        </p:nvCxnSpPr>
        <p:spPr>
          <a:xfrm rot="10800000">
            <a:off x="9894859" y="6207874"/>
            <a:ext cx="776548" cy="19017"/>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44" name="Google Shape;144;p1"/>
          <p:cNvCxnSpPr/>
          <p:nvPr/>
        </p:nvCxnSpPr>
        <p:spPr>
          <a:xfrm>
            <a:off x="10117021" y="3659997"/>
            <a:ext cx="150968" cy="671229"/>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45" name="Google Shape;145;p1"/>
          <p:cNvCxnSpPr/>
          <p:nvPr/>
        </p:nvCxnSpPr>
        <p:spPr>
          <a:xfrm flipH="1" rot="10800000">
            <a:off x="10117021" y="3062602"/>
            <a:ext cx="701483" cy="597395"/>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46" name="Google Shape;146;p1"/>
          <p:cNvCxnSpPr/>
          <p:nvPr/>
        </p:nvCxnSpPr>
        <p:spPr>
          <a:xfrm rot="10800000">
            <a:off x="9433087" y="4260964"/>
            <a:ext cx="819784" cy="713176"/>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47" name="Google Shape;147;p1"/>
          <p:cNvCxnSpPr/>
          <p:nvPr/>
        </p:nvCxnSpPr>
        <p:spPr>
          <a:xfrm flipH="1" rot="10800000">
            <a:off x="10252871" y="4331226"/>
            <a:ext cx="15118" cy="642914"/>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48" name="Google Shape;148;p1"/>
          <p:cNvCxnSpPr/>
          <p:nvPr/>
        </p:nvCxnSpPr>
        <p:spPr>
          <a:xfrm flipH="1">
            <a:off x="9748057" y="4974140"/>
            <a:ext cx="504814" cy="916070"/>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49" name="Google Shape;149;p1"/>
          <p:cNvCxnSpPr/>
          <p:nvPr/>
        </p:nvCxnSpPr>
        <p:spPr>
          <a:xfrm rot="10800000">
            <a:off x="9744079" y="4201233"/>
            <a:ext cx="508792" cy="772907"/>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50" name="Google Shape;150;p1"/>
          <p:cNvCxnSpPr/>
          <p:nvPr/>
        </p:nvCxnSpPr>
        <p:spPr>
          <a:xfrm>
            <a:off x="9433087" y="4260964"/>
            <a:ext cx="834902" cy="70262"/>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51" name="Google Shape;151;p1"/>
          <p:cNvCxnSpPr/>
          <p:nvPr/>
        </p:nvCxnSpPr>
        <p:spPr>
          <a:xfrm>
            <a:off x="10267989" y="4331226"/>
            <a:ext cx="316694" cy="272823"/>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cxnSp>
        <p:nvCxnSpPr>
          <p:cNvPr id="152" name="Google Shape;152;p1"/>
          <p:cNvCxnSpPr/>
          <p:nvPr/>
        </p:nvCxnSpPr>
        <p:spPr>
          <a:xfrm>
            <a:off x="9744079" y="4201233"/>
            <a:ext cx="840604" cy="402816"/>
          </a:xfrm>
          <a:prstGeom prst="straightConnector1">
            <a:avLst/>
          </a:prstGeom>
          <a:noFill/>
          <a:ln cap="flat" cmpd="sng" w="9525">
            <a:solidFill>
              <a:srgbClr val="D948FF"/>
            </a:solidFill>
            <a:prstDash val="solid"/>
            <a:round/>
            <a:headEnd len="sm" w="sm" type="none"/>
            <a:tailEnd len="sm" w="sm" type="none"/>
          </a:ln>
          <a:effectLst>
            <a:outerShdw blurRad="40000" rotWithShape="0" dir="5400000" dist="20000">
              <a:srgbClr val="000000">
                <a:alpha val="38039"/>
              </a:srgbClr>
            </a:outerShdw>
          </a:effectLst>
        </p:spPr>
      </p:cxnSp>
      <p:sp>
        <p:nvSpPr>
          <p:cNvPr id="153" name="Google Shape;153;p1"/>
          <p:cNvSpPr/>
          <p:nvPr/>
        </p:nvSpPr>
        <p:spPr>
          <a:xfrm>
            <a:off x="6286785" y="4643044"/>
            <a:ext cx="64008" cy="64008"/>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
          <p:cNvSpPr/>
          <p:nvPr/>
        </p:nvSpPr>
        <p:spPr>
          <a:xfrm>
            <a:off x="7469321" y="3573441"/>
            <a:ext cx="45720" cy="45720"/>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
          <p:cNvSpPr/>
          <p:nvPr/>
        </p:nvSpPr>
        <p:spPr>
          <a:xfrm>
            <a:off x="6405115" y="5160642"/>
            <a:ext cx="82296" cy="82296"/>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
          <p:cNvSpPr/>
          <p:nvPr/>
        </p:nvSpPr>
        <p:spPr>
          <a:xfrm>
            <a:off x="7891676" y="3735099"/>
            <a:ext cx="64008" cy="64008"/>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
          <p:cNvSpPr/>
          <p:nvPr/>
        </p:nvSpPr>
        <p:spPr>
          <a:xfrm>
            <a:off x="7126723" y="2310611"/>
            <a:ext cx="82296" cy="82296"/>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
          <p:cNvSpPr/>
          <p:nvPr/>
        </p:nvSpPr>
        <p:spPr>
          <a:xfrm>
            <a:off x="5892103" y="3020136"/>
            <a:ext cx="45720" cy="45720"/>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
          <p:cNvSpPr/>
          <p:nvPr/>
        </p:nvSpPr>
        <p:spPr>
          <a:xfrm>
            <a:off x="7327123" y="1456531"/>
            <a:ext cx="82296" cy="82296"/>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
          <p:cNvSpPr/>
          <p:nvPr/>
        </p:nvSpPr>
        <p:spPr>
          <a:xfrm>
            <a:off x="7833610" y="2277418"/>
            <a:ext cx="109728" cy="109728"/>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
          <p:cNvSpPr/>
          <p:nvPr/>
        </p:nvSpPr>
        <p:spPr>
          <a:xfrm>
            <a:off x="6465043" y="1336924"/>
            <a:ext cx="45720" cy="45720"/>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
          <p:cNvSpPr/>
          <p:nvPr/>
        </p:nvSpPr>
        <p:spPr>
          <a:xfrm>
            <a:off x="8374388" y="4902694"/>
            <a:ext cx="45720" cy="45720"/>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
          <p:cNvSpPr/>
          <p:nvPr/>
        </p:nvSpPr>
        <p:spPr>
          <a:xfrm>
            <a:off x="8068535" y="4273891"/>
            <a:ext cx="45720" cy="45720"/>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
          <p:cNvSpPr/>
          <p:nvPr/>
        </p:nvSpPr>
        <p:spPr>
          <a:xfrm>
            <a:off x="5937209" y="2772464"/>
            <a:ext cx="109728" cy="109728"/>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
          <p:cNvSpPr/>
          <p:nvPr/>
        </p:nvSpPr>
        <p:spPr>
          <a:xfrm>
            <a:off x="7126209" y="1713160"/>
            <a:ext cx="45720" cy="45720"/>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
          <p:cNvSpPr/>
          <p:nvPr/>
        </p:nvSpPr>
        <p:spPr>
          <a:xfrm>
            <a:off x="8228559" y="2974818"/>
            <a:ext cx="109728" cy="109728"/>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
          <p:cNvSpPr/>
          <p:nvPr/>
        </p:nvSpPr>
        <p:spPr>
          <a:xfrm>
            <a:off x="6238621" y="5274307"/>
            <a:ext cx="109728" cy="109728"/>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
          <p:cNvSpPr/>
          <p:nvPr/>
        </p:nvSpPr>
        <p:spPr>
          <a:xfrm>
            <a:off x="6163892" y="5839802"/>
            <a:ext cx="109728" cy="109728"/>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
          <p:cNvSpPr/>
          <p:nvPr/>
        </p:nvSpPr>
        <p:spPr>
          <a:xfrm>
            <a:off x="6983307" y="3914744"/>
            <a:ext cx="109728" cy="109728"/>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
          <p:cNvSpPr/>
          <p:nvPr/>
        </p:nvSpPr>
        <p:spPr>
          <a:xfrm>
            <a:off x="6740202" y="3602132"/>
            <a:ext cx="45720" cy="45720"/>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
          <p:cNvSpPr/>
          <p:nvPr/>
        </p:nvSpPr>
        <p:spPr>
          <a:xfrm>
            <a:off x="6341602" y="1301174"/>
            <a:ext cx="64008" cy="64008"/>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
          <p:cNvSpPr/>
          <p:nvPr/>
        </p:nvSpPr>
        <p:spPr>
          <a:xfrm>
            <a:off x="8045684" y="2322804"/>
            <a:ext cx="45720" cy="45720"/>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
          <p:cNvSpPr/>
          <p:nvPr/>
        </p:nvSpPr>
        <p:spPr>
          <a:xfrm>
            <a:off x="7831934" y="2188112"/>
            <a:ext cx="45720" cy="45720"/>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
          <p:cNvSpPr/>
          <p:nvPr/>
        </p:nvSpPr>
        <p:spPr>
          <a:xfrm>
            <a:off x="8270509" y="5665813"/>
            <a:ext cx="109728" cy="109728"/>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
          <p:cNvSpPr/>
          <p:nvPr/>
        </p:nvSpPr>
        <p:spPr>
          <a:xfrm>
            <a:off x="7768361" y="5026126"/>
            <a:ext cx="45720" cy="45720"/>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
          <p:cNvSpPr/>
          <p:nvPr/>
        </p:nvSpPr>
        <p:spPr>
          <a:xfrm>
            <a:off x="10296592" y="4847820"/>
            <a:ext cx="64008" cy="6400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
          <p:cNvSpPr/>
          <p:nvPr/>
        </p:nvSpPr>
        <p:spPr>
          <a:xfrm>
            <a:off x="9143418" y="3540942"/>
            <a:ext cx="82296" cy="82296"/>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
          <p:cNvSpPr/>
          <p:nvPr/>
        </p:nvSpPr>
        <p:spPr>
          <a:xfrm>
            <a:off x="10888455" y="2117791"/>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
          <p:cNvSpPr/>
          <p:nvPr/>
        </p:nvSpPr>
        <p:spPr>
          <a:xfrm>
            <a:off x="11128473" y="5633009"/>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
          <p:cNvSpPr/>
          <p:nvPr/>
        </p:nvSpPr>
        <p:spPr>
          <a:xfrm>
            <a:off x="9846453" y="2958298"/>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
          <p:cNvSpPr/>
          <p:nvPr/>
        </p:nvSpPr>
        <p:spPr>
          <a:xfrm>
            <a:off x="9973459" y="3086424"/>
            <a:ext cx="64008" cy="6400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1"/>
          <p:cNvSpPr/>
          <p:nvPr/>
        </p:nvSpPr>
        <p:spPr>
          <a:xfrm>
            <a:off x="11307397" y="3067740"/>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
          <p:cNvSpPr/>
          <p:nvPr/>
        </p:nvSpPr>
        <p:spPr>
          <a:xfrm>
            <a:off x="8890950" y="1565699"/>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1"/>
          <p:cNvSpPr/>
          <p:nvPr/>
        </p:nvSpPr>
        <p:spPr>
          <a:xfrm>
            <a:off x="10630259" y="6185743"/>
            <a:ext cx="82296" cy="82296"/>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
          <p:cNvSpPr/>
          <p:nvPr/>
        </p:nvSpPr>
        <p:spPr>
          <a:xfrm>
            <a:off x="10062157" y="3605133"/>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
          <p:cNvSpPr/>
          <p:nvPr/>
        </p:nvSpPr>
        <p:spPr>
          <a:xfrm>
            <a:off x="10220867" y="4942136"/>
            <a:ext cx="64008" cy="6400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
          <p:cNvSpPr/>
          <p:nvPr/>
        </p:nvSpPr>
        <p:spPr>
          <a:xfrm>
            <a:off x="9410227" y="4238104"/>
            <a:ext cx="45720" cy="45720"/>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
          <p:cNvSpPr/>
          <p:nvPr/>
        </p:nvSpPr>
        <p:spPr>
          <a:xfrm>
            <a:off x="10245129" y="4308366"/>
            <a:ext cx="45720" cy="45720"/>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
          <p:cNvSpPr/>
          <p:nvPr/>
        </p:nvSpPr>
        <p:spPr>
          <a:xfrm>
            <a:off x="9274987" y="1959115"/>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
          <p:cNvSpPr/>
          <p:nvPr/>
        </p:nvSpPr>
        <p:spPr>
          <a:xfrm>
            <a:off x="9716053" y="5858206"/>
            <a:ext cx="64008" cy="6400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
          <p:cNvSpPr/>
          <p:nvPr/>
        </p:nvSpPr>
        <p:spPr>
          <a:xfrm>
            <a:off x="9689215" y="4146369"/>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
          <p:cNvSpPr/>
          <p:nvPr/>
        </p:nvSpPr>
        <p:spPr>
          <a:xfrm>
            <a:off x="9603080" y="1630677"/>
            <a:ext cx="82296" cy="82296"/>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1"/>
          <p:cNvSpPr/>
          <p:nvPr/>
        </p:nvSpPr>
        <p:spPr>
          <a:xfrm>
            <a:off x="9010687" y="5277639"/>
            <a:ext cx="64008" cy="6400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1"/>
          <p:cNvSpPr/>
          <p:nvPr/>
        </p:nvSpPr>
        <p:spPr>
          <a:xfrm>
            <a:off x="10763640" y="3007738"/>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1"/>
          <p:cNvSpPr/>
          <p:nvPr/>
        </p:nvSpPr>
        <p:spPr>
          <a:xfrm>
            <a:off x="10543535" y="4562901"/>
            <a:ext cx="82296" cy="82296"/>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1"/>
          <p:cNvSpPr/>
          <p:nvPr/>
        </p:nvSpPr>
        <p:spPr>
          <a:xfrm>
            <a:off x="11090249" y="6018003"/>
            <a:ext cx="64008" cy="6400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1"/>
          <p:cNvSpPr/>
          <p:nvPr/>
        </p:nvSpPr>
        <p:spPr>
          <a:xfrm>
            <a:off x="9839995" y="6153010"/>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1"/>
          <p:cNvSpPr/>
          <p:nvPr/>
        </p:nvSpPr>
        <p:spPr>
          <a:xfrm>
            <a:off x="11223988" y="4111970"/>
            <a:ext cx="109728" cy="109728"/>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
          <p:cNvSpPr/>
          <p:nvPr/>
        </p:nvSpPr>
        <p:spPr>
          <a:xfrm>
            <a:off x="438912" y="1234440"/>
            <a:ext cx="5623560" cy="4983480"/>
          </a:xfrm>
          <a:prstGeom prst="roundRect">
            <a:avLst>
              <a:gd fmla="val 12000" name="adj"/>
            </a:avLst>
          </a:prstGeom>
          <a:solidFill>
            <a:srgbClr val="050816"/>
          </a:solidFill>
          <a:ln cap="flat" cmpd="sng" w="12700">
            <a:solidFill>
              <a:srgbClr val="2031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1"/>
          <p:cNvSpPr/>
          <p:nvPr/>
        </p:nvSpPr>
        <p:spPr>
          <a:xfrm>
            <a:off x="749808" y="1572768"/>
            <a:ext cx="1965960" cy="292608"/>
          </a:xfrm>
          <a:prstGeom prst="roundRect">
            <a:avLst>
              <a:gd fmla="val 12000" name="adj"/>
            </a:avLst>
          </a:prstGeom>
          <a:solidFill>
            <a:srgbClr val="121B37"/>
          </a:solidFill>
          <a:ln cap="flat" cmpd="sng" w="12700">
            <a:solidFill>
              <a:srgbClr val="D948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1"/>
          <p:cNvSpPr txBox="1"/>
          <p:nvPr/>
        </p:nvSpPr>
        <p:spPr>
          <a:xfrm>
            <a:off x="795528" y="1636776"/>
            <a:ext cx="1874519" cy="137160"/>
          </a:xfrm>
          <a:prstGeom prst="rect">
            <a:avLst/>
          </a:prstGeom>
          <a:noFill/>
          <a:ln>
            <a:noFill/>
          </a:ln>
        </p:spPr>
        <p:txBody>
          <a:bodyPr anchorCtr="0" anchor="ctr" bIns="22850" lIns="27425" spcFirstLastPara="1" rIns="27425" wrap="square" tIns="22850">
            <a:spAutoFit/>
          </a:bodyPr>
          <a:lstStyle/>
          <a:p>
            <a:pPr indent="0" lvl="0" marL="0" marR="0" rtl="0" algn="ctr">
              <a:spcBef>
                <a:spcPts val="0"/>
              </a:spcBef>
              <a:spcAft>
                <a:spcPts val="0"/>
              </a:spcAft>
              <a:buNone/>
            </a:pPr>
            <a:r>
              <a:rPr b="1" i="0" lang="en-US" sz="800" u="none" cap="none" strike="noStrike">
                <a:solidFill>
                  <a:srgbClr val="D948FF"/>
                </a:solidFill>
                <a:latin typeface="Arial"/>
                <a:ea typeface="Arial"/>
                <a:cs typeface="Arial"/>
                <a:sym typeface="Arial"/>
              </a:rPr>
              <a:t>FLORIDA QISKIT FALL FEST 2026</a:t>
            </a:r>
            <a:endParaRPr/>
          </a:p>
        </p:txBody>
      </p:sp>
      <p:sp>
        <p:nvSpPr>
          <p:cNvPr id="202" name="Google Shape;202;p1"/>
          <p:cNvSpPr txBox="1"/>
          <p:nvPr/>
        </p:nvSpPr>
        <p:spPr>
          <a:xfrm>
            <a:off x="749808" y="2084831"/>
            <a:ext cx="4892040" cy="6858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4200" u="none" cap="none" strike="noStrike">
                <a:solidFill>
                  <a:srgbClr val="F4F8FF"/>
                </a:solidFill>
                <a:latin typeface="Arial"/>
                <a:ea typeface="Arial"/>
                <a:cs typeface="Arial"/>
                <a:sym typeface="Arial"/>
              </a:rPr>
              <a:t>Q-Router</a:t>
            </a:r>
            <a:endParaRPr/>
          </a:p>
        </p:txBody>
      </p:sp>
      <p:sp>
        <p:nvSpPr>
          <p:cNvPr id="203" name="Google Shape;203;p1"/>
          <p:cNvSpPr txBox="1"/>
          <p:nvPr/>
        </p:nvSpPr>
        <p:spPr>
          <a:xfrm>
            <a:off x="777240" y="2871216"/>
            <a:ext cx="4800600" cy="96012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300" u="none" cap="none" strike="noStrike">
                <a:solidFill>
                  <a:srgbClr val="F4F8FF"/>
                </a:solidFill>
                <a:latin typeface="Arial"/>
                <a:ea typeface="Arial"/>
                <a:cs typeface="Arial"/>
                <a:sym typeface="Arial"/>
              </a:rPr>
              <a:t>One quantum engine for</a:t>
            </a:r>
            <a:br>
              <a:rPr b="1" i="0" lang="en-US" sz="2300" u="none" cap="none" strike="noStrike">
                <a:solidFill>
                  <a:srgbClr val="F4F8FF"/>
                </a:solidFill>
                <a:latin typeface="Arial"/>
                <a:ea typeface="Arial"/>
                <a:cs typeface="Arial"/>
                <a:sym typeface="Arial"/>
              </a:rPr>
            </a:br>
            <a:r>
              <a:rPr b="1" i="0" lang="en-US" sz="2300" u="none" cap="none" strike="noStrike">
                <a:solidFill>
                  <a:srgbClr val="F4F8FF"/>
                </a:solidFill>
                <a:latin typeface="Arial"/>
                <a:ea typeface="Arial"/>
                <a:cs typeface="Arial"/>
                <a:sym typeface="Arial"/>
              </a:rPr>
              <a:t>finance &amp; healthcare decisions</a:t>
            </a:r>
            <a:endParaRPr/>
          </a:p>
        </p:txBody>
      </p:sp>
      <p:sp>
        <p:nvSpPr>
          <p:cNvPr id="204" name="Google Shape;204;p1"/>
          <p:cNvSpPr txBox="1"/>
          <p:nvPr/>
        </p:nvSpPr>
        <p:spPr>
          <a:xfrm>
            <a:off x="786384" y="4069080"/>
            <a:ext cx="4526280" cy="56692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400" u="none" cap="none" strike="noStrike">
                <a:solidFill>
                  <a:srgbClr val="A1B1CD"/>
                </a:solidFill>
                <a:latin typeface="Arial"/>
                <a:ea typeface="Arial"/>
                <a:cs typeface="Arial"/>
                <a:sym typeface="Arial"/>
              </a:rPr>
              <a:t>A traffic controller for scarce quantum time: it reads a problem's shape and picks the right machine, or the laptop.</a:t>
            </a:r>
            <a:endParaRPr/>
          </a:p>
        </p:txBody>
      </p:sp>
      <p:sp>
        <p:nvSpPr>
          <p:cNvPr id="205" name="Google Shape;205;p1"/>
          <p:cNvSpPr/>
          <p:nvPr/>
        </p:nvSpPr>
        <p:spPr>
          <a:xfrm>
            <a:off x="786384" y="5074920"/>
            <a:ext cx="1051560" cy="347472"/>
          </a:xfrm>
          <a:prstGeom prst="roundRect">
            <a:avLst>
              <a:gd fmla="val 12000" name="adj"/>
            </a:avLst>
          </a:prstGeom>
          <a:solidFill>
            <a:srgbClr val="121B37"/>
          </a:solidFill>
          <a:ln cap="flat" cmpd="sng" w="12700">
            <a:solidFill>
              <a:srgbClr val="27D6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1"/>
          <p:cNvSpPr txBox="1"/>
          <p:nvPr/>
        </p:nvSpPr>
        <p:spPr>
          <a:xfrm>
            <a:off x="813816" y="5166360"/>
            <a:ext cx="996696" cy="137160"/>
          </a:xfrm>
          <a:prstGeom prst="rect">
            <a:avLst/>
          </a:prstGeom>
          <a:noFill/>
          <a:ln>
            <a:noFill/>
          </a:ln>
        </p:spPr>
        <p:txBody>
          <a:bodyPr anchorCtr="0" anchor="ctr" bIns="22850" lIns="27425" spcFirstLastPara="1" rIns="27425" wrap="square" tIns="22850">
            <a:spAutoFit/>
          </a:bodyPr>
          <a:lstStyle/>
          <a:p>
            <a:pPr indent="0" lvl="0" marL="0" marR="0" rtl="0" algn="ctr">
              <a:spcBef>
                <a:spcPts val="0"/>
              </a:spcBef>
              <a:spcAft>
                <a:spcPts val="0"/>
              </a:spcAft>
              <a:buNone/>
            </a:pPr>
            <a:r>
              <a:rPr b="1" i="0" lang="en-US" sz="800" u="none" cap="none" strike="noStrike">
                <a:solidFill>
                  <a:srgbClr val="27D6FF"/>
                </a:solidFill>
                <a:latin typeface="Arial"/>
                <a:ea typeface="Arial"/>
                <a:cs typeface="Arial"/>
                <a:sym typeface="Arial"/>
              </a:rPr>
              <a:t>PROBLEM</a:t>
            </a:r>
            <a:endParaRPr/>
          </a:p>
        </p:txBody>
      </p:sp>
      <p:cxnSp>
        <p:nvCxnSpPr>
          <p:cNvPr id="207" name="Google Shape;207;p1"/>
          <p:cNvCxnSpPr/>
          <p:nvPr/>
        </p:nvCxnSpPr>
        <p:spPr>
          <a:xfrm>
            <a:off x="1847088" y="5248656"/>
            <a:ext cx="164592" cy="0"/>
          </a:xfrm>
          <a:prstGeom prst="straightConnector1">
            <a:avLst/>
          </a:prstGeom>
          <a:noFill/>
          <a:ln cap="flat" cmpd="sng" w="12700">
            <a:solidFill>
              <a:srgbClr val="A1B1CD"/>
            </a:solidFill>
            <a:prstDash val="solid"/>
            <a:round/>
            <a:headEnd len="sm" w="sm" type="none"/>
            <a:tailEnd len="sm" w="sm" type="none"/>
          </a:ln>
          <a:effectLst>
            <a:outerShdw blurRad="40000" rotWithShape="0" dir="5400000" dist="20000">
              <a:srgbClr val="000000">
                <a:alpha val="38039"/>
              </a:srgbClr>
            </a:outerShdw>
          </a:effectLst>
        </p:spPr>
      </p:cxnSp>
      <p:sp>
        <p:nvSpPr>
          <p:cNvPr id="208" name="Google Shape;208;p1"/>
          <p:cNvSpPr/>
          <p:nvPr/>
        </p:nvSpPr>
        <p:spPr>
          <a:xfrm>
            <a:off x="2048255" y="5074920"/>
            <a:ext cx="1051560" cy="347472"/>
          </a:xfrm>
          <a:prstGeom prst="roundRect">
            <a:avLst>
              <a:gd fmla="val 12000" name="adj"/>
            </a:avLst>
          </a:prstGeom>
          <a:solidFill>
            <a:srgbClr val="121B37"/>
          </a:solidFill>
          <a:ln cap="flat" cmpd="sng" w="12700">
            <a:solidFill>
              <a:srgbClr val="8C5D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1"/>
          <p:cNvSpPr txBox="1"/>
          <p:nvPr/>
        </p:nvSpPr>
        <p:spPr>
          <a:xfrm>
            <a:off x="2075687" y="5166360"/>
            <a:ext cx="996696" cy="137160"/>
          </a:xfrm>
          <a:prstGeom prst="rect">
            <a:avLst/>
          </a:prstGeom>
          <a:noFill/>
          <a:ln>
            <a:noFill/>
          </a:ln>
        </p:spPr>
        <p:txBody>
          <a:bodyPr anchorCtr="0" anchor="ctr" bIns="22850" lIns="27425" spcFirstLastPara="1" rIns="27425" wrap="square" tIns="22850">
            <a:spAutoFit/>
          </a:bodyPr>
          <a:lstStyle/>
          <a:p>
            <a:pPr indent="0" lvl="0" marL="0" marR="0" rtl="0" algn="ctr">
              <a:spcBef>
                <a:spcPts val="0"/>
              </a:spcBef>
              <a:spcAft>
                <a:spcPts val="0"/>
              </a:spcAft>
              <a:buNone/>
            </a:pPr>
            <a:r>
              <a:rPr b="1" i="0" lang="en-US" sz="800" u="none" cap="none" strike="noStrike">
                <a:solidFill>
                  <a:srgbClr val="8C5DFF"/>
                </a:solidFill>
                <a:latin typeface="Arial"/>
                <a:ea typeface="Arial"/>
                <a:cs typeface="Arial"/>
                <a:sym typeface="Arial"/>
              </a:rPr>
              <a:t>FINGERPRINT</a:t>
            </a:r>
            <a:endParaRPr/>
          </a:p>
        </p:txBody>
      </p:sp>
      <p:cxnSp>
        <p:nvCxnSpPr>
          <p:cNvPr id="210" name="Google Shape;210;p1"/>
          <p:cNvCxnSpPr/>
          <p:nvPr/>
        </p:nvCxnSpPr>
        <p:spPr>
          <a:xfrm>
            <a:off x="3108959" y="5248656"/>
            <a:ext cx="164593" cy="0"/>
          </a:xfrm>
          <a:prstGeom prst="straightConnector1">
            <a:avLst/>
          </a:prstGeom>
          <a:noFill/>
          <a:ln cap="flat" cmpd="sng" w="12700">
            <a:solidFill>
              <a:srgbClr val="A1B1CD"/>
            </a:solidFill>
            <a:prstDash val="solid"/>
            <a:round/>
            <a:headEnd len="sm" w="sm" type="none"/>
            <a:tailEnd len="sm" w="sm" type="none"/>
          </a:ln>
          <a:effectLst>
            <a:outerShdw blurRad="40000" rotWithShape="0" dir="5400000" dist="20000">
              <a:srgbClr val="000000">
                <a:alpha val="38039"/>
              </a:srgbClr>
            </a:outerShdw>
          </a:effectLst>
        </p:spPr>
      </p:cxnSp>
      <p:sp>
        <p:nvSpPr>
          <p:cNvPr id="211" name="Google Shape;211;p1"/>
          <p:cNvSpPr/>
          <p:nvPr/>
        </p:nvSpPr>
        <p:spPr>
          <a:xfrm>
            <a:off x="3310127" y="5074920"/>
            <a:ext cx="1051560" cy="347472"/>
          </a:xfrm>
          <a:prstGeom prst="roundRect">
            <a:avLst>
              <a:gd fmla="val 12000" name="adj"/>
            </a:avLst>
          </a:prstGeom>
          <a:solidFill>
            <a:srgbClr val="121B37"/>
          </a:solidFill>
          <a:ln cap="flat" cmpd="sng" w="12700">
            <a:solidFill>
              <a:srgbClr val="D948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1"/>
          <p:cNvSpPr txBox="1"/>
          <p:nvPr/>
        </p:nvSpPr>
        <p:spPr>
          <a:xfrm>
            <a:off x="3337559" y="5166360"/>
            <a:ext cx="996696" cy="137160"/>
          </a:xfrm>
          <a:prstGeom prst="rect">
            <a:avLst/>
          </a:prstGeom>
          <a:noFill/>
          <a:ln>
            <a:noFill/>
          </a:ln>
        </p:spPr>
        <p:txBody>
          <a:bodyPr anchorCtr="0" anchor="ctr" bIns="22850" lIns="27425" spcFirstLastPara="1" rIns="27425" wrap="square" tIns="22850">
            <a:spAutoFit/>
          </a:bodyPr>
          <a:lstStyle/>
          <a:p>
            <a:pPr indent="0" lvl="0" marL="0" marR="0" rtl="0" algn="ctr">
              <a:spcBef>
                <a:spcPts val="0"/>
              </a:spcBef>
              <a:spcAft>
                <a:spcPts val="0"/>
              </a:spcAft>
              <a:buNone/>
            </a:pPr>
            <a:r>
              <a:rPr b="1" i="0" lang="en-US" sz="800" u="none" cap="none" strike="noStrike">
                <a:solidFill>
                  <a:srgbClr val="D948FF"/>
                </a:solidFill>
                <a:latin typeface="Arial"/>
                <a:ea typeface="Arial"/>
                <a:cs typeface="Arial"/>
                <a:sym typeface="Arial"/>
              </a:rPr>
              <a:t>ROUTER</a:t>
            </a:r>
            <a:endParaRPr/>
          </a:p>
        </p:txBody>
      </p:sp>
      <p:cxnSp>
        <p:nvCxnSpPr>
          <p:cNvPr id="213" name="Google Shape;213;p1"/>
          <p:cNvCxnSpPr/>
          <p:nvPr/>
        </p:nvCxnSpPr>
        <p:spPr>
          <a:xfrm>
            <a:off x="4370831" y="5248656"/>
            <a:ext cx="164593" cy="0"/>
          </a:xfrm>
          <a:prstGeom prst="straightConnector1">
            <a:avLst/>
          </a:prstGeom>
          <a:noFill/>
          <a:ln cap="flat" cmpd="sng" w="12700">
            <a:solidFill>
              <a:srgbClr val="A1B1CD"/>
            </a:solidFill>
            <a:prstDash val="solid"/>
            <a:round/>
            <a:headEnd len="sm" w="sm" type="none"/>
            <a:tailEnd len="sm" w="sm" type="none"/>
          </a:ln>
          <a:effectLst>
            <a:outerShdw blurRad="40000" rotWithShape="0" dir="5400000" dist="20000">
              <a:srgbClr val="000000">
                <a:alpha val="38039"/>
              </a:srgbClr>
            </a:outerShdw>
          </a:effectLst>
        </p:spPr>
      </p:cxnSp>
      <p:sp>
        <p:nvSpPr>
          <p:cNvPr id="214" name="Google Shape;214;p1"/>
          <p:cNvSpPr/>
          <p:nvPr/>
        </p:nvSpPr>
        <p:spPr>
          <a:xfrm>
            <a:off x="4572000" y="5074920"/>
            <a:ext cx="1051560" cy="347472"/>
          </a:xfrm>
          <a:prstGeom prst="roundRect">
            <a:avLst>
              <a:gd fmla="val 12000" name="adj"/>
            </a:avLst>
          </a:prstGeom>
          <a:solidFill>
            <a:srgbClr val="121B37"/>
          </a:solidFill>
          <a:ln cap="flat" cmpd="sng" w="12700">
            <a:solidFill>
              <a:srgbClr val="5BF0B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
          <p:cNvSpPr txBox="1"/>
          <p:nvPr/>
        </p:nvSpPr>
        <p:spPr>
          <a:xfrm>
            <a:off x="4599432" y="5166360"/>
            <a:ext cx="996696" cy="137160"/>
          </a:xfrm>
          <a:prstGeom prst="rect">
            <a:avLst/>
          </a:prstGeom>
          <a:noFill/>
          <a:ln>
            <a:noFill/>
          </a:ln>
        </p:spPr>
        <p:txBody>
          <a:bodyPr anchorCtr="0" anchor="ctr" bIns="22850" lIns="27425" spcFirstLastPara="1" rIns="27425" wrap="square" tIns="22850">
            <a:spAutoFit/>
          </a:bodyPr>
          <a:lstStyle/>
          <a:p>
            <a:pPr indent="0" lvl="0" marL="0" marR="0" rtl="0" algn="ctr">
              <a:spcBef>
                <a:spcPts val="0"/>
              </a:spcBef>
              <a:spcAft>
                <a:spcPts val="0"/>
              </a:spcAft>
              <a:buNone/>
            </a:pPr>
            <a:r>
              <a:rPr b="1" i="0" lang="en-US" sz="800" u="none" cap="none" strike="noStrike">
                <a:solidFill>
                  <a:srgbClr val="5BF0B9"/>
                </a:solidFill>
                <a:latin typeface="Arial"/>
                <a:ea typeface="Arial"/>
                <a:cs typeface="Arial"/>
                <a:sym typeface="Arial"/>
              </a:rPr>
              <a:t>METHOD</a:t>
            </a:r>
            <a:endParaRPr/>
          </a:p>
        </p:txBody>
      </p:sp>
      <p:sp>
        <p:nvSpPr>
          <p:cNvPr id="216" name="Google Shape;216;p1"/>
          <p:cNvSpPr txBox="1"/>
          <p:nvPr/>
        </p:nvSpPr>
        <p:spPr>
          <a:xfrm>
            <a:off x="786384" y="5687568"/>
            <a:ext cx="438912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TEAM Q-ROUTER  •  7-MINUTE PRESENTATION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816"/>
        </a:solidFill>
      </p:bgPr>
    </p:bg>
    <p:spTree>
      <p:nvGrpSpPr>
        <p:cNvPr id="221" name="Shape 221"/>
        <p:cNvGrpSpPr/>
        <p:nvPr/>
      </p:nvGrpSpPr>
      <p:grpSpPr>
        <a:xfrm>
          <a:off x="0" y="0"/>
          <a:ext cx="0" cy="0"/>
          <a:chOff x="0" y="0"/>
          <a:chExt cx="0" cy="0"/>
        </a:xfrm>
      </p:grpSpPr>
      <p:cxnSp>
        <p:nvCxnSpPr>
          <p:cNvPr id="222" name="Google Shape;222;p2"/>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3" name="Google Shape;223;p2"/>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4" name="Google Shape;224;p2"/>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5" name="Google Shape;225;p2"/>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6" name="Google Shape;226;p2"/>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7" name="Google Shape;227;p2"/>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8" name="Google Shape;228;p2"/>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9" name="Google Shape;229;p2"/>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0" name="Google Shape;230;p2"/>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1" name="Google Shape;231;p2"/>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2" name="Google Shape;232;p2"/>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3" name="Google Shape;233;p2"/>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4" name="Google Shape;234;p2"/>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5" name="Google Shape;235;p2"/>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6" name="Google Shape;236;p2"/>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7" name="Google Shape;237;p2"/>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8" name="Google Shape;238;p2"/>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9" name="Google Shape;239;p2"/>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0" name="Google Shape;240;p2"/>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1" name="Google Shape;241;p2"/>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242" name="Google Shape;242;p2"/>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245" name="Google Shape;245;p2"/>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246" name="Google Shape;246;p2"/>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247" name="Google Shape;247;p2"/>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248" name="Google Shape;248;p2"/>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02</a:t>
            </a:r>
            <a:endParaRPr/>
          </a:p>
        </p:txBody>
      </p:sp>
      <p:sp>
        <p:nvSpPr>
          <p:cNvPr id="249" name="Google Shape;249;p2"/>
          <p:cNvSpPr txBox="1"/>
          <p:nvPr/>
        </p:nvSpPr>
        <p:spPr>
          <a:xfrm>
            <a:off x="530352" y="932688"/>
            <a:ext cx="1078992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01 / THE PROBLEM</a:t>
            </a:r>
            <a:endParaRPr/>
          </a:p>
        </p:txBody>
      </p:sp>
      <p:sp>
        <p:nvSpPr>
          <p:cNvPr id="250" name="Google Shape;250;p2"/>
          <p:cNvSpPr txBox="1"/>
          <p:nvPr/>
        </p:nvSpPr>
        <p:spPr>
          <a:xfrm>
            <a:off x="530352" y="1225296"/>
            <a:ext cx="10972800" cy="512064"/>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700" u="none" cap="none" strike="noStrike">
                <a:solidFill>
                  <a:srgbClr val="F4F8FF"/>
                </a:solidFill>
                <a:latin typeface="Arial"/>
                <a:ea typeface="Arial"/>
                <a:cs typeface="Arial"/>
                <a:sym typeface="Arial"/>
              </a:rPr>
              <a:t>Quantum time is scarce. Which machine do you pick?</a:t>
            </a:r>
            <a:endParaRPr/>
          </a:p>
        </p:txBody>
      </p:sp>
      <p:sp>
        <p:nvSpPr>
          <p:cNvPr id="251" name="Google Shape;251;p2"/>
          <p:cNvSpPr txBox="1"/>
          <p:nvPr/>
        </p:nvSpPr>
        <p:spPr>
          <a:xfrm>
            <a:off x="566928" y="1801368"/>
            <a:ext cx="10789920" cy="36576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300" u="none" cap="none" strike="noStrike">
                <a:solidFill>
                  <a:srgbClr val="A1B1CD"/>
                </a:solidFill>
                <a:latin typeface="Arial"/>
                <a:ea typeface="Arial"/>
                <a:cs typeface="Arial"/>
                <a:sym typeface="Arial"/>
              </a:rPr>
              <a:t>Every industry picks a subset under value, risk and rules. Our free IBM plan: 10 minutes per 28 days.</a:t>
            </a:r>
            <a:endParaRPr/>
          </a:p>
        </p:txBody>
      </p:sp>
      <p:sp>
        <p:nvSpPr>
          <p:cNvPr id="252" name="Google Shape;252;p2"/>
          <p:cNvSpPr/>
          <p:nvPr/>
        </p:nvSpPr>
        <p:spPr>
          <a:xfrm>
            <a:off x="621792" y="2395728"/>
            <a:ext cx="3429000" cy="2176272"/>
          </a:xfrm>
          <a:prstGeom prst="roundRect">
            <a:avLst>
              <a:gd fmla="val 12000" name="adj"/>
            </a:avLst>
          </a:prstGeom>
          <a:solidFill>
            <a:srgbClr val="0D132A"/>
          </a:solidFill>
          <a:ln cap="flat" cmpd="sng" w="12700">
            <a:solidFill>
              <a:srgbClr val="2335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
          <p:cNvSpPr/>
          <p:nvPr/>
        </p:nvSpPr>
        <p:spPr>
          <a:xfrm>
            <a:off x="786384" y="2578608"/>
            <a:ext cx="50292" cy="1810512"/>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
          <p:cNvSpPr txBox="1"/>
          <p:nvPr/>
        </p:nvSpPr>
        <p:spPr>
          <a:xfrm>
            <a:off x="969264" y="2578608"/>
            <a:ext cx="2916936" cy="18288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27D6FF"/>
                </a:solidFill>
                <a:latin typeface="Arial"/>
                <a:ea typeface="Arial"/>
                <a:cs typeface="Arial"/>
                <a:sym typeface="Arial"/>
              </a:rPr>
              <a:t>PHARMA</a:t>
            </a:r>
            <a:endParaRPr/>
          </a:p>
        </p:txBody>
      </p:sp>
      <p:sp>
        <p:nvSpPr>
          <p:cNvPr id="255" name="Google Shape;255;p2"/>
          <p:cNvSpPr txBox="1"/>
          <p:nvPr/>
        </p:nvSpPr>
        <p:spPr>
          <a:xfrm>
            <a:off x="969264" y="2834640"/>
            <a:ext cx="2916936" cy="32004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600" u="none" cap="none" strike="noStrike">
                <a:solidFill>
                  <a:srgbClr val="F4F8FF"/>
                </a:solidFill>
                <a:latin typeface="Arial"/>
                <a:ea typeface="Arial"/>
                <a:cs typeface="Arial"/>
                <a:sym typeface="Arial"/>
              </a:rPr>
              <a:t>Which drugs to fund?</a:t>
            </a:r>
            <a:endParaRPr/>
          </a:p>
        </p:txBody>
      </p:sp>
      <p:sp>
        <p:nvSpPr>
          <p:cNvPr id="256" name="Google Shape;256;p2"/>
          <p:cNvSpPr txBox="1"/>
          <p:nvPr/>
        </p:nvSpPr>
        <p:spPr>
          <a:xfrm>
            <a:off x="969264" y="3218688"/>
            <a:ext cx="2916936" cy="1261872"/>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200" u="none" cap="none" strike="noStrike">
                <a:solidFill>
                  <a:srgbClr val="A1B1CD"/>
                </a:solidFill>
                <a:latin typeface="Arial"/>
                <a:ea typeface="Arial"/>
                <a:cs typeface="Arial"/>
                <a:sym typeface="Arial"/>
              </a:rPr>
              <a:t>Choose 4 of 10 candidates while considering shared risk. Drug makers pay for quantum time by the second.</a:t>
            </a:r>
            <a:endParaRPr/>
          </a:p>
        </p:txBody>
      </p:sp>
      <p:sp>
        <p:nvSpPr>
          <p:cNvPr id="257" name="Google Shape;257;p2"/>
          <p:cNvSpPr/>
          <p:nvPr/>
        </p:nvSpPr>
        <p:spPr>
          <a:xfrm>
            <a:off x="2084832" y="2121407"/>
            <a:ext cx="512064" cy="512064"/>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2"/>
          <p:cNvSpPr txBox="1"/>
          <p:nvPr/>
        </p:nvSpPr>
        <p:spPr>
          <a:xfrm>
            <a:off x="2039112" y="2276856"/>
            <a:ext cx="603504"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300" u="none" cap="none" strike="noStrike">
                <a:solidFill>
                  <a:srgbClr val="050816"/>
                </a:solidFill>
                <a:latin typeface="Arial"/>
                <a:ea typeface="Arial"/>
                <a:cs typeface="Arial"/>
                <a:sym typeface="Arial"/>
              </a:rPr>
              <a:t>Rx</a:t>
            </a:r>
            <a:endParaRPr/>
          </a:p>
        </p:txBody>
      </p:sp>
      <p:sp>
        <p:nvSpPr>
          <p:cNvPr id="259" name="Google Shape;259;p2"/>
          <p:cNvSpPr/>
          <p:nvPr/>
        </p:nvSpPr>
        <p:spPr>
          <a:xfrm>
            <a:off x="4370832" y="2395728"/>
            <a:ext cx="3429000" cy="2176272"/>
          </a:xfrm>
          <a:prstGeom prst="roundRect">
            <a:avLst>
              <a:gd fmla="val 12000" name="adj"/>
            </a:avLst>
          </a:prstGeom>
          <a:solidFill>
            <a:srgbClr val="0D132A"/>
          </a:solidFill>
          <a:ln cap="flat" cmpd="sng" w="12700">
            <a:solidFill>
              <a:srgbClr val="2335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2"/>
          <p:cNvSpPr/>
          <p:nvPr/>
        </p:nvSpPr>
        <p:spPr>
          <a:xfrm>
            <a:off x="4535424" y="2578608"/>
            <a:ext cx="50292" cy="1810512"/>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2"/>
          <p:cNvSpPr txBox="1"/>
          <p:nvPr/>
        </p:nvSpPr>
        <p:spPr>
          <a:xfrm>
            <a:off x="4718304" y="2578608"/>
            <a:ext cx="2916936" cy="18288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D948FF"/>
                </a:solidFill>
                <a:latin typeface="Arial"/>
                <a:ea typeface="Arial"/>
                <a:cs typeface="Arial"/>
                <a:sym typeface="Arial"/>
              </a:rPr>
              <a:t>FINANCE</a:t>
            </a:r>
            <a:endParaRPr/>
          </a:p>
        </p:txBody>
      </p:sp>
      <p:sp>
        <p:nvSpPr>
          <p:cNvPr id="262" name="Google Shape;262;p2"/>
          <p:cNvSpPr txBox="1"/>
          <p:nvPr/>
        </p:nvSpPr>
        <p:spPr>
          <a:xfrm>
            <a:off x="4718304" y="2834640"/>
            <a:ext cx="2916936" cy="32004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600" u="none" cap="none" strike="noStrike">
                <a:solidFill>
                  <a:srgbClr val="F4F8FF"/>
                </a:solidFill>
                <a:latin typeface="Arial"/>
                <a:ea typeface="Arial"/>
                <a:cs typeface="Arial"/>
                <a:sym typeface="Arial"/>
              </a:rPr>
              <a:t>Which assets to hold?</a:t>
            </a:r>
            <a:endParaRPr/>
          </a:p>
        </p:txBody>
      </p:sp>
      <p:sp>
        <p:nvSpPr>
          <p:cNvPr id="263" name="Google Shape;263;p2"/>
          <p:cNvSpPr txBox="1"/>
          <p:nvPr/>
        </p:nvSpPr>
        <p:spPr>
          <a:xfrm>
            <a:off x="4718304" y="3218688"/>
            <a:ext cx="2916936" cy="1261872"/>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200" u="none" cap="none" strike="noStrike">
                <a:solidFill>
                  <a:srgbClr val="A1B1CD"/>
                </a:solidFill>
                <a:latin typeface="Arial"/>
                <a:ea typeface="Arial"/>
                <a:cs typeface="Arial"/>
                <a:sym typeface="Arial"/>
              </a:rPr>
              <a:t>Choose investments while balancing expected return and risk. Banks face the same subset choice.</a:t>
            </a:r>
            <a:endParaRPr/>
          </a:p>
        </p:txBody>
      </p:sp>
      <p:sp>
        <p:nvSpPr>
          <p:cNvPr id="264" name="Google Shape;264;p2"/>
          <p:cNvSpPr/>
          <p:nvPr/>
        </p:nvSpPr>
        <p:spPr>
          <a:xfrm>
            <a:off x="5833872" y="2121407"/>
            <a:ext cx="512064" cy="512064"/>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2"/>
          <p:cNvSpPr txBox="1"/>
          <p:nvPr/>
        </p:nvSpPr>
        <p:spPr>
          <a:xfrm>
            <a:off x="5788152" y="2276856"/>
            <a:ext cx="603504"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300" u="none" cap="none" strike="noStrike">
                <a:solidFill>
                  <a:srgbClr val="050816"/>
                </a:solidFill>
                <a:latin typeface="Arial"/>
                <a:ea typeface="Arial"/>
                <a:cs typeface="Arial"/>
                <a:sym typeface="Arial"/>
              </a:rPr>
              <a:t>$</a:t>
            </a:r>
            <a:endParaRPr/>
          </a:p>
        </p:txBody>
      </p:sp>
      <p:sp>
        <p:nvSpPr>
          <p:cNvPr id="266" name="Google Shape;266;p2"/>
          <p:cNvSpPr/>
          <p:nvPr/>
        </p:nvSpPr>
        <p:spPr>
          <a:xfrm>
            <a:off x="8119872" y="2395728"/>
            <a:ext cx="3429000" cy="2176272"/>
          </a:xfrm>
          <a:prstGeom prst="roundRect">
            <a:avLst>
              <a:gd fmla="val 12000" name="adj"/>
            </a:avLst>
          </a:prstGeom>
          <a:solidFill>
            <a:srgbClr val="0D132A"/>
          </a:solidFill>
          <a:ln cap="flat" cmpd="sng" w="12700">
            <a:solidFill>
              <a:srgbClr val="2335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2"/>
          <p:cNvSpPr/>
          <p:nvPr/>
        </p:nvSpPr>
        <p:spPr>
          <a:xfrm>
            <a:off x="8284464" y="2578608"/>
            <a:ext cx="50292" cy="1810512"/>
          </a:xfrm>
          <a:prstGeom prst="rect">
            <a:avLst/>
          </a:prstGeom>
          <a:solidFill>
            <a:srgbClr val="5BF0B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2"/>
          <p:cNvSpPr txBox="1"/>
          <p:nvPr/>
        </p:nvSpPr>
        <p:spPr>
          <a:xfrm>
            <a:off x="8467344" y="2578608"/>
            <a:ext cx="2916936" cy="18288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5BF0B9"/>
                </a:solidFill>
                <a:latin typeface="Arial"/>
                <a:ea typeface="Arial"/>
                <a:cs typeface="Arial"/>
                <a:sym typeface="Arial"/>
              </a:rPr>
              <a:t>HEALTHCARE</a:t>
            </a:r>
            <a:endParaRPr/>
          </a:p>
        </p:txBody>
      </p:sp>
      <p:sp>
        <p:nvSpPr>
          <p:cNvPr id="269" name="Google Shape;269;p2"/>
          <p:cNvSpPr txBox="1"/>
          <p:nvPr/>
        </p:nvSpPr>
        <p:spPr>
          <a:xfrm>
            <a:off x="8467344" y="2834640"/>
            <a:ext cx="2916936" cy="32004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600" u="none" cap="none" strike="noStrike">
                <a:solidFill>
                  <a:srgbClr val="F4F8FF"/>
                </a:solidFill>
                <a:latin typeface="Arial"/>
                <a:ea typeface="Arial"/>
                <a:cs typeface="Arial"/>
                <a:sym typeface="Arial"/>
              </a:rPr>
              <a:t>Which tests to order?</a:t>
            </a:r>
            <a:endParaRPr/>
          </a:p>
        </p:txBody>
      </p:sp>
      <p:sp>
        <p:nvSpPr>
          <p:cNvPr id="270" name="Google Shape;270;p2"/>
          <p:cNvSpPr txBox="1"/>
          <p:nvPr/>
        </p:nvSpPr>
        <p:spPr>
          <a:xfrm>
            <a:off x="8467344" y="3218688"/>
            <a:ext cx="2916936" cy="1261872"/>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200" u="none" cap="none" strike="noStrike">
                <a:solidFill>
                  <a:srgbClr val="A1B1CD"/>
                </a:solidFill>
                <a:latin typeface="Arial"/>
                <a:ea typeface="Arial"/>
                <a:cs typeface="Arial"/>
                <a:sym typeface="Arial"/>
              </a:rPr>
              <a:t>Choose useful tests within cost limits. Researchers and students share tiny quantum budgets.</a:t>
            </a:r>
            <a:endParaRPr/>
          </a:p>
        </p:txBody>
      </p:sp>
      <p:sp>
        <p:nvSpPr>
          <p:cNvPr id="271" name="Google Shape;271;p2"/>
          <p:cNvSpPr/>
          <p:nvPr/>
        </p:nvSpPr>
        <p:spPr>
          <a:xfrm>
            <a:off x="9582912" y="2121407"/>
            <a:ext cx="512064" cy="512064"/>
          </a:xfrm>
          <a:prstGeom prst="ellipse">
            <a:avLst/>
          </a:prstGeom>
          <a:solidFill>
            <a:srgbClr val="5BF0B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2"/>
          <p:cNvSpPr txBox="1"/>
          <p:nvPr/>
        </p:nvSpPr>
        <p:spPr>
          <a:xfrm>
            <a:off x="9537192" y="2276856"/>
            <a:ext cx="603504"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300" u="none" cap="none" strike="noStrike">
                <a:solidFill>
                  <a:srgbClr val="050816"/>
                </a:solidFill>
                <a:latin typeface="Arial"/>
                <a:ea typeface="Arial"/>
                <a:cs typeface="Arial"/>
                <a:sym typeface="Arial"/>
              </a:rPr>
              <a:t>+</a:t>
            </a:r>
            <a:endParaRPr/>
          </a:p>
        </p:txBody>
      </p:sp>
      <p:sp>
        <p:nvSpPr>
          <p:cNvPr id="273" name="Google Shape;273;p2"/>
          <p:cNvSpPr/>
          <p:nvPr/>
        </p:nvSpPr>
        <p:spPr>
          <a:xfrm>
            <a:off x="1298448" y="4983480"/>
            <a:ext cx="9601200" cy="658368"/>
          </a:xfrm>
          <a:prstGeom prst="roundRect">
            <a:avLst>
              <a:gd fmla="val 12000" name="adj"/>
            </a:avLst>
          </a:prstGeom>
          <a:solidFill>
            <a:srgbClr val="121B37"/>
          </a:solidFill>
          <a:ln cap="flat" cmpd="sng" w="12700">
            <a:solidFill>
              <a:srgbClr val="8C5D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
          <p:cNvSpPr txBox="1"/>
          <p:nvPr/>
        </p:nvSpPr>
        <p:spPr>
          <a:xfrm>
            <a:off x="1554480" y="5175504"/>
            <a:ext cx="9098280" cy="22860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500" u="none" cap="none" strike="noStrike">
                <a:solidFill>
                  <a:srgbClr val="F4F8FF"/>
                </a:solidFill>
                <a:latin typeface="Arial"/>
                <a:ea typeface="Arial"/>
                <a:cs typeface="Arial"/>
                <a:sym typeface="Arial"/>
              </a:rPr>
              <a:t>WHO IT AFFECTS: COMPANIES, CLOUD PROVIDERS AND RESEARCHERS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816"/>
        </a:solidFill>
      </p:bgPr>
    </p:bg>
    <p:spTree>
      <p:nvGrpSpPr>
        <p:cNvPr id="279" name="Shape 279"/>
        <p:cNvGrpSpPr/>
        <p:nvPr/>
      </p:nvGrpSpPr>
      <p:grpSpPr>
        <a:xfrm>
          <a:off x="0" y="0"/>
          <a:ext cx="0" cy="0"/>
          <a:chOff x="0" y="0"/>
          <a:chExt cx="0" cy="0"/>
        </a:xfrm>
      </p:grpSpPr>
      <p:cxnSp>
        <p:nvCxnSpPr>
          <p:cNvPr id="280" name="Google Shape;280;p3"/>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81" name="Google Shape;281;p3"/>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82" name="Google Shape;282;p3"/>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83" name="Google Shape;283;p3"/>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84" name="Google Shape;284;p3"/>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85" name="Google Shape;285;p3"/>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86" name="Google Shape;286;p3"/>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87" name="Google Shape;287;p3"/>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88" name="Google Shape;288;p3"/>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89" name="Google Shape;289;p3"/>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90" name="Google Shape;290;p3"/>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91" name="Google Shape;291;p3"/>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92" name="Google Shape;292;p3"/>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93" name="Google Shape;293;p3"/>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94" name="Google Shape;294;p3"/>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95" name="Google Shape;295;p3"/>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96" name="Google Shape;296;p3"/>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97" name="Google Shape;297;p3"/>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98" name="Google Shape;298;p3"/>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99" name="Google Shape;299;p3"/>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300" name="Google Shape;300;p3"/>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3"/>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3"/>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303" name="Google Shape;303;p3"/>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304" name="Google Shape;304;p3"/>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305" name="Google Shape;305;p3"/>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306" name="Google Shape;306;p3"/>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03</a:t>
            </a:r>
            <a:endParaRPr/>
          </a:p>
        </p:txBody>
      </p:sp>
      <p:sp>
        <p:nvSpPr>
          <p:cNvPr id="307" name="Google Shape;307;p3"/>
          <p:cNvSpPr txBox="1"/>
          <p:nvPr/>
        </p:nvSpPr>
        <p:spPr>
          <a:xfrm>
            <a:off x="530352" y="932688"/>
            <a:ext cx="1078992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02 / SHARED MATHEMATICS</a:t>
            </a:r>
            <a:endParaRPr/>
          </a:p>
        </p:txBody>
      </p:sp>
      <p:sp>
        <p:nvSpPr>
          <p:cNvPr id="308" name="Google Shape;308;p3"/>
          <p:cNvSpPr txBox="1"/>
          <p:nvPr/>
        </p:nvSpPr>
        <p:spPr>
          <a:xfrm>
            <a:off x="530352" y="1225296"/>
            <a:ext cx="10972800" cy="512064"/>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700" u="none" cap="none" strike="noStrike">
                <a:solidFill>
                  <a:srgbClr val="F4F8FF"/>
                </a:solidFill>
                <a:latin typeface="Arial"/>
                <a:ea typeface="Arial"/>
                <a:cs typeface="Arial"/>
                <a:sym typeface="Arial"/>
              </a:rPr>
              <a:t>Turn a real decision into a score.</a:t>
            </a:r>
            <a:endParaRPr/>
          </a:p>
        </p:txBody>
      </p:sp>
      <p:sp>
        <p:nvSpPr>
          <p:cNvPr id="309" name="Google Shape;309;p3"/>
          <p:cNvSpPr txBox="1"/>
          <p:nvPr/>
        </p:nvSpPr>
        <p:spPr>
          <a:xfrm>
            <a:off x="566928" y="1801368"/>
            <a:ext cx="10789920" cy="36576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300" u="none" cap="none" strike="noStrike">
                <a:solidFill>
                  <a:srgbClr val="A1B1CD"/>
                </a:solidFill>
                <a:latin typeface="Arial"/>
                <a:ea typeface="Arial"/>
                <a:cs typeface="Arial"/>
                <a:sym typeface="Arial"/>
              </a:rPr>
              <a:t>QUBO gives every industry one shared format, so one router can serve them all.</a:t>
            </a:r>
            <a:endParaRPr/>
          </a:p>
        </p:txBody>
      </p:sp>
      <p:sp>
        <p:nvSpPr>
          <p:cNvPr id="310" name="Google Shape;310;p3"/>
          <p:cNvSpPr txBox="1"/>
          <p:nvPr/>
        </p:nvSpPr>
        <p:spPr>
          <a:xfrm>
            <a:off x="713232" y="2267712"/>
            <a:ext cx="329184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10 BINARY CHOICES</a:t>
            </a:r>
            <a:endParaRPr/>
          </a:p>
        </p:txBody>
      </p:sp>
      <p:sp>
        <p:nvSpPr>
          <p:cNvPr id="311" name="Google Shape;311;p3"/>
          <p:cNvSpPr/>
          <p:nvPr/>
        </p:nvSpPr>
        <p:spPr>
          <a:xfrm>
            <a:off x="777240" y="2697480"/>
            <a:ext cx="530352" cy="457200"/>
          </a:xfrm>
          <a:prstGeom prst="roundRect">
            <a:avLst>
              <a:gd fmla="val 12000" name="adj"/>
            </a:avLst>
          </a:prstGeom>
          <a:solidFill>
            <a:srgbClr val="121B37"/>
          </a:solidFill>
          <a:ln cap="flat" cmpd="sng" w="12700">
            <a:solidFill>
              <a:srgbClr val="27D6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3"/>
          <p:cNvSpPr txBox="1"/>
          <p:nvPr/>
        </p:nvSpPr>
        <p:spPr>
          <a:xfrm>
            <a:off x="777240" y="2816352"/>
            <a:ext cx="530352"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4F8FF"/>
                </a:solidFill>
                <a:latin typeface="Arial"/>
                <a:ea typeface="Arial"/>
                <a:cs typeface="Arial"/>
                <a:sym typeface="Arial"/>
              </a:rPr>
              <a:t>x1</a:t>
            </a:r>
            <a:endParaRPr/>
          </a:p>
        </p:txBody>
      </p:sp>
      <p:sp>
        <p:nvSpPr>
          <p:cNvPr id="313" name="Google Shape;313;p3"/>
          <p:cNvSpPr/>
          <p:nvPr/>
        </p:nvSpPr>
        <p:spPr>
          <a:xfrm>
            <a:off x="1472184" y="2697480"/>
            <a:ext cx="530352" cy="457200"/>
          </a:xfrm>
          <a:prstGeom prst="roundRect">
            <a:avLst>
              <a:gd fmla="val 12000" name="adj"/>
            </a:avLst>
          </a:prstGeom>
          <a:solidFill>
            <a:srgbClr val="121B37"/>
          </a:solidFill>
          <a:ln cap="flat" cmpd="sng" w="12700">
            <a:solidFill>
              <a:srgbClr val="32446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3"/>
          <p:cNvSpPr txBox="1"/>
          <p:nvPr/>
        </p:nvSpPr>
        <p:spPr>
          <a:xfrm>
            <a:off x="1472184" y="2816352"/>
            <a:ext cx="530352"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4F8FF"/>
                </a:solidFill>
                <a:latin typeface="Arial"/>
                <a:ea typeface="Arial"/>
                <a:cs typeface="Arial"/>
                <a:sym typeface="Arial"/>
              </a:rPr>
              <a:t>x2</a:t>
            </a:r>
            <a:endParaRPr/>
          </a:p>
        </p:txBody>
      </p:sp>
      <p:sp>
        <p:nvSpPr>
          <p:cNvPr id="315" name="Google Shape;315;p3"/>
          <p:cNvSpPr/>
          <p:nvPr/>
        </p:nvSpPr>
        <p:spPr>
          <a:xfrm>
            <a:off x="2167128" y="2697480"/>
            <a:ext cx="530352" cy="457200"/>
          </a:xfrm>
          <a:prstGeom prst="roundRect">
            <a:avLst>
              <a:gd fmla="val 12000" name="adj"/>
            </a:avLst>
          </a:prstGeom>
          <a:solidFill>
            <a:srgbClr val="121B37"/>
          </a:solidFill>
          <a:ln cap="flat" cmpd="sng" w="12700">
            <a:solidFill>
              <a:srgbClr val="27D6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3"/>
          <p:cNvSpPr txBox="1"/>
          <p:nvPr/>
        </p:nvSpPr>
        <p:spPr>
          <a:xfrm>
            <a:off x="2167128" y="2816352"/>
            <a:ext cx="530352"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4F8FF"/>
                </a:solidFill>
                <a:latin typeface="Arial"/>
                <a:ea typeface="Arial"/>
                <a:cs typeface="Arial"/>
                <a:sym typeface="Arial"/>
              </a:rPr>
              <a:t>x3</a:t>
            </a:r>
            <a:endParaRPr/>
          </a:p>
        </p:txBody>
      </p:sp>
      <p:sp>
        <p:nvSpPr>
          <p:cNvPr id="317" name="Google Shape;317;p3"/>
          <p:cNvSpPr/>
          <p:nvPr/>
        </p:nvSpPr>
        <p:spPr>
          <a:xfrm>
            <a:off x="2862072" y="2697480"/>
            <a:ext cx="530352" cy="457200"/>
          </a:xfrm>
          <a:prstGeom prst="roundRect">
            <a:avLst>
              <a:gd fmla="val 12000" name="adj"/>
            </a:avLst>
          </a:prstGeom>
          <a:solidFill>
            <a:srgbClr val="121B37"/>
          </a:solidFill>
          <a:ln cap="flat" cmpd="sng" w="12700">
            <a:solidFill>
              <a:srgbClr val="32446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3"/>
          <p:cNvSpPr txBox="1"/>
          <p:nvPr/>
        </p:nvSpPr>
        <p:spPr>
          <a:xfrm>
            <a:off x="2862072" y="2816352"/>
            <a:ext cx="530352"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4F8FF"/>
                </a:solidFill>
                <a:latin typeface="Arial"/>
                <a:ea typeface="Arial"/>
                <a:cs typeface="Arial"/>
                <a:sym typeface="Arial"/>
              </a:rPr>
              <a:t>x4</a:t>
            </a:r>
            <a:endParaRPr/>
          </a:p>
        </p:txBody>
      </p:sp>
      <p:sp>
        <p:nvSpPr>
          <p:cNvPr id="319" name="Google Shape;319;p3"/>
          <p:cNvSpPr/>
          <p:nvPr/>
        </p:nvSpPr>
        <p:spPr>
          <a:xfrm>
            <a:off x="3557016" y="2697480"/>
            <a:ext cx="530352" cy="457200"/>
          </a:xfrm>
          <a:prstGeom prst="roundRect">
            <a:avLst>
              <a:gd fmla="val 12000" name="adj"/>
            </a:avLst>
          </a:prstGeom>
          <a:solidFill>
            <a:srgbClr val="121B37"/>
          </a:solidFill>
          <a:ln cap="flat" cmpd="sng" w="12700">
            <a:solidFill>
              <a:srgbClr val="32446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3"/>
          <p:cNvSpPr txBox="1"/>
          <p:nvPr/>
        </p:nvSpPr>
        <p:spPr>
          <a:xfrm>
            <a:off x="3557016" y="2816352"/>
            <a:ext cx="530352"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4F8FF"/>
                </a:solidFill>
                <a:latin typeface="Arial"/>
                <a:ea typeface="Arial"/>
                <a:cs typeface="Arial"/>
                <a:sym typeface="Arial"/>
              </a:rPr>
              <a:t>x5</a:t>
            </a:r>
            <a:endParaRPr/>
          </a:p>
        </p:txBody>
      </p:sp>
      <p:sp>
        <p:nvSpPr>
          <p:cNvPr id="321" name="Google Shape;321;p3"/>
          <p:cNvSpPr/>
          <p:nvPr/>
        </p:nvSpPr>
        <p:spPr>
          <a:xfrm>
            <a:off x="777240" y="3410712"/>
            <a:ext cx="530352" cy="457200"/>
          </a:xfrm>
          <a:prstGeom prst="roundRect">
            <a:avLst>
              <a:gd fmla="val 12000" name="adj"/>
            </a:avLst>
          </a:prstGeom>
          <a:solidFill>
            <a:srgbClr val="121B37"/>
          </a:solidFill>
          <a:ln cap="flat" cmpd="sng" w="12700">
            <a:solidFill>
              <a:srgbClr val="27D6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3"/>
          <p:cNvSpPr txBox="1"/>
          <p:nvPr/>
        </p:nvSpPr>
        <p:spPr>
          <a:xfrm>
            <a:off x="777240" y="3529584"/>
            <a:ext cx="530352"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4F8FF"/>
                </a:solidFill>
                <a:latin typeface="Arial"/>
                <a:ea typeface="Arial"/>
                <a:cs typeface="Arial"/>
                <a:sym typeface="Arial"/>
              </a:rPr>
              <a:t>x6</a:t>
            </a:r>
            <a:endParaRPr/>
          </a:p>
        </p:txBody>
      </p:sp>
      <p:sp>
        <p:nvSpPr>
          <p:cNvPr id="323" name="Google Shape;323;p3"/>
          <p:cNvSpPr/>
          <p:nvPr/>
        </p:nvSpPr>
        <p:spPr>
          <a:xfrm>
            <a:off x="1472184" y="3410712"/>
            <a:ext cx="530352" cy="457200"/>
          </a:xfrm>
          <a:prstGeom prst="roundRect">
            <a:avLst>
              <a:gd fmla="val 12000" name="adj"/>
            </a:avLst>
          </a:prstGeom>
          <a:solidFill>
            <a:srgbClr val="121B37"/>
          </a:solidFill>
          <a:ln cap="flat" cmpd="sng" w="12700">
            <a:solidFill>
              <a:srgbClr val="32446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4" name="Google Shape;324;p3"/>
          <p:cNvSpPr txBox="1"/>
          <p:nvPr/>
        </p:nvSpPr>
        <p:spPr>
          <a:xfrm>
            <a:off x="1472184" y="3529584"/>
            <a:ext cx="530352"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4F8FF"/>
                </a:solidFill>
                <a:latin typeface="Arial"/>
                <a:ea typeface="Arial"/>
                <a:cs typeface="Arial"/>
                <a:sym typeface="Arial"/>
              </a:rPr>
              <a:t>x7</a:t>
            </a:r>
            <a:endParaRPr/>
          </a:p>
        </p:txBody>
      </p:sp>
      <p:sp>
        <p:nvSpPr>
          <p:cNvPr id="325" name="Google Shape;325;p3"/>
          <p:cNvSpPr/>
          <p:nvPr/>
        </p:nvSpPr>
        <p:spPr>
          <a:xfrm>
            <a:off x="2167128" y="3410712"/>
            <a:ext cx="530352" cy="457200"/>
          </a:xfrm>
          <a:prstGeom prst="roundRect">
            <a:avLst>
              <a:gd fmla="val 12000" name="adj"/>
            </a:avLst>
          </a:prstGeom>
          <a:solidFill>
            <a:srgbClr val="121B37"/>
          </a:solidFill>
          <a:ln cap="flat" cmpd="sng" w="12700">
            <a:solidFill>
              <a:srgbClr val="32446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3"/>
          <p:cNvSpPr txBox="1"/>
          <p:nvPr/>
        </p:nvSpPr>
        <p:spPr>
          <a:xfrm>
            <a:off x="2167128" y="3529584"/>
            <a:ext cx="530352"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4F8FF"/>
                </a:solidFill>
                <a:latin typeface="Arial"/>
                <a:ea typeface="Arial"/>
                <a:cs typeface="Arial"/>
                <a:sym typeface="Arial"/>
              </a:rPr>
              <a:t>x8</a:t>
            </a:r>
            <a:endParaRPr/>
          </a:p>
        </p:txBody>
      </p:sp>
      <p:sp>
        <p:nvSpPr>
          <p:cNvPr id="327" name="Google Shape;327;p3"/>
          <p:cNvSpPr/>
          <p:nvPr/>
        </p:nvSpPr>
        <p:spPr>
          <a:xfrm>
            <a:off x="2862072" y="3410712"/>
            <a:ext cx="530352" cy="457200"/>
          </a:xfrm>
          <a:prstGeom prst="roundRect">
            <a:avLst>
              <a:gd fmla="val 12000" name="adj"/>
            </a:avLst>
          </a:prstGeom>
          <a:solidFill>
            <a:srgbClr val="121B37"/>
          </a:solidFill>
          <a:ln cap="flat" cmpd="sng" w="12700">
            <a:solidFill>
              <a:srgbClr val="27D6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3"/>
          <p:cNvSpPr txBox="1"/>
          <p:nvPr/>
        </p:nvSpPr>
        <p:spPr>
          <a:xfrm>
            <a:off x="2862072" y="3529584"/>
            <a:ext cx="530352"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4F8FF"/>
                </a:solidFill>
                <a:latin typeface="Arial"/>
                <a:ea typeface="Arial"/>
                <a:cs typeface="Arial"/>
                <a:sym typeface="Arial"/>
              </a:rPr>
              <a:t>x9</a:t>
            </a:r>
            <a:endParaRPr/>
          </a:p>
        </p:txBody>
      </p:sp>
      <p:sp>
        <p:nvSpPr>
          <p:cNvPr id="329" name="Google Shape;329;p3"/>
          <p:cNvSpPr/>
          <p:nvPr/>
        </p:nvSpPr>
        <p:spPr>
          <a:xfrm>
            <a:off x="3557016" y="3410712"/>
            <a:ext cx="530352" cy="457200"/>
          </a:xfrm>
          <a:prstGeom prst="roundRect">
            <a:avLst>
              <a:gd fmla="val 12000" name="adj"/>
            </a:avLst>
          </a:prstGeom>
          <a:solidFill>
            <a:srgbClr val="121B37"/>
          </a:solidFill>
          <a:ln cap="flat" cmpd="sng" w="12700">
            <a:solidFill>
              <a:srgbClr val="32446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3"/>
          <p:cNvSpPr txBox="1"/>
          <p:nvPr/>
        </p:nvSpPr>
        <p:spPr>
          <a:xfrm>
            <a:off x="3557016" y="3529584"/>
            <a:ext cx="530352" cy="1828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4F8FF"/>
                </a:solidFill>
                <a:latin typeface="Arial"/>
                <a:ea typeface="Arial"/>
                <a:cs typeface="Arial"/>
                <a:sym typeface="Arial"/>
              </a:rPr>
              <a:t>x10</a:t>
            </a:r>
            <a:endParaRPr/>
          </a:p>
        </p:txBody>
      </p:sp>
      <p:sp>
        <p:nvSpPr>
          <p:cNvPr id="331" name="Google Shape;331;p3"/>
          <p:cNvSpPr/>
          <p:nvPr/>
        </p:nvSpPr>
        <p:spPr>
          <a:xfrm>
            <a:off x="4434840" y="2359152"/>
            <a:ext cx="2926080" cy="2423160"/>
          </a:xfrm>
          <a:prstGeom prst="roundRect">
            <a:avLst>
              <a:gd fmla="val 12000" name="adj"/>
            </a:avLst>
          </a:prstGeom>
          <a:solidFill>
            <a:srgbClr val="0D132A"/>
          </a:solidFill>
          <a:ln cap="flat" cmpd="sng" w="12700">
            <a:solidFill>
              <a:srgbClr val="D948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3"/>
          <p:cNvSpPr txBox="1"/>
          <p:nvPr/>
        </p:nvSpPr>
        <p:spPr>
          <a:xfrm>
            <a:off x="4709160" y="2633472"/>
            <a:ext cx="2377440" cy="22860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000" u="none" cap="none" strike="noStrike">
                <a:solidFill>
                  <a:srgbClr val="D948FF"/>
                </a:solidFill>
                <a:latin typeface="Arial"/>
                <a:ea typeface="Arial"/>
                <a:cs typeface="Arial"/>
                <a:sym typeface="Arial"/>
              </a:rPr>
              <a:t>SCORE TO MINIMIZE</a:t>
            </a:r>
            <a:endParaRPr/>
          </a:p>
        </p:txBody>
      </p:sp>
      <p:sp>
        <p:nvSpPr>
          <p:cNvPr id="333" name="Google Shape;333;p3"/>
          <p:cNvSpPr txBox="1"/>
          <p:nvPr/>
        </p:nvSpPr>
        <p:spPr>
          <a:xfrm>
            <a:off x="4709160" y="3108960"/>
            <a:ext cx="2377440" cy="109728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600" u="none" cap="none" strike="noStrike">
                <a:solidFill>
                  <a:srgbClr val="F4F8FF"/>
                </a:solidFill>
                <a:latin typeface="Arial"/>
                <a:ea typeface="Arial"/>
                <a:cs typeface="Arial"/>
                <a:sym typeface="Arial"/>
              </a:rPr>
              <a:t>− expected value</a:t>
            </a:r>
            <a:endParaRPr/>
          </a:p>
          <a:p>
            <a:pPr indent="0" lvl="0" marL="0" marR="0" rtl="0" algn="ctr">
              <a:spcBef>
                <a:spcPts val="0"/>
              </a:spcBef>
              <a:spcAft>
                <a:spcPts val="0"/>
              </a:spcAft>
              <a:buNone/>
            </a:pPr>
            <a:r>
              <a:rPr b="1" i="0" lang="en-US" sz="1600" u="none" cap="none" strike="noStrike">
                <a:solidFill>
                  <a:srgbClr val="F4F8FF"/>
                </a:solidFill>
                <a:latin typeface="Arial"/>
                <a:ea typeface="Arial"/>
                <a:cs typeface="Arial"/>
                <a:sym typeface="Arial"/>
              </a:rPr>
              <a:t>+ pair risk</a:t>
            </a:r>
            <a:endParaRPr/>
          </a:p>
          <a:p>
            <a:pPr indent="0" lvl="0" marL="0" marR="0" rtl="0" algn="ctr">
              <a:spcBef>
                <a:spcPts val="0"/>
              </a:spcBef>
              <a:spcAft>
                <a:spcPts val="0"/>
              </a:spcAft>
              <a:buNone/>
            </a:pPr>
            <a:r>
              <a:rPr b="1" i="0" lang="en-US" sz="1600" u="none" cap="none" strike="noStrike">
                <a:solidFill>
                  <a:srgbClr val="F4F8FF"/>
                </a:solidFill>
                <a:latin typeface="Arial"/>
                <a:ea typeface="Arial"/>
                <a:cs typeface="Arial"/>
                <a:sym typeface="Arial"/>
              </a:rPr>
              <a:t>+ size penalty</a:t>
            </a:r>
            <a:endParaRPr/>
          </a:p>
        </p:txBody>
      </p:sp>
      <p:sp>
        <p:nvSpPr>
          <p:cNvPr id="334" name="Google Shape;334;p3"/>
          <p:cNvSpPr txBox="1"/>
          <p:nvPr/>
        </p:nvSpPr>
        <p:spPr>
          <a:xfrm>
            <a:off x="7909560" y="2331720"/>
            <a:ext cx="3429000" cy="22860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000" u="none" cap="none" strike="noStrike">
                <a:solidFill>
                  <a:srgbClr val="8C5DFF"/>
                </a:solidFill>
                <a:latin typeface="Arial"/>
                <a:ea typeface="Arial"/>
                <a:cs typeface="Arial"/>
                <a:sym typeface="Arial"/>
              </a:rPr>
              <a:t>ENERGY LANDSCAPE</a:t>
            </a:r>
            <a:endParaRPr/>
          </a:p>
        </p:txBody>
      </p:sp>
      <p:cxnSp>
        <p:nvCxnSpPr>
          <p:cNvPr id="335" name="Google Shape;335;p3"/>
          <p:cNvCxnSpPr/>
          <p:nvPr/>
        </p:nvCxnSpPr>
        <p:spPr>
          <a:xfrm flipH="1" rot="10800000">
            <a:off x="8046720" y="3566589"/>
            <a:ext cx="96012" cy="273891"/>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36" name="Google Shape;336;p3"/>
          <p:cNvCxnSpPr/>
          <p:nvPr/>
        </p:nvCxnSpPr>
        <p:spPr>
          <a:xfrm flipH="1" rot="10800000">
            <a:off x="8142732" y="3390315"/>
            <a:ext cx="96012" cy="176274"/>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37" name="Google Shape;337;p3"/>
          <p:cNvCxnSpPr/>
          <p:nvPr/>
        </p:nvCxnSpPr>
        <p:spPr>
          <a:xfrm flipH="1" rot="10800000">
            <a:off x="8238744" y="3351870"/>
            <a:ext cx="96012" cy="38445"/>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38" name="Google Shape;338;p3"/>
          <p:cNvCxnSpPr/>
          <p:nvPr/>
        </p:nvCxnSpPr>
        <p:spPr>
          <a:xfrm>
            <a:off x="8334756" y="3351870"/>
            <a:ext cx="96012" cy="65753"/>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39" name="Google Shape;339;p3"/>
          <p:cNvCxnSpPr/>
          <p:nvPr/>
        </p:nvCxnSpPr>
        <p:spPr>
          <a:xfrm>
            <a:off x="8430768" y="3417623"/>
            <a:ext cx="96012" cy="97348"/>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40" name="Google Shape;340;p3"/>
          <p:cNvCxnSpPr/>
          <p:nvPr/>
        </p:nvCxnSpPr>
        <p:spPr>
          <a:xfrm>
            <a:off x="8526780" y="3514971"/>
            <a:ext cx="96012" cy="75747"/>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41" name="Google Shape;341;p3"/>
          <p:cNvCxnSpPr/>
          <p:nvPr/>
        </p:nvCxnSpPr>
        <p:spPr>
          <a:xfrm>
            <a:off x="8622792" y="3590718"/>
            <a:ext cx="96012" cy="57535"/>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42" name="Google Shape;342;p3"/>
          <p:cNvCxnSpPr/>
          <p:nvPr/>
        </p:nvCxnSpPr>
        <p:spPr>
          <a:xfrm>
            <a:off x="8718804" y="3648253"/>
            <a:ext cx="96012" cy="87615"/>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43" name="Google Shape;343;p3"/>
          <p:cNvCxnSpPr/>
          <p:nvPr/>
        </p:nvCxnSpPr>
        <p:spPr>
          <a:xfrm>
            <a:off x="8814816" y="3735868"/>
            <a:ext cx="96012" cy="160556"/>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44" name="Google Shape;344;p3"/>
          <p:cNvCxnSpPr/>
          <p:nvPr/>
        </p:nvCxnSpPr>
        <p:spPr>
          <a:xfrm>
            <a:off x="8910828" y="3896424"/>
            <a:ext cx="96012" cy="222091"/>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45" name="Google Shape;345;p3"/>
          <p:cNvCxnSpPr/>
          <p:nvPr/>
        </p:nvCxnSpPr>
        <p:spPr>
          <a:xfrm>
            <a:off x="9006840" y="4118515"/>
            <a:ext cx="96012" cy="210051"/>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46" name="Google Shape;346;p3"/>
          <p:cNvCxnSpPr/>
          <p:nvPr/>
        </p:nvCxnSpPr>
        <p:spPr>
          <a:xfrm>
            <a:off x="9102852" y="4328566"/>
            <a:ext cx="96012" cy="103758"/>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47" name="Google Shape;347;p3"/>
          <p:cNvCxnSpPr/>
          <p:nvPr/>
        </p:nvCxnSpPr>
        <p:spPr>
          <a:xfrm flipH="1" rot="10800000">
            <a:off x="9198864" y="4376465"/>
            <a:ext cx="96012" cy="55859"/>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48" name="Google Shape;348;p3"/>
          <p:cNvCxnSpPr/>
          <p:nvPr/>
        </p:nvCxnSpPr>
        <p:spPr>
          <a:xfrm flipH="1" rot="10800000">
            <a:off x="9294876" y="4185165"/>
            <a:ext cx="96012" cy="191300"/>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49" name="Google Shape;349;p3"/>
          <p:cNvCxnSpPr/>
          <p:nvPr/>
        </p:nvCxnSpPr>
        <p:spPr>
          <a:xfrm flipH="1" rot="10800000">
            <a:off x="9390888" y="3944525"/>
            <a:ext cx="96012" cy="240640"/>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50" name="Google Shape;350;p3"/>
          <p:cNvCxnSpPr/>
          <p:nvPr/>
        </p:nvCxnSpPr>
        <p:spPr>
          <a:xfrm flipH="1" rot="10800000">
            <a:off x="9486900" y="3746218"/>
            <a:ext cx="96012" cy="198307"/>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51" name="Google Shape;351;p3"/>
          <p:cNvCxnSpPr/>
          <p:nvPr/>
        </p:nvCxnSpPr>
        <p:spPr>
          <a:xfrm flipH="1" rot="10800000">
            <a:off x="9582912" y="3631698"/>
            <a:ext cx="96012" cy="114520"/>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52" name="Google Shape;352;p3"/>
          <p:cNvCxnSpPr/>
          <p:nvPr/>
        </p:nvCxnSpPr>
        <p:spPr>
          <a:xfrm flipH="1" rot="10800000">
            <a:off x="9678924" y="3577142"/>
            <a:ext cx="96012" cy="54556"/>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53" name="Google Shape;353;p3"/>
          <p:cNvCxnSpPr/>
          <p:nvPr/>
        </p:nvCxnSpPr>
        <p:spPr>
          <a:xfrm flipH="1" rot="10800000">
            <a:off x="9774936" y="3528069"/>
            <a:ext cx="96012" cy="49073"/>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54" name="Google Shape;354;p3"/>
          <p:cNvCxnSpPr/>
          <p:nvPr/>
        </p:nvCxnSpPr>
        <p:spPr>
          <a:xfrm flipH="1" rot="10800000">
            <a:off x="9870948" y="3454955"/>
            <a:ext cx="96012" cy="73114"/>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55" name="Google Shape;355;p3"/>
          <p:cNvCxnSpPr/>
          <p:nvPr/>
        </p:nvCxnSpPr>
        <p:spPr>
          <a:xfrm flipH="1" rot="10800000">
            <a:off x="9966960" y="3385589"/>
            <a:ext cx="96012" cy="69366"/>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56" name="Google Shape;356;p3"/>
          <p:cNvCxnSpPr/>
          <p:nvPr/>
        </p:nvCxnSpPr>
        <p:spPr>
          <a:xfrm>
            <a:off x="10062972" y="3385589"/>
            <a:ext cx="96012" cy="2586"/>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57" name="Google Shape;357;p3"/>
          <p:cNvCxnSpPr/>
          <p:nvPr/>
        </p:nvCxnSpPr>
        <p:spPr>
          <a:xfrm>
            <a:off x="10158984" y="3388175"/>
            <a:ext cx="96012" cy="129186"/>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58" name="Google Shape;358;p3"/>
          <p:cNvCxnSpPr/>
          <p:nvPr/>
        </p:nvCxnSpPr>
        <p:spPr>
          <a:xfrm>
            <a:off x="10254996" y="3517361"/>
            <a:ext cx="96012" cy="247019"/>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59" name="Google Shape;359;p3"/>
          <p:cNvCxnSpPr/>
          <p:nvPr/>
        </p:nvCxnSpPr>
        <p:spPr>
          <a:xfrm>
            <a:off x="10351008" y="3764380"/>
            <a:ext cx="96012" cy="285938"/>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60" name="Google Shape;360;p3"/>
          <p:cNvCxnSpPr/>
          <p:nvPr/>
        </p:nvCxnSpPr>
        <p:spPr>
          <a:xfrm>
            <a:off x="10447020" y="4050318"/>
            <a:ext cx="96012" cy="219296"/>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61" name="Google Shape;361;p3"/>
          <p:cNvCxnSpPr/>
          <p:nvPr/>
        </p:nvCxnSpPr>
        <p:spPr>
          <a:xfrm>
            <a:off x="10543032" y="4269614"/>
            <a:ext cx="96012" cy="83683"/>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62" name="Google Shape;362;p3"/>
          <p:cNvCxnSpPr/>
          <p:nvPr/>
        </p:nvCxnSpPr>
        <p:spPr>
          <a:xfrm flipH="1" rot="10800000">
            <a:off x="10639044" y="4306621"/>
            <a:ext cx="96012" cy="46676"/>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63" name="Google Shape;363;p3"/>
          <p:cNvCxnSpPr/>
          <p:nvPr/>
        </p:nvCxnSpPr>
        <p:spPr>
          <a:xfrm flipH="1" rot="10800000">
            <a:off x="10735056" y="4194785"/>
            <a:ext cx="96012" cy="111836"/>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64" name="Google Shape;364;p3"/>
          <p:cNvCxnSpPr/>
          <p:nvPr/>
        </p:nvCxnSpPr>
        <p:spPr>
          <a:xfrm flipH="1" rot="10800000">
            <a:off x="10831068" y="4089107"/>
            <a:ext cx="96012" cy="105678"/>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65" name="Google Shape;365;p3"/>
          <p:cNvCxnSpPr/>
          <p:nvPr/>
        </p:nvCxnSpPr>
        <p:spPr>
          <a:xfrm flipH="1" rot="10800000">
            <a:off x="10927080" y="4015052"/>
            <a:ext cx="96012" cy="74055"/>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66" name="Google Shape;366;p3"/>
          <p:cNvCxnSpPr/>
          <p:nvPr/>
        </p:nvCxnSpPr>
        <p:spPr>
          <a:xfrm flipH="1" rot="10800000">
            <a:off x="11023092" y="3941145"/>
            <a:ext cx="96012" cy="73907"/>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cxnSp>
        <p:nvCxnSpPr>
          <p:cNvPr id="367" name="Google Shape;367;p3"/>
          <p:cNvCxnSpPr/>
          <p:nvPr/>
        </p:nvCxnSpPr>
        <p:spPr>
          <a:xfrm flipH="1" rot="10800000">
            <a:off x="11119104" y="3815938"/>
            <a:ext cx="96012" cy="125207"/>
          </a:xfrm>
          <a:prstGeom prst="straightConnector1">
            <a:avLst/>
          </a:prstGeom>
          <a:noFill/>
          <a:ln cap="flat" cmpd="sng" w="25400">
            <a:solidFill>
              <a:srgbClr val="8C5DFF"/>
            </a:solidFill>
            <a:prstDash val="solid"/>
            <a:round/>
            <a:headEnd len="sm" w="sm" type="none"/>
            <a:tailEnd len="sm" w="sm" type="none"/>
          </a:ln>
          <a:effectLst>
            <a:outerShdw blurRad="40000" rotWithShape="0" dir="5400000" dist="20000">
              <a:srgbClr val="000000">
                <a:alpha val="38039"/>
              </a:srgbClr>
            </a:outerShdw>
          </a:effectLst>
        </p:spPr>
      </p:cxnSp>
      <p:sp>
        <p:nvSpPr>
          <p:cNvPr id="368" name="Google Shape;368;p3"/>
          <p:cNvSpPr/>
          <p:nvPr/>
        </p:nvSpPr>
        <p:spPr>
          <a:xfrm>
            <a:off x="9198864" y="4334256"/>
            <a:ext cx="164592" cy="164592"/>
          </a:xfrm>
          <a:prstGeom prst="ellipse">
            <a:avLst/>
          </a:prstGeom>
          <a:solidFill>
            <a:srgbClr val="5BF0B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3"/>
          <p:cNvSpPr txBox="1"/>
          <p:nvPr/>
        </p:nvSpPr>
        <p:spPr>
          <a:xfrm>
            <a:off x="8321040" y="4736592"/>
            <a:ext cx="2651760" cy="22860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000" u="none" cap="none" strike="noStrike">
                <a:solidFill>
                  <a:srgbClr val="5BF0B9"/>
                </a:solidFill>
                <a:latin typeface="Arial"/>
                <a:ea typeface="Arial"/>
                <a:cs typeface="Arial"/>
                <a:sym typeface="Arial"/>
              </a:rPr>
              <a:t>LOWER SCORE = BETTER</a:t>
            </a:r>
            <a:endParaRPr/>
          </a:p>
        </p:txBody>
      </p:sp>
      <p:sp>
        <p:nvSpPr>
          <p:cNvPr id="370" name="Google Shape;370;p3"/>
          <p:cNvSpPr txBox="1"/>
          <p:nvPr/>
        </p:nvSpPr>
        <p:spPr>
          <a:xfrm>
            <a:off x="713232" y="5623560"/>
            <a:ext cx="1042416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1" lang="en-US" sz="1000" u="none" cap="none" strike="noStrike">
                <a:solidFill>
                  <a:srgbClr val="A1B1CD"/>
                </a:solidFill>
                <a:latin typeface="Arial"/>
                <a:ea typeface="Arial"/>
                <a:cs typeface="Arial"/>
                <a:sym typeface="Arial"/>
              </a:rPr>
              <a:t>A qubit = one yes/no choice. Our tests use 3–18 qubits; real decisions need 50–200 plus chip wiring. The landscape is conceptual.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816"/>
        </a:solidFill>
      </p:bgPr>
    </p:bg>
    <p:spTree>
      <p:nvGrpSpPr>
        <p:cNvPr id="375" name="Shape 375"/>
        <p:cNvGrpSpPr/>
        <p:nvPr/>
      </p:nvGrpSpPr>
      <p:grpSpPr>
        <a:xfrm>
          <a:off x="0" y="0"/>
          <a:ext cx="0" cy="0"/>
          <a:chOff x="0" y="0"/>
          <a:chExt cx="0" cy="0"/>
        </a:xfrm>
      </p:grpSpPr>
      <p:cxnSp>
        <p:nvCxnSpPr>
          <p:cNvPr id="376" name="Google Shape;376;p4"/>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77" name="Google Shape;377;p4"/>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78" name="Google Shape;378;p4"/>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79" name="Google Shape;379;p4"/>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80" name="Google Shape;380;p4"/>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81" name="Google Shape;381;p4"/>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82" name="Google Shape;382;p4"/>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83" name="Google Shape;383;p4"/>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84" name="Google Shape;384;p4"/>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85" name="Google Shape;385;p4"/>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86" name="Google Shape;386;p4"/>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87" name="Google Shape;387;p4"/>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88" name="Google Shape;388;p4"/>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89" name="Google Shape;389;p4"/>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90" name="Google Shape;390;p4"/>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91" name="Google Shape;391;p4"/>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92" name="Google Shape;392;p4"/>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93" name="Google Shape;393;p4"/>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94" name="Google Shape;394;p4"/>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395" name="Google Shape;395;p4"/>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396" name="Google Shape;396;p4"/>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4"/>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4"/>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399" name="Google Shape;399;p4"/>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400" name="Google Shape;400;p4"/>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401" name="Google Shape;401;p4"/>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402" name="Google Shape;402;p4"/>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04</a:t>
            </a:r>
            <a:endParaRPr/>
          </a:p>
        </p:txBody>
      </p:sp>
      <p:sp>
        <p:nvSpPr>
          <p:cNvPr id="403" name="Google Shape;403;p4"/>
          <p:cNvSpPr txBox="1"/>
          <p:nvPr/>
        </p:nvSpPr>
        <p:spPr>
          <a:xfrm>
            <a:off x="530352" y="932688"/>
            <a:ext cx="1078992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03 / QUANTUM METHODS</a:t>
            </a:r>
            <a:endParaRPr/>
          </a:p>
        </p:txBody>
      </p:sp>
      <p:sp>
        <p:nvSpPr>
          <p:cNvPr id="404" name="Google Shape;404;p4"/>
          <p:cNvSpPr txBox="1"/>
          <p:nvPr/>
        </p:nvSpPr>
        <p:spPr>
          <a:xfrm>
            <a:off x="530352" y="1225296"/>
            <a:ext cx="10972800" cy="512064"/>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700" u="none" cap="none" strike="noStrike">
                <a:solidFill>
                  <a:srgbClr val="F4F8FF"/>
                </a:solidFill>
                <a:latin typeface="Arial"/>
                <a:ea typeface="Arial"/>
                <a:cs typeface="Arial"/>
                <a:sym typeface="Arial"/>
              </a:rPr>
              <a:t>Three solver choices. One honest comparison.</a:t>
            </a:r>
            <a:endParaRPr/>
          </a:p>
        </p:txBody>
      </p:sp>
      <p:sp>
        <p:nvSpPr>
          <p:cNvPr id="405" name="Google Shape;405;p4"/>
          <p:cNvSpPr txBox="1"/>
          <p:nvPr/>
        </p:nvSpPr>
        <p:spPr>
          <a:xfrm>
            <a:off x="566928" y="1801368"/>
            <a:ext cx="10789920" cy="36576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300" u="none" cap="none" strike="noStrike">
                <a:solidFill>
                  <a:srgbClr val="A1B1CD"/>
                </a:solidFill>
                <a:latin typeface="Arial"/>
                <a:ea typeface="Arial"/>
                <a:cs typeface="Arial"/>
                <a:sym typeface="Arial"/>
              </a:rPr>
              <a:t>Why quantum? Paired choices map onto linked qubits. Whether it pays off depends on circuit cost, noise and quality.</a:t>
            </a:r>
            <a:endParaRPr/>
          </a:p>
        </p:txBody>
      </p:sp>
      <p:sp>
        <p:nvSpPr>
          <p:cNvPr id="406" name="Google Shape;406;p4"/>
          <p:cNvSpPr/>
          <p:nvPr/>
        </p:nvSpPr>
        <p:spPr>
          <a:xfrm>
            <a:off x="640080" y="2331720"/>
            <a:ext cx="3493008" cy="2514600"/>
          </a:xfrm>
          <a:prstGeom prst="roundRect">
            <a:avLst>
              <a:gd fmla="val 12000" name="adj"/>
            </a:avLst>
          </a:prstGeom>
          <a:solidFill>
            <a:srgbClr val="0D132A"/>
          </a:solidFill>
          <a:ln cap="flat" cmpd="sng" w="12700">
            <a:solidFill>
              <a:srgbClr val="2335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4"/>
          <p:cNvSpPr/>
          <p:nvPr/>
        </p:nvSpPr>
        <p:spPr>
          <a:xfrm>
            <a:off x="804671" y="2514600"/>
            <a:ext cx="50292" cy="2148840"/>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4"/>
          <p:cNvSpPr txBox="1"/>
          <p:nvPr/>
        </p:nvSpPr>
        <p:spPr>
          <a:xfrm>
            <a:off x="987552" y="2514600"/>
            <a:ext cx="2980944" cy="18288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27D6FF"/>
                </a:solidFill>
                <a:latin typeface="Arial"/>
                <a:ea typeface="Arial"/>
                <a:cs typeface="Arial"/>
                <a:sym typeface="Arial"/>
              </a:rPr>
              <a:t>QUANTUM A</a:t>
            </a:r>
            <a:endParaRPr/>
          </a:p>
        </p:txBody>
      </p:sp>
      <p:sp>
        <p:nvSpPr>
          <p:cNvPr id="409" name="Google Shape;409;p4"/>
          <p:cNvSpPr txBox="1"/>
          <p:nvPr/>
        </p:nvSpPr>
        <p:spPr>
          <a:xfrm>
            <a:off x="987552" y="2770632"/>
            <a:ext cx="2980944" cy="32004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600" u="none" cap="none" strike="noStrike">
                <a:solidFill>
                  <a:srgbClr val="F4F8FF"/>
                </a:solidFill>
                <a:latin typeface="Arial"/>
                <a:ea typeface="Arial"/>
                <a:cs typeface="Arial"/>
                <a:sym typeface="Arial"/>
              </a:rPr>
              <a:t>Gate-based QAOA</a:t>
            </a:r>
            <a:endParaRPr/>
          </a:p>
        </p:txBody>
      </p:sp>
      <p:sp>
        <p:nvSpPr>
          <p:cNvPr id="410" name="Google Shape;410;p4"/>
          <p:cNvSpPr txBox="1"/>
          <p:nvPr/>
        </p:nvSpPr>
        <p:spPr>
          <a:xfrm>
            <a:off x="987552" y="3154679"/>
            <a:ext cx="2980944" cy="16002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200" u="none" cap="none" strike="noStrike">
                <a:solidFill>
                  <a:srgbClr val="A1B1CD"/>
                </a:solidFill>
                <a:latin typeface="Arial"/>
                <a:ea typeface="Arial"/>
                <a:cs typeface="Arial"/>
                <a:sym typeface="Arial"/>
              </a:rPr>
              <a:t>Short recipe: mix, nudge, link, shuffle, measure. Just 1–2 rounds, with 60–120 simulator tries to tune two dials. Fewer steps, fewer errors.</a:t>
            </a:r>
            <a:endParaRPr/>
          </a:p>
        </p:txBody>
      </p:sp>
      <p:sp>
        <p:nvSpPr>
          <p:cNvPr id="411" name="Google Shape;411;p4"/>
          <p:cNvSpPr/>
          <p:nvPr/>
        </p:nvSpPr>
        <p:spPr>
          <a:xfrm>
            <a:off x="4352544" y="2331720"/>
            <a:ext cx="3493008" cy="2514600"/>
          </a:xfrm>
          <a:prstGeom prst="roundRect">
            <a:avLst>
              <a:gd fmla="val 12000" name="adj"/>
            </a:avLst>
          </a:prstGeom>
          <a:solidFill>
            <a:srgbClr val="0D132A"/>
          </a:solidFill>
          <a:ln cap="flat" cmpd="sng" w="12700">
            <a:solidFill>
              <a:srgbClr val="2335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p4"/>
          <p:cNvSpPr/>
          <p:nvPr/>
        </p:nvSpPr>
        <p:spPr>
          <a:xfrm>
            <a:off x="4517136" y="2514600"/>
            <a:ext cx="50292" cy="2148840"/>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4"/>
          <p:cNvSpPr txBox="1"/>
          <p:nvPr/>
        </p:nvSpPr>
        <p:spPr>
          <a:xfrm>
            <a:off x="4700016" y="2514600"/>
            <a:ext cx="2980944" cy="18288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D948FF"/>
                </a:solidFill>
                <a:latin typeface="Arial"/>
                <a:ea typeface="Arial"/>
                <a:cs typeface="Arial"/>
                <a:sym typeface="Arial"/>
              </a:rPr>
              <a:t>QUANTUM B</a:t>
            </a:r>
            <a:endParaRPr/>
          </a:p>
        </p:txBody>
      </p:sp>
      <p:sp>
        <p:nvSpPr>
          <p:cNvPr id="414" name="Google Shape;414;p4"/>
          <p:cNvSpPr txBox="1"/>
          <p:nvPr/>
        </p:nvSpPr>
        <p:spPr>
          <a:xfrm>
            <a:off x="4700016" y="2770632"/>
            <a:ext cx="2980944" cy="32004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600" u="none" cap="none" strike="noStrike">
                <a:solidFill>
                  <a:srgbClr val="F4F8FF"/>
                </a:solidFill>
                <a:latin typeface="Arial"/>
                <a:ea typeface="Arial"/>
                <a:cs typeface="Arial"/>
                <a:sym typeface="Arial"/>
              </a:rPr>
              <a:t>Digital anneal</a:t>
            </a:r>
            <a:endParaRPr/>
          </a:p>
        </p:txBody>
      </p:sp>
      <p:sp>
        <p:nvSpPr>
          <p:cNvPr id="415" name="Google Shape;415;p4"/>
          <p:cNvSpPr txBox="1"/>
          <p:nvPr/>
        </p:nvSpPr>
        <p:spPr>
          <a:xfrm>
            <a:off x="4700016" y="3154679"/>
            <a:ext cx="2980944" cy="16002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200" u="none" cap="none" strike="noStrike">
                <a:solidFill>
                  <a:srgbClr val="A1B1CD"/>
                </a:solidFill>
                <a:latin typeface="Arial"/>
                <a:ea typeface="Arial"/>
                <a:cs typeface="Arial"/>
                <a:sym typeface="Arial"/>
              </a:rPr>
              <a:t>An annealing copy built from gate steps on IBM's chip: 3–6 rounds on a fixed ramp. A smoother sweep, but more link steps and more errors.</a:t>
            </a:r>
            <a:endParaRPr/>
          </a:p>
        </p:txBody>
      </p:sp>
      <p:sp>
        <p:nvSpPr>
          <p:cNvPr id="416" name="Google Shape;416;p4"/>
          <p:cNvSpPr/>
          <p:nvPr/>
        </p:nvSpPr>
        <p:spPr>
          <a:xfrm>
            <a:off x="8065008" y="2331720"/>
            <a:ext cx="3493008" cy="2514600"/>
          </a:xfrm>
          <a:prstGeom prst="roundRect">
            <a:avLst>
              <a:gd fmla="val 12000" name="adj"/>
            </a:avLst>
          </a:prstGeom>
          <a:solidFill>
            <a:srgbClr val="0D132A"/>
          </a:solidFill>
          <a:ln cap="flat" cmpd="sng" w="12700">
            <a:solidFill>
              <a:srgbClr val="2335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4"/>
          <p:cNvSpPr/>
          <p:nvPr/>
        </p:nvSpPr>
        <p:spPr>
          <a:xfrm>
            <a:off x="8229600" y="2514600"/>
            <a:ext cx="50292" cy="2148840"/>
          </a:xfrm>
          <a:prstGeom prst="rect">
            <a:avLst/>
          </a:prstGeom>
          <a:solidFill>
            <a:srgbClr val="5BF0B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8" name="Google Shape;418;p4"/>
          <p:cNvSpPr txBox="1"/>
          <p:nvPr/>
        </p:nvSpPr>
        <p:spPr>
          <a:xfrm>
            <a:off x="8412480" y="2514600"/>
            <a:ext cx="2980944" cy="18288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5BF0B9"/>
                </a:solidFill>
                <a:latin typeface="Arial"/>
                <a:ea typeface="Arial"/>
                <a:cs typeface="Arial"/>
                <a:sym typeface="Arial"/>
              </a:rPr>
              <a:t>BASELINE</a:t>
            </a:r>
            <a:endParaRPr/>
          </a:p>
        </p:txBody>
      </p:sp>
      <p:sp>
        <p:nvSpPr>
          <p:cNvPr id="419" name="Google Shape;419;p4"/>
          <p:cNvSpPr txBox="1"/>
          <p:nvPr/>
        </p:nvSpPr>
        <p:spPr>
          <a:xfrm>
            <a:off x="8412480" y="2770632"/>
            <a:ext cx="2980944" cy="32004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600" u="none" cap="none" strike="noStrike">
                <a:solidFill>
                  <a:srgbClr val="F4F8FF"/>
                </a:solidFill>
                <a:latin typeface="Arial"/>
                <a:ea typeface="Arial"/>
                <a:cs typeface="Arial"/>
                <a:sym typeface="Arial"/>
              </a:rPr>
              <a:t>Classical solver</a:t>
            </a:r>
            <a:endParaRPr/>
          </a:p>
        </p:txBody>
      </p:sp>
      <p:sp>
        <p:nvSpPr>
          <p:cNvPr id="420" name="Google Shape;420;p4"/>
          <p:cNvSpPr txBox="1"/>
          <p:nvPr/>
        </p:nvSpPr>
        <p:spPr>
          <a:xfrm>
            <a:off x="8412480" y="3154679"/>
            <a:ext cx="2980944" cy="16002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200" u="none" cap="none" strike="noStrike">
                <a:solidFill>
                  <a:srgbClr val="A1B1CD"/>
                </a:solidFill>
                <a:latin typeface="Arial"/>
                <a:ea typeface="Arial"/>
                <a:cs typeface="Arial"/>
                <a:sym typeface="Arial"/>
              </a:rPr>
              <a:t>Simulated annealing on a laptop scores 0.95–0.98 in about 0.01 s on every problem. At 3–18 qubits, classical wins.</a:t>
            </a:r>
            <a:endParaRPr/>
          </a:p>
        </p:txBody>
      </p:sp>
      <p:sp>
        <p:nvSpPr>
          <p:cNvPr id="421" name="Google Shape;421;p4"/>
          <p:cNvSpPr/>
          <p:nvPr/>
        </p:nvSpPr>
        <p:spPr>
          <a:xfrm>
            <a:off x="960120" y="5230368"/>
            <a:ext cx="10241280" cy="566928"/>
          </a:xfrm>
          <a:prstGeom prst="roundRect">
            <a:avLst>
              <a:gd fmla="val 12000" name="adj"/>
            </a:avLst>
          </a:prstGeom>
          <a:solidFill>
            <a:srgbClr val="121B37"/>
          </a:solidFill>
          <a:ln cap="flat" cmpd="sng" w="12700">
            <a:solidFill>
              <a:srgbClr val="FFCA5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4"/>
          <p:cNvSpPr txBox="1"/>
          <p:nvPr/>
        </p:nvSpPr>
        <p:spPr>
          <a:xfrm>
            <a:off x="1170432" y="5404104"/>
            <a:ext cx="9829800" cy="201168"/>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100" u="none" cap="none" strike="noStrike">
                <a:solidFill>
                  <a:srgbClr val="FFCA5C"/>
                </a:solidFill>
                <a:latin typeface="Arial"/>
                <a:ea typeface="Arial"/>
                <a:cs typeface="Arial"/>
                <a:sym typeface="Arial"/>
              </a:rPr>
              <a:t>NOISE MATTERS: 100 LINK STEPS AT 0.5% ERROR EACH → 39% CHANCE SOMETHING WENT WRONG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816"/>
        </a:solidFill>
      </p:bgPr>
    </p:bg>
    <p:spTree>
      <p:nvGrpSpPr>
        <p:cNvPr id="815" name="Shape 815"/>
        <p:cNvGrpSpPr/>
        <p:nvPr/>
      </p:nvGrpSpPr>
      <p:grpSpPr>
        <a:xfrm>
          <a:off x="0" y="0"/>
          <a:ext cx="0" cy="0"/>
          <a:chOff x="0" y="0"/>
          <a:chExt cx="0" cy="0"/>
        </a:xfrm>
      </p:grpSpPr>
      <p:cxnSp>
        <p:nvCxnSpPr>
          <p:cNvPr id="816" name="Google Shape;816;p10"/>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17" name="Google Shape;817;p10"/>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18" name="Google Shape;818;p10"/>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19" name="Google Shape;819;p10"/>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20" name="Google Shape;820;p10"/>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21" name="Google Shape;821;p10"/>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22" name="Google Shape;822;p10"/>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23" name="Google Shape;823;p10"/>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24" name="Google Shape;824;p10"/>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25" name="Google Shape;825;p10"/>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26" name="Google Shape;826;p10"/>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27" name="Google Shape;827;p10"/>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28" name="Google Shape;828;p10"/>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29" name="Google Shape;829;p10"/>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30" name="Google Shape;830;p10"/>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31" name="Google Shape;831;p10"/>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32" name="Google Shape;832;p10"/>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33" name="Google Shape;833;p10"/>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34" name="Google Shape;834;p10"/>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835" name="Google Shape;835;p10"/>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836" name="Google Shape;836;p10"/>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7" name="Google Shape;837;p10"/>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8" name="Google Shape;838;p10"/>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839" name="Google Shape;839;p10"/>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840" name="Google Shape;840;p10"/>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841" name="Google Shape;841;p10"/>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842" name="Google Shape;842;p10"/>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11</a:t>
            </a:r>
            <a:endParaRPr/>
          </a:p>
        </p:txBody>
      </p:sp>
      <p:sp>
        <p:nvSpPr>
          <p:cNvPr id="843" name="Google Shape;843;p10"/>
          <p:cNvSpPr txBox="1"/>
          <p:nvPr/>
        </p:nvSpPr>
        <p:spPr>
          <a:xfrm>
            <a:off x="530352" y="932688"/>
            <a:ext cx="1078992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10 / WHAT'S NEXT</a:t>
            </a:r>
            <a:endParaRPr/>
          </a:p>
        </p:txBody>
      </p:sp>
      <p:sp>
        <p:nvSpPr>
          <p:cNvPr id="844" name="Google Shape;844;p10"/>
          <p:cNvSpPr txBox="1"/>
          <p:nvPr/>
        </p:nvSpPr>
        <p:spPr>
          <a:xfrm>
            <a:off x="530352" y="1225296"/>
            <a:ext cx="10972800" cy="512064"/>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700" u="none" cap="none" strike="noStrike">
                <a:solidFill>
                  <a:srgbClr val="F4F8FF"/>
                </a:solidFill>
                <a:latin typeface="Arial"/>
                <a:ea typeface="Arial"/>
                <a:cs typeface="Arial"/>
                <a:sym typeface="Arial"/>
              </a:rPr>
              <a:t>One router. More options as hardware improves.</a:t>
            </a:r>
            <a:endParaRPr/>
          </a:p>
        </p:txBody>
      </p:sp>
      <p:sp>
        <p:nvSpPr>
          <p:cNvPr id="845" name="Google Shape;845;p10"/>
          <p:cNvSpPr txBox="1"/>
          <p:nvPr/>
        </p:nvSpPr>
        <p:spPr>
          <a:xfrm>
            <a:off x="566928" y="1801368"/>
            <a:ext cx="10789920" cy="36576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300" u="none" cap="none" strike="noStrike">
                <a:solidFill>
                  <a:srgbClr val="A1B1CD"/>
                </a:solidFill>
                <a:latin typeface="Arial"/>
                <a:ea typeface="Arial"/>
                <a:cs typeface="Arial"/>
                <a:sym typeface="Arial"/>
              </a:rPr>
              <a:t>Q-Router aims to know when quantum may help, and when it doesn't yet.</a:t>
            </a:r>
            <a:endParaRPr/>
          </a:p>
        </p:txBody>
      </p:sp>
      <p:cxnSp>
        <p:nvCxnSpPr>
          <p:cNvPr id="846" name="Google Shape;846;p10"/>
          <p:cNvCxnSpPr/>
          <p:nvPr/>
        </p:nvCxnSpPr>
        <p:spPr>
          <a:xfrm>
            <a:off x="1097280" y="2880360"/>
            <a:ext cx="9829800" cy="0"/>
          </a:xfrm>
          <a:prstGeom prst="straightConnector1">
            <a:avLst/>
          </a:prstGeom>
          <a:noFill/>
          <a:ln cap="flat" cmpd="sng" w="25400">
            <a:solidFill>
              <a:srgbClr val="455781"/>
            </a:solidFill>
            <a:prstDash val="solid"/>
            <a:round/>
            <a:headEnd len="sm" w="sm" type="none"/>
            <a:tailEnd len="sm" w="sm" type="none"/>
          </a:ln>
          <a:effectLst>
            <a:outerShdw blurRad="40000" rotWithShape="0" dir="5400000" dist="20000">
              <a:srgbClr val="000000">
                <a:alpha val="38039"/>
              </a:srgbClr>
            </a:outerShdw>
          </a:effectLst>
        </p:spPr>
      </p:cxnSp>
      <p:sp>
        <p:nvSpPr>
          <p:cNvPr id="847" name="Google Shape;847;p10"/>
          <p:cNvSpPr/>
          <p:nvPr/>
        </p:nvSpPr>
        <p:spPr>
          <a:xfrm>
            <a:off x="1344168" y="2761488"/>
            <a:ext cx="237744" cy="237744"/>
          </a:xfrm>
          <a:prstGeom prst="ellipse">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8" name="Google Shape;848;p10"/>
          <p:cNvSpPr/>
          <p:nvPr/>
        </p:nvSpPr>
        <p:spPr>
          <a:xfrm>
            <a:off x="1051560" y="2176272"/>
            <a:ext cx="822960" cy="292608"/>
          </a:xfrm>
          <a:prstGeom prst="roundRect">
            <a:avLst>
              <a:gd fmla="val 12000" name="adj"/>
            </a:avLst>
          </a:prstGeom>
          <a:solidFill>
            <a:srgbClr val="121B37"/>
          </a:solidFill>
          <a:ln cap="flat" cmpd="sng" w="12700">
            <a:solidFill>
              <a:srgbClr val="27D6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9" name="Google Shape;849;p10"/>
          <p:cNvSpPr txBox="1"/>
          <p:nvPr/>
        </p:nvSpPr>
        <p:spPr>
          <a:xfrm>
            <a:off x="1097280" y="2240279"/>
            <a:ext cx="731520" cy="137160"/>
          </a:xfrm>
          <a:prstGeom prst="rect">
            <a:avLst/>
          </a:prstGeom>
          <a:noFill/>
          <a:ln>
            <a:noFill/>
          </a:ln>
        </p:spPr>
        <p:txBody>
          <a:bodyPr anchorCtr="0" anchor="ctr" bIns="22850" lIns="27425" spcFirstLastPara="1" rIns="27425" wrap="square" tIns="22850">
            <a:spAutoFit/>
          </a:bodyPr>
          <a:lstStyle/>
          <a:p>
            <a:pPr indent="0" lvl="0" marL="0" marR="0" rtl="0" algn="ctr">
              <a:spcBef>
                <a:spcPts val="0"/>
              </a:spcBef>
              <a:spcAft>
                <a:spcPts val="0"/>
              </a:spcAft>
              <a:buNone/>
            </a:pPr>
            <a:r>
              <a:rPr b="1" i="0" lang="en-US" sz="800" u="none" cap="none" strike="noStrike">
                <a:solidFill>
                  <a:srgbClr val="27D6FF"/>
                </a:solidFill>
                <a:latin typeface="Arial"/>
                <a:ea typeface="Arial"/>
                <a:cs typeface="Arial"/>
                <a:sym typeface="Arial"/>
              </a:rPr>
              <a:t>NOW</a:t>
            </a:r>
            <a:endParaRPr/>
          </a:p>
        </p:txBody>
      </p:sp>
      <p:sp>
        <p:nvSpPr>
          <p:cNvPr id="850" name="Google Shape;850;p10"/>
          <p:cNvSpPr txBox="1"/>
          <p:nvPr/>
        </p:nvSpPr>
        <p:spPr>
          <a:xfrm>
            <a:off x="777240" y="3218688"/>
            <a:ext cx="1417320" cy="27432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300" u="none" cap="none" strike="noStrike">
                <a:solidFill>
                  <a:srgbClr val="F4F8FF"/>
                </a:solidFill>
                <a:latin typeface="Arial"/>
                <a:ea typeface="Arial"/>
                <a:cs typeface="Arial"/>
                <a:sym typeface="Arial"/>
              </a:rPr>
              <a:t>Validate</a:t>
            </a:r>
            <a:endParaRPr/>
          </a:p>
        </p:txBody>
      </p:sp>
      <p:sp>
        <p:nvSpPr>
          <p:cNvPr id="851" name="Google Shape;851;p10"/>
          <p:cNvSpPr txBox="1"/>
          <p:nvPr/>
        </p:nvSpPr>
        <p:spPr>
          <a:xfrm>
            <a:off x="731520" y="3639312"/>
            <a:ext cx="1508760" cy="438912"/>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0" i="0" lang="en-US" sz="1000" u="none" cap="none" strike="noStrike">
                <a:solidFill>
                  <a:srgbClr val="A1B1CD"/>
                </a:solidFill>
                <a:latin typeface="Arial"/>
                <a:ea typeface="Arial"/>
                <a:cs typeface="Arial"/>
                <a:sym typeface="Arial"/>
              </a:rPr>
              <a:t>Repeat real-chip runs</a:t>
            </a:r>
            <a:endParaRPr/>
          </a:p>
          <a:p>
            <a:pPr indent="0" lvl="0" marL="0" marR="0" rtl="0" algn="ctr">
              <a:spcBef>
                <a:spcPts val="0"/>
              </a:spcBef>
              <a:spcAft>
                <a:spcPts val="0"/>
              </a:spcAft>
              <a:buNone/>
            </a:pPr>
            <a:r>
              <a:rPr b="0" i="0" lang="en-US" sz="1000" u="none" cap="none" strike="noStrike">
                <a:solidFill>
                  <a:srgbClr val="A1B1CD"/>
                </a:solidFill>
                <a:latin typeface="Arial"/>
                <a:ea typeface="Arial"/>
                <a:cs typeface="Arial"/>
                <a:sym typeface="Arial"/>
              </a:rPr>
              <a:t>for run-to-run wobble</a:t>
            </a:r>
            <a:endParaRPr/>
          </a:p>
        </p:txBody>
      </p:sp>
      <p:sp>
        <p:nvSpPr>
          <p:cNvPr id="852" name="Google Shape;852;p10"/>
          <p:cNvSpPr/>
          <p:nvPr/>
        </p:nvSpPr>
        <p:spPr>
          <a:xfrm>
            <a:off x="4133088" y="2761488"/>
            <a:ext cx="237744" cy="237744"/>
          </a:xfrm>
          <a:prstGeom prst="ellipse">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3" name="Google Shape;853;p10"/>
          <p:cNvSpPr/>
          <p:nvPr/>
        </p:nvSpPr>
        <p:spPr>
          <a:xfrm>
            <a:off x="3840480" y="2176272"/>
            <a:ext cx="822960" cy="292608"/>
          </a:xfrm>
          <a:prstGeom prst="roundRect">
            <a:avLst>
              <a:gd fmla="val 12000" name="adj"/>
            </a:avLst>
          </a:prstGeom>
          <a:solidFill>
            <a:srgbClr val="121B37"/>
          </a:solidFill>
          <a:ln cap="flat" cmpd="sng" w="12700">
            <a:solidFill>
              <a:srgbClr val="D948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4" name="Google Shape;854;p10"/>
          <p:cNvSpPr txBox="1"/>
          <p:nvPr/>
        </p:nvSpPr>
        <p:spPr>
          <a:xfrm>
            <a:off x="3886200" y="2240279"/>
            <a:ext cx="731520" cy="137160"/>
          </a:xfrm>
          <a:prstGeom prst="rect">
            <a:avLst/>
          </a:prstGeom>
          <a:noFill/>
          <a:ln>
            <a:noFill/>
          </a:ln>
        </p:spPr>
        <p:txBody>
          <a:bodyPr anchorCtr="0" anchor="ctr" bIns="22850" lIns="27425" spcFirstLastPara="1" rIns="27425" wrap="square" tIns="22850">
            <a:spAutoFit/>
          </a:bodyPr>
          <a:lstStyle/>
          <a:p>
            <a:pPr indent="0" lvl="0" marL="0" marR="0" rtl="0" algn="ctr">
              <a:spcBef>
                <a:spcPts val="0"/>
              </a:spcBef>
              <a:spcAft>
                <a:spcPts val="0"/>
              </a:spcAft>
              <a:buNone/>
            </a:pPr>
            <a:r>
              <a:rPr b="1" i="0" lang="en-US" sz="800" u="none" cap="none" strike="noStrike">
                <a:solidFill>
                  <a:srgbClr val="D948FF"/>
                </a:solidFill>
                <a:latin typeface="Arial"/>
                <a:ea typeface="Arial"/>
                <a:cs typeface="Arial"/>
                <a:sym typeface="Arial"/>
              </a:rPr>
              <a:t>NEXT</a:t>
            </a:r>
            <a:endParaRPr/>
          </a:p>
        </p:txBody>
      </p:sp>
      <p:sp>
        <p:nvSpPr>
          <p:cNvPr id="855" name="Google Shape;855;p10"/>
          <p:cNvSpPr txBox="1"/>
          <p:nvPr/>
        </p:nvSpPr>
        <p:spPr>
          <a:xfrm>
            <a:off x="3566160" y="3218688"/>
            <a:ext cx="1417320" cy="27432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300" u="none" cap="none" strike="noStrike">
                <a:solidFill>
                  <a:srgbClr val="F4F8FF"/>
                </a:solidFill>
                <a:latin typeface="Arial"/>
                <a:ea typeface="Arial"/>
                <a:cs typeface="Arial"/>
                <a:sym typeface="Arial"/>
              </a:rPr>
              <a:t>More data</a:t>
            </a:r>
            <a:endParaRPr/>
          </a:p>
        </p:txBody>
      </p:sp>
      <p:sp>
        <p:nvSpPr>
          <p:cNvPr id="856" name="Google Shape;856;p10"/>
          <p:cNvSpPr txBox="1"/>
          <p:nvPr/>
        </p:nvSpPr>
        <p:spPr>
          <a:xfrm>
            <a:off x="3520440" y="3639312"/>
            <a:ext cx="1508760" cy="438912"/>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0" i="0" lang="en-US" sz="1000" u="none" cap="none" strike="noStrike">
                <a:solidFill>
                  <a:srgbClr val="A1B1CD"/>
                </a:solidFill>
                <a:latin typeface="Arial"/>
                <a:ea typeface="Arial"/>
                <a:cs typeface="Arial"/>
                <a:sym typeface="Arial"/>
              </a:rPr>
              <a:t>Real drug data from</a:t>
            </a:r>
            <a:endParaRPr/>
          </a:p>
          <a:p>
            <a:pPr indent="0" lvl="0" marL="0" marR="0" rtl="0" algn="ctr">
              <a:spcBef>
                <a:spcPts val="0"/>
              </a:spcBef>
              <a:spcAft>
                <a:spcPts val="0"/>
              </a:spcAft>
              <a:buNone/>
            </a:pPr>
            <a:r>
              <a:rPr b="0" i="0" lang="en-US" sz="1000" u="none" cap="none" strike="noStrike">
                <a:solidFill>
                  <a:srgbClr val="A1B1CD"/>
                </a:solidFill>
                <a:latin typeface="Arial"/>
                <a:ea typeface="Arial"/>
                <a:cs typeface="Arial"/>
                <a:sym typeface="Arial"/>
              </a:rPr>
              <a:t>ClinicalTrials.gov</a:t>
            </a:r>
            <a:endParaRPr/>
          </a:p>
        </p:txBody>
      </p:sp>
      <p:sp>
        <p:nvSpPr>
          <p:cNvPr id="857" name="Google Shape;857;p10"/>
          <p:cNvSpPr/>
          <p:nvPr/>
        </p:nvSpPr>
        <p:spPr>
          <a:xfrm>
            <a:off x="6922008" y="2761488"/>
            <a:ext cx="237744" cy="237744"/>
          </a:xfrm>
          <a:prstGeom prst="ellipse">
            <a:avLst/>
          </a:prstGeom>
          <a:solidFill>
            <a:srgbClr val="8C5D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8" name="Google Shape;858;p10"/>
          <p:cNvSpPr/>
          <p:nvPr/>
        </p:nvSpPr>
        <p:spPr>
          <a:xfrm>
            <a:off x="6629400" y="2176272"/>
            <a:ext cx="822960" cy="292608"/>
          </a:xfrm>
          <a:prstGeom prst="roundRect">
            <a:avLst>
              <a:gd fmla="val 12000" name="adj"/>
            </a:avLst>
          </a:prstGeom>
          <a:solidFill>
            <a:srgbClr val="121B37"/>
          </a:solidFill>
          <a:ln cap="flat" cmpd="sng" w="12700">
            <a:solidFill>
              <a:srgbClr val="8C5D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9" name="Google Shape;859;p10"/>
          <p:cNvSpPr txBox="1"/>
          <p:nvPr/>
        </p:nvSpPr>
        <p:spPr>
          <a:xfrm>
            <a:off x="6675120" y="2240279"/>
            <a:ext cx="731520" cy="137160"/>
          </a:xfrm>
          <a:prstGeom prst="rect">
            <a:avLst/>
          </a:prstGeom>
          <a:noFill/>
          <a:ln>
            <a:noFill/>
          </a:ln>
        </p:spPr>
        <p:txBody>
          <a:bodyPr anchorCtr="0" anchor="ctr" bIns="22850" lIns="27425" spcFirstLastPara="1" rIns="27425" wrap="square" tIns="22850">
            <a:spAutoFit/>
          </a:bodyPr>
          <a:lstStyle/>
          <a:p>
            <a:pPr indent="0" lvl="0" marL="0" marR="0" rtl="0" algn="ctr">
              <a:spcBef>
                <a:spcPts val="0"/>
              </a:spcBef>
              <a:spcAft>
                <a:spcPts val="0"/>
              </a:spcAft>
              <a:buNone/>
            </a:pPr>
            <a:r>
              <a:rPr b="1" i="0" lang="en-US" sz="800" u="none" cap="none" strike="noStrike">
                <a:solidFill>
                  <a:srgbClr val="8C5DFF"/>
                </a:solidFill>
                <a:latin typeface="Arial"/>
                <a:ea typeface="Arial"/>
                <a:cs typeface="Arial"/>
                <a:sym typeface="Arial"/>
              </a:rPr>
              <a:t>EXPAND</a:t>
            </a:r>
            <a:endParaRPr/>
          </a:p>
        </p:txBody>
      </p:sp>
      <p:sp>
        <p:nvSpPr>
          <p:cNvPr id="860" name="Google Shape;860;p10"/>
          <p:cNvSpPr txBox="1"/>
          <p:nvPr/>
        </p:nvSpPr>
        <p:spPr>
          <a:xfrm>
            <a:off x="6355080" y="3218688"/>
            <a:ext cx="1417320" cy="27432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300" u="none" cap="none" strike="noStrike">
                <a:solidFill>
                  <a:srgbClr val="F4F8FF"/>
                </a:solidFill>
                <a:latin typeface="Arial"/>
                <a:ea typeface="Arial"/>
                <a:cs typeface="Arial"/>
                <a:sym typeface="Arial"/>
              </a:rPr>
              <a:t>More solvers</a:t>
            </a:r>
            <a:endParaRPr/>
          </a:p>
        </p:txBody>
      </p:sp>
      <p:sp>
        <p:nvSpPr>
          <p:cNvPr id="861" name="Google Shape;861;p10"/>
          <p:cNvSpPr txBox="1"/>
          <p:nvPr/>
        </p:nvSpPr>
        <p:spPr>
          <a:xfrm>
            <a:off x="6309360" y="3639312"/>
            <a:ext cx="1508760" cy="438912"/>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0" i="0" lang="en-US" sz="1000" u="none" cap="none" strike="noStrike">
                <a:solidFill>
                  <a:srgbClr val="A1B1CD"/>
                </a:solidFill>
                <a:latin typeface="Arial"/>
                <a:ea typeface="Arial"/>
                <a:cs typeface="Arial"/>
                <a:sym typeface="Arial"/>
              </a:rPr>
              <a:t>A real D-Wave</a:t>
            </a:r>
            <a:endParaRPr/>
          </a:p>
          <a:p>
            <a:pPr indent="0" lvl="0" marL="0" marR="0" rtl="0" algn="ctr">
              <a:spcBef>
                <a:spcPts val="0"/>
              </a:spcBef>
              <a:spcAft>
                <a:spcPts val="0"/>
              </a:spcAft>
              <a:buNone/>
            </a:pPr>
            <a:r>
              <a:rPr b="0" i="0" lang="en-US" sz="1000" u="none" cap="none" strike="noStrike">
                <a:solidFill>
                  <a:srgbClr val="A1B1CD"/>
                </a:solidFill>
                <a:latin typeface="Arial"/>
                <a:ea typeface="Arial"/>
                <a:cs typeface="Arial"/>
                <a:sym typeface="Arial"/>
              </a:rPr>
              <a:t>annealer as option 3</a:t>
            </a:r>
            <a:endParaRPr/>
          </a:p>
        </p:txBody>
      </p:sp>
      <p:sp>
        <p:nvSpPr>
          <p:cNvPr id="862" name="Google Shape;862;p10"/>
          <p:cNvSpPr/>
          <p:nvPr/>
        </p:nvSpPr>
        <p:spPr>
          <a:xfrm>
            <a:off x="9756648" y="2761488"/>
            <a:ext cx="237744" cy="237744"/>
          </a:xfrm>
          <a:prstGeom prst="ellipse">
            <a:avLst/>
          </a:prstGeom>
          <a:solidFill>
            <a:srgbClr val="5BF0B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3" name="Google Shape;863;p10"/>
          <p:cNvSpPr/>
          <p:nvPr/>
        </p:nvSpPr>
        <p:spPr>
          <a:xfrm>
            <a:off x="9464040" y="2176272"/>
            <a:ext cx="822960" cy="292608"/>
          </a:xfrm>
          <a:prstGeom prst="roundRect">
            <a:avLst>
              <a:gd fmla="val 12000" name="adj"/>
            </a:avLst>
          </a:prstGeom>
          <a:solidFill>
            <a:srgbClr val="121B37"/>
          </a:solidFill>
          <a:ln cap="flat" cmpd="sng" w="12700">
            <a:solidFill>
              <a:srgbClr val="5BF0B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4" name="Google Shape;864;p10"/>
          <p:cNvSpPr txBox="1"/>
          <p:nvPr/>
        </p:nvSpPr>
        <p:spPr>
          <a:xfrm>
            <a:off x="9509760" y="2240279"/>
            <a:ext cx="731520" cy="137160"/>
          </a:xfrm>
          <a:prstGeom prst="rect">
            <a:avLst/>
          </a:prstGeom>
          <a:noFill/>
          <a:ln>
            <a:noFill/>
          </a:ln>
        </p:spPr>
        <p:txBody>
          <a:bodyPr anchorCtr="0" anchor="ctr" bIns="22850" lIns="27425" spcFirstLastPara="1" rIns="27425" wrap="square" tIns="22850">
            <a:spAutoFit/>
          </a:bodyPr>
          <a:lstStyle/>
          <a:p>
            <a:pPr indent="0" lvl="0" marL="0" marR="0" rtl="0" algn="ctr">
              <a:spcBef>
                <a:spcPts val="0"/>
              </a:spcBef>
              <a:spcAft>
                <a:spcPts val="0"/>
              </a:spcAft>
              <a:buNone/>
            </a:pPr>
            <a:r>
              <a:rPr b="1" i="0" lang="en-US" sz="800" u="none" cap="none" strike="noStrike">
                <a:solidFill>
                  <a:srgbClr val="5BF0B9"/>
                </a:solidFill>
                <a:latin typeface="Arial"/>
                <a:ea typeface="Arial"/>
                <a:cs typeface="Arial"/>
                <a:sym typeface="Arial"/>
              </a:rPr>
              <a:t>FUTURE</a:t>
            </a:r>
            <a:endParaRPr/>
          </a:p>
        </p:txBody>
      </p:sp>
      <p:sp>
        <p:nvSpPr>
          <p:cNvPr id="865" name="Google Shape;865;p10"/>
          <p:cNvSpPr txBox="1"/>
          <p:nvPr/>
        </p:nvSpPr>
        <p:spPr>
          <a:xfrm>
            <a:off x="9189720" y="3218688"/>
            <a:ext cx="1417320" cy="274320"/>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300" u="none" cap="none" strike="noStrike">
                <a:solidFill>
                  <a:srgbClr val="F4F8FF"/>
                </a:solidFill>
                <a:latin typeface="Arial"/>
                <a:ea typeface="Arial"/>
                <a:cs typeface="Arial"/>
                <a:sym typeface="Arial"/>
              </a:rPr>
              <a:t>Better chips</a:t>
            </a:r>
            <a:endParaRPr/>
          </a:p>
        </p:txBody>
      </p:sp>
      <p:sp>
        <p:nvSpPr>
          <p:cNvPr id="866" name="Google Shape;866;p10"/>
          <p:cNvSpPr txBox="1"/>
          <p:nvPr/>
        </p:nvSpPr>
        <p:spPr>
          <a:xfrm>
            <a:off x="9144000" y="3639312"/>
            <a:ext cx="1508760" cy="438912"/>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0" i="0" lang="en-US" sz="1000" u="none" cap="none" strike="noStrike">
                <a:solidFill>
                  <a:srgbClr val="A1B1CD"/>
                </a:solidFill>
                <a:latin typeface="Arial"/>
                <a:ea typeface="Arial"/>
                <a:cs typeface="Arial"/>
                <a:sym typeface="Arial"/>
              </a:rPr>
              <a:t>10–100× fewer errors,</a:t>
            </a:r>
            <a:endParaRPr/>
          </a:p>
          <a:p>
            <a:pPr indent="0" lvl="0" marL="0" marR="0" rtl="0" algn="ctr">
              <a:spcBef>
                <a:spcPts val="0"/>
              </a:spcBef>
              <a:spcAft>
                <a:spcPts val="0"/>
              </a:spcAft>
              <a:buNone/>
            </a:pPr>
            <a:r>
              <a:rPr b="0" i="0" lang="en-US" sz="1000" u="none" cap="none" strike="noStrike">
                <a:solidFill>
                  <a:srgbClr val="A1B1CD"/>
                </a:solidFill>
                <a:latin typeface="Arial"/>
                <a:ea typeface="Arial"/>
                <a:cs typeface="Arial"/>
                <a:sym typeface="Arial"/>
              </a:rPr>
              <a:t>50–200 usable qubits</a:t>
            </a:r>
            <a:endParaRPr/>
          </a:p>
        </p:txBody>
      </p:sp>
      <p:sp>
        <p:nvSpPr>
          <p:cNvPr id="867" name="Google Shape;867;p10"/>
          <p:cNvSpPr/>
          <p:nvPr/>
        </p:nvSpPr>
        <p:spPr>
          <a:xfrm>
            <a:off x="960120" y="4800600"/>
            <a:ext cx="10287000" cy="822960"/>
          </a:xfrm>
          <a:prstGeom prst="roundRect">
            <a:avLst>
              <a:gd fmla="val 12000" name="adj"/>
            </a:avLst>
          </a:prstGeom>
          <a:solidFill>
            <a:srgbClr val="0D132A"/>
          </a:solidFill>
          <a:ln cap="flat" cmpd="sng" w="12700">
            <a:solidFill>
              <a:srgbClr val="8C5D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8" name="Google Shape;868;p10"/>
          <p:cNvSpPr txBox="1"/>
          <p:nvPr/>
        </p:nvSpPr>
        <p:spPr>
          <a:xfrm>
            <a:off x="1234440" y="5047488"/>
            <a:ext cx="9738360" cy="310896"/>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700" u="none" cap="none" strike="noStrike">
                <a:solidFill>
                  <a:srgbClr val="F4F8FF"/>
                </a:solidFill>
                <a:latin typeface="Arial"/>
                <a:ea typeface="Arial"/>
                <a:cs typeface="Arial"/>
                <a:sym typeface="Arial"/>
              </a:rPr>
              <a:t>Shape decides the solver: dense → gate-based, sparse → annealing. Today the laptop still wins, and Q-Router knows when.</a:t>
            </a:r>
            <a:endParaRPr/>
          </a:p>
        </p:txBody>
      </p:sp>
      <p:sp>
        <p:nvSpPr>
          <p:cNvPr id="869" name="Google Shape;869;p10"/>
          <p:cNvSpPr txBox="1"/>
          <p:nvPr/>
        </p:nvSpPr>
        <p:spPr>
          <a:xfrm>
            <a:off x="731520" y="5961888"/>
            <a:ext cx="10698480" cy="201168"/>
          </a:xfrm>
          <a:prstGeom prst="rect">
            <a:avLst/>
          </a:prstGeom>
          <a:noFill/>
          <a:ln>
            <a:noFill/>
          </a:ln>
        </p:spPr>
        <p:txBody>
          <a:bodyPr anchorCtr="0" anchor="t" bIns="22850" lIns="27425" spcFirstLastPara="1" rIns="27425" wrap="square" tIns="22850">
            <a:spAutoFit/>
          </a:bodyPr>
          <a:lstStyle/>
          <a:p>
            <a:pPr indent="0" lvl="0" marL="0" marR="0" rtl="0" algn="ctr">
              <a:spcBef>
                <a:spcPts val="0"/>
              </a:spcBef>
              <a:spcAft>
                <a:spcPts val="0"/>
              </a:spcAft>
              <a:buNone/>
            </a:pPr>
            <a:r>
              <a:rPr b="1" i="0" lang="en-US" sz="1000" u="none" cap="none" strike="noStrike">
                <a:solidFill>
                  <a:srgbClr val="A1B1CD"/>
                </a:solidFill>
                <a:latin typeface="Arial"/>
                <a:ea typeface="Arial"/>
                <a:cs typeface="Arial"/>
                <a:sym typeface="Arial"/>
              </a:rPr>
              <a:t>Q-Router  •  Florida Atlantic University  •  Qiskit Fall Fest 2026  •  Questions?</a:t>
            </a:r>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816"/>
        </a:solidFill>
        <a:effectLst/>
      </p:bgPr>
    </p:bg>
    <p:spTree>
      <p:nvGrpSpPr>
        <p:cNvPr id="1" name=""/>
        <p:cNvGrpSpPr/>
        <p:nvPr/>
      </p:nvGrpSpPr>
      <p:grpSpPr/>
      <p:cxnSp>
        <p:nvCxnSpPr>
          <p:cNvPr id="222" name="Google Shape;222;p2"/>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3" name="Google Shape;223;p2"/>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4" name="Google Shape;224;p2"/>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5" name="Google Shape;225;p2"/>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6" name="Google Shape;226;p2"/>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7" name="Google Shape;227;p2"/>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8" name="Google Shape;228;p2"/>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9" name="Google Shape;229;p2"/>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0" name="Google Shape;230;p2"/>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1" name="Google Shape;231;p2"/>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2" name="Google Shape;232;p2"/>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3" name="Google Shape;233;p2"/>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4" name="Google Shape;234;p2"/>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5" name="Google Shape;235;p2"/>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6" name="Google Shape;236;p2"/>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7" name="Google Shape;237;p2"/>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8" name="Google Shape;238;p2"/>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9" name="Google Shape;239;p2"/>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0" name="Google Shape;240;p2"/>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1" name="Google Shape;241;p2"/>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242" name="Google Shape;242;p2"/>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245" name="Google Shape;245;p2"/>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246" name="Google Shape;246;p2"/>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247" name="Google Shape;247;p2"/>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248" name="Google Shape;248;p2"/>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05</a:t>
            </a:r>
            <a:endParaRPr/>
          </a:p>
        </p:txBody>
      </p:sp>
      <p:sp>
        <p:nvSpPr>
          <p:cNvPr id="249" name="Google Shape;249;p2"/>
          <p:cNvSpPr txBox="1"/>
          <p:nvPr/>
        </p:nvSpPr>
        <p:spPr>
          <a:xfrm>
            <a:off x="530352" y="932688"/>
            <a:ext cx="1078992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04 / HOW SHAPES ARE BUILT</a:t>
            </a:r>
            <a:endParaRPr/>
          </a:p>
        </p:txBody>
      </p:sp>
      <p:sp>
        <p:nvSpPr>
          <p:cNvPr id="250" name="Google Shape;250;p2"/>
          <p:cNvSpPr txBox="1"/>
          <p:nvPr/>
        </p:nvSpPr>
        <p:spPr>
          <a:xfrm>
            <a:off x="530352" y="1225296"/>
            <a:ext cx="10972800" cy="512064"/>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700" u="none" cap="none" strike="noStrike">
                <a:solidFill>
                  <a:srgbClr val="F4F8FF"/>
                </a:solidFill>
                <a:latin typeface="Arial"/>
                <a:ea typeface="Arial"/>
                <a:cs typeface="Arial"/>
                <a:sym typeface="Arial"/>
              </a:rPr>
              <a:t>How we turn each problem into a shape.</a:t>
            </a:r>
            <a:endParaRPr/>
          </a:p>
        </p:txBody>
      </p:sp>
      <p:sp>
        <p:nvSpPr>
          <p:cNvPr id="251" name="Google Shape;251;p2"/>
          <p:cNvSpPr txBox="1"/>
          <p:nvPr/>
        </p:nvSpPr>
        <p:spPr>
          <a:xfrm>
            <a:off x="566928" y="1801368"/>
            <a:ext cx="10789920" cy="36576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300" u="none" cap="none" strike="noStrike">
                <a:solidFill>
                  <a:srgbClr val="A1B1CD"/>
                </a:solidFill>
                <a:latin typeface="Arial"/>
                <a:ea typeface="Arial"/>
                <a:cs typeface="Arial"/>
                <a:sym typeface="Arial"/>
              </a:rPr>
              <a:t>Every yes/no choice becomes a dot. Every pair of choices that affect each other becomes a line.</a:t>
            </a:r>
            <a:endParaRPr/>
          </a:p>
        </p:txBody>
      </p:sp>
      <p:cxnSp>
        <p:nvCxnSpPr>
          <p:cNvPr id="252" name="Connector 251"/>
          <p:cNvCxnSpPr/>
          <p:nvPr/>
        </p:nvCxnSpPr>
        <p:spPr>
          <a:xfrm flipH="1">
            <a:off x="1030781" y="2651760"/>
            <a:ext cx="752299" cy="43434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H="1">
            <a:off x="1030781" y="2651760"/>
            <a:ext cx="752299" cy="130302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H="1">
            <a:off x="1783079" y="2651760"/>
            <a:ext cx="1" cy="173736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a:off x="1783080" y="2651760"/>
            <a:ext cx="752298" cy="130302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1783080" y="2651760"/>
            <a:ext cx="752298" cy="43434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1030781" y="3086100"/>
            <a:ext cx="0" cy="86868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1030781" y="3086100"/>
            <a:ext cx="752298" cy="130302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1030781" y="3086100"/>
            <a:ext cx="1504597" cy="86868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1030781" y="3086100"/>
            <a:ext cx="1504597" cy="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1030781" y="3954780"/>
            <a:ext cx="752298" cy="43434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1030781" y="3954780"/>
            <a:ext cx="1504597" cy="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1030781" y="3086100"/>
            <a:ext cx="1504597" cy="86868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783079" y="3954780"/>
            <a:ext cx="752299" cy="43434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783079" y="3086100"/>
            <a:ext cx="752299" cy="130302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35378" y="3086100"/>
            <a:ext cx="0" cy="868680"/>
          </a:xfrm>
          <a:prstGeom prst="line">
            <a:avLst/>
          </a:prstGeom>
          <a:ln w="11430">
            <a:solidFill>
              <a:srgbClr val="27D6FF"/>
            </a:solidFill>
          </a:ln>
        </p:spPr>
        <p:style>
          <a:lnRef idx="2">
            <a:schemeClr val="accent1"/>
          </a:lnRef>
          <a:fillRef idx="0">
            <a:schemeClr val="accent1"/>
          </a:fillRef>
          <a:effectRef idx="1">
            <a:schemeClr val="accent1"/>
          </a:effectRef>
          <a:fontRef idx="minor">
            <a:schemeClr val="tx1"/>
          </a:fontRef>
        </p:style>
      </p:cxnSp>
      <p:sp>
        <p:nvSpPr>
          <p:cNvPr id="267" name="Oval 266"/>
          <p:cNvSpPr/>
          <p:nvPr/>
        </p:nvSpPr>
        <p:spPr>
          <a:xfrm>
            <a:off x="1691639" y="2560320"/>
            <a:ext cx="182880" cy="182880"/>
          </a:xfrm>
          <a:prstGeom prst="ellipse">
            <a:avLst/>
          </a:prstGeom>
          <a:solidFill>
            <a:srgbClr val="27D6FF"/>
          </a:solidFill>
          <a:ln>
            <a:solidFill>
              <a:srgbClr val="27D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939341" y="2994660"/>
            <a:ext cx="182880" cy="182880"/>
          </a:xfrm>
          <a:prstGeom prst="ellipse">
            <a:avLst/>
          </a:prstGeom>
          <a:solidFill>
            <a:srgbClr val="27D6FF"/>
          </a:solidFill>
          <a:ln>
            <a:solidFill>
              <a:srgbClr val="27D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939341" y="3863340"/>
            <a:ext cx="182880" cy="182880"/>
          </a:xfrm>
          <a:prstGeom prst="ellipse">
            <a:avLst/>
          </a:prstGeom>
          <a:solidFill>
            <a:srgbClr val="27D6FF"/>
          </a:solidFill>
          <a:ln>
            <a:solidFill>
              <a:srgbClr val="27D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1691639" y="4297680"/>
            <a:ext cx="182880" cy="182880"/>
          </a:xfrm>
          <a:prstGeom prst="ellipse">
            <a:avLst/>
          </a:prstGeom>
          <a:solidFill>
            <a:srgbClr val="27D6FF"/>
          </a:solidFill>
          <a:ln>
            <a:solidFill>
              <a:srgbClr val="27D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2443938" y="3863340"/>
            <a:ext cx="182880" cy="182880"/>
          </a:xfrm>
          <a:prstGeom prst="ellipse">
            <a:avLst/>
          </a:prstGeom>
          <a:solidFill>
            <a:srgbClr val="27D6FF"/>
          </a:solidFill>
          <a:ln>
            <a:solidFill>
              <a:srgbClr val="27D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2443938" y="2994660"/>
            <a:ext cx="182880" cy="182880"/>
          </a:xfrm>
          <a:prstGeom prst="ellipse">
            <a:avLst/>
          </a:prstGeom>
          <a:solidFill>
            <a:srgbClr val="27D6FF"/>
          </a:solidFill>
          <a:ln>
            <a:solidFill>
              <a:srgbClr val="27D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685800" y="2240280"/>
            <a:ext cx="2194560" cy="228600"/>
          </a:xfrm>
          <a:prstGeom prst="rect">
            <a:avLst/>
          </a:prstGeom>
          <a:noFill/>
        </p:spPr>
        <p:txBody>
          <a:bodyPr wrap="square" lIns="27425" rIns="27425" tIns="22850" bIns="22850" anchor="t">
            <a:spAutoFit/>
          </a:bodyPr>
          <a:lstStyle/>
          <a:p>
            <a:pPr algn="ctr"/>
            <a:r>
              <a:rPr sz="900" b="1">
                <a:solidFill>
                  <a:srgbClr val="27D6FF"/>
                </a:solidFill>
                <a:latin typeface="Arial"/>
              </a:rPr>
              <a:t>DRUG FUNDING</a:t>
            </a:r>
          </a:p>
        </p:txBody>
      </p:sp>
      <p:sp>
        <p:nvSpPr>
          <p:cNvPr id="274" name="TextBox 273"/>
          <p:cNvSpPr txBox="1"/>
          <p:nvPr/>
        </p:nvSpPr>
        <p:spPr>
          <a:xfrm>
            <a:off x="685800" y="4526280"/>
            <a:ext cx="2194560" cy="411480"/>
          </a:xfrm>
          <a:prstGeom prst="rect">
            <a:avLst/>
          </a:prstGeom>
          <a:noFill/>
        </p:spPr>
        <p:txBody>
          <a:bodyPr wrap="square" lIns="27425" rIns="27425" tIns="22850" bIns="22850" anchor="t">
            <a:spAutoFit/>
          </a:bodyPr>
          <a:lstStyle/>
          <a:p>
            <a:pPr algn="ctr"/>
            <a:r>
              <a:rPr sz="1100" b="0">
                <a:solidFill>
                  <a:srgbClr val="A1B1CD"/>
                </a:solidFill>
                <a:latin typeface="Arial"/>
              </a:rPr>
              <a:t>15 of 15 lines</a:t>
            </a:r>
          </a:p>
          <a:p>
            <a:pPr algn="ctr">
              <a:spcBef>
                <a:spcPts val="400"/>
              </a:spcBef>
            </a:pPr>
            <a:r>
              <a:rPr sz="1100" b="0">
                <a:solidFill>
                  <a:srgbClr val="A1B1CD"/>
                </a:solidFill>
                <a:latin typeface="Arial"/>
              </a:rPr>
              <a:t>density 1.00: dense</a:t>
            </a:r>
          </a:p>
        </p:txBody>
      </p:sp>
      <p:cxnSp>
        <p:nvCxnSpPr>
          <p:cNvPr id="275" name="Connector 274"/>
          <p:cNvCxnSpPr/>
          <p:nvPr/>
        </p:nvCxnSpPr>
        <p:spPr>
          <a:xfrm flipH="1">
            <a:off x="3408221" y="2651760"/>
            <a:ext cx="752299" cy="434340"/>
          </a:xfrm>
          <a:prstGeom prst="line">
            <a:avLst/>
          </a:prstGeom>
          <a:ln w="15240">
            <a:solidFill>
              <a:srgbClr val="D948FF"/>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3408221" y="3086100"/>
            <a:ext cx="0" cy="868680"/>
          </a:xfrm>
          <a:prstGeom prst="line">
            <a:avLst/>
          </a:prstGeom>
          <a:ln w="15240">
            <a:solidFill>
              <a:srgbClr val="D948FF"/>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3408221" y="3954780"/>
            <a:ext cx="752299" cy="434340"/>
          </a:xfrm>
          <a:prstGeom prst="line">
            <a:avLst/>
          </a:prstGeom>
          <a:ln w="15240">
            <a:solidFill>
              <a:srgbClr val="D948FF"/>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4160520" y="3954780"/>
            <a:ext cx="752298" cy="434340"/>
          </a:xfrm>
          <a:prstGeom prst="line">
            <a:avLst/>
          </a:prstGeom>
          <a:ln w="15240">
            <a:solidFill>
              <a:srgbClr val="D948FF"/>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4912818" y="3086100"/>
            <a:ext cx="0" cy="868680"/>
          </a:xfrm>
          <a:prstGeom prst="line">
            <a:avLst/>
          </a:prstGeom>
          <a:ln w="15240">
            <a:solidFill>
              <a:srgbClr val="D948FF"/>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H="1" flipV="1">
            <a:off x="4160520" y="2651760"/>
            <a:ext cx="752298" cy="434340"/>
          </a:xfrm>
          <a:prstGeom prst="line">
            <a:avLst/>
          </a:prstGeom>
          <a:ln w="15240">
            <a:solidFill>
              <a:srgbClr val="D948FF"/>
            </a:solidFill>
          </a:ln>
        </p:spPr>
        <p:style>
          <a:lnRef idx="2">
            <a:schemeClr val="accent1"/>
          </a:lnRef>
          <a:fillRef idx="0">
            <a:schemeClr val="accent1"/>
          </a:fillRef>
          <a:effectRef idx="1">
            <a:schemeClr val="accent1"/>
          </a:effectRef>
          <a:fontRef idx="minor">
            <a:schemeClr val="tx1"/>
          </a:fontRef>
        </p:style>
      </p:cxnSp>
      <p:sp>
        <p:nvSpPr>
          <p:cNvPr id="281" name="Oval 280"/>
          <p:cNvSpPr/>
          <p:nvPr/>
        </p:nvSpPr>
        <p:spPr>
          <a:xfrm>
            <a:off x="4069080" y="2560320"/>
            <a:ext cx="182880" cy="182880"/>
          </a:xfrm>
          <a:prstGeom prst="ellipse">
            <a:avLst/>
          </a:prstGeom>
          <a:solidFill>
            <a:srgbClr val="D948FF"/>
          </a:solidFill>
          <a:ln>
            <a:solidFill>
              <a:srgbClr val="D94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3316781" y="2994660"/>
            <a:ext cx="182880" cy="182880"/>
          </a:xfrm>
          <a:prstGeom prst="ellipse">
            <a:avLst/>
          </a:prstGeom>
          <a:solidFill>
            <a:srgbClr val="D948FF"/>
          </a:solidFill>
          <a:ln>
            <a:solidFill>
              <a:srgbClr val="D94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3316781" y="3863340"/>
            <a:ext cx="182880" cy="182880"/>
          </a:xfrm>
          <a:prstGeom prst="ellipse">
            <a:avLst/>
          </a:prstGeom>
          <a:solidFill>
            <a:srgbClr val="D948FF"/>
          </a:solidFill>
          <a:ln>
            <a:solidFill>
              <a:srgbClr val="D94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069080" y="4297680"/>
            <a:ext cx="182880" cy="182880"/>
          </a:xfrm>
          <a:prstGeom prst="ellipse">
            <a:avLst/>
          </a:prstGeom>
          <a:solidFill>
            <a:srgbClr val="D948FF"/>
          </a:solidFill>
          <a:ln>
            <a:solidFill>
              <a:srgbClr val="D94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4821378" y="3863340"/>
            <a:ext cx="182880" cy="182880"/>
          </a:xfrm>
          <a:prstGeom prst="ellipse">
            <a:avLst/>
          </a:prstGeom>
          <a:solidFill>
            <a:srgbClr val="D948FF"/>
          </a:solidFill>
          <a:ln>
            <a:solidFill>
              <a:srgbClr val="D94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4821378" y="2994660"/>
            <a:ext cx="182880" cy="182880"/>
          </a:xfrm>
          <a:prstGeom prst="ellipse">
            <a:avLst/>
          </a:prstGeom>
          <a:solidFill>
            <a:srgbClr val="D948FF"/>
          </a:solidFill>
          <a:ln>
            <a:solidFill>
              <a:srgbClr val="D94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3063240" y="2240280"/>
            <a:ext cx="2194560" cy="228600"/>
          </a:xfrm>
          <a:prstGeom prst="rect">
            <a:avLst/>
          </a:prstGeom>
          <a:noFill/>
        </p:spPr>
        <p:txBody>
          <a:bodyPr wrap="square" lIns="27425" rIns="27425" tIns="22850" bIns="22850" anchor="t">
            <a:spAutoFit/>
          </a:bodyPr>
          <a:lstStyle/>
          <a:p>
            <a:pPr algn="ctr"/>
            <a:r>
              <a:rPr sz="900" b="1">
                <a:solidFill>
                  <a:srgbClr val="D948FF"/>
                </a:solidFill>
                <a:latin typeface="Arial"/>
              </a:rPr>
              <a:t>TRIAL-SITE NETWORK</a:t>
            </a:r>
          </a:p>
        </p:txBody>
      </p:sp>
      <p:sp>
        <p:nvSpPr>
          <p:cNvPr id="288" name="TextBox 287"/>
          <p:cNvSpPr txBox="1"/>
          <p:nvPr/>
        </p:nvSpPr>
        <p:spPr>
          <a:xfrm>
            <a:off x="3063240" y="4526280"/>
            <a:ext cx="2194560" cy="411480"/>
          </a:xfrm>
          <a:prstGeom prst="rect">
            <a:avLst/>
          </a:prstGeom>
          <a:noFill/>
        </p:spPr>
        <p:txBody>
          <a:bodyPr wrap="square" lIns="27425" rIns="27425" tIns="22850" bIns="22850" anchor="t">
            <a:spAutoFit/>
          </a:bodyPr>
          <a:lstStyle/>
          <a:p>
            <a:pPr algn="ctr"/>
            <a:r>
              <a:rPr sz="1100" b="0">
                <a:solidFill>
                  <a:srgbClr val="A1B1CD"/>
                </a:solidFill>
                <a:latin typeface="Arial"/>
              </a:rPr>
              <a:t>6 of 15 lines</a:t>
            </a:r>
          </a:p>
          <a:p>
            <a:pPr algn="ctr">
              <a:spcBef>
                <a:spcPts val="400"/>
              </a:spcBef>
            </a:pPr>
            <a:r>
              <a:rPr sz="1100" b="0">
                <a:solidFill>
                  <a:srgbClr val="A1B1CD"/>
                </a:solidFill>
                <a:latin typeface="Arial"/>
              </a:rPr>
              <a:t>density 0.40: sparse</a:t>
            </a:r>
          </a:p>
        </p:txBody>
      </p:sp>
      <p:sp>
        <p:nvSpPr>
          <p:cNvPr id="289" name="Rounded Rectangle 288"/>
          <p:cNvSpPr/>
          <p:nvPr/>
        </p:nvSpPr>
        <p:spPr>
          <a:xfrm>
            <a:off x="5715000" y="2240280"/>
            <a:ext cx="3246120" cy="914400"/>
          </a:xfrm>
          <a:prstGeom prst="roundRect">
            <a:avLst>
              <a:gd name="adj" fmla="val 20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5879592" y="2423160"/>
            <a:ext cx="50292" cy="548640"/>
          </a:xfrm>
          <a:prstGeom prst="rect">
            <a:avLst/>
          </a:prstGeom>
          <a:solidFill>
            <a:srgbClr val="27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6044184" y="2404872"/>
            <a:ext cx="2788920" cy="201168"/>
          </a:xfrm>
          <a:prstGeom prst="rect">
            <a:avLst/>
          </a:prstGeom>
          <a:noFill/>
        </p:spPr>
        <p:txBody>
          <a:bodyPr wrap="square" lIns="27425" rIns="27425" tIns="22850" bIns="22850" anchor="t">
            <a:spAutoFit/>
          </a:bodyPr>
          <a:lstStyle/>
          <a:p>
            <a:pPr algn="l"/>
            <a:r>
              <a:rPr sz="900" b="1">
                <a:solidFill>
                  <a:srgbClr val="27D6FF"/>
                </a:solidFill>
                <a:latin typeface="Arial"/>
              </a:rPr>
              <a:t>STEP 1</a:t>
            </a:r>
          </a:p>
        </p:txBody>
      </p:sp>
      <p:sp>
        <p:nvSpPr>
          <p:cNvPr id="292" name="TextBox 291"/>
          <p:cNvSpPr txBox="1"/>
          <p:nvPr/>
        </p:nvSpPr>
        <p:spPr>
          <a:xfrm>
            <a:off x="6044184" y="2651760"/>
            <a:ext cx="2770632" cy="393191"/>
          </a:xfrm>
          <a:prstGeom prst="rect">
            <a:avLst/>
          </a:prstGeom>
          <a:noFill/>
        </p:spPr>
        <p:txBody>
          <a:bodyPr wrap="square" lIns="27425" rIns="27425" tIns="22850" bIns="22850" anchor="t">
            <a:spAutoFit/>
          </a:bodyPr>
          <a:lstStyle/>
          <a:p>
            <a:pPr algn="l"/>
            <a:r>
              <a:rPr sz="1100" b="1">
                <a:solidFill>
                  <a:srgbClr val="F4F8FF"/>
                </a:solidFill>
                <a:latin typeface="Arial"/>
              </a:rPr>
              <a:t>Draw the map: </a:t>
            </a:r>
            <a:r>
              <a:rPr sz="1100" b="0">
                <a:solidFill>
                  <a:srgbClr val="A1B1CD"/>
                </a:solidFill>
                <a:latin typeface="Arial"/>
              </a:rPr>
              <a:t>One dot per choice; a line wherever the score sheet has a pair term.</a:t>
            </a:r>
          </a:p>
        </p:txBody>
      </p:sp>
      <p:sp>
        <p:nvSpPr>
          <p:cNvPr id="293" name="Rounded Rectangle 292"/>
          <p:cNvSpPr/>
          <p:nvPr/>
        </p:nvSpPr>
        <p:spPr>
          <a:xfrm>
            <a:off x="5715000" y="3218688"/>
            <a:ext cx="3246120" cy="914400"/>
          </a:xfrm>
          <a:prstGeom prst="roundRect">
            <a:avLst>
              <a:gd name="adj" fmla="val 20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5879592" y="3401568"/>
            <a:ext cx="50292" cy="548640"/>
          </a:xfrm>
          <a:prstGeom prst="rect">
            <a:avLst/>
          </a:prstGeom>
          <a:solidFill>
            <a:srgbClr val="D94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6044184" y="3383280"/>
            <a:ext cx="2788920" cy="201168"/>
          </a:xfrm>
          <a:prstGeom prst="rect">
            <a:avLst/>
          </a:prstGeom>
          <a:noFill/>
        </p:spPr>
        <p:txBody>
          <a:bodyPr wrap="square" lIns="27425" rIns="27425" tIns="22850" bIns="22850" anchor="t">
            <a:spAutoFit/>
          </a:bodyPr>
          <a:lstStyle/>
          <a:p>
            <a:pPr algn="l"/>
            <a:r>
              <a:rPr sz="900" b="1">
                <a:solidFill>
                  <a:srgbClr val="D948FF"/>
                </a:solidFill>
                <a:latin typeface="Arial"/>
              </a:rPr>
              <a:t>STEP 2</a:t>
            </a:r>
          </a:p>
        </p:txBody>
      </p:sp>
      <p:sp>
        <p:nvSpPr>
          <p:cNvPr id="296" name="TextBox 295"/>
          <p:cNvSpPr txBox="1"/>
          <p:nvPr/>
        </p:nvSpPr>
        <p:spPr>
          <a:xfrm>
            <a:off x="6044184" y="3630168"/>
            <a:ext cx="2770632" cy="393191"/>
          </a:xfrm>
          <a:prstGeom prst="rect">
            <a:avLst/>
          </a:prstGeom>
          <a:noFill/>
        </p:spPr>
        <p:txBody>
          <a:bodyPr wrap="square" lIns="27425" rIns="27425" tIns="22850" bIns="22850" anchor="t">
            <a:spAutoFit/>
          </a:bodyPr>
          <a:lstStyle/>
          <a:p>
            <a:pPr algn="l"/>
            <a:r>
              <a:rPr sz="1100" b="1">
                <a:solidFill>
                  <a:srgbClr val="F4F8FF"/>
                </a:solidFill>
                <a:latin typeface="Arial"/>
              </a:rPr>
              <a:t>Count the shape: </a:t>
            </a:r>
            <a:r>
              <a:rPr sz="1100" b="0">
                <a:solidFill>
                  <a:srgbClr val="A1B1CD"/>
                </a:solidFill>
                <a:latin typeface="Arial"/>
              </a:rPr>
              <a:t>Size, density (lines ÷ possible), links per choice, number spread.</a:t>
            </a:r>
          </a:p>
        </p:txBody>
      </p:sp>
      <p:sp>
        <p:nvSpPr>
          <p:cNvPr id="297" name="Rounded Rectangle 296"/>
          <p:cNvSpPr/>
          <p:nvPr/>
        </p:nvSpPr>
        <p:spPr>
          <a:xfrm>
            <a:off x="5715000" y="4197096"/>
            <a:ext cx="3246120" cy="914400"/>
          </a:xfrm>
          <a:prstGeom prst="roundRect">
            <a:avLst>
              <a:gd name="adj" fmla="val 20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5879592" y="4379976"/>
            <a:ext cx="50292" cy="548640"/>
          </a:xfrm>
          <a:prstGeom prst="rect">
            <a:avLst/>
          </a:prstGeom>
          <a:solidFill>
            <a:srgbClr val="5BF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6044184" y="4361688"/>
            <a:ext cx="2788920" cy="201168"/>
          </a:xfrm>
          <a:prstGeom prst="rect">
            <a:avLst/>
          </a:prstGeom>
          <a:noFill/>
        </p:spPr>
        <p:txBody>
          <a:bodyPr wrap="square" lIns="27425" rIns="27425" tIns="22850" bIns="22850" anchor="t">
            <a:spAutoFit/>
          </a:bodyPr>
          <a:lstStyle/>
          <a:p>
            <a:pPr algn="l"/>
            <a:r>
              <a:rPr sz="900" b="1">
                <a:solidFill>
                  <a:srgbClr val="5BF0B9"/>
                </a:solidFill>
                <a:latin typeface="Arial"/>
              </a:rPr>
              <a:t>STEP 3</a:t>
            </a:r>
          </a:p>
        </p:txBody>
      </p:sp>
      <p:sp>
        <p:nvSpPr>
          <p:cNvPr id="300" name="TextBox 299"/>
          <p:cNvSpPr txBox="1"/>
          <p:nvPr/>
        </p:nvSpPr>
        <p:spPr>
          <a:xfrm>
            <a:off x="6044184" y="4608576"/>
            <a:ext cx="2770632" cy="393191"/>
          </a:xfrm>
          <a:prstGeom prst="rect">
            <a:avLst/>
          </a:prstGeom>
          <a:noFill/>
        </p:spPr>
        <p:txBody>
          <a:bodyPr wrap="square" lIns="27425" rIns="27425" tIns="22850" bIns="22850" anchor="t">
            <a:spAutoFit/>
          </a:bodyPr>
          <a:lstStyle/>
          <a:p>
            <a:pPr algn="l"/>
            <a:r>
              <a:rPr sz="1100" b="1">
                <a:solidFill>
                  <a:srgbClr val="F4F8FF"/>
                </a:solidFill>
                <a:latin typeface="Arial"/>
              </a:rPr>
              <a:t>Fit IBM's real chip: </a:t>
            </a:r>
            <a:r>
              <a:rPr sz="1100" b="0">
                <a:solidFill>
                  <a:srgbClr val="A1B1CD"/>
                </a:solidFill>
                <a:latin typeface="Arial"/>
              </a:rPr>
              <a:t>Compile onto IBM Torino; count link steps and length; multiply step error chances.</a:t>
            </a:r>
          </a:p>
        </p:txBody>
      </p:sp>
      <p:sp>
        <p:nvSpPr>
          <p:cNvPr id="301" name="Rounded Rectangle 300"/>
          <p:cNvSpPr/>
          <p:nvPr/>
        </p:nvSpPr>
        <p:spPr>
          <a:xfrm>
            <a:off x="9144000" y="2240280"/>
            <a:ext cx="2514600" cy="2926080"/>
          </a:xfrm>
          <a:prstGeom prst="roundRect">
            <a:avLst>
              <a:gd name="adj" fmla="val 12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9308592" y="2423160"/>
            <a:ext cx="50292" cy="2560320"/>
          </a:xfrm>
          <a:prstGeom prst="rect">
            <a:avLst/>
          </a:prstGeom>
          <a:solidFill>
            <a:srgbClr val="FFC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9473184" y="2404872"/>
            <a:ext cx="2057400" cy="201168"/>
          </a:xfrm>
          <a:prstGeom prst="rect">
            <a:avLst/>
          </a:prstGeom>
          <a:noFill/>
        </p:spPr>
        <p:txBody>
          <a:bodyPr wrap="square" lIns="27425" rIns="27425" tIns="22850" bIns="22850" anchor="t">
            <a:spAutoFit/>
          </a:bodyPr>
          <a:lstStyle/>
          <a:p>
            <a:pPr algn="l"/>
            <a:r>
              <a:rPr sz="900" b="1">
                <a:solidFill>
                  <a:srgbClr val="FFCA5C"/>
                </a:solidFill>
                <a:latin typeface="Arial"/>
              </a:rPr>
              <a:t>THEN THE AI LEARNS</a:t>
            </a:r>
          </a:p>
        </p:txBody>
      </p:sp>
      <p:sp>
        <p:nvSpPr>
          <p:cNvPr id="304" name="TextBox 303"/>
          <p:cNvSpPr txBox="1"/>
          <p:nvPr/>
        </p:nvSpPr>
        <p:spPr>
          <a:xfrm>
            <a:off x="9473184" y="2651760"/>
            <a:ext cx="2039112" cy="2404872"/>
          </a:xfrm>
          <a:prstGeom prst="rect">
            <a:avLst/>
          </a:prstGeom>
          <a:noFill/>
        </p:spPr>
        <p:txBody>
          <a:bodyPr wrap="square" lIns="27425" rIns="27425" tIns="22850" bIns="22850" anchor="t">
            <a:spAutoFit/>
          </a:bodyPr>
          <a:lstStyle/>
          <a:p>
            <a:pPr algn="l"/>
            <a:r>
              <a:rPr sz="1100" b="1">
                <a:solidFill>
                  <a:srgbClr val="F4F8FF"/>
                </a:solidFill>
                <a:latin typeface="Arial"/>
              </a:rPr>
              <a:t>60 practice problems</a:t>
            </a:r>
            <a:r>
              <a:rPr sz="1100" b="0">
                <a:solidFill>
                  <a:srgbClr val="A1B1CD"/>
                </a:solidFill>
                <a:latin typeface="Arial"/>
              </a:rPr>
              <a:t> (stocks, tests, drugs, networks), each solved 3 ways on a simulator.</a:t>
            </a:r>
          </a:p>
          <a:p>
            <a:pPr algn="l">
              <a:spcBef>
                <a:spcPts val="400"/>
              </a:spcBef>
            </a:pPr>
            <a:r>
              <a:rPr sz="1100" b="1">
                <a:solidFill>
                  <a:srgbClr val="F4F8FF"/>
                </a:solidFill>
                <a:latin typeface="Arial"/>
              </a:rPr>
              <a:t>A random forest</a:t>
            </a:r>
            <a:r>
              <a:rPr sz="1100" b="0">
                <a:solidFill>
                  <a:srgbClr val="A1B1CD"/>
                </a:solidFill>
                <a:latin typeface="Arial"/>
              </a:rPr>
              <a:t> learns: this fingerprint → this solver scores best.</a:t>
            </a:r>
          </a:p>
          <a:p>
            <a:pPr algn="l">
              <a:spcBef>
                <a:spcPts val="400"/>
              </a:spcBef>
            </a:pPr>
            <a:r>
              <a:rPr sz="1100" b="1">
                <a:solidFill>
                  <a:srgbClr val="F4F8FF"/>
                </a:solidFill>
                <a:latin typeface="Arial"/>
              </a:rPr>
              <a:t>New problem:</a:t>
            </a:r>
            <a:r>
              <a:rPr sz="1100" b="0">
                <a:solidFill>
                  <a:srgbClr val="A1B1CD"/>
                </a:solidFill>
                <a:latin typeface="Arial"/>
              </a:rPr>
              <a:t> best quantum kind, or the laptop if no quantum option reaches 0.5.</a:t>
            </a:r>
          </a:p>
        </p:txBody>
      </p:sp>
      <p:sp>
        <p:nvSpPr>
          <p:cNvPr id="305" name="Rounded Rectangle 304"/>
          <p:cNvSpPr/>
          <p:nvPr/>
        </p:nvSpPr>
        <p:spPr>
          <a:xfrm>
            <a:off x="822960" y="5349240"/>
            <a:ext cx="10424160" cy="502920"/>
          </a:xfrm>
          <a:prstGeom prst="roundRect">
            <a:avLst>
              <a:gd name="adj" fmla="val 20000"/>
            </a:avLst>
          </a:prstGeom>
          <a:solidFill>
            <a:srgbClr val="121B37"/>
          </a:solidFill>
          <a:ln w="12700">
            <a:solidFill>
              <a:srgbClr val="FFC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305"/>
          <p:cNvSpPr txBox="1"/>
          <p:nvPr/>
        </p:nvSpPr>
        <p:spPr>
          <a:xfrm>
            <a:off x="1005840" y="5349240"/>
            <a:ext cx="10058400" cy="502920"/>
          </a:xfrm>
          <a:prstGeom prst="rect">
            <a:avLst/>
          </a:prstGeom>
          <a:noFill/>
        </p:spPr>
        <p:txBody>
          <a:bodyPr wrap="square" lIns="27425" rIns="27425" tIns="22850" bIns="22850" anchor="ctr">
            <a:spAutoFit/>
          </a:bodyPr>
          <a:lstStyle/>
          <a:p>
            <a:pPr algn="ctr"/>
            <a:r>
              <a:rPr sz="1200" b="1">
                <a:solidFill>
                  <a:srgbClr val="FFCA5C"/>
                </a:solidFill>
                <a:latin typeface="Arial"/>
              </a:rPr>
              <a:t>NINE NUMBERS = FIVE ABOUT THE MAP + FOUR ABOUT HOW THE RECIPE RUNS ON IBM'S CHIP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816"/>
        </a:solidFill>
        <a:effectLst/>
      </p:bgPr>
    </p:bg>
    <p:spTree>
      <p:nvGrpSpPr>
        <p:cNvPr id="1" name=""/>
        <p:cNvGrpSpPr/>
        <p:nvPr/>
      </p:nvGrpSpPr>
      <p:grpSpPr/>
      <p:cxnSp>
        <p:nvCxnSpPr>
          <p:cNvPr id="222" name="Google Shape;222;p2"/>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3" name="Google Shape;223;p2"/>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4" name="Google Shape;224;p2"/>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5" name="Google Shape;225;p2"/>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6" name="Google Shape;226;p2"/>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7" name="Google Shape;227;p2"/>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8" name="Google Shape;228;p2"/>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9" name="Google Shape;229;p2"/>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0" name="Google Shape;230;p2"/>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1" name="Google Shape;231;p2"/>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2" name="Google Shape;232;p2"/>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3" name="Google Shape;233;p2"/>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4" name="Google Shape;234;p2"/>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5" name="Google Shape;235;p2"/>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6" name="Google Shape;236;p2"/>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7" name="Google Shape;237;p2"/>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8" name="Google Shape;238;p2"/>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9" name="Google Shape;239;p2"/>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0" name="Google Shape;240;p2"/>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1" name="Google Shape;241;p2"/>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242" name="Google Shape;242;p2"/>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245" name="Google Shape;245;p2"/>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246" name="Google Shape;246;p2"/>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247" name="Google Shape;247;p2"/>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248" name="Google Shape;248;p2"/>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06</a:t>
            </a:r>
            <a:endParaRPr/>
          </a:p>
        </p:txBody>
      </p:sp>
      <p:sp>
        <p:nvSpPr>
          <p:cNvPr id="249" name="Google Shape;249;p2"/>
          <p:cNvSpPr txBox="1"/>
          <p:nvPr/>
        </p:nvSpPr>
        <p:spPr>
          <a:xfrm>
            <a:off x="530352" y="932688"/>
            <a:ext cx="1078992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05 / PATTERN RECOGNITION</a:t>
            </a:r>
            <a:endParaRPr/>
          </a:p>
        </p:txBody>
      </p:sp>
      <p:sp>
        <p:nvSpPr>
          <p:cNvPr id="250" name="Google Shape;250;p2"/>
          <p:cNvSpPr txBox="1"/>
          <p:nvPr/>
        </p:nvSpPr>
        <p:spPr>
          <a:xfrm>
            <a:off x="530352" y="1225296"/>
            <a:ext cx="10972800" cy="512064"/>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700" u="none" cap="none" strike="noStrike">
                <a:solidFill>
                  <a:srgbClr val="F4F8FF"/>
                </a:solidFill>
                <a:latin typeface="Arial"/>
                <a:ea typeface="Arial"/>
                <a:cs typeface="Arial"/>
                <a:sym typeface="Arial"/>
              </a:rPr>
              <a:t>Different industries share hidden shapes.</a:t>
            </a:r>
            <a:endParaRPr/>
          </a:p>
        </p:txBody>
      </p:sp>
      <p:sp>
        <p:nvSpPr>
          <p:cNvPr id="251" name="Google Shape;251;p2"/>
          <p:cNvSpPr txBox="1"/>
          <p:nvPr/>
        </p:nvSpPr>
        <p:spPr>
          <a:xfrm>
            <a:off x="566928" y="1801368"/>
            <a:ext cx="10789920" cy="36576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300" u="none" cap="none" strike="noStrike">
                <a:solidFill>
                  <a:srgbClr val="A1B1CD"/>
                </a:solidFill>
                <a:latin typeface="Arial"/>
                <a:ea typeface="Arial"/>
                <a:cs typeface="Arial"/>
                <a:sym typeface="Arial"/>
              </a:rPr>
              <a:t>Each dot is one of our 60 practice problems, placed by its nine-number fingerprint. Close dots = similar shape.</a:t>
            </a:r>
            <a:endParaRPr/>
          </a:p>
        </p:txBody>
      </p:sp>
      <p:graphicFrame>
        <p:nvGraphicFramePr>
          <p:cNvPr id="252" name="Chart 251"/>
          <p:cNvGraphicFramePr>
            <a:graphicFrameLocks noGrp="1"/>
          </p:cNvGraphicFramePr>
          <p:nvPr/>
        </p:nvGraphicFramePr>
        <p:xfrm>
          <a:off x="548640" y="2194560"/>
          <a:ext cx="6675120" cy="3657600"/>
        </p:xfrm>
        <a:graphic>
          <a:graphicData uri="http://schemas.openxmlformats.org/drawingml/2006/chart">
            <c:chart xmlns:c="http://schemas.openxmlformats.org/drawingml/2006/chart" r:id="rId3"/>
          </a:graphicData>
        </a:graphic>
      </p:graphicFrame>
      <p:sp>
        <p:nvSpPr>
          <p:cNvPr id="253" name="Rounded Rectangle 252"/>
          <p:cNvSpPr/>
          <p:nvPr/>
        </p:nvSpPr>
        <p:spPr>
          <a:xfrm>
            <a:off x="7498079" y="2194560"/>
            <a:ext cx="4160520" cy="1143000"/>
          </a:xfrm>
          <a:prstGeom prst="roundRect">
            <a:avLst>
              <a:gd name="adj" fmla="val 12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7662671" y="2377440"/>
            <a:ext cx="50292" cy="777240"/>
          </a:xfrm>
          <a:prstGeom prst="rect">
            <a:avLst/>
          </a:prstGeom>
          <a:solidFill>
            <a:srgbClr val="27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7827263" y="2359152"/>
            <a:ext cx="3703320" cy="201168"/>
          </a:xfrm>
          <a:prstGeom prst="rect">
            <a:avLst/>
          </a:prstGeom>
          <a:noFill/>
        </p:spPr>
        <p:txBody>
          <a:bodyPr wrap="square" lIns="27425" rIns="27425" tIns="22850" bIns="22850" anchor="t">
            <a:spAutoFit/>
          </a:bodyPr>
          <a:lstStyle/>
          <a:p>
            <a:pPr algn="l"/>
            <a:r>
              <a:rPr sz="900" b="1">
                <a:solidFill>
                  <a:srgbClr val="27D6FF"/>
                </a:solidFill>
                <a:latin typeface="Arial"/>
              </a:rPr>
              <a:t>HOW TO READ IT</a:t>
            </a:r>
          </a:p>
        </p:txBody>
      </p:sp>
      <p:sp>
        <p:nvSpPr>
          <p:cNvPr id="256" name="TextBox 255"/>
          <p:cNvSpPr txBox="1"/>
          <p:nvPr/>
        </p:nvSpPr>
        <p:spPr>
          <a:xfrm>
            <a:off x="7827263" y="2606040"/>
            <a:ext cx="3685031" cy="621791"/>
          </a:xfrm>
          <a:prstGeom prst="rect">
            <a:avLst/>
          </a:prstGeom>
          <a:noFill/>
        </p:spPr>
        <p:txBody>
          <a:bodyPr wrap="square" lIns="27425" rIns="27425" tIns="22850" bIns="22850" anchor="t">
            <a:spAutoFit/>
          </a:bodyPr>
          <a:lstStyle/>
          <a:p>
            <a:pPr algn="l"/>
            <a:r>
              <a:rPr sz="1100" b="0">
                <a:solidFill>
                  <a:srgbClr val="A1B1CD"/>
                </a:solidFill>
                <a:latin typeface="Arial"/>
              </a:rPr>
              <a:t>Nine numbers per problem, compressed to two axes (PCA). Only distance matters: close dots have similar shapes.</a:t>
            </a:r>
          </a:p>
        </p:txBody>
      </p:sp>
      <p:sp>
        <p:nvSpPr>
          <p:cNvPr id="257" name="Rounded Rectangle 256"/>
          <p:cNvSpPr/>
          <p:nvPr/>
        </p:nvSpPr>
        <p:spPr>
          <a:xfrm>
            <a:off x="7498079" y="3456432"/>
            <a:ext cx="4160520" cy="1143000"/>
          </a:xfrm>
          <a:prstGeom prst="roundRect">
            <a:avLst>
              <a:gd name="adj" fmla="val 12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7662671" y="3639312"/>
            <a:ext cx="50292" cy="777240"/>
          </a:xfrm>
          <a:prstGeom prst="rect">
            <a:avLst/>
          </a:prstGeom>
          <a:solidFill>
            <a:srgbClr val="D94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7827263" y="3621024"/>
            <a:ext cx="3703320" cy="201168"/>
          </a:xfrm>
          <a:prstGeom prst="rect">
            <a:avLst/>
          </a:prstGeom>
          <a:noFill/>
        </p:spPr>
        <p:txBody>
          <a:bodyPr wrap="square" lIns="27425" rIns="27425" tIns="22850" bIns="22850" anchor="t">
            <a:spAutoFit/>
          </a:bodyPr>
          <a:lstStyle/>
          <a:p>
            <a:pPr algn="l"/>
            <a:r>
              <a:rPr sz="900" b="1">
                <a:solidFill>
                  <a:srgbClr val="D948FF"/>
                </a:solidFill>
                <a:latin typeface="Arial"/>
              </a:rPr>
              <a:t>WHAT IT SHOWS</a:t>
            </a:r>
          </a:p>
        </p:txBody>
      </p:sp>
      <p:sp>
        <p:nvSpPr>
          <p:cNvPr id="260" name="TextBox 259"/>
          <p:cNvSpPr txBox="1"/>
          <p:nvPr/>
        </p:nvSpPr>
        <p:spPr>
          <a:xfrm>
            <a:off x="7827263" y="3867911"/>
            <a:ext cx="3685031" cy="621791"/>
          </a:xfrm>
          <a:prstGeom prst="rect">
            <a:avLst/>
          </a:prstGeom>
          <a:noFill/>
        </p:spPr>
        <p:txBody>
          <a:bodyPr wrap="square" lIns="27425" rIns="27425" tIns="22850" bIns="22850" anchor="t">
            <a:spAutoFit/>
          </a:bodyPr>
          <a:lstStyle/>
          <a:p>
            <a:pPr algn="l"/>
            <a:r>
              <a:rPr sz="1100" b="0">
                <a:solidFill>
                  <a:srgbClr val="A1B1CD"/>
                </a:solidFill>
                <a:latin typeface="Arial"/>
              </a:rPr>
              <a:t>Stocks and drugs overlap (both fully connected). Networks and medical tests overlap (both loosely connected).</a:t>
            </a:r>
          </a:p>
        </p:txBody>
      </p:sp>
      <p:sp>
        <p:nvSpPr>
          <p:cNvPr id="261" name="Rounded Rectangle 260"/>
          <p:cNvSpPr/>
          <p:nvPr/>
        </p:nvSpPr>
        <p:spPr>
          <a:xfrm>
            <a:off x="7498079" y="4718304"/>
            <a:ext cx="4160520" cy="1143000"/>
          </a:xfrm>
          <a:prstGeom prst="roundRect">
            <a:avLst>
              <a:gd name="adj" fmla="val 12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7662671" y="4901184"/>
            <a:ext cx="50292" cy="777240"/>
          </a:xfrm>
          <a:prstGeom prst="rect">
            <a:avLst/>
          </a:prstGeom>
          <a:solidFill>
            <a:srgbClr val="5BF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7827263" y="4882896"/>
            <a:ext cx="3703320" cy="201168"/>
          </a:xfrm>
          <a:prstGeom prst="rect">
            <a:avLst/>
          </a:prstGeom>
          <a:noFill/>
        </p:spPr>
        <p:txBody>
          <a:bodyPr wrap="square" lIns="27425" rIns="27425" tIns="22850" bIns="22850" anchor="t">
            <a:spAutoFit/>
          </a:bodyPr>
          <a:lstStyle/>
          <a:p>
            <a:pPr algn="l"/>
            <a:r>
              <a:rPr sz="900" b="1">
                <a:solidFill>
                  <a:srgbClr val="5BF0B9"/>
                </a:solidFill>
                <a:latin typeface="Arial"/>
              </a:rPr>
              <a:t>WHY IT MATTERS</a:t>
            </a:r>
          </a:p>
        </p:txBody>
      </p:sp>
      <p:sp>
        <p:nvSpPr>
          <p:cNvPr id="264" name="TextBox 263"/>
          <p:cNvSpPr txBox="1"/>
          <p:nvPr/>
        </p:nvSpPr>
        <p:spPr>
          <a:xfrm>
            <a:off x="7827263" y="5129784"/>
            <a:ext cx="3685031" cy="621791"/>
          </a:xfrm>
          <a:prstGeom prst="rect">
            <a:avLst/>
          </a:prstGeom>
          <a:noFill/>
        </p:spPr>
        <p:txBody>
          <a:bodyPr wrap="square" lIns="27425" rIns="27425" tIns="22850" bIns="22850" anchor="t">
            <a:spAutoFit/>
          </a:bodyPr>
          <a:lstStyle/>
          <a:p>
            <a:pPr algn="l"/>
            <a:r>
              <a:rPr sz="1100" b="0">
                <a:solidFill>
                  <a:srgbClr val="A1B1CD"/>
                </a:solidFill>
                <a:latin typeface="Arial"/>
              </a:rPr>
              <a:t>Shape, not industry, decides which solver fits, so lessons learned in one industry carry to another.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816"/>
        </a:solidFill>
        <a:effectLst/>
      </p:bgPr>
    </p:bg>
    <p:spTree>
      <p:nvGrpSpPr>
        <p:cNvPr id="1" name=""/>
        <p:cNvGrpSpPr/>
        <p:nvPr/>
      </p:nvGrpSpPr>
      <p:grpSpPr/>
      <p:cxnSp>
        <p:nvCxnSpPr>
          <p:cNvPr id="222" name="Google Shape;222;p2"/>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3" name="Google Shape;223;p2"/>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4" name="Google Shape;224;p2"/>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5" name="Google Shape;225;p2"/>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6" name="Google Shape;226;p2"/>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7" name="Google Shape;227;p2"/>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8" name="Google Shape;228;p2"/>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9" name="Google Shape;229;p2"/>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0" name="Google Shape;230;p2"/>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1" name="Google Shape;231;p2"/>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2" name="Google Shape;232;p2"/>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3" name="Google Shape;233;p2"/>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4" name="Google Shape;234;p2"/>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5" name="Google Shape;235;p2"/>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6" name="Google Shape;236;p2"/>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7" name="Google Shape;237;p2"/>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8" name="Google Shape;238;p2"/>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9" name="Google Shape;239;p2"/>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0" name="Google Shape;240;p2"/>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1" name="Google Shape;241;p2"/>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242" name="Google Shape;242;p2"/>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245" name="Google Shape;245;p2"/>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246" name="Google Shape;246;p2"/>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247" name="Google Shape;247;p2"/>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248" name="Google Shape;248;p2"/>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07</a:t>
            </a:r>
            <a:endParaRPr/>
          </a:p>
        </p:txBody>
      </p:sp>
      <p:sp>
        <p:nvSpPr>
          <p:cNvPr id="249" name="Google Shape;249;p2"/>
          <p:cNvSpPr txBox="1"/>
          <p:nvPr/>
        </p:nvSpPr>
        <p:spPr>
          <a:xfrm>
            <a:off x="530352" y="932688"/>
            <a:ext cx="1078992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06 / REUSING WHAT WE LEARNED</a:t>
            </a:r>
            <a:endParaRPr/>
          </a:p>
        </p:txBody>
      </p:sp>
      <p:sp>
        <p:nvSpPr>
          <p:cNvPr id="250" name="Google Shape;250;p2"/>
          <p:cNvSpPr txBox="1"/>
          <p:nvPr/>
        </p:nvSpPr>
        <p:spPr>
          <a:xfrm>
            <a:off x="530352" y="1225296"/>
            <a:ext cx="10972800" cy="512064"/>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700" u="none" cap="none" strike="noStrike">
                <a:solidFill>
                  <a:srgbClr val="F4F8FF"/>
                </a:solidFill>
                <a:latin typeface="Arial"/>
                <a:ea typeface="Arial"/>
                <a:cs typeface="Arial"/>
                <a:sym typeface="Arial"/>
              </a:rPr>
              <a:t>Where the dials come from, and why copying works.</a:t>
            </a:r>
            <a:endParaRPr/>
          </a:p>
        </p:txBody>
      </p:sp>
      <p:sp>
        <p:nvSpPr>
          <p:cNvPr id="251" name="Google Shape;251;p2"/>
          <p:cNvSpPr txBox="1"/>
          <p:nvPr/>
        </p:nvSpPr>
        <p:spPr>
          <a:xfrm>
            <a:off x="566928" y="1801368"/>
            <a:ext cx="10789920" cy="36576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300" u="none" cap="none" strike="noStrike">
                <a:solidFill>
                  <a:srgbClr val="A1B1CD"/>
                </a:solidFill>
                <a:latin typeface="Arial"/>
                <a:ea typeface="Arial"/>
                <a:cs typeface="Arial"/>
                <a:sym typeface="Arial"/>
              </a:rPr>
              <a:t>Dials are tuned once per practice problem on a simulator, saved in a library, and copied to new problems with a similar shape.</a:t>
            </a:r>
            <a:endParaRPr/>
          </a:p>
        </p:txBody>
      </p:sp>
      <p:sp>
        <p:nvSpPr>
          <p:cNvPr id="252" name="Rounded Rectangle 251"/>
          <p:cNvSpPr/>
          <p:nvPr/>
        </p:nvSpPr>
        <p:spPr>
          <a:xfrm>
            <a:off x="548640" y="2148840"/>
            <a:ext cx="2039112" cy="841248"/>
          </a:xfrm>
          <a:prstGeom prst="roundRect">
            <a:avLst>
              <a:gd name="adj" fmla="val 20000"/>
            </a:avLst>
          </a:prstGeom>
          <a:solidFill>
            <a:srgbClr val="0D132A"/>
          </a:solidFill>
          <a:ln w="12700">
            <a:solidFill>
              <a:srgbClr val="27D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594360" y="2148840"/>
            <a:ext cx="1947672" cy="841248"/>
          </a:xfrm>
          <a:prstGeom prst="rect">
            <a:avLst/>
          </a:prstGeom>
          <a:noFill/>
        </p:spPr>
        <p:txBody>
          <a:bodyPr wrap="square" lIns="27425" rIns="27425" tIns="22850" bIns="22850" anchor="ctr">
            <a:spAutoFit/>
          </a:bodyPr>
          <a:lstStyle/>
          <a:p>
            <a:pPr algn="ctr"/>
            <a:r>
              <a:rPr sz="1000" b="1">
                <a:solidFill>
                  <a:srgbClr val="27D6FF"/>
                </a:solidFill>
                <a:latin typeface="Arial"/>
              </a:rPr>
              <a:t>60 PRACTICE PROBLEMS</a:t>
            </a:r>
          </a:p>
          <a:p>
            <a:pPr algn="ctr">
              <a:spcBef>
                <a:spcPts val="400"/>
              </a:spcBef>
            </a:pPr>
            <a:r>
              <a:rPr sz="1000" b="0">
                <a:solidFill>
                  <a:srgbClr val="F4F8FF"/>
                </a:solidFill>
                <a:latin typeface="Arial"/>
              </a:rPr>
              <a:t>stocks · tests · drugs · networks</a:t>
            </a:r>
          </a:p>
        </p:txBody>
      </p:sp>
      <p:cxnSp>
        <p:nvCxnSpPr>
          <p:cNvPr id="254" name="Connector 253"/>
          <p:cNvCxnSpPr/>
          <p:nvPr/>
        </p:nvCxnSpPr>
        <p:spPr>
          <a:xfrm>
            <a:off x="2606040" y="2569464"/>
            <a:ext cx="192024" cy="0"/>
          </a:xfrm>
          <a:prstGeom prst="line">
            <a:avLst/>
          </a:prstGeom>
          <a:ln w="15875">
            <a:solidFill>
              <a:srgbClr val="374D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5" name="Rounded Rectangle 254"/>
          <p:cNvSpPr/>
          <p:nvPr/>
        </p:nvSpPr>
        <p:spPr>
          <a:xfrm>
            <a:off x="2816352" y="2148840"/>
            <a:ext cx="2039112" cy="841248"/>
          </a:xfrm>
          <a:prstGeom prst="roundRect">
            <a:avLst>
              <a:gd name="adj" fmla="val 20000"/>
            </a:avLst>
          </a:prstGeom>
          <a:solidFill>
            <a:srgbClr val="0D132A"/>
          </a:solidFill>
          <a:ln w="12700">
            <a:solidFill>
              <a:srgbClr val="D94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2862072" y="2148840"/>
            <a:ext cx="1947672" cy="841248"/>
          </a:xfrm>
          <a:prstGeom prst="rect">
            <a:avLst/>
          </a:prstGeom>
          <a:noFill/>
        </p:spPr>
        <p:txBody>
          <a:bodyPr wrap="square" lIns="27425" rIns="27425" tIns="22850" bIns="22850" anchor="ctr">
            <a:spAutoFit/>
          </a:bodyPr>
          <a:lstStyle/>
          <a:p>
            <a:pPr algn="ctr"/>
            <a:r>
              <a:rPr sz="1000" b="1">
                <a:solidFill>
                  <a:srgbClr val="D948FF"/>
                </a:solidFill>
                <a:latin typeface="Arial"/>
              </a:rPr>
              <a:t>TUNE EACH ONCE</a:t>
            </a:r>
          </a:p>
          <a:p>
            <a:pPr algn="ctr">
              <a:spcBef>
                <a:spcPts val="400"/>
              </a:spcBef>
            </a:pPr>
            <a:r>
              <a:rPr sz="1000" b="0">
                <a:solidFill>
                  <a:srgbClr val="F4F8FF"/>
                </a:solidFill>
                <a:latin typeface="Arial"/>
              </a:rPr>
              <a:t>~60 tries on a simulator: no quantum time</a:t>
            </a:r>
          </a:p>
        </p:txBody>
      </p:sp>
      <p:cxnSp>
        <p:nvCxnSpPr>
          <p:cNvPr id="257" name="Connector 256"/>
          <p:cNvCxnSpPr/>
          <p:nvPr/>
        </p:nvCxnSpPr>
        <p:spPr>
          <a:xfrm>
            <a:off x="4873752" y="2569464"/>
            <a:ext cx="192024" cy="0"/>
          </a:xfrm>
          <a:prstGeom prst="line">
            <a:avLst/>
          </a:prstGeom>
          <a:ln w="15875">
            <a:solidFill>
              <a:srgbClr val="374D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8" name="Rounded Rectangle 257"/>
          <p:cNvSpPr/>
          <p:nvPr/>
        </p:nvSpPr>
        <p:spPr>
          <a:xfrm>
            <a:off x="5084064" y="2148840"/>
            <a:ext cx="2039112" cy="841248"/>
          </a:xfrm>
          <a:prstGeom prst="roundRect">
            <a:avLst>
              <a:gd name="adj" fmla="val 20000"/>
            </a:avLst>
          </a:prstGeom>
          <a:solidFill>
            <a:srgbClr val="0D132A"/>
          </a:solidFill>
          <a:ln w="12700">
            <a:solidFill>
              <a:srgbClr val="8C5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5129783" y="2148840"/>
            <a:ext cx="1947672" cy="841248"/>
          </a:xfrm>
          <a:prstGeom prst="rect">
            <a:avLst/>
          </a:prstGeom>
          <a:noFill/>
        </p:spPr>
        <p:txBody>
          <a:bodyPr wrap="square" lIns="27425" rIns="27425" tIns="22850" bIns="22850" anchor="ctr">
            <a:spAutoFit/>
          </a:bodyPr>
          <a:lstStyle/>
          <a:p>
            <a:pPr algn="ctr"/>
            <a:r>
              <a:rPr sz="1000" b="1">
                <a:solidFill>
                  <a:srgbClr val="8C5DFF"/>
                </a:solidFill>
                <a:latin typeface="Arial"/>
              </a:rPr>
              <a:t>SAVE A LIBRARY</a:t>
            </a:r>
          </a:p>
          <a:p>
            <a:pPr algn="ctr">
              <a:spcBef>
                <a:spcPts val="400"/>
              </a:spcBef>
            </a:pPr>
            <a:r>
              <a:rPr sz="1000" b="0">
                <a:solidFill>
                  <a:srgbClr val="F4F8FF"/>
                </a:solidFill>
                <a:latin typeface="Arial"/>
              </a:rPr>
              <a:t>each problem's shape + its best 2 dials</a:t>
            </a:r>
          </a:p>
        </p:txBody>
      </p:sp>
      <p:cxnSp>
        <p:nvCxnSpPr>
          <p:cNvPr id="260" name="Connector 259"/>
          <p:cNvCxnSpPr/>
          <p:nvPr/>
        </p:nvCxnSpPr>
        <p:spPr>
          <a:xfrm>
            <a:off x="7141463" y="2569464"/>
            <a:ext cx="192025" cy="0"/>
          </a:xfrm>
          <a:prstGeom prst="line">
            <a:avLst/>
          </a:prstGeom>
          <a:ln w="15875">
            <a:solidFill>
              <a:srgbClr val="374D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1" name="Rounded Rectangle 260"/>
          <p:cNvSpPr/>
          <p:nvPr/>
        </p:nvSpPr>
        <p:spPr>
          <a:xfrm>
            <a:off x="7351775" y="2148840"/>
            <a:ext cx="2039112" cy="841248"/>
          </a:xfrm>
          <a:prstGeom prst="roundRect">
            <a:avLst>
              <a:gd name="adj" fmla="val 20000"/>
            </a:avLst>
          </a:prstGeom>
          <a:solidFill>
            <a:srgbClr val="0D132A"/>
          </a:solidFill>
          <a:ln w="12700">
            <a:solidFill>
              <a:srgbClr val="5BF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7397496" y="2148840"/>
            <a:ext cx="1947672" cy="841248"/>
          </a:xfrm>
          <a:prstGeom prst="rect">
            <a:avLst/>
          </a:prstGeom>
          <a:noFill/>
        </p:spPr>
        <p:txBody>
          <a:bodyPr wrap="square" lIns="27425" rIns="27425" tIns="22850" bIns="22850" anchor="ctr">
            <a:spAutoFit/>
          </a:bodyPr>
          <a:lstStyle/>
          <a:p>
            <a:pPr algn="ctr"/>
            <a:r>
              <a:rPr sz="1000" b="1">
                <a:solidFill>
                  <a:srgbClr val="5BF0B9"/>
                </a:solidFill>
                <a:latin typeface="Arial"/>
              </a:rPr>
              <a:t>NEW PROBLEM ARRIVES</a:t>
            </a:r>
          </a:p>
          <a:p>
            <a:pPr algn="ctr">
              <a:spcBef>
                <a:spcPts val="400"/>
              </a:spcBef>
            </a:pPr>
            <a:r>
              <a:rPr sz="1000" b="0">
                <a:solidFill>
                  <a:srgbClr val="F4F8FF"/>
                </a:solidFill>
                <a:latin typeface="Arial"/>
              </a:rPr>
              <a:t>find the closest shape in another industry</a:t>
            </a:r>
          </a:p>
        </p:txBody>
      </p:sp>
      <p:cxnSp>
        <p:nvCxnSpPr>
          <p:cNvPr id="263" name="Connector 262"/>
          <p:cNvCxnSpPr/>
          <p:nvPr/>
        </p:nvCxnSpPr>
        <p:spPr>
          <a:xfrm>
            <a:off x="9409176" y="2569464"/>
            <a:ext cx="192024" cy="0"/>
          </a:xfrm>
          <a:prstGeom prst="line">
            <a:avLst/>
          </a:prstGeom>
          <a:ln w="15875">
            <a:solidFill>
              <a:srgbClr val="374D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4" name="Rounded Rectangle 263"/>
          <p:cNvSpPr/>
          <p:nvPr/>
        </p:nvSpPr>
        <p:spPr>
          <a:xfrm>
            <a:off x="9619488" y="2148840"/>
            <a:ext cx="2039112" cy="841248"/>
          </a:xfrm>
          <a:prstGeom prst="roundRect">
            <a:avLst>
              <a:gd name="adj" fmla="val 20000"/>
            </a:avLst>
          </a:prstGeom>
          <a:solidFill>
            <a:srgbClr val="0D132A"/>
          </a:solidFill>
          <a:ln w="12700">
            <a:solidFill>
              <a:srgbClr val="FFC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665208" y="2148840"/>
            <a:ext cx="1947672" cy="841248"/>
          </a:xfrm>
          <a:prstGeom prst="rect">
            <a:avLst/>
          </a:prstGeom>
          <a:noFill/>
        </p:spPr>
        <p:txBody>
          <a:bodyPr wrap="square" lIns="27425" rIns="27425" tIns="22850" bIns="22850" anchor="ctr">
            <a:spAutoFit/>
          </a:bodyPr>
          <a:lstStyle/>
          <a:p>
            <a:pPr algn="ctr"/>
            <a:r>
              <a:rPr sz="1000" b="1">
                <a:solidFill>
                  <a:srgbClr val="FFCA5C"/>
                </a:solidFill>
                <a:latin typeface="Arial"/>
              </a:rPr>
              <a:t>COPY + RUN ONCE</a:t>
            </a:r>
          </a:p>
          <a:p>
            <a:pPr algn="ctr">
              <a:spcBef>
                <a:spcPts val="400"/>
              </a:spcBef>
            </a:pPr>
            <a:r>
              <a:rPr sz="1000" b="0">
                <a:solidFill>
                  <a:srgbClr val="F4F8FF"/>
                </a:solidFill>
                <a:latin typeface="Arial"/>
              </a:rPr>
              <a:t>1 try instead of 60</a:t>
            </a:r>
          </a:p>
        </p:txBody>
      </p:sp>
      <p:graphicFrame>
        <p:nvGraphicFramePr>
          <p:cNvPr id="266" name="Chart 265"/>
          <p:cNvGraphicFramePr>
            <a:graphicFrameLocks noGrp="1"/>
          </p:cNvGraphicFramePr>
          <p:nvPr/>
        </p:nvGraphicFramePr>
        <p:xfrm>
          <a:off x="548640" y="3154680"/>
          <a:ext cx="5760720" cy="2103120"/>
        </p:xfrm>
        <a:graphic>
          <a:graphicData uri="http://schemas.openxmlformats.org/drawingml/2006/chart">
            <c:chart xmlns:c="http://schemas.openxmlformats.org/drawingml/2006/chart" r:id="rId3"/>
          </a:graphicData>
        </a:graphic>
      </p:graphicFrame>
      <p:sp>
        <p:nvSpPr>
          <p:cNvPr id="267" name="TextBox 266"/>
          <p:cNvSpPr txBox="1"/>
          <p:nvPr/>
        </p:nvSpPr>
        <p:spPr>
          <a:xfrm>
            <a:off x="548640" y="5257800"/>
            <a:ext cx="5760720" cy="274320"/>
          </a:xfrm>
          <a:prstGeom prst="rect">
            <a:avLst/>
          </a:prstGeom>
          <a:noFill/>
        </p:spPr>
        <p:txBody>
          <a:bodyPr wrap="square" lIns="27425" rIns="27425" tIns="22850" bIns="22850" anchor="t">
            <a:spAutoFit/>
          </a:bodyPr>
          <a:lstStyle/>
          <a:p>
            <a:pPr algn="l"/>
            <a:r>
              <a:rPr sz="1000" b="0">
                <a:solidFill>
                  <a:srgbClr val="A1B1CD"/>
                </a:solidFill>
                <a:latin typeface="Arial"/>
              </a:rPr>
              <a:t>All 60 problems tested this way · score 1 = best, 0 = random · ± 0.02</a:t>
            </a:r>
          </a:p>
        </p:txBody>
      </p:sp>
      <p:sp>
        <p:nvSpPr>
          <p:cNvPr id="268" name="Rounded Rectangle 267"/>
          <p:cNvSpPr/>
          <p:nvPr/>
        </p:nvSpPr>
        <p:spPr>
          <a:xfrm>
            <a:off x="6583680" y="3154680"/>
            <a:ext cx="5074920" cy="1051560"/>
          </a:xfrm>
          <a:prstGeom prst="roundRect">
            <a:avLst>
              <a:gd name="adj" fmla="val 12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6748272" y="3337560"/>
            <a:ext cx="50292" cy="685799"/>
          </a:xfrm>
          <a:prstGeom prst="rect">
            <a:avLst/>
          </a:prstGeom>
          <a:solidFill>
            <a:srgbClr val="27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6912864" y="3319272"/>
            <a:ext cx="4617720" cy="201168"/>
          </a:xfrm>
          <a:prstGeom prst="rect">
            <a:avLst/>
          </a:prstGeom>
          <a:noFill/>
        </p:spPr>
        <p:txBody>
          <a:bodyPr wrap="square" lIns="27425" rIns="27425" tIns="22850" bIns="22850" anchor="t">
            <a:spAutoFit/>
          </a:bodyPr>
          <a:lstStyle/>
          <a:p>
            <a:pPr algn="l"/>
            <a:r>
              <a:rPr sz="900" b="1">
                <a:solidFill>
                  <a:srgbClr val="27D6FF"/>
                </a:solidFill>
                <a:latin typeface="Arial"/>
              </a:rPr>
              <a:t>WHAT "THE DIALS" ARE</a:t>
            </a:r>
          </a:p>
        </p:txBody>
      </p:sp>
      <p:sp>
        <p:nvSpPr>
          <p:cNvPr id="271" name="TextBox 270"/>
          <p:cNvSpPr txBox="1"/>
          <p:nvPr/>
        </p:nvSpPr>
        <p:spPr>
          <a:xfrm>
            <a:off x="6912864" y="3566160"/>
            <a:ext cx="4599431" cy="530351"/>
          </a:xfrm>
          <a:prstGeom prst="rect">
            <a:avLst/>
          </a:prstGeom>
          <a:noFill/>
        </p:spPr>
        <p:txBody>
          <a:bodyPr wrap="square" lIns="27425" rIns="27425" tIns="22850" bIns="22850" anchor="t">
            <a:spAutoFit/>
          </a:bodyPr>
          <a:lstStyle/>
          <a:p>
            <a:pPr algn="l"/>
            <a:r>
              <a:rPr sz="1100" b="0">
                <a:solidFill>
                  <a:srgbClr val="A1B1CD"/>
                </a:solidFill>
                <a:latin typeface="Arial"/>
              </a:rPr>
              <a:t>Two numbers that set the gate-based recipe: how hard to push and link choices (γ) and how much to shuffle answers (β).</a:t>
            </a:r>
          </a:p>
        </p:txBody>
      </p:sp>
      <p:graphicFrame>
        <p:nvGraphicFramePr>
          <p:cNvPr id="272" name="Table 271"/>
          <p:cNvGraphicFramePr>
            <a:graphicFrameLocks noGrp="1"/>
          </p:cNvGraphicFramePr>
          <p:nvPr/>
        </p:nvGraphicFramePr>
        <p:xfrm>
          <a:off x="6583680" y="4315968"/>
          <a:ext cx="5074920" cy="1143000"/>
        </p:xfrm>
        <a:graphic>
          <a:graphicData uri="http://schemas.openxmlformats.org/drawingml/2006/table">
            <a:tbl>
              <a:tblPr firstRow="0" bandRow="0"/>
              <a:tblGrid>
                <a:gridCol w="1417320"/>
                <a:gridCol w="914400"/>
                <a:gridCol w="914400"/>
                <a:gridCol w="914400"/>
                <a:gridCol w="914400"/>
              </a:tblGrid>
              <a:tr h="228600">
                <a:tc>
                  <a:txBody>
                    <a:bodyPr/>
                    <a:lstStyle/>
                    <a:p>
                      <a:r>
                        <a:rPr sz="900" b="1">
                          <a:solidFill>
                            <a:srgbClr val="F4F8FF"/>
                          </a:solidFill>
                          <a:latin typeface="Arial"/>
                        </a:rPr>
                        <a:t>Industry</a:t>
                      </a:r>
                    </a:p>
                  </a:txBody>
                  <a:tcPr marL="54864" marR="54864" marT="18288" marB="18288" anchor="ctr">
                    <a:solidFill>
                      <a:srgbClr val="233558"/>
                    </a:solidFill>
                  </a:tcPr>
                </a:tc>
                <a:tc>
                  <a:txBody>
                    <a:bodyPr/>
                    <a:lstStyle/>
                    <a:p>
                      <a:r>
                        <a:rPr sz="900" b="1">
                          <a:solidFill>
                            <a:srgbClr val="F4F8FF"/>
                          </a:solidFill>
                          <a:latin typeface="Arial"/>
                        </a:rPr>
                        <a:t>Tuned</a:t>
                      </a:r>
                    </a:p>
                  </a:txBody>
                  <a:tcPr marL="54864" marR="54864" marT="18288" marB="18288" anchor="ctr">
                    <a:solidFill>
                      <a:srgbClr val="233558"/>
                    </a:solidFill>
                  </a:tcPr>
                </a:tc>
                <a:tc>
                  <a:txBody>
                    <a:bodyPr/>
                    <a:lstStyle/>
                    <a:p>
                      <a:r>
                        <a:rPr sz="900" b="1">
                          <a:solidFill>
                            <a:srgbClr val="F4F8FF"/>
                          </a:solidFill>
                          <a:latin typeface="Arial"/>
                        </a:rPr>
                        <a:t>Twin</a:t>
                      </a:r>
                    </a:p>
                  </a:txBody>
                  <a:tcPr marL="54864" marR="54864" marT="18288" marB="18288" anchor="ctr">
                    <a:solidFill>
                      <a:srgbClr val="233558"/>
                    </a:solidFill>
                  </a:tcPr>
                </a:tc>
                <a:tc>
                  <a:txBody>
                    <a:bodyPr/>
                    <a:lstStyle/>
                    <a:p>
                      <a:r>
                        <a:rPr sz="900" b="1">
                          <a:solidFill>
                            <a:srgbClr val="F4F8FF"/>
                          </a:solidFill>
                          <a:latin typeface="Arial"/>
                        </a:rPr>
                        <a:t>Random</a:t>
                      </a:r>
                    </a:p>
                  </a:txBody>
                  <a:tcPr marL="54864" marR="54864" marT="18288" marB="18288" anchor="ctr">
                    <a:solidFill>
                      <a:srgbClr val="233558"/>
                    </a:solidFill>
                  </a:tcPr>
                </a:tc>
                <a:tc>
                  <a:txBody>
                    <a:bodyPr/>
                    <a:lstStyle/>
                    <a:p>
                      <a:r>
                        <a:rPr sz="900" b="1">
                          <a:solidFill>
                            <a:srgbClr val="F4F8FF"/>
                          </a:solidFill>
                          <a:latin typeface="Arial"/>
                        </a:rPr>
                        <a:t>Default</a:t>
                      </a:r>
                    </a:p>
                  </a:txBody>
                  <a:tcPr marL="54864" marR="54864" marT="18288" marB="18288" anchor="ctr">
                    <a:solidFill>
                      <a:srgbClr val="233558"/>
                    </a:solidFill>
                  </a:tcPr>
                </a:tc>
              </a:tr>
              <a:tr h="228600">
                <a:tc>
                  <a:txBody>
                    <a:bodyPr/>
                    <a:lstStyle/>
                    <a:p>
                      <a:r>
                        <a:rPr sz="900" b="0">
                          <a:solidFill>
                            <a:srgbClr val="A1B1CD"/>
                          </a:solidFill>
                          <a:latin typeface="Arial"/>
                        </a:rPr>
                        <a:t>Stocks</a:t>
                      </a:r>
                    </a:p>
                  </a:txBody>
                  <a:tcPr marL="54864" marR="54864" marT="18288" marB="18288" anchor="ctr">
                    <a:solidFill>
                      <a:srgbClr val="0D132A"/>
                    </a:solidFill>
                  </a:tcPr>
                </a:tc>
                <a:tc>
                  <a:txBody>
                    <a:bodyPr/>
                    <a:lstStyle/>
                    <a:p>
                      <a:r>
                        <a:rPr sz="900" b="0">
                          <a:solidFill>
                            <a:srgbClr val="A1B1CD"/>
                          </a:solidFill>
                          <a:latin typeface="Arial"/>
                        </a:rPr>
                        <a:t>0.736</a:t>
                      </a:r>
                    </a:p>
                  </a:txBody>
                  <a:tcPr marL="54864" marR="54864" marT="18288" marB="18288" anchor="ctr">
                    <a:solidFill>
                      <a:srgbClr val="0D132A"/>
                    </a:solidFill>
                  </a:tcPr>
                </a:tc>
                <a:tc>
                  <a:txBody>
                    <a:bodyPr/>
                    <a:lstStyle/>
                    <a:p>
                      <a:r>
                        <a:rPr sz="900" b="0">
                          <a:solidFill>
                            <a:srgbClr val="A1B1CD"/>
                          </a:solidFill>
                          <a:latin typeface="Arial"/>
                        </a:rPr>
                        <a:t>0.737</a:t>
                      </a:r>
                    </a:p>
                  </a:txBody>
                  <a:tcPr marL="54864" marR="54864" marT="18288" marB="18288" anchor="ctr">
                    <a:solidFill>
                      <a:srgbClr val="0D132A"/>
                    </a:solidFill>
                  </a:tcPr>
                </a:tc>
                <a:tc>
                  <a:txBody>
                    <a:bodyPr/>
                    <a:lstStyle/>
                    <a:p>
                      <a:r>
                        <a:rPr sz="900" b="0">
                          <a:solidFill>
                            <a:srgbClr val="A1B1CD"/>
                          </a:solidFill>
                          <a:latin typeface="Arial"/>
                        </a:rPr>
                        <a:t>0.684</a:t>
                      </a:r>
                    </a:p>
                  </a:txBody>
                  <a:tcPr marL="54864" marR="54864" marT="18288" marB="18288" anchor="ctr">
                    <a:solidFill>
                      <a:srgbClr val="0D132A"/>
                    </a:solidFill>
                  </a:tcPr>
                </a:tc>
                <a:tc>
                  <a:txBody>
                    <a:bodyPr/>
                    <a:lstStyle/>
                    <a:p>
                      <a:r>
                        <a:rPr sz="900" b="0">
                          <a:solidFill>
                            <a:srgbClr val="A1B1CD"/>
                          </a:solidFill>
                          <a:latin typeface="Arial"/>
                        </a:rPr>
                        <a:t>0.690</a:t>
                      </a:r>
                    </a:p>
                  </a:txBody>
                  <a:tcPr marL="54864" marR="54864" marT="18288" marB="18288" anchor="ctr">
                    <a:solidFill>
                      <a:srgbClr val="0D132A"/>
                    </a:solidFill>
                  </a:tcPr>
                </a:tc>
              </a:tr>
              <a:tr h="228600">
                <a:tc>
                  <a:txBody>
                    <a:bodyPr/>
                    <a:lstStyle/>
                    <a:p>
                      <a:r>
                        <a:rPr sz="900" b="0">
                          <a:solidFill>
                            <a:srgbClr val="A1B1CD"/>
                          </a:solidFill>
                          <a:latin typeface="Arial"/>
                        </a:rPr>
                        <a:t>Drugs</a:t>
                      </a:r>
                    </a:p>
                  </a:txBody>
                  <a:tcPr marL="54864" marR="54864" marT="18288" marB="18288" anchor="ctr">
                    <a:solidFill>
                      <a:srgbClr val="0D132A"/>
                    </a:solidFill>
                  </a:tcPr>
                </a:tc>
                <a:tc>
                  <a:txBody>
                    <a:bodyPr/>
                    <a:lstStyle/>
                    <a:p>
                      <a:r>
                        <a:rPr sz="900" b="0">
                          <a:solidFill>
                            <a:srgbClr val="A1B1CD"/>
                          </a:solidFill>
                          <a:latin typeface="Arial"/>
                        </a:rPr>
                        <a:t>0.749</a:t>
                      </a:r>
                    </a:p>
                  </a:txBody>
                  <a:tcPr marL="54864" marR="54864" marT="18288" marB="18288" anchor="ctr">
                    <a:solidFill>
                      <a:srgbClr val="0D132A"/>
                    </a:solidFill>
                  </a:tcPr>
                </a:tc>
                <a:tc>
                  <a:txBody>
                    <a:bodyPr/>
                    <a:lstStyle/>
                    <a:p>
                      <a:r>
                        <a:rPr sz="900" b="0">
                          <a:solidFill>
                            <a:srgbClr val="A1B1CD"/>
                          </a:solidFill>
                          <a:latin typeface="Arial"/>
                        </a:rPr>
                        <a:t>0.737</a:t>
                      </a:r>
                    </a:p>
                  </a:txBody>
                  <a:tcPr marL="54864" marR="54864" marT="18288" marB="18288" anchor="ctr">
                    <a:solidFill>
                      <a:srgbClr val="0D132A"/>
                    </a:solidFill>
                  </a:tcPr>
                </a:tc>
                <a:tc>
                  <a:txBody>
                    <a:bodyPr/>
                    <a:lstStyle/>
                    <a:p>
                      <a:r>
                        <a:rPr sz="900" b="0">
                          <a:solidFill>
                            <a:srgbClr val="A1B1CD"/>
                          </a:solidFill>
                          <a:latin typeface="Arial"/>
                        </a:rPr>
                        <a:t>0.663</a:t>
                      </a:r>
                    </a:p>
                  </a:txBody>
                  <a:tcPr marL="54864" marR="54864" marT="18288" marB="18288" anchor="ctr">
                    <a:solidFill>
                      <a:srgbClr val="0D132A"/>
                    </a:solidFill>
                  </a:tcPr>
                </a:tc>
                <a:tc>
                  <a:txBody>
                    <a:bodyPr/>
                    <a:lstStyle/>
                    <a:p>
                      <a:r>
                        <a:rPr sz="900" b="0">
                          <a:solidFill>
                            <a:srgbClr val="A1B1CD"/>
                          </a:solidFill>
                          <a:latin typeface="Arial"/>
                        </a:rPr>
                        <a:t>0.694</a:t>
                      </a:r>
                    </a:p>
                  </a:txBody>
                  <a:tcPr marL="54864" marR="54864" marT="18288" marB="18288" anchor="ctr">
                    <a:solidFill>
                      <a:srgbClr val="0D132A"/>
                    </a:solidFill>
                  </a:tcPr>
                </a:tc>
              </a:tr>
              <a:tr h="228600">
                <a:tc>
                  <a:txBody>
                    <a:bodyPr/>
                    <a:lstStyle/>
                    <a:p>
                      <a:r>
                        <a:rPr sz="900" b="0">
                          <a:solidFill>
                            <a:srgbClr val="A1B1CD"/>
                          </a:solidFill>
                          <a:latin typeface="Arial"/>
                        </a:rPr>
                        <a:t>Medical tests</a:t>
                      </a:r>
                    </a:p>
                  </a:txBody>
                  <a:tcPr marL="54864" marR="54864" marT="18288" marB="18288" anchor="ctr">
                    <a:solidFill>
                      <a:srgbClr val="0D132A"/>
                    </a:solidFill>
                  </a:tcPr>
                </a:tc>
                <a:tc>
                  <a:txBody>
                    <a:bodyPr/>
                    <a:lstStyle/>
                    <a:p>
                      <a:r>
                        <a:rPr sz="900" b="0">
                          <a:solidFill>
                            <a:srgbClr val="A1B1CD"/>
                          </a:solidFill>
                          <a:latin typeface="Arial"/>
                        </a:rPr>
                        <a:t>0.615</a:t>
                      </a:r>
                    </a:p>
                  </a:txBody>
                  <a:tcPr marL="54864" marR="54864" marT="18288" marB="18288" anchor="ctr">
                    <a:solidFill>
                      <a:srgbClr val="0D132A"/>
                    </a:solidFill>
                  </a:tcPr>
                </a:tc>
                <a:tc>
                  <a:txBody>
                    <a:bodyPr/>
                    <a:lstStyle/>
                    <a:p>
                      <a:r>
                        <a:rPr sz="900" b="0">
                          <a:solidFill>
                            <a:srgbClr val="A1B1CD"/>
                          </a:solidFill>
                          <a:latin typeface="Arial"/>
                        </a:rPr>
                        <a:t>0.532</a:t>
                      </a:r>
                    </a:p>
                  </a:txBody>
                  <a:tcPr marL="54864" marR="54864" marT="18288" marB="18288" anchor="ctr">
                    <a:solidFill>
                      <a:srgbClr val="0D132A"/>
                    </a:solidFill>
                  </a:tcPr>
                </a:tc>
                <a:tc>
                  <a:txBody>
                    <a:bodyPr/>
                    <a:lstStyle/>
                    <a:p>
                      <a:r>
                        <a:rPr sz="900" b="0">
                          <a:solidFill>
                            <a:srgbClr val="A1B1CD"/>
                          </a:solidFill>
                          <a:latin typeface="Arial"/>
                        </a:rPr>
                        <a:t>0.571</a:t>
                      </a:r>
                    </a:p>
                  </a:txBody>
                  <a:tcPr marL="54864" marR="54864" marT="18288" marB="18288" anchor="ctr">
                    <a:solidFill>
                      <a:srgbClr val="0D132A"/>
                    </a:solidFill>
                  </a:tcPr>
                </a:tc>
                <a:tc>
                  <a:txBody>
                    <a:bodyPr/>
                    <a:lstStyle/>
                    <a:p>
                      <a:r>
                        <a:rPr sz="900" b="0">
                          <a:solidFill>
                            <a:srgbClr val="A1B1CD"/>
                          </a:solidFill>
                          <a:latin typeface="Arial"/>
                        </a:rPr>
                        <a:t>0.555</a:t>
                      </a:r>
                    </a:p>
                  </a:txBody>
                  <a:tcPr marL="54864" marR="54864" marT="18288" marB="18288" anchor="ctr">
                    <a:solidFill>
                      <a:srgbClr val="0D132A"/>
                    </a:solidFill>
                  </a:tcPr>
                </a:tc>
              </a:tr>
              <a:tr h="228600">
                <a:tc>
                  <a:txBody>
                    <a:bodyPr/>
                    <a:lstStyle/>
                    <a:p>
                      <a:r>
                        <a:rPr sz="900" b="0">
                          <a:solidFill>
                            <a:srgbClr val="A1B1CD"/>
                          </a:solidFill>
                          <a:latin typeface="Arial"/>
                        </a:rPr>
                        <a:t>Networks</a:t>
                      </a:r>
                    </a:p>
                  </a:txBody>
                  <a:tcPr marL="54864" marR="54864" marT="18288" marB="18288" anchor="ctr">
                    <a:solidFill>
                      <a:srgbClr val="0D132A"/>
                    </a:solidFill>
                  </a:tcPr>
                </a:tc>
                <a:tc>
                  <a:txBody>
                    <a:bodyPr/>
                    <a:lstStyle/>
                    <a:p>
                      <a:r>
                        <a:rPr sz="900" b="0">
                          <a:solidFill>
                            <a:srgbClr val="A1B1CD"/>
                          </a:solidFill>
                          <a:latin typeface="Arial"/>
                        </a:rPr>
                        <a:t>0.481</a:t>
                      </a:r>
                    </a:p>
                  </a:txBody>
                  <a:tcPr marL="54864" marR="54864" marT="18288" marB="18288" anchor="ctr">
                    <a:solidFill>
                      <a:srgbClr val="0D132A"/>
                    </a:solidFill>
                  </a:tcPr>
                </a:tc>
                <a:tc>
                  <a:txBody>
                    <a:bodyPr/>
                    <a:lstStyle/>
                    <a:p>
                      <a:r>
                        <a:rPr sz="900" b="0">
                          <a:solidFill>
                            <a:srgbClr val="A1B1CD"/>
                          </a:solidFill>
                          <a:latin typeface="Arial"/>
                        </a:rPr>
                        <a:t>0.448</a:t>
                      </a:r>
                    </a:p>
                  </a:txBody>
                  <a:tcPr marL="54864" marR="54864" marT="18288" marB="18288" anchor="ctr">
                    <a:solidFill>
                      <a:srgbClr val="0D132A"/>
                    </a:solidFill>
                  </a:tcPr>
                </a:tc>
                <a:tc>
                  <a:txBody>
                    <a:bodyPr/>
                    <a:lstStyle/>
                    <a:p>
                      <a:r>
                        <a:rPr sz="900" b="0">
                          <a:solidFill>
                            <a:srgbClr val="A1B1CD"/>
                          </a:solidFill>
                          <a:latin typeface="Arial"/>
                        </a:rPr>
                        <a:t>0.438</a:t>
                      </a:r>
                    </a:p>
                  </a:txBody>
                  <a:tcPr marL="54864" marR="54864" marT="18288" marB="18288" anchor="ctr">
                    <a:solidFill>
                      <a:srgbClr val="0D132A"/>
                    </a:solidFill>
                  </a:tcPr>
                </a:tc>
                <a:tc>
                  <a:txBody>
                    <a:bodyPr/>
                    <a:lstStyle/>
                    <a:p>
                      <a:r>
                        <a:rPr sz="900" b="0">
                          <a:solidFill>
                            <a:srgbClr val="A1B1CD"/>
                          </a:solidFill>
                          <a:latin typeface="Arial"/>
                        </a:rPr>
                        <a:t>0.434</a:t>
                      </a:r>
                    </a:p>
                  </a:txBody>
                  <a:tcPr marL="54864" marR="54864" marT="18288" marB="18288" anchor="ctr">
                    <a:solidFill>
                      <a:srgbClr val="0D132A"/>
                    </a:solidFill>
                  </a:tcPr>
                </a:tc>
              </a:tr>
            </a:tbl>
          </a:graphicData>
        </a:graphic>
      </p:graphicFrame>
      <p:sp>
        <p:nvSpPr>
          <p:cNvPr id="273" name="Rounded Rectangle 272"/>
          <p:cNvSpPr/>
          <p:nvPr/>
        </p:nvSpPr>
        <p:spPr>
          <a:xfrm>
            <a:off x="822960" y="5623560"/>
            <a:ext cx="10424160" cy="438912"/>
          </a:xfrm>
          <a:prstGeom prst="roundRect">
            <a:avLst>
              <a:gd name="adj" fmla="val 20000"/>
            </a:avLst>
          </a:prstGeom>
          <a:solidFill>
            <a:srgbClr val="121B37"/>
          </a:solidFill>
          <a:ln w="12700">
            <a:solidFill>
              <a:srgbClr val="FFC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1005840" y="5623560"/>
            <a:ext cx="10058400" cy="438912"/>
          </a:xfrm>
          <a:prstGeom prst="rect">
            <a:avLst/>
          </a:prstGeom>
          <a:noFill/>
        </p:spPr>
        <p:txBody>
          <a:bodyPr wrap="square" lIns="27425" rIns="27425" tIns="22850" bIns="22850" anchor="ctr">
            <a:spAutoFit/>
          </a:bodyPr>
          <a:lstStyle/>
          <a:p>
            <a:pPr algn="ctr"/>
            <a:r>
              <a:rPr sz="1200" b="1">
                <a:solidFill>
                  <a:srgbClr val="FFCA5C"/>
                </a:solidFill>
                <a:latin typeface="Arial"/>
              </a:rPr>
              <a:t>COPYING FROM A SIMILAR SHAPE BEATS A RANDOM COPY (0.599 VS 0.577): A THIRD OF TUNING'S GAIN FOR 1/60 OF THE COST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816"/>
        </a:solidFill>
        <a:effectLst/>
      </p:bgPr>
    </p:bg>
    <p:spTree>
      <p:nvGrpSpPr>
        <p:cNvPr id="1" name=""/>
        <p:cNvGrpSpPr/>
        <p:nvPr/>
      </p:nvGrpSpPr>
      <p:grpSpPr/>
      <p:cxnSp>
        <p:nvCxnSpPr>
          <p:cNvPr id="222" name="Google Shape;222;p2"/>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3" name="Google Shape;223;p2"/>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4" name="Google Shape;224;p2"/>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5" name="Google Shape;225;p2"/>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6" name="Google Shape;226;p2"/>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7" name="Google Shape;227;p2"/>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8" name="Google Shape;228;p2"/>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9" name="Google Shape;229;p2"/>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0" name="Google Shape;230;p2"/>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1" name="Google Shape;231;p2"/>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2" name="Google Shape;232;p2"/>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3" name="Google Shape;233;p2"/>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4" name="Google Shape;234;p2"/>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5" name="Google Shape;235;p2"/>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6" name="Google Shape;236;p2"/>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7" name="Google Shape;237;p2"/>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8" name="Google Shape;238;p2"/>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9" name="Google Shape;239;p2"/>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0" name="Google Shape;240;p2"/>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1" name="Google Shape;241;p2"/>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242" name="Google Shape;242;p2"/>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245" name="Google Shape;245;p2"/>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246" name="Google Shape;246;p2"/>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247" name="Google Shape;247;p2"/>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248" name="Google Shape;248;p2"/>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08</a:t>
            </a:r>
            <a:endParaRPr/>
          </a:p>
        </p:txBody>
      </p:sp>
      <p:sp>
        <p:nvSpPr>
          <p:cNvPr id="249" name="Google Shape;249;p2"/>
          <p:cNvSpPr txBox="1"/>
          <p:nvPr/>
        </p:nvSpPr>
        <p:spPr>
          <a:xfrm>
            <a:off x="530352" y="932688"/>
            <a:ext cx="1078992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07 / SAVING QUANTUM TIME</a:t>
            </a:r>
            <a:endParaRPr/>
          </a:p>
        </p:txBody>
      </p:sp>
      <p:sp>
        <p:nvSpPr>
          <p:cNvPr id="250" name="Google Shape;250;p2"/>
          <p:cNvSpPr txBox="1"/>
          <p:nvPr/>
        </p:nvSpPr>
        <p:spPr>
          <a:xfrm>
            <a:off x="530352" y="1225296"/>
            <a:ext cx="10972800" cy="512064"/>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700" u="none" cap="none" strike="noStrike">
                <a:solidFill>
                  <a:srgbClr val="F4F8FF"/>
                </a:solidFill>
                <a:latin typeface="Arial"/>
                <a:ea typeface="Arial"/>
                <a:cs typeface="Arial"/>
                <a:sym typeface="Arial"/>
              </a:rPr>
              <a:t>Pattern recognition lets many problems share one run.</a:t>
            </a:r>
            <a:endParaRPr/>
          </a:p>
        </p:txBody>
      </p:sp>
      <p:sp>
        <p:nvSpPr>
          <p:cNvPr id="251" name="Google Shape;251;p2"/>
          <p:cNvSpPr txBox="1"/>
          <p:nvPr/>
        </p:nvSpPr>
        <p:spPr>
          <a:xfrm>
            <a:off x="566928" y="1801368"/>
            <a:ext cx="10789920" cy="36576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300" u="none" cap="none" strike="noStrike">
                <a:solidFill>
                  <a:srgbClr val="A1B1CD"/>
                </a:solidFill>
                <a:latin typeface="Arial"/>
                <a:ea typeface="Arial"/>
                <a:cs typeface="Arial"/>
                <a:sym typeface="Arial"/>
              </a:rPr>
              <a:t>Group problems by shape, tune once per group, and send them all to the chip together in a single job.</a:t>
            </a:r>
            <a:endParaRPr/>
          </a:p>
        </p:txBody>
      </p:sp>
      <p:sp>
        <p:nvSpPr>
          <p:cNvPr id="252" name="Rounded Rectangle 251"/>
          <p:cNvSpPr/>
          <p:nvPr/>
        </p:nvSpPr>
        <p:spPr>
          <a:xfrm>
            <a:off x="548640" y="2240280"/>
            <a:ext cx="1417320" cy="438912"/>
          </a:xfrm>
          <a:prstGeom prst="roundRect">
            <a:avLst>
              <a:gd name="adj" fmla="val 20000"/>
            </a:avLst>
          </a:prstGeom>
          <a:solidFill>
            <a:srgbClr val="0D132A"/>
          </a:solidFill>
          <a:ln w="12700">
            <a:solidFill>
              <a:srgbClr val="27D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548640" y="2240280"/>
            <a:ext cx="1417320" cy="438912"/>
          </a:xfrm>
          <a:prstGeom prst="rect">
            <a:avLst/>
          </a:prstGeom>
          <a:noFill/>
        </p:spPr>
        <p:txBody>
          <a:bodyPr wrap="square" lIns="27425" rIns="27425" tIns="22850" bIns="22850" anchor="ctr">
            <a:spAutoFit/>
          </a:bodyPr>
          <a:lstStyle/>
          <a:p>
            <a:pPr algn="ctr"/>
            <a:r>
              <a:rPr sz="1000" b="1">
                <a:solidFill>
                  <a:srgbClr val="F4F8FF"/>
                </a:solidFill>
                <a:latin typeface="Arial"/>
              </a:rPr>
              <a:t>Stocks</a:t>
            </a:r>
          </a:p>
        </p:txBody>
      </p:sp>
      <p:sp>
        <p:nvSpPr>
          <p:cNvPr id="254" name="Rounded Rectangle 253"/>
          <p:cNvSpPr/>
          <p:nvPr/>
        </p:nvSpPr>
        <p:spPr>
          <a:xfrm>
            <a:off x="548640" y="2807208"/>
            <a:ext cx="1417320" cy="438912"/>
          </a:xfrm>
          <a:prstGeom prst="roundRect">
            <a:avLst>
              <a:gd name="adj" fmla="val 20000"/>
            </a:avLst>
          </a:prstGeom>
          <a:solidFill>
            <a:srgbClr val="0D132A"/>
          </a:solidFill>
          <a:ln w="12700">
            <a:solidFill>
              <a:srgbClr val="D94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548640" y="2807208"/>
            <a:ext cx="1417320" cy="438912"/>
          </a:xfrm>
          <a:prstGeom prst="rect">
            <a:avLst/>
          </a:prstGeom>
          <a:noFill/>
        </p:spPr>
        <p:txBody>
          <a:bodyPr wrap="square" lIns="27425" rIns="27425" tIns="22850" bIns="22850" anchor="ctr">
            <a:spAutoFit/>
          </a:bodyPr>
          <a:lstStyle/>
          <a:p>
            <a:pPr algn="ctr"/>
            <a:r>
              <a:rPr sz="1000" b="1">
                <a:solidFill>
                  <a:srgbClr val="F4F8FF"/>
                </a:solidFill>
                <a:latin typeface="Arial"/>
              </a:rPr>
              <a:t>Medical tests</a:t>
            </a:r>
          </a:p>
        </p:txBody>
      </p:sp>
      <p:sp>
        <p:nvSpPr>
          <p:cNvPr id="256" name="Rounded Rectangle 255"/>
          <p:cNvSpPr/>
          <p:nvPr/>
        </p:nvSpPr>
        <p:spPr>
          <a:xfrm>
            <a:off x="548640" y="3374136"/>
            <a:ext cx="1417320" cy="438912"/>
          </a:xfrm>
          <a:prstGeom prst="roundRect">
            <a:avLst>
              <a:gd name="adj" fmla="val 20000"/>
            </a:avLst>
          </a:prstGeom>
          <a:solidFill>
            <a:srgbClr val="0D132A"/>
          </a:solidFill>
          <a:ln w="12700">
            <a:solidFill>
              <a:srgbClr val="8C5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548640" y="3374136"/>
            <a:ext cx="1417320" cy="438912"/>
          </a:xfrm>
          <a:prstGeom prst="rect">
            <a:avLst/>
          </a:prstGeom>
          <a:noFill/>
        </p:spPr>
        <p:txBody>
          <a:bodyPr wrap="square" lIns="27425" rIns="27425" tIns="22850" bIns="22850" anchor="ctr">
            <a:spAutoFit/>
          </a:bodyPr>
          <a:lstStyle/>
          <a:p>
            <a:pPr algn="ctr"/>
            <a:r>
              <a:rPr sz="1000" b="1">
                <a:solidFill>
                  <a:srgbClr val="F4F8FF"/>
                </a:solidFill>
                <a:latin typeface="Arial"/>
              </a:rPr>
              <a:t>Drugs</a:t>
            </a:r>
          </a:p>
        </p:txBody>
      </p:sp>
      <p:sp>
        <p:nvSpPr>
          <p:cNvPr id="258" name="Rounded Rectangle 257"/>
          <p:cNvSpPr/>
          <p:nvPr/>
        </p:nvSpPr>
        <p:spPr>
          <a:xfrm>
            <a:off x="548640" y="3941064"/>
            <a:ext cx="1417320" cy="438912"/>
          </a:xfrm>
          <a:prstGeom prst="roundRect">
            <a:avLst>
              <a:gd name="adj" fmla="val 20000"/>
            </a:avLst>
          </a:prstGeom>
          <a:solidFill>
            <a:srgbClr val="0D132A"/>
          </a:solidFill>
          <a:ln w="12700">
            <a:solidFill>
              <a:srgbClr val="5BF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548640" y="3941064"/>
            <a:ext cx="1417320" cy="438912"/>
          </a:xfrm>
          <a:prstGeom prst="rect">
            <a:avLst/>
          </a:prstGeom>
          <a:noFill/>
        </p:spPr>
        <p:txBody>
          <a:bodyPr wrap="square" lIns="27425" rIns="27425" tIns="22850" bIns="22850" anchor="ctr">
            <a:spAutoFit/>
          </a:bodyPr>
          <a:lstStyle/>
          <a:p>
            <a:pPr algn="ctr"/>
            <a:r>
              <a:rPr sz="1000" b="1">
                <a:solidFill>
                  <a:srgbClr val="F4F8FF"/>
                </a:solidFill>
                <a:latin typeface="Arial"/>
              </a:rPr>
              <a:t>Network</a:t>
            </a:r>
          </a:p>
        </p:txBody>
      </p:sp>
      <p:sp>
        <p:nvSpPr>
          <p:cNvPr id="260" name="Rounded Rectangle 259"/>
          <p:cNvSpPr/>
          <p:nvPr/>
        </p:nvSpPr>
        <p:spPr>
          <a:xfrm>
            <a:off x="2377440" y="2240280"/>
            <a:ext cx="1463040" cy="987552"/>
          </a:xfrm>
          <a:prstGeom prst="roundRect">
            <a:avLst>
              <a:gd name="adj" fmla="val 12000"/>
            </a:avLst>
          </a:prstGeom>
          <a:solidFill>
            <a:srgbClr val="121B37"/>
          </a:solidFill>
          <a:ln w="12700">
            <a:solidFill>
              <a:srgbClr val="27D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2377440" y="2240280"/>
            <a:ext cx="1463040" cy="987552"/>
          </a:xfrm>
          <a:prstGeom prst="rect">
            <a:avLst/>
          </a:prstGeom>
          <a:noFill/>
        </p:spPr>
        <p:txBody>
          <a:bodyPr wrap="square" lIns="27425" rIns="27425" tIns="22850" bIns="22850" anchor="ctr">
            <a:spAutoFit/>
          </a:bodyPr>
          <a:lstStyle/>
          <a:p>
            <a:pPr algn="ctr"/>
            <a:r>
              <a:rPr sz="900" b="1">
                <a:solidFill>
                  <a:srgbClr val="F4F8FF"/>
                </a:solidFill>
                <a:latin typeface="Arial"/>
              </a:rPr>
              <a:t>SHAPE FAMILY 1</a:t>
            </a:r>
          </a:p>
          <a:p>
            <a:pPr algn="ctr">
              <a:spcBef>
                <a:spcPts val="400"/>
              </a:spcBef>
            </a:pPr>
            <a:r>
              <a:rPr sz="900" b="1">
                <a:solidFill>
                  <a:srgbClr val="F4F8FF"/>
                </a:solidFill>
                <a:latin typeface="Arial"/>
              </a:rPr>
              <a:t>stocks · drugs · network</a:t>
            </a:r>
          </a:p>
          <a:p>
            <a:pPr algn="ctr">
              <a:spcBef>
                <a:spcPts val="400"/>
              </a:spcBef>
            </a:pPr>
            <a:r>
              <a:rPr sz="900" b="1">
                <a:solidFill>
                  <a:srgbClr val="F4F8FF"/>
                </a:solidFill>
                <a:latin typeface="Arial"/>
              </a:rPr>
              <a:t>tune 1, the rest copy</a:t>
            </a:r>
          </a:p>
        </p:txBody>
      </p:sp>
      <p:sp>
        <p:nvSpPr>
          <p:cNvPr id="262" name="Rounded Rectangle 261"/>
          <p:cNvSpPr/>
          <p:nvPr/>
        </p:nvSpPr>
        <p:spPr>
          <a:xfrm>
            <a:off x="2377440" y="3374136"/>
            <a:ext cx="1463040" cy="896112"/>
          </a:xfrm>
          <a:prstGeom prst="roundRect">
            <a:avLst>
              <a:gd name="adj" fmla="val 20000"/>
            </a:avLst>
          </a:prstGeom>
          <a:solidFill>
            <a:srgbClr val="121B37"/>
          </a:solidFill>
          <a:ln w="12700">
            <a:solidFill>
              <a:srgbClr val="D94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2377440" y="3374136"/>
            <a:ext cx="1463040" cy="896112"/>
          </a:xfrm>
          <a:prstGeom prst="rect">
            <a:avLst/>
          </a:prstGeom>
          <a:noFill/>
        </p:spPr>
        <p:txBody>
          <a:bodyPr wrap="square" lIns="27425" rIns="27425" tIns="22850" bIns="22850" anchor="ctr">
            <a:spAutoFit/>
          </a:bodyPr>
          <a:lstStyle/>
          <a:p>
            <a:pPr algn="ctr"/>
            <a:r>
              <a:rPr sz="900" b="1">
                <a:solidFill>
                  <a:srgbClr val="F4F8FF"/>
                </a:solidFill>
                <a:latin typeface="Arial"/>
              </a:rPr>
              <a:t>SHAPE FAMILY 2</a:t>
            </a:r>
          </a:p>
          <a:p>
            <a:pPr algn="ctr">
              <a:spcBef>
                <a:spcPts val="400"/>
              </a:spcBef>
            </a:pPr>
            <a:r>
              <a:rPr sz="900" b="1">
                <a:solidFill>
                  <a:srgbClr val="F4F8FF"/>
                </a:solidFill>
                <a:latin typeface="Arial"/>
              </a:rPr>
              <a:t>medical tests</a:t>
            </a:r>
          </a:p>
          <a:p>
            <a:pPr algn="ctr">
              <a:spcBef>
                <a:spcPts val="400"/>
              </a:spcBef>
            </a:pPr>
            <a:r>
              <a:rPr sz="900" b="1">
                <a:solidFill>
                  <a:srgbClr val="F4F8FF"/>
                </a:solidFill>
                <a:latin typeface="Arial"/>
              </a:rPr>
              <a:t>tuned on its own</a:t>
            </a:r>
          </a:p>
        </p:txBody>
      </p:sp>
      <p:cxnSp>
        <p:nvCxnSpPr>
          <p:cNvPr id="264" name="Connector 263"/>
          <p:cNvCxnSpPr/>
          <p:nvPr/>
        </p:nvCxnSpPr>
        <p:spPr>
          <a:xfrm>
            <a:off x="1965960" y="2459736"/>
            <a:ext cx="393192" cy="274320"/>
          </a:xfrm>
          <a:prstGeom prst="line">
            <a:avLst/>
          </a:prstGeom>
          <a:ln w="15875">
            <a:solidFill>
              <a:srgbClr val="27D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a:off x="1965960" y="3026664"/>
            <a:ext cx="393192" cy="795527"/>
          </a:xfrm>
          <a:prstGeom prst="line">
            <a:avLst/>
          </a:prstGeom>
          <a:ln w="15875">
            <a:solidFill>
              <a:srgbClr val="D948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1965960" y="2734056"/>
            <a:ext cx="393192" cy="859535"/>
          </a:xfrm>
          <a:prstGeom prst="line">
            <a:avLst/>
          </a:prstGeom>
          <a:ln w="15875">
            <a:solidFill>
              <a:srgbClr val="8C5D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1965960" y="2734056"/>
            <a:ext cx="393192" cy="1426464"/>
          </a:xfrm>
          <a:prstGeom prst="line">
            <a:avLst/>
          </a:prstGeom>
          <a:ln w="15875">
            <a:solidFill>
              <a:srgbClr val="5BF0B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8" name="Rounded Rectangle 267"/>
          <p:cNvSpPr/>
          <p:nvPr/>
        </p:nvSpPr>
        <p:spPr>
          <a:xfrm>
            <a:off x="4251960" y="2240280"/>
            <a:ext cx="1600200" cy="2029968"/>
          </a:xfrm>
          <a:prstGeom prst="roundRect">
            <a:avLst>
              <a:gd name="adj" fmla="val 12000"/>
            </a:avLst>
          </a:prstGeom>
          <a:solidFill>
            <a:srgbClr val="121B37"/>
          </a:solidFill>
          <a:ln w="12700">
            <a:solidFill>
              <a:srgbClr val="FFC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4251960" y="2240280"/>
            <a:ext cx="1600200" cy="2029968"/>
          </a:xfrm>
          <a:prstGeom prst="rect">
            <a:avLst/>
          </a:prstGeom>
          <a:noFill/>
        </p:spPr>
        <p:txBody>
          <a:bodyPr wrap="square" lIns="27425" rIns="27425" tIns="22850" bIns="22850" anchor="ctr">
            <a:spAutoFit/>
          </a:bodyPr>
          <a:lstStyle/>
          <a:p>
            <a:pPr algn="ctr"/>
            <a:r>
              <a:rPr sz="1100" b="1">
                <a:solidFill>
                  <a:srgbClr val="FFCA5C"/>
                </a:solidFill>
                <a:latin typeface="Arial"/>
              </a:rPr>
              <a:t>ONE CHIP JOB</a:t>
            </a:r>
          </a:p>
          <a:p>
            <a:pPr algn="ctr">
              <a:spcBef>
                <a:spcPts val="400"/>
              </a:spcBef>
            </a:pPr>
            <a:r>
              <a:rPr sz="1000" b="0">
                <a:solidFill>
                  <a:srgbClr val="F4F8FF"/>
                </a:solidFill>
                <a:latin typeface="Arial"/>
              </a:rPr>
              <a:t>16 qubits</a:t>
            </a:r>
          </a:p>
          <a:p>
            <a:pPr algn="ctr">
              <a:spcBef>
                <a:spcPts val="400"/>
              </a:spcBef>
            </a:pPr>
            <a:r>
              <a:rPr sz="1000" b="0">
                <a:solidFill>
                  <a:srgbClr val="F4F8FF"/>
                </a:solidFill>
                <a:latin typeface="Arial"/>
              </a:rPr>
              <a:t>1 tuning per family</a:t>
            </a:r>
          </a:p>
          <a:p>
            <a:pPr algn="ctr">
              <a:spcBef>
                <a:spcPts val="400"/>
              </a:spcBef>
            </a:pPr>
            <a:r>
              <a:rPr sz="1000" b="0">
                <a:solidFill>
                  <a:srgbClr val="F4F8FF"/>
                </a:solidFill>
                <a:latin typeface="Arial"/>
              </a:rPr>
              <a:t>4 problems side by side</a:t>
            </a:r>
          </a:p>
        </p:txBody>
      </p:sp>
      <p:cxnSp>
        <p:nvCxnSpPr>
          <p:cNvPr id="270" name="Connector 269"/>
          <p:cNvCxnSpPr/>
          <p:nvPr/>
        </p:nvCxnSpPr>
        <p:spPr>
          <a:xfrm>
            <a:off x="3840480" y="2734056"/>
            <a:ext cx="393192" cy="283464"/>
          </a:xfrm>
          <a:prstGeom prst="line">
            <a:avLst/>
          </a:prstGeom>
          <a:ln w="15875">
            <a:solidFill>
              <a:srgbClr val="374D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3840480" y="3474720"/>
            <a:ext cx="393192" cy="347471"/>
          </a:xfrm>
          <a:prstGeom prst="line">
            <a:avLst/>
          </a:prstGeom>
          <a:ln w="15875">
            <a:solidFill>
              <a:srgbClr val="374D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72" name="Chart 271"/>
          <p:cNvGraphicFramePr>
            <a:graphicFrameLocks noGrp="1"/>
          </p:cNvGraphicFramePr>
          <p:nvPr/>
        </p:nvGraphicFramePr>
        <p:xfrm>
          <a:off x="6172200" y="2103120"/>
          <a:ext cx="5486400" cy="2377440"/>
        </p:xfrm>
        <a:graphic>
          <a:graphicData uri="http://schemas.openxmlformats.org/drawingml/2006/chart">
            <c:chart xmlns:c="http://schemas.openxmlformats.org/drawingml/2006/chart" r:id="rId3"/>
          </a:graphicData>
        </a:graphic>
      </p:graphicFrame>
      <p:sp>
        <p:nvSpPr>
          <p:cNvPr id="273" name="TextBox 272"/>
          <p:cNvSpPr txBox="1"/>
          <p:nvPr/>
        </p:nvSpPr>
        <p:spPr>
          <a:xfrm>
            <a:off x="6172200" y="4434840"/>
            <a:ext cx="5486400" cy="228600"/>
          </a:xfrm>
          <a:prstGeom prst="rect">
            <a:avLst/>
          </a:prstGeom>
          <a:noFill/>
        </p:spPr>
        <p:txBody>
          <a:bodyPr wrap="square" lIns="27425" rIns="27425" tIns="22850" bIns="22850" anchor="t">
            <a:spAutoFit/>
          </a:bodyPr>
          <a:lstStyle/>
          <a:p>
            <a:pPr algn="ctr"/>
            <a:r>
              <a:rPr sz="1000" b="0">
                <a:solidFill>
                  <a:srgbClr val="A1B1CD"/>
                </a:solidFill>
                <a:latin typeface="Arial"/>
              </a:rPr>
              <a:t>Normal way = 100%: 4 tunings · 114 runs · 4 jobs · 16,384 shots</a:t>
            </a:r>
          </a:p>
        </p:txBody>
      </p:sp>
      <p:graphicFrame>
        <p:nvGraphicFramePr>
          <p:cNvPr id="274" name="Table 273"/>
          <p:cNvGraphicFramePr>
            <a:graphicFrameLocks noGrp="1"/>
          </p:cNvGraphicFramePr>
          <p:nvPr/>
        </p:nvGraphicFramePr>
        <p:xfrm>
          <a:off x="548640" y="4526280"/>
          <a:ext cx="5303520" cy="822960"/>
        </p:xfrm>
        <a:graphic>
          <a:graphicData uri="http://schemas.openxmlformats.org/drawingml/2006/table">
            <a:tbl>
              <a:tblPr firstRow="0" bandRow="0"/>
              <a:tblGrid>
                <a:gridCol w="1463040"/>
                <a:gridCol w="1280160"/>
                <a:gridCol w="1280160"/>
                <a:gridCol w="1280160"/>
              </a:tblGrid>
              <a:tr h="274320">
                <a:tc>
                  <a:txBody>
                    <a:bodyPr/>
                    <a:lstStyle/>
                    <a:p>
                      <a:r>
                        <a:rPr sz="1000" b="1">
                          <a:solidFill>
                            <a:srgbClr val="F4F8FF"/>
                          </a:solidFill>
                          <a:latin typeface="Arial"/>
                        </a:rPr>
                        <a:t>Quality (1 = best)</a:t>
                      </a:r>
                    </a:p>
                  </a:txBody>
                  <a:tcPr marL="54864" marR="54864" marT="18288" marB="18288" anchor="ctr">
                    <a:solidFill>
                      <a:srgbClr val="233558"/>
                    </a:solidFill>
                  </a:tcPr>
                </a:tc>
                <a:tc>
                  <a:txBody>
                    <a:bodyPr/>
                    <a:lstStyle/>
                    <a:p>
                      <a:r>
                        <a:rPr sz="1000" b="1">
                          <a:solidFill>
                            <a:srgbClr val="F4F8FF"/>
                          </a:solidFill>
                          <a:latin typeface="Arial"/>
                        </a:rPr>
                        <a:t>Own dials, alone</a:t>
                      </a:r>
                    </a:p>
                  </a:txBody>
                  <a:tcPr marL="54864" marR="54864" marT="18288" marB="18288" anchor="ctr">
                    <a:solidFill>
                      <a:srgbClr val="233558"/>
                    </a:solidFill>
                  </a:tcPr>
                </a:tc>
                <a:tc>
                  <a:txBody>
                    <a:bodyPr/>
                    <a:lstStyle/>
                    <a:p>
                      <a:r>
                        <a:rPr sz="1000" b="1">
                          <a:solidFill>
                            <a:srgbClr val="F4F8FF"/>
                          </a:solidFill>
                          <a:latin typeface="Arial"/>
                        </a:rPr>
                        <a:t>Shared, alone</a:t>
                      </a:r>
                    </a:p>
                  </a:txBody>
                  <a:tcPr marL="54864" marR="54864" marT="18288" marB="18288" anchor="ctr">
                    <a:solidFill>
                      <a:srgbClr val="233558"/>
                    </a:solidFill>
                  </a:tcPr>
                </a:tc>
                <a:tc>
                  <a:txBody>
                    <a:bodyPr/>
                    <a:lstStyle/>
                    <a:p>
                      <a:r>
                        <a:rPr sz="1000" b="1">
                          <a:solidFill>
                            <a:srgbClr val="F4F8FF"/>
                          </a:solidFill>
                          <a:latin typeface="Arial"/>
                        </a:rPr>
                        <a:t>Shared, packed</a:t>
                      </a:r>
                    </a:p>
                  </a:txBody>
                  <a:tcPr marL="54864" marR="54864" marT="18288" marB="18288" anchor="ctr">
                    <a:solidFill>
                      <a:srgbClr val="233558"/>
                    </a:solidFill>
                  </a:tcPr>
                </a:tc>
              </a:tr>
              <a:tr h="274320">
                <a:tc>
                  <a:txBody>
                    <a:bodyPr/>
                    <a:lstStyle/>
                    <a:p>
                      <a:r>
                        <a:rPr sz="1000" b="0">
                          <a:solidFill>
                            <a:srgbClr val="A1B1CD"/>
                          </a:solidFill>
                          <a:latin typeface="Arial"/>
                        </a:rPr>
                        <a:t>Chip simulation</a:t>
                      </a:r>
                    </a:p>
                  </a:txBody>
                  <a:tcPr marL="54864" marR="54864" marT="18288" marB="18288" anchor="ctr">
                    <a:solidFill>
                      <a:srgbClr val="0D132A"/>
                    </a:solidFill>
                  </a:tcPr>
                </a:tc>
                <a:tc>
                  <a:txBody>
                    <a:bodyPr/>
                    <a:lstStyle/>
                    <a:p>
                      <a:r>
                        <a:rPr sz="1000" b="0">
                          <a:solidFill>
                            <a:srgbClr val="A1B1CD"/>
                          </a:solidFill>
                          <a:latin typeface="Arial"/>
                        </a:rPr>
                        <a:t>0.524</a:t>
                      </a:r>
                    </a:p>
                  </a:txBody>
                  <a:tcPr marL="54864" marR="54864" marT="18288" marB="18288" anchor="ctr">
                    <a:solidFill>
                      <a:srgbClr val="0D132A"/>
                    </a:solidFill>
                  </a:tcPr>
                </a:tc>
                <a:tc>
                  <a:txBody>
                    <a:bodyPr/>
                    <a:lstStyle/>
                    <a:p>
                      <a:r>
                        <a:rPr sz="1000" b="0">
                          <a:solidFill>
                            <a:srgbClr val="A1B1CD"/>
                          </a:solidFill>
                          <a:latin typeface="Arial"/>
                        </a:rPr>
                        <a:t>0.499</a:t>
                      </a:r>
                    </a:p>
                  </a:txBody>
                  <a:tcPr marL="54864" marR="54864" marT="18288" marB="18288" anchor="ctr">
                    <a:solidFill>
                      <a:srgbClr val="0D132A"/>
                    </a:solidFill>
                  </a:tcPr>
                </a:tc>
                <a:tc>
                  <a:txBody>
                    <a:bodyPr/>
                    <a:lstStyle/>
                    <a:p>
                      <a:r>
                        <a:rPr sz="1000" b="0">
                          <a:solidFill>
                            <a:srgbClr val="A1B1CD"/>
                          </a:solidFill>
                          <a:latin typeface="Arial"/>
                        </a:rPr>
                        <a:t>0.504</a:t>
                      </a:r>
                    </a:p>
                  </a:txBody>
                  <a:tcPr marL="54864" marR="54864" marT="18288" marB="18288" anchor="ctr">
                    <a:solidFill>
                      <a:srgbClr val="0D132A"/>
                    </a:solidFill>
                  </a:tcPr>
                </a:tc>
              </a:tr>
              <a:tr h="274320">
                <a:tc>
                  <a:txBody>
                    <a:bodyPr/>
                    <a:lstStyle/>
                    <a:p>
                      <a:r>
                        <a:rPr sz="1000" b="0">
                          <a:solidFill>
                            <a:srgbClr val="A1B1CD"/>
                          </a:solidFill>
                          <a:latin typeface="Arial"/>
                        </a:rPr>
                        <a:t>Real ibm_kingston</a:t>
                      </a:r>
                    </a:p>
                  </a:txBody>
                  <a:tcPr marL="54864" marR="54864" marT="18288" marB="18288" anchor="ctr">
                    <a:solidFill>
                      <a:srgbClr val="0D132A"/>
                    </a:solidFill>
                  </a:tcPr>
                </a:tc>
                <a:tc>
                  <a:txBody>
                    <a:bodyPr/>
                    <a:lstStyle/>
                    <a:p>
                      <a:r>
                        <a:rPr sz="1000" b="0">
                          <a:solidFill>
                            <a:srgbClr val="A1B1CD"/>
                          </a:solidFill>
                          <a:latin typeface="Arial"/>
                        </a:rPr>
                        <a:t>0.528</a:t>
                      </a:r>
                    </a:p>
                  </a:txBody>
                  <a:tcPr marL="54864" marR="54864" marT="18288" marB="18288" anchor="ctr">
                    <a:solidFill>
                      <a:srgbClr val="0D132A"/>
                    </a:solidFill>
                  </a:tcPr>
                </a:tc>
                <a:tc>
                  <a:txBody>
                    <a:bodyPr/>
                    <a:lstStyle/>
                    <a:p>
                      <a:r>
                        <a:rPr sz="1000" b="0">
                          <a:solidFill>
                            <a:srgbClr val="A1B1CD"/>
                          </a:solidFill>
                          <a:latin typeface="Arial"/>
                        </a:rPr>
                        <a:t>0.482</a:t>
                      </a:r>
                    </a:p>
                  </a:txBody>
                  <a:tcPr marL="54864" marR="54864" marT="18288" marB="18288" anchor="ctr">
                    <a:solidFill>
                      <a:srgbClr val="0D132A"/>
                    </a:solidFill>
                  </a:tcPr>
                </a:tc>
                <a:tc>
                  <a:txBody>
                    <a:bodyPr/>
                    <a:lstStyle/>
                    <a:p>
                      <a:r>
                        <a:rPr sz="1000" b="0">
                          <a:solidFill>
                            <a:srgbClr val="A1B1CD"/>
                          </a:solidFill>
                          <a:latin typeface="Arial"/>
                        </a:rPr>
                        <a:t>0.475</a:t>
                      </a:r>
                    </a:p>
                  </a:txBody>
                  <a:tcPr marL="54864" marR="54864" marT="18288" marB="18288" anchor="ctr">
                    <a:solidFill>
                      <a:srgbClr val="0D132A"/>
                    </a:solidFill>
                  </a:tcPr>
                </a:tc>
              </a:tr>
            </a:tbl>
          </a:graphicData>
        </a:graphic>
      </p:graphicFrame>
      <p:sp>
        <p:nvSpPr>
          <p:cNvPr id="275" name="TextBox 274"/>
          <p:cNvSpPr txBox="1"/>
          <p:nvPr/>
        </p:nvSpPr>
        <p:spPr>
          <a:xfrm>
            <a:off x="6172200" y="4754880"/>
            <a:ext cx="5486400" cy="457200"/>
          </a:xfrm>
          <a:prstGeom prst="rect">
            <a:avLst/>
          </a:prstGeom>
          <a:noFill/>
        </p:spPr>
        <p:txBody>
          <a:bodyPr wrap="square" lIns="27425" rIns="27425" tIns="22850" bIns="22850" anchor="t">
            <a:spAutoFit/>
          </a:bodyPr>
          <a:lstStyle/>
          <a:p>
            <a:pPr algn="ctr"/>
            <a:r>
              <a:rPr sz="1000" b="0">
                <a:solidFill>
                  <a:srgbClr val="A1B1CD"/>
                </a:solidFill>
                <a:latin typeface="Arial"/>
              </a:rPr>
              <a:t>Run both in simulation and on the real ibm_kingston chip (one 16-qubit job).</a:t>
            </a:r>
          </a:p>
        </p:txBody>
      </p:sp>
      <p:sp>
        <p:nvSpPr>
          <p:cNvPr id="276" name="Rounded Rectangle 275"/>
          <p:cNvSpPr/>
          <p:nvPr/>
        </p:nvSpPr>
        <p:spPr>
          <a:xfrm>
            <a:off x="822960" y="5440680"/>
            <a:ext cx="10424160" cy="457200"/>
          </a:xfrm>
          <a:prstGeom prst="roundRect">
            <a:avLst>
              <a:gd name="adj" fmla="val 20000"/>
            </a:avLst>
          </a:prstGeom>
          <a:solidFill>
            <a:srgbClr val="121B37"/>
          </a:solidFill>
          <a:ln w="12700">
            <a:solidFill>
              <a:srgbClr val="FFC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005840" y="5440680"/>
            <a:ext cx="10058400" cy="457200"/>
          </a:xfrm>
          <a:prstGeom prst="rect">
            <a:avLst/>
          </a:prstGeom>
          <a:noFill/>
        </p:spPr>
        <p:txBody>
          <a:bodyPr wrap="square" lIns="27425" rIns="27425" tIns="22850" bIns="22850" anchor="ctr">
            <a:spAutoFit/>
          </a:bodyPr>
          <a:lstStyle/>
          <a:p>
            <a:pPr algn="ctr"/>
            <a:r>
              <a:rPr sz="1300" b="1">
                <a:solidFill>
                  <a:srgbClr val="FFCA5C"/>
                </a:solidFill>
                <a:latin typeface="Arial"/>
              </a:rPr>
              <a:t>4× FEWER QUANTUM SHOTS · 1 JOB INSTEAD OF 4 · 96% OF THE QUALITY (SIMULATION), 90% ON THE REAL CHIP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816"/>
        </a:solidFill>
        <a:effectLst/>
      </p:bgPr>
    </p:bg>
    <p:spTree>
      <p:nvGrpSpPr>
        <p:cNvPr id="1" name=""/>
        <p:cNvGrpSpPr/>
        <p:nvPr/>
      </p:nvGrpSpPr>
      <p:grpSpPr/>
      <p:cxnSp>
        <p:nvCxnSpPr>
          <p:cNvPr id="222" name="Google Shape;222;p2"/>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3" name="Google Shape;223;p2"/>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4" name="Google Shape;224;p2"/>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5" name="Google Shape;225;p2"/>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6" name="Google Shape;226;p2"/>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7" name="Google Shape;227;p2"/>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8" name="Google Shape;228;p2"/>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9" name="Google Shape;229;p2"/>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0" name="Google Shape;230;p2"/>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1" name="Google Shape;231;p2"/>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2" name="Google Shape;232;p2"/>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3" name="Google Shape;233;p2"/>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4" name="Google Shape;234;p2"/>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5" name="Google Shape;235;p2"/>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6" name="Google Shape;236;p2"/>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7" name="Google Shape;237;p2"/>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8" name="Google Shape;238;p2"/>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9" name="Google Shape;239;p2"/>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0" name="Google Shape;240;p2"/>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1" name="Google Shape;241;p2"/>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242" name="Google Shape;242;p2"/>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245" name="Google Shape;245;p2"/>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246" name="Google Shape;246;p2"/>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247" name="Google Shape;247;p2"/>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248" name="Google Shape;248;p2"/>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09</a:t>
            </a:r>
            <a:endParaRPr/>
          </a:p>
        </p:txBody>
      </p:sp>
      <p:sp>
        <p:nvSpPr>
          <p:cNvPr id="249" name="Google Shape;249;p2"/>
          <p:cNvSpPr txBox="1"/>
          <p:nvPr/>
        </p:nvSpPr>
        <p:spPr>
          <a:xfrm>
            <a:off x="530352" y="932688"/>
            <a:ext cx="1078992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08 / GATE-BASED VS. ANNEALING</a:t>
            </a:r>
            <a:endParaRPr/>
          </a:p>
        </p:txBody>
      </p:sp>
      <p:sp>
        <p:nvSpPr>
          <p:cNvPr id="250" name="Google Shape;250;p2"/>
          <p:cNvSpPr txBox="1"/>
          <p:nvPr/>
        </p:nvSpPr>
        <p:spPr>
          <a:xfrm>
            <a:off x="530352" y="1225296"/>
            <a:ext cx="10972800" cy="512064"/>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700" u="none" cap="none" strike="noStrike">
                <a:solidFill>
                  <a:srgbClr val="F4F8FF"/>
                </a:solidFill>
                <a:latin typeface="Arial"/>
                <a:ea typeface="Arial"/>
                <a:cs typeface="Arial"/>
                <a:sym typeface="Arial"/>
              </a:rPr>
              <a:t>Which quantum computer wins which piece?</a:t>
            </a:r>
            <a:endParaRPr/>
          </a:p>
        </p:txBody>
      </p:sp>
      <p:sp>
        <p:nvSpPr>
          <p:cNvPr id="251" name="Google Shape;251;p2"/>
          <p:cNvSpPr txBox="1"/>
          <p:nvPr/>
        </p:nvSpPr>
        <p:spPr>
          <a:xfrm>
            <a:off x="566928" y="1801368"/>
            <a:ext cx="10789920" cy="36576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300" u="none" cap="none" strike="noStrike">
                <a:solidFill>
                  <a:srgbClr val="A1B1CD"/>
                </a:solidFill>
                <a:latin typeface="Arial"/>
                <a:ea typeface="Arial"/>
                <a:cs typeface="Arial"/>
                <a:sym typeface="Arial"/>
              </a:rPr>
              <a:t>One problem, split into three pieces, each solved both ways on IBM's real 156-qubit ibm_kingston chip.</a:t>
            </a:r>
            <a:endParaRPr/>
          </a:p>
        </p:txBody>
      </p:sp>
      <p:graphicFrame>
        <p:nvGraphicFramePr>
          <p:cNvPr id="252" name="Chart 251"/>
          <p:cNvGraphicFramePr>
            <a:graphicFrameLocks noGrp="1"/>
          </p:cNvGraphicFramePr>
          <p:nvPr/>
        </p:nvGraphicFramePr>
        <p:xfrm>
          <a:off x="548640" y="2148840"/>
          <a:ext cx="6309360" cy="3108960"/>
        </p:xfrm>
        <a:graphic>
          <a:graphicData uri="http://schemas.openxmlformats.org/drawingml/2006/chart">
            <c:chart xmlns:c="http://schemas.openxmlformats.org/drawingml/2006/chart" r:id="rId3"/>
          </a:graphicData>
        </a:graphic>
      </p:graphicFrame>
      <p:sp>
        <p:nvSpPr>
          <p:cNvPr id="253" name="Rounded Rectangle 252"/>
          <p:cNvSpPr/>
          <p:nvPr/>
        </p:nvSpPr>
        <p:spPr>
          <a:xfrm>
            <a:off x="7132320" y="2148840"/>
            <a:ext cx="4526280" cy="1783080"/>
          </a:xfrm>
          <a:prstGeom prst="roundRect">
            <a:avLst>
              <a:gd name="adj" fmla="val 12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7315200" y="2240280"/>
            <a:ext cx="4206240" cy="228600"/>
          </a:xfrm>
          <a:prstGeom prst="rect">
            <a:avLst/>
          </a:prstGeom>
          <a:noFill/>
        </p:spPr>
        <p:txBody>
          <a:bodyPr wrap="square" lIns="27425" rIns="27425" tIns="22850" bIns="22850" anchor="t">
            <a:spAutoFit/>
          </a:bodyPr>
          <a:lstStyle/>
          <a:p>
            <a:pPr algn="l"/>
            <a:r>
              <a:rPr sz="900" b="1">
                <a:solidFill>
                  <a:srgbClr val="FFCA5C"/>
                </a:solidFill>
                <a:latin typeface="Arial"/>
              </a:rPr>
              <a:t>AVERAGE SCORE BY STRATEGY (REAL CHIP)</a:t>
            </a:r>
          </a:p>
        </p:txBody>
      </p:sp>
      <p:sp>
        <p:nvSpPr>
          <p:cNvPr id="255" name="TextBox 254"/>
          <p:cNvSpPr txBox="1"/>
          <p:nvPr/>
        </p:nvSpPr>
        <p:spPr>
          <a:xfrm>
            <a:off x="7315200" y="2578608"/>
            <a:ext cx="1554480" cy="320040"/>
          </a:xfrm>
          <a:prstGeom prst="rect">
            <a:avLst/>
          </a:prstGeom>
          <a:noFill/>
        </p:spPr>
        <p:txBody>
          <a:bodyPr wrap="square" lIns="27425" rIns="27425" tIns="22850" bIns="22850" anchor="ctr">
            <a:spAutoFit/>
          </a:bodyPr>
          <a:lstStyle/>
          <a:p>
            <a:pPr algn="l"/>
            <a:r>
              <a:rPr sz="1200" b="0">
                <a:solidFill>
                  <a:srgbClr val="A1B1CD"/>
                </a:solidFill>
                <a:latin typeface="Arial"/>
              </a:rPr>
              <a:t>All gate-based</a:t>
            </a:r>
          </a:p>
        </p:txBody>
      </p:sp>
      <p:sp>
        <p:nvSpPr>
          <p:cNvPr id="256" name="Rectangle 255"/>
          <p:cNvSpPr/>
          <p:nvPr/>
        </p:nvSpPr>
        <p:spPr>
          <a:xfrm>
            <a:off x="8915400" y="2651760"/>
            <a:ext cx="1712854" cy="182880"/>
          </a:xfrm>
          <a:prstGeom prst="rect">
            <a:avLst/>
          </a:prstGeom>
          <a:solidFill>
            <a:srgbClr val="27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0673974" y="2578608"/>
            <a:ext cx="548640" cy="320040"/>
          </a:xfrm>
          <a:prstGeom prst="rect">
            <a:avLst/>
          </a:prstGeom>
          <a:noFill/>
        </p:spPr>
        <p:txBody>
          <a:bodyPr wrap="square" lIns="27425" rIns="27425" tIns="22850" bIns="22850" anchor="ctr">
            <a:spAutoFit/>
          </a:bodyPr>
          <a:lstStyle/>
          <a:p>
            <a:pPr algn="l"/>
            <a:r>
              <a:rPr sz="1100" b="1">
                <a:solidFill>
                  <a:srgbClr val="F4F8FF"/>
                </a:solidFill>
                <a:latin typeface="Arial"/>
              </a:rPr>
              <a:t>0.45</a:t>
            </a:r>
          </a:p>
        </p:txBody>
      </p:sp>
      <p:sp>
        <p:nvSpPr>
          <p:cNvPr id="258" name="TextBox 257"/>
          <p:cNvSpPr txBox="1"/>
          <p:nvPr/>
        </p:nvSpPr>
        <p:spPr>
          <a:xfrm>
            <a:off x="7315200" y="2990088"/>
            <a:ext cx="1554480" cy="320040"/>
          </a:xfrm>
          <a:prstGeom prst="rect">
            <a:avLst/>
          </a:prstGeom>
          <a:noFill/>
        </p:spPr>
        <p:txBody>
          <a:bodyPr wrap="square" lIns="27425" rIns="27425" tIns="22850" bIns="22850" anchor="ctr">
            <a:spAutoFit/>
          </a:bodyPr>
          <a:lstStyle/>
          <a:p>
            <a:pPr algn="l"/>
            <a:r>
              <a:rPr sz="1200" b="0">
                <a:solidFill>
                  <a:srgbClr val="A1B1CD"/>
                </a:solidFill>
                <a:latin typeface="Arial"/>
              </a:rPr>
              <a:t>All annealing</a:t>
            </a:r>
          </a:p>
        </p:txBody>
      </p:sp>
      <p:sp>
        <p:nvSpPr>
          <p:cNvPr id="259" name="Rectangle 258"/>
          <p:cNvSpPr/>
          <p:nvPr/>
        </p:nvSpPr>
        <p:spPr>
          <a:xfrm>
            <a:off x="8915400" y="3063240"/>
            <a:ext cx="1897197" cy="182880"/>
          </a:xfrm>
          <a:prstGeom prst="rect">
            <a:avLst/>
          </a:prstGeom>
          <a:solidFill>
            <a:srgbClr val="D94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10858317" y="2990088"/>
            <a:ext cx="548640" cy="320040"/>
          </a:xfrm>
          <a:prstGeom prst="rect">
            <a:avLst/>
          </a:prstGeom>
          <a:noFill/>
        </p:spPr>
        <p:txBody>
          <a:bodyPr wrap="square" lIns="27425" rIns="27425" tIns="22850" bIns="22850" anchor="ctr">
            <a:spAutoFit/>
          </a:bodyPr>
          <a:lstStyle/>
          <a:p>
            <a:pPr algn="l"/>
            <a:r>
              <a:rPr sz="1100" b="1">
                <a:solidFill>
                  <a:srgbClr val="F4F8FF"/>
                </a:solidFill>
                <a:latin typeface="Arial"/>
              </a:rPr>
              <a:t>0.49</a:t>
            </a:r>
          </a:p>
        </p:txBody>
      </p:sp>
      <p:sp>
        <p:nvSpPr>
          <p:cNvPr id="261" name="TextBox 260"/>
          <p:cNvSpPr txBox="1"/>
          <p:nvPr/>
        </p:nvSpPr>
        <p:spPr>
          <a:xfrm>
            <a:off x="7315200" y="3401568"/>
            <a:ext cx="1554480" cy="320040"/>
          </a:xfrm>
          <a:prstGeom prst="rect">
            <a:avLst/>
          </a:prstGeom>
          <a:noFill/>
        </p:spPr>
        <p:txBody>
          <a:bodyPr wrap="square" lIns="27425" rIns="27425" tIns="22850" bIns="22850" anchor="ctr">
            <a:spAutoFit/>
          </a:bodyPr>
          <a:lstStyle/>
          <a:p>
            <a:pPr algn="l"/>
            <a:r>
              <a:rPr sz="1200" b="1">
                <a:solidFill>
                  <a:srgbClr val="F4F8FF"/>
                </a:solidFill>
                <a:latin typeface="Arial"/>
              </a:rPr>
              <a:t>Q-Router's mix</a:t>
            </a:r>
          </a:p>
        </p:txBody>
      </p:sp>
      <p:sp>
        <p:nvSpPr>
          <p:cNvPr id="262" name="Rectangle 261"/>
          <p:cNvSpPr/>
          <p:nvPr/>
        </p:nvSpPr>
        <p:spPr>
          <a:xfrm>
            <a:off x="8915400" y="3474720"/>
            <a:ext cx="2119944" cy="182880"/>
          </a:xfrm>
          <a:prstGeom prst="rect">
            <a:avLst/>
          </a:prstGeom>
          <a:solidFill>
            <a:srgbClr val="FFC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11081064" y="3401568"/>
            <a:ext cx="548640" cy="320040"/>
          </a:xfrm>
          <a:prstGeom prst="rect">
            <a:avLst/>
          </a:prstGeom>
          <a:noFill/>
        </p:spPr>
        <p:txBody>
          <a:bodyPr wrap="square" lIns="27425" rIns="27425" tIns="22850" bIns="22850" anchor="ctr">
            <a:spAutoFit/>
          </a:bodyPr>
          <a:lstStyle/>
          <a:p>
            <a:pPr algn="l"/>
            <a:r>
              <a:rPr sz="1100" b="1">
                <a:solidFill>
                  <a:srgbClr val="F4F8FF"/>
                </a:solidFill>
                <a:latin typeface="Arial"/>
              </a:rPr>
              <a:t>0.55</a:t>
            </a:r>
          </a:p>
        </p:txBody>
      </p:sp>
      <p:sp>
        <p:nvSpPr>
          <p:cNvPr id="264" name="Rounded Rectangle 263"/>
          <p:cNvSpPr/>
          <p:nvPr/>
        </p:nvSpPr>
        <p:spPr>
          <a:xfrm>
            <a:off x="7132320" y="4069080"/>
            <a:ext cx="4526280" cy="1188720"/>
          </a:xfrm>
          <a:prstGeom prst="roundRect">
            <a:avLst>
              <a:gd name="adj" fmla="val 12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7296912" y="4251960"/>
            <a:ext cx="50292" cy="822960"/>
          </a:xfrm>
          <a:prstGeom prst="rect">
            <a:avLst/>
          </a:prstGeom>
          <a:solidFill>
            <a:srgbClr val="D94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7461504" y="4233672"/>
            <a:ext cx="4069080" cy="201168"/>
          </a:xfrm>
          <a:prstGeom prst="rect">
            <a:avLst/>
          </a:prstGeom>
          <a:noFill/>
        </p:spPr>
        <p:txBody>
          <a:bodyPr wrap="square" lIns="27425" rIns="27425" tIns="22850" bIns="22850" anchor="t">
            <a:spAutoFit/>
          </a:bodyPr>
          <a:lstStyle/>
          <a:p>
            <a:pPr algn="l"/>
            <a:r>
              <a:rPr sz="900" b="1">
                <a:solidFill>
                  <a:srgbClr val="D948FF"/>
                </a:solidFill>
                <a:latin typeface="Arial"/>
              </a:rPr>
              <a:t>WHY ANNEALING LOSES DENSE PIECES</a:t>
            </a:r>
          </a:p>
        </p:txBody>
      </p:sp>
      <p:sp>
        <p:nvSpPr>
          <p:cNvPr id="267" name="TextBox 266"/>
          <p:cNvSpPr txBox="1"/>
          <p:nvPr/>
        </p:nvSpPr>
        <p:spPr>
          <a:xfrm>
            <a:off x="7461504" y="4480560"/>
            <a:ext cx="4050791" cy="667511"/>
          </a:xfrm>
          <a:prstGeom prst="rect">
            <a:avLst/>
          </a:prstGeom>
          <a:noFill/>
        </p:spPr>
        <p:txBody>
          <a:bodyPr wrap="square" lIns="27425" rIns="27425" tIns="22850" bIns="22850" anchor="t">
            <a:spAutoFit/>
          </a:bodyPr>
          <a:lstStyle/>
          <a:p>
            <a:pPr algn="l"/>
            <a:r>
              <a:rPr sz="1100" b="0">
                <a:solidFill>
                  <a:srgbClr val="A1B1CD"/>
                </a:solidFill>
                <a:latin typeface="Arial"/>
              </a:rPr>
              <a:t>It needs about 7× more link steps on the dense drug piece. Each step can fail, so errors pile up where everything is linked. The chip simulation predicted the same winners.</a:t>
            </a:r>
          </a:p>
        </p:txBody>
      </p:sp>
      <p:sp>
        <p:nvSpPr>
          <p:cNvPr id="268" name="Rounded Rectangle 267"/>
          <p:cNvSpPr/>
          <p:nvPr/>
        </p:nvSpPr>
        <p:spPr>
          <a:xfrm>
            <a:off x="822960" y="5486400"/>
            <a:ext cx="10424160" cy="502920"/>
          </a:xfrm>
          <a:prstGeom prst="roundRect">
            <a:avLst>
              <a:gd name="adj" fmla="val 20000"/>
            </a:avLst>
          </a:prstGeom>
          <a:solidFill>
            <a:srgbClr val="121B37"/>
          </a:solidFill>
          <a:ln w="12700">
            <a:solidFill>
              <a:srgbClr val="FFC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005840" y="5486400"/>
            <a:ext cx="10058400" cy="502920"/>
          </a:xfrm>
          <a:prstGeom prst="rect">
            <a:avLst/>
          </a:prstGeom>
          <a:noFill/>
        </p:spPr>
        <p:txBody>
          <a:bodyPr wrap="square" lIns="27425" rIns="27425" tIns="22850" bIns="22850" anchor="ctr">
            <a:spAutoFit/>
          </a:bodyPr>
          <a:lstStyle/>
          <a:p>
            <a:pPr algn="ctr"/>
            <a:r>
              <a:rPr sz="1300" b="1">
                <a:solidFill>
                  <a:srgbClr val="FFCA5C"/>
                </a:solidFill>
                <a:latin typeface="Arial"/>
              </a:rPr>
              <a:t>DENSE → GATE-BASED · SPARSE → ANNEALING · MIXING BEATS EITHER ONE ALONE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816"/>
        </a:solidFill>
        <a:effectLst/>
      </p:bgPr>
    </p:bg>
    <p:spTree>
      <p:nvGrpSpPr>
        <p:cNvPr id="1" name=""/>
        <p:cNvGrpSpPr/>
        <p:nvPr/>
      </p:nvGrpSpPr>
      <p:grpSpPr/>
      <p:cxnSp>
        <p:nvCxnSpPr>
          <p:cNvPr id="222" name="Google Shape;222;p2"/>
          <p:cNvCxnSpPr/>
          <p:nvPr/>
        </p:nvCxnSpPr>
        <p:spPr>
          <a:xfrm>
            <a:off x="457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3" name="Google Shape;223;p2"/>
          <p:cNvCxnSpPr/>
          <p:nvPr/>
        </p:nvCxnSpPr>
        <p:spPr>
          <a:xfrm>
            <a:off x="1371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4" name="Google Shape;224;p2"/>
          <p:cNvCxnSpPr/>
          <p:nvPr/>
        </p:nvCxnSpPr>
        <p:spPr>
          <a:xfrm>
            <a:off x="2286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5" name="Google Shape;225;p2"/>
          <p:cNvCxnSpPr/>
          <p:nvPr/>
        </p:nvCxnSpPr>
        <p:spPr>
          <a:xfrm>
            <a:off x="3200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6" name="Google Shape;226;p2"/>
          <p:cNvCxnSpPr/>
          <p:nvPr/>
        </p:nvCxnSpPr>
        <p:spPr>
          <a:xfrm>
            <a:off x="4114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7" name="Google Shape;227;p2"/>
          <p:cNvCxnSpPr/>
          <p:nvPr/>
        </p:nvCxnSpPr>
        <p:spPr>
          <a:xfrm>
            <a:off x="5029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8" name="Google Shape;228;p2"/>
          <p:cNvCxnSpPr/>
          <p:nvPr/>
        </p:nvCxnSpPr>
        <p:spPr>
          <a:xfrm>
            <a:off x="5943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29" name="Google Shape;229;p2"/>
          <p:cNvCxnSpPr/>
          <p:nvPr/>
        </p:nvCxnSpPr>
        <p:spPr>
          <a:xfrm>
            <a:off x="6858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0" name="Google Shape;230;p2"/>
          <p:cNvCxnSpPr/>
          <p:nvPr/>
        </p:nvCxnSpPr>
        <p:spPr>
          <a:xfrm>
            <a:off x="77724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1" name="Google Shape;231;p2"/>
          <p:cNvCxnSpPr/>
          <p:nvPr/>
        </p:nvCxnSpPr>
        <p:spPr>
          <a:xfrm>
            <a:off x="86868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2" name="Google Shape;232;p2"/>
          <p:cNvCxnSpPr/>
          <p:nvPr/>
        </p:nvCxnSpPr>
        <p:spPr>
          <a:xfrm>
            <a:off x="96012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3" name="Google Shape;233;p2"/>
          <p:cNvCxnSpPr/>
          <p:nvPr/>
        </p:nvCxnSpPr>
        <p:spPr>
          <a:xfrm>
            <a:off x="105156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4" name="Google Shape;234;p2"/>
          <p:cNvCxnSpPr/>
          <p:nvPr/>
        </p:nvCxnSpPr>
        <p:spPr>
          <a:xfrm>
            <a:off x="11430000" y="320040"/>
            <a:ext cx="0" cy="621792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5" name="Google Shape;235;p2"/>
          <p:cNvCxnSpPr/>
          <p:nvPr/>
        </p:nvCxnSpPr>
        <p:spPr>
          <a:xfrm>
            <a:off x="320040" y="914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6" name="Google Shape;236;p2"/>
          <p:cNvCxnSpPr/>
          <p:nvPr/>
        </p:nvCxnSpPr>
        <p:spPr>
          <a:xfrm>
            <a:off x="320040" y="1828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7" name="Google Shape;237;p2"/>
          <p:cNvCxnSpPr/>
          <p:nvPr/>
        </p:nvCxnSpPr>
        <p:spPr>
          <a:xfrm>
            <a:off x="320040" y="27432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8" name="Google Shape;238;p2"/>
          <p:cNvCxnSpPr/>
          <p:nvPr/>
        </p:nvCxnSpPr>
        <p:spPr>
          <a:xfrm>
            <a:off x="320040" y="36576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39" name="Google Shape;239;p2"/>
          <p:cNvCxnSpPr/>
          <p:nvPr/>
        </p:nvCxnSpPr>
        <p:spPr>
          <a:xfrm>
            <a:off x="320040" y="45720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0" name="Google Shape;240;p2"/>
          <p:cNvCxnSpPr/>
          <p:nvPr/>
        </p:nvCxnSpPr>
        <p:spPr>
          <a:xfrm>
            <a:off x="320040" y="54864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cxnSp>
        <p:nvCxnSpPr>
          <p:cNvPr id="241" name="Google Shape;241;p2"/>
          <p:cNvCxnSpPr/>
          <p:nvPr/>
        </p:nvCxnSpPr>
        <p:spPr>
          <a:xfrm>
            <a:off x="320040" y="6400800"/>
            <a:ext cx="11548872" cy="0"/>
          </a:xfrm>
          <a:prstGeom prst="straightConnector1">
            <a:avLst/>
          </a:prstGeom>
          <a:noFill/>
          <a:ln cap="flat" cmpd="sng" w="9525">
            <a:solidFill>
              <a:srgbClr val="1C2948"/>
            </a:solidFill>
            <a:prstDash val="solid"/>
            <a:round/>
            <a:headEnd len="sm" w="sm" type="none"/>
            <a:tailEnd len="sm" w="sm" type="none"/>
          </a:ln>
          <a:effectLst>
            <a:outerShdw blurRad="40000" rotWithShape="0" dir="5400000" dist="20000">
              <a:srgbClr val="000000">
                <a:alpha val="38039"/>
              </a:srgbClr>
            </a:outerShdw>
          </a:effectLst>
        </p:spPr>
      </p:cxnSp>
      <p:sp>
        <p:nvSpPr>
          <p:cNvPr id="242" name="Google Shape;242;p2"/>
          <p:cNvSpPr/>
          <p:nvPr/>
        </p:nvSpPr>
        <p:spPr>
          <a:xfrm>
            <a:off x="411480" y="347472"/>
            <a:ext cx="502920" cy="41148"/>
          </a:xfrm>
          <a:prstGeom prst="rect">
            <a:avLst/>
          </a:prstGeom>
          <a:solidFill>
            <a:srgbClr val="27D6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
          <p:cNvSpPr/>
          <p:nvPr/>
        </p:nvSpPr>
        <p:spPr>
          <a:xfrm>
            <a:off x="932688" y="347472"/>
            <a:ext cx="201168" cy="41148"/>
          </a:xfrm>
          <a:prstGeom prst="rect">
            <a:avLst/>
          </a:prstGeom>
          <a:solidFill>
            <a:srgbClr val="D948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
          <p:cNvSpPr txBox="1"/>
          <p:nvPr/>
        </p:nvSpPr>
        <p:spPr>
          <a:xfrm>
            <a:off x="438912" y="475488"/>
            <a:ext cx="7315200" cy="201168"/>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900" u="none" cap="none" strike="noStrike">
                <a:solidFill>
                  <a:srgbClr val="A1B1CD"/>
                </a:solidFill>
                <a:latin typeface="Arial"/>
                <a:ea typeface="Arial"/>
                <a:cs typeface="Arial"/>
                <a:sym typeface="Arial"/>
              </a:rPr>
              <a:t>Q-ROUTER  /  FAU QISKIT FALL FEST 2026</a:t>
            </a:r>
            <a:endParaRPr/>
          </a:p>
        </p:txBody>
      </p:sp>
      <p:sp>
        <p:nvSpPr>
          <p:cNvPr id="245" name="Google Shape;245;p2"/>
          <p:cNvSpPr txBox="1"/>
          <p:nvPr/>
        </p:nvSpPr>
        <p:spPr>
          <a:xfrm>
            <a:off x="9144000" y="420624"/>
            <a:ext cx="2514600" cy="201168"/>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1000" u="none" cap="none" strike="noStrike">
                <a:solidFill>
                  <a:srgbClr val="F4F8FF"/>
                </a:solidFill>
                <a:latin typeface="Arial"/>
                <a:ea typeface="Arial"/>
                <a:cs typeface="Arial"/>
                <a:sym typeface="Arial"/>
              </a:rPr>
              <a:t>FLORIDA ATLANTIC</a:t>
            </a:r>
            <a:endParaRPr/>
          </a:p>
        </p:txBody>
      </p:sp>
      <p:sp>
        <p:nvSpPr>
          <p:cNvPr id="246" name="Google Shape;246;p2"/>
          <p:cNvSpPr txBox="1"/>
          <p:nvPr/>
        </p:nvSpPr>
        <p:spPr>
          <a:xfrm>
            <a:off x="10378440" y="621792"/>
            <a:ext cx="1280160" cy="146304"/>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700" u="none" cap="none" strike="noStrike">
                <a:solidFill>
                  <a:srgbClr val="DC415F"/>
                </a:solidFill>
                <a:latin typeface="Arial"/>
                <a:ea typeface="Arial"/>
                <a:cs typeface="Arial"/>
                <a:sym typeface="Arial"/>
              </a:rPr>
              <a:t>UNIVERSITY</a:t>
            </a:r>
            <a:endParaRPr/>
          </a:p>
        </p:txBody>
      </p:sp>
      <p:cxnSp>
        <p:nvCxnSpPr>
          <p:cNvPr id="247" name="Google Shape;247;p2"/>
          <p:cNvCxnSpPr/>
          <p:nvPr/>
        </p:nvCxnSpPr>
        <p:spPr>
          <a:xfrm>
            <a:off x="9144000" y="841248"/>
            <a:ext cx="2514600" cy="0"/>
          </a:xfrm>
          <a:prstGeom prst="straightConnector1">
            <a:avLst/>
          </a:prstGeom>
          <a:noFill/>
          <a:ln cap="flat" cmpd="sng" w="10150">
            <a:solidFill>
              <a:srgbClr val="374D73"/>
            </a:solidFill>
            <a:prstDash val="solid"/>
            <a:round/>
            <a:headEnd len="sm" w="sm" type="none"/>
            <a:tailEnd len="sm" w="sm" type="none"/>
          </a:ln>
          <a:effectLst>
            <a:outerShdw blurRad="40000" rotWithShape="0" dir="5400000" dist="20000">
              <a:srgbClr val="000000">
                <a:alpha val="38039"/>
              </a:srgbClr>
            </a:outerShdw>
          </a:effectLst>
        </p:spPr>
      </p:cxnSp>
      <p:sp>
        <p:nvSpPr>
          <p:cNvPr id="248" name="Google Shape;248;p2"/>
          <p:cNvSpPr txBox="1"/>
          <p:nvPr/>
        </p:nvSpPr>
        <p:spPr>
          <a:xfrm>
            <a:off x="11247120" y="6510528"/>
            <a:ext cx="411480" cy="164592"/>
          </a:xfrm>
          <a:prstGeom prst="rect">
            <a:avLst/>
          </a:prstGeom>
          <a:noFill/>
          <a:ln>
            <a:noFill/>
          </a:ln>
        </p:spPr>
        <p:txBody>
          <a:bodyPr anchorCtr="0" anchor="t" bIns="22850" lIns="27425" spcFirstLastPara="1" rIns="27425" wrap="square" tIns="22850">
            <a:spAutoFit/>
          </a:bodyPr>
          <a:lstStyle/>
          <a:p>
            <a:pPr indent="0" lvl="0" marL="0" marR="0" rtl="0" algn="r">
              <a:spcBef>
                <a:spcPts val="0"/>
              </a:spcBef>
              <a:spcAft>
                <a:spcPts val="0"/>
              </a:spcAft>
              <a:buNone/>
            </a:pPr>
            <a:r>
              <a:rPr b="1" i="0" lang="en-US" sz="900" u="none" cap="none" strike="noStrike">
                <a:solidFill>
                  <a:srgbClr val="A1B1CD"/>
                </a:solidFill>
                <a:latin typeface="Arial"/>
                <a:ea typeface="Arial"/>
                <a:cs typeface="Arial"/>
                <a:sym typeface="Arial"/>
              </a:rPr>
              <a:t>10</a:t>
            </a:r>
            <a:endParaRPr/>
          </a:p>
        </p:txBody>
      </p:sp>
      <p:sp>
        <p:nvSpPr>
          <p:cNvPr id="249" name="Google Shape;249;p2"/>
          <p:cNvSpPr txBox="1"/>
          <p:nvPr/>
        </p:nvSpPr>
        <p:spPr>
          <a:xfrm>
            <a:off x="530352" y="932688"/>
            <a:ext cx="10789920" cy="22860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1000" u="none" cap="none" strike="noStrike">
                <a:solidFill>
                  <a:srgbClr val="27D6FF"/>
                </a:solidFill>
                <a:latin typeface="Arial"/>
                <a:ea typeface="Arial"/>
                <a:cs typeface="Arial"/>
                <a:sym typeface="Arial"/>
              </a:rPr>
              <a:t>09 / REAL IBM HARDWARE</a:t>
            </a:r>
            <a:endParaRPr/>
          </a:p>
        </p:txBody>
      </p:sp>
      <p:sp>
        <p:nvSpPr>
          <p:cNvPr id="250" name="Google Shape;250;p2"/>
          <p:cNvSpPr txBox="1"/>
          <p:nvPr/>
        </p:nvSpPr>
        <p:spPr>
          <a:xfrm>
            <a:off x="530352" y="1225296"/>
            <a:ext cx="10972800" cy="512064"/>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1" i="0" lang="en-US" sz="2700" u="none" cap="none" strike="noStrike">
                <a:solidFill>
                  <a:srgbClr val="F4F8FF"/>
                </a:solidFill>
                <a:latin typeface="Arial"/>
                <a:ea typeface="Arial"/>
                <a:cs typeface="Arial"/>
                <a:sym typeface="Arial"/>
              </a:rPr>
              <a:t>From simulator to a real quantum chip: ibm_kingston.</a:t>
            </a:r>
            <a:endParaRPr/>
          </a:p>
        </p:txBody>
      </p:sp>
      <p:sp>
        <p:nvSpPr>
          <p:cNvPr id="251" name="Google Shape;251;p2"/>
          <p:cNvSpPr txBox="1"/>
          <p:nvPr/>
        </p:nvSpPr>
        <p:spPr>
          <a:xfrm>
            <a:off x="566928" y="1801368"/>
            <a:ext cx="10789920" cy="365760"/>
          </a:xfrm>
          <a:prstGeom prst="rect">
            <a:avLst/>
          </a:prstGeom>
          <a:noFill/>
          <a:ln>
            <a:noFill/>
          </a:ln>
        </p:spPr>
        <p:txBody>
          <a:bodyPr anchorCtr="0" anchor="t" bIns="22850" lIns="27425" spcFirstLastPara="1" rIns="27425" wrap="square" tIns="22850">
            <a:spAutoFit/>
          </a:bodyPr>
          <a:lstStyle/>
          <a:p>
            <a:pPr indent="0" lvl="0" marL="0" marR="0" rtl="0" algn="l">
              <a:spcBef>
                <a:spcPts val="0"/>
              </a:spcBef>
              <a:spcAft>
                <a:spcPts val="0"/>
              </a:spcAft>
              <a:buNone/>
            </a:pPr>
            <a:r>
              <a:rPr b="0" i="0" lang="en-US" sz="1300" u="none" cap="none" strike="noStrike">
                <a:solidFill>
                  <a:srgbClr val="A1B1CD"/>
                </a:solidFill>
                <a:latin typeface="Arial"/>
                <a:ea typeface="Arial"/>
                <a:cs typeface="Arial"/>
                <a:sym typeface="Arial"/>
              </a:rPr>
              <a:t>The flagship drug problem (8 drugs, fund 3) run four ways, from ideal to real. Score: 1 = best, 0 = random guess.</a:t>
            </a:r>
            <a:endParaRPr/>
          </a:p>
        </p:txBody>
      </p:sp>
      <p:graphicFrame>
        <p:nvGraphicFramePr>
          <p:cNvPr id="252" name="Chart 251"/>
          <p:cNvGraphicFramePr>
            <a:graphicFrameLocks noGrp="1"/>
          </p:cNvGraphicFramePr>
          <p:nvPr/>
        </p:nvGraphicFramePr>
        <p:xfrm>
          <a:off x="548640" y="2148840"/>
          <a:ext cx="6400800" cy="3154680"/>
        </p:xfrm>
        <a:graphic>
          <a:graphicData uri="http://schemas.openxmlformats.org/drawingml/2006/chart">
            <c:chart xmlns:c="http://schemas.openxmlformats.org/drawingml/2006/chart" r:id="rId3"/>
          </a:graphicData>
        </a:graphic>
      </p:graphicFrame>
      <p:sp>
        <p:nvSpPr>
          <p:cNvPr id="253" name="Rounded Rectangle 252"/>
          <p:cNvSpPr/>
          <p:nvPr/>
        </p:nvSpPr>
        <p:spPr>
          <a:xfrm>
            <a:off x="7223760" y="2148840"/>
            <a:ext cx="4434840" cy="1600200"/>
          </a:xfrm>
          <a:prstGeom prst="roundRect">
            <a:avLst>
              <a:gd name="adj" fmla="val 12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7388352" y="2331720"/>
            <a:ext cx="50292" cy="1234440"/>
          </a:xfrm>
          <a:prstGeom prst="rect">
            <a:avLst/>
          </a:prstGeom>
          <a:solidFill>
            <a:srgbClr val="5BF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7552944" y="2313432"/>
            <a:ext cx="3977639" cy="201168"/>
          </a:xfrm>
          <a:prstGeom prst="rect">
            <a:avLst/>
          </a:prstGeom>
          <a:noFill/>
        </p:spPr>
        <p:txBody>
          <a:bodyPr wrap="square" lIns="27425" rIns="27425" tIns="22850" bIns="22850" anchor="t">
            <a:spAutoFit/>
          </a:bodyPr>
          <a:lstStyle/>
          <a:p>
            <a:pPr algn="l"/>
            <a:r>
              <a:rPr sz="900" b="1">
                <a:solidFill>
                  <a:srgbClr val="5BF0B9"/>
                </a:solidFill>
                <a:latin typeface="Arial"/>
              </a:rPr>
              <a:t>WHAT THE CHIP ANSWERED</a:t>
            </a:r>
          </a:p>
        </p:txBody>
      </p:sp>
      <p:sp>
        <p:nvSpPr>
          <p:cNvPr id="256" name="TextBox 255"/>
          <p:cNvSpPr txBox="1"/>
          <p:nvPr/>
        </p:nvSpPr>
        <p:spPr>
          <a:xfrm>
            <a:off x="7552944" y="2560320"/>
            <a:ext cx="3959352" cy="1078991"/>
          </a:xfrm>
          <a:prstGeom prst="rect">
            <a:avLst/>
          </a:prstGeom>
          <a:noFill/>
        </p:spPr>
        <p:txBody>
          <a:bodyPr wrap="square" lIns="27425" rIns="27425" tIns="22850" bIns="22850" anchor="t">
            <a:spAutoFit/>
          </a:bodyPr>
          <a:lstStyle/>
          <a:p>
            <a:pPr algn="l"/>
            <a:r>
              <a:rPr sz="1100" b="0">
                <a:solidFill>
                  <a:srgbClr val="A1B1CD"/>
                </a:solidFill>
                <a:latin typeface="Arial"/>
              </a:rPr>
              <a:t>Most common answer: a good set, not the best. But the true best set (onco-II-0, immu-III-2, card-III-3) was among its 4,096 answers in every run, 2-3× more often than random guessing.</a:t>
            </a:r>
          </a:p>
        </p:txBody>
      </p:sp>
      <p:sp>
        <p:nvSpPr>
          <p:cNvPr id="257" name="Rounded Rectangle 256"/>
          <p:cNvSpPr/>
          <p:nvPr/>
        </p:nvSpPr>
        <p:spPr>
          <a:xfrm>
            <a:off x="7223760" y="3858768"/>
            <a:ext cx="4434840" cy="1444752"/>
          </a:xfrm>
          <a:prstGeom prst="roundRect">
            <a:avLst>
              <a:gd name="adj" fmla="val 12000"/>
            </a:avLst>
          </a:prstGeom>
          <a:solidFill>
            <a:srgbClr val="0D132A"/>
          </a:solidFill>
          <a:ln w="12700">
            <a:solidFill>
              <a:srgbClr val="233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7388352" y="4041648"/>
            <a:ext cx="50292" cy="1078992"/>
          </a:xfrm>
          <a:prstGeom prst="rect">
            <a:avLst/>
          </a:prstGeom>
          <a:solidFill>
            <a:srgbClr val="DC41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7552944" y="4023359"/>
            <a:ext cx="3977639" cy="201168"/>
          </a:xfrm>
          <a:prstGeom prst="rect">
            <a:avLst/>
          </a:prstGeom>
          <a:noFill/>
        </p:spPr>
        <p:txBody>
          <a:bodyPr wrap="square" lIns="27425" rIns="27425" tIns="22850" bIns="22850" anchor="t">
            <a:spAutoFit/>
          </a:bodyPr>
          <a:lstStyle/>
          <a:p>
            <a:pPr algn="l"/>
            <a:r>
              <a:rPr sz="900" b="1">
                <a:solidFill>
                  <a:srgbClr val="DC415F"/>
                </a:solidFill>
                <a:latin typeface="Arial"/>
              </a:rPr>
              <a:t>SURPRISE: THE ERROR FIXES HURT</a:t>
            </a:r>
          </a:p>
        </p:txBody>
      </p:sp>
      <p:sp>
        <p:nvSpPr>
          <p:cNvPr id="260" name="TextBox 259"/>
          <p:cNvSpPr txBox="1"/>
          <p:nvPr/>
        </p:nvSpPr>
        <p:spPr>
          <a:xfrm>
            <a:off x="7552944" y="4270248"/>
            <a:ext cx="3959352" cy="923543"/>
          </a:xfrm>
          <a:prstGeom prst="rect">
            <a:avLst/>
          </a:prstGeom>
          <a:noFill/>
        </p:spPr>
        <p:txBody>
          <a:bodyPr wrap="square" lIns="27425" rIns="27425" tIns="22850" bIns="22850" anchor="t">
            <a:spAutoFit/>
          </a:bodyPr>
          <a:lstStyle/>
          <a:p>
            <a:pPr algn="l"/>
            <a:r>
              <a:rPr sz="1100" b="0">
                <a:solidFill>
                  <a:srgbClr val="A1B1CD"/>
                </a:solidFill>
                <a:latin typeface="Arial"/>
              </a:rPr>
              <a:t>Twirling + decoupling lowered scores (gate 0.64 → 0.58, anneal 0.55 → 0.36). Packing 3 problems cost only 0.01-0.03.</a:t>
            </a:r>
          </a:p>
        </p:txBody>
      </p:sp>
      <p:sp>
        <p:nvSpPr>
          <p:cNvPr id="261" name="Rounded Rectangle 260"/>
          <p:cNvSpPr/>
          <p:nvPr/>
        </p:nvSpPr>
        <p:spPr>
          <a:xfrm>
            <a:off x="822960" y="5577840"/>
            <a:ext cx="10424160" cy="457200"/>
          </a:xfrm>
          <a:prstGeom prst="roundRect">
            <a:avLst>
              <a:gd name="adj" fmla="val 20000"/>
            </a:avLst>
          </a:prstGeom>
          <a:solidFill>
            <a:srgbClr val="121B37"/>
          </a:solidFill>
          <a:ln w="12700">
            <a:solidFill>
              <a:srgbClr val="FFC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1005840" y="5577840"/>
            <a:ext cx="10058400" cy="457200"/>
          </a:xfrm>
          <a:prstGeom prst="rect">
            <a:avLst/>
          </a:prstGeom>
          <a:noFill/>
        </p:spPr>
        <p:txBody>
          <a:bodyPr wrap="square" lIns="27425" rIns="27425" tIns="22850" bIns="22850" anchor="ctr">
            <a:spAutoFit/>
          </a:bodyPr>
          <a:lstStyle/>
          <a:p>
            <a:pPr algn="ctr"/>
            <a:r>
              <a:rPr sz="1200" b="1">
                <a:solidFill>
                  <a:srgbClr val="FFCA5C"/>
                </a:solidFill>
                <a:latin typeface="Arial"/>
              </a:rPr>
              <a:t>OVERALL ON THE REAL CHIP: GATE-BASED 0.64 BEATS ANNEALING 0.55 · THE LAPTOP (0.93) STILL WINS</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